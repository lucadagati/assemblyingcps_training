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[CORE] 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47472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S4T Modular Training — Course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B2EBF2"/>
                </a:solidFill>
                <a:latin typeface="Calibri"/>
              </a:defRPr>
            </a:pPr>
            <a:r>
              <a:t>3h core → 6h standard → 9h full · Lab VM {{VM_IP}}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0A4AE"/>
                </a:solidFill>
                <a:latin typeface="Calibri"/>
              </a:defRPr>
            </a:pPr>
            <a:r>
              <a:t>Assembling Smart CPS · Part II hands-on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394960"/>
            <a:ext cx="3200400" cy="36576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Theory from the book · demo on the lab VM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training/docs/MODULES.md · placeholders.py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How to use these decks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module combines book theory with live lab exercises on the Stack4Things VM.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Core path (3h): Modules A + B + C — deploy, plugins, environmental data service.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Standard (6h): Core plus multi-board fleet, virtual networking, and web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(9h): All modules including federated learning, blueprint, and FaaS concepts.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Lab URLs use {{VM_IP}} — resolved automatically when slides are built.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Run validation scripts after each module to confirm the environment is healthy.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training/docs/MODULES.md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Modular timing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Minimum (3h): Modules A + B + C — deploy, plugins, environmental publisher.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Standard (6h): Core + D Multi-board + E Virtual Networking + F Web Services.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Full (9h): Core + all extensions + G FL + H Blueprint + I FaaS theory.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E (Virtual Networking) is optional when Neutron backend is unavailable.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Modules G and H should not run on the same VM simultaneously (RAM ≥ 8 GB).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deck is self-contained; pick the path that matches your session length.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Training paths — pick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3h CORE → A+B+C · deliverable: Active board + HelloName + InfluxDB rows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6h STANDARD → Core + D fleet + E VN (opt.) + F WoT/WSTUN tunnels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9h FULL → Standard + G FL rounds + H Blueprint/K3s + I FaaS taxonomy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Credentials: Horizon admin / s4t · Lightning-Rod me / arancino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Materials: github.com/lucadagati/AssemblyingCPS_training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End-to-end pipeline — UML sequence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scripts/build-all.sh · INSTRUCTOR_PLAYBOOK.md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Training lab workflow — five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1: Clone AssemblingSmartCPS org repos (ch13, ch14, ch15, ch05, ch19, ch11) via scripts/clone-repos.sh.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2: Start Stack4Things with Docker Compose + training/patches/docker-compose.lab.yml overlay.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3: Run validate/validate-all.sh — all module checks must PASS before the session.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4: Use pre-built PPTX in slides/ or regenerate with scripts/generate_diagrams.py + generate_slides_modular_en.py.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Step 5: Deliver modules A–I using Module*.pptx decks; re-run module validators after each lab block.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Public repo: github.com/lucadagati/AssemblyingCPS_training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45"/>
                </a:solidFill>
                <a:latin typeface="Calibri"/>
              </a:defRPr>
            </a:pPr>
            <a:r>
              <a:t>UML — End-to-end training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7149" y="1426464"/>
            <a:ext cx="6937396" cy="4123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q-training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01" y="1499616"/>
            <a:ext cx="679109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6875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37474F"/>
                </a:solidFill>
                <a:latin typeface="Calibri"/>
              </a:defRPr>
            </a:pPr>
            <a:r>
              <a:t>Clone repos → Docker up → validate → generate slides → teach modules A–I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diagrams/seq-*.png · generate_diagrams.py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Per-module UML sequence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Each module deck includes sequence diagrams for the primary hands-on workflow (not only architecture boxes).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A: board onboarding — Horizon → Conductor → Crossbar → Lightning-Rod → Active.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B: sync Plugin Call — inject → WAMP rpc → Worker.run() → result to Horizon.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C: async loop — Start plugin → CSV row → InfluxDB every 30s.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D: fleet inject to three boards · Module F: ServiceEnable + WSTUN tunnel.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G: Flower FedAvg round across three edge clients.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4864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Book coverage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B2EBF2"/>
                </a:solidFill>
                <a:latin typeface="Calibri"/>
              </a:defRPr>
            </a:pPr>
            <a:r>
              <a:t>Part II hands-on chapters → training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Book Part I · Ch.1–12 · intro.tex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Part I background — when to read before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Ch.1–3: cloud continuum foundations — context for why S4T extends OpenStack to IoT.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Ch.8: authentication and authorization — explains Keystone role in Horizon login.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Ch.9: heterogeneous compute — motivates edge vs cloud placement decisions in plugins.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Ch.10: SLICES research infrastructure — precursor to Ch.11 Blueprint module.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Ch.12: summary chapter — useful recap after completing core Modules A–C.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Part I is referenced throughout decks; deep read of Ch.4 before Module A is essential.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Book Part II · intro.tex · Ch.4 I/Ocloud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Core modules — Ch.4, Ch.13–15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Ch.4 I/Ocloud foundations → context for Module A (Virtual Nodes, IoTronic)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Ch.13 Docker deploy + board onboarding → Module A: Active board deliverable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Ch.14 Plugins, fleet, web services → Module B sync HelloName + fleet preview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Ch.15 Environmental publisher + TOO(L)SMART → Module C async → InfluxDB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Part I chapters (Ch.1–12) provide theory referenced throughout core decks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Students should read Ch.13 abstract before Module A lab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Ch.5 · Ch.6 · Ch.14 §14.2–14.3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Extension modules — Ch.5, Ch.6, Ch.14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Ch.5 Virtual networking attach-port → Module E: IoTronic ports API workflow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Ch.6 Web of Things layered model → Module F: gateway WoT before WSTUN demo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Ch.14 Fleet operations + Web Services Manager → Module D fleet inject + Module F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Extension tier adds +45–60 min per module; D is prerequisite for G (FL clients)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F contrasts book weather server :8080 with lab nginx :50000 tunnel demo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All extension decks use {{VM_IP}} for Horizon, API, and curl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011680" cy="310896"/>
          </a:xfrm>
          <a:prstGeom prst="roundRect">
            <a:avLst/>
          </a:prstGeom>
          <a:solidFill>
            <a:srgbClr val="008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9260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Ch.7 · Ch.11 · Ch.19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45"/>
                </a:solidFill>
                <a:latin typeface="Calibri"/>
              </a:defRPr>
            </a:pPr>
            <a:r>
              <a:t>Advanced modules — Ch.7, Ch.11, Ch.19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26517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104241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Ch.19 Federated Learning on edge boards → Module G: Flower + 3 LR clients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Ch.11 SLICES Blueprint + Crossplane + K3s → Module H: declarative IoT GitOps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Ch.7 FaaS / Deviceless paradigm → Module I: sync vs async plugin contrast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Advanced tier: theory-heavy; Module H benefits from a pre-provisioned K3s cluster.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G needs Module D complete (3 Active boards on :1474/:1475/:1476)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500" b="0">
                <a:solidFill>
                  <a:srgbClr val="37474F"/>
                </a:solidFill>
                <a:latin typeface="Calibri"/>
              </a:defRPr>
            </a:pPr>
            <a:r>
              <a:t>▸  Module H K3s install should run overnight — do NOT concurrent with Module 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5566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B9A"/>
                </a:solidFill>
                <a:latin typeface="Calibri"/>
              </a:defRPr>
            </a:pPr>
            <a:r>
              <a:t>Theory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A — Deploy I/Ocloud (CORE, 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Ch.13 + Ch.4 · Docker Compose + board onboarding → Active board in Horizon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ModuleA_Deploy_IOcloud_EN.pptx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Validate: ./training/validate-lab.sh (18 core checks)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B — Plugins &amp; Services (CORE, 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Ch.14 · HelloName sync Plugin Call + optional Docker lifecycle + fleet preview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ModuleB_Plugin_Services_EN.pptx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Builds on Module A — board must be Active before inject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C — Environmental IoT Computation (CORE, 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Ch.15 · Async environmental_data publisher → InfluxDB · TOO(L)SMART wrap-up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ModuleC_IoT_Computation_EN.pptx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Contrasts with Module B sync plugin — continuous PaaS-style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D — Multi-board &amp; Fleet (EXT, +45–60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Ch.13–14 · 3 LR instances :1474/1475/1476 · fleet inject HelloName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ModuleD_MultiBoard_EN.pptx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Prerequisite for Module G (Federated Learning needs 3 clients)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E — Virtual Networking (EXT, +45–60 min, OPTIONAL)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Ch.5 attach-port · IoTronic ports API · WAgent orchestration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ModuleE_VirtualNetworking_EN.pptx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Skip if short on time or Neutron L3 incomplete in Docker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F — Web Services, WSTUN &amp; WoT (EXT, +30–45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Ch.6 + Ch.14 · WSTUN tunnel · Designate optional · book weather vs lab nginx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ModuleF_WebServices_WoT_EN.pptx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Validate: ./training/validate-lab-wstun.sh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G — Federated Learning (ADV, +60–90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Ch.19 · Flower server · 3 edge clients · requires Module D complete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ModuleG_FederatedLearning_EN.pptx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 NOT run simultaneously with Module H (K3s RAM gate)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H — SLICES Blueprint &amp; K3s (ADV, +45–60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Ch.11 · Crossplane provider + K3s deploy · GitOps for IoT fleets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ModuleH_Blueprint_K3s_EN.pptx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K3s cluster should be installed before the session on a dedicated VM.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Module I — FaaS &amp; Deviceless (ADV, +30–45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1691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Ch.7 theory · sync HelloName vs async environmental on same LR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Deck: ModuleI_FaaS_Deviceless_EN.pptx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No new infrastructure — conceptual bridge across Modules B, C, 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Validation scripts &amp; lab hygiene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./training/validate-lab.sh — core 18 checks after Module A–C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./training/validate-lab-multiboard.sh · validate-lab-vn.sh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./training/validate-lab-wstun.sh · validate-lab-fl.sh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Run relevant script before each module; fix failures before proceeding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B45"/>
                </a:solidFill>
                <a:latin typeface="Calibri"/>
              </a:defRPr>
            </a:pPr>
            <a:r>
              <a:t>Lab prerequisites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4168"/>
            <a:ext cx="1115568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Docker and Docker Compose installed; user in the docker group.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Horizon: http://{{VM_IP}}/horizon — credentials admin / s4t.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Lightning-Rod UI: http://{{VM_IP}}:1474 — credentials me / arancino.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7474F"/>
                </a:solidFill>
                <a:latin typeface="Calibri"/>
              </a:defRPr>
            </a:pPr>
            <a:r>
              <a:t>▸  At least 4 GB free RAM (8 GB if running Module G or 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B2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0A4AE"/>
                </a:solidFill>
                <a:latin typeface="Calibri"/>
              </a:defRPr>
            </a:pPr>
            <a:r>
              <a:t>Assembling Smart CPS · Stack4Things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