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6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6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02920"/>
            <a:ext cx="2011680" cy="347472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S4T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Calibri"/>
              </a:defRPr>
            </a:pPr>
            <a:r>
              <a:t>Live Deploy — Stack4Things I/Ocloud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52044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B2EBF2"/>
                </a:solidFill>
                <a:latin typeface="Calibri"/>
              </a:defRPr>
            </a:pPr>
            <a:r>
              <a:t>Module A — Deploy Stack4Things I/Ocloud · Ch.4 + Ch.13 · 60 min</a:t>
            </a:r>
          </a:p>
          <a:p>
            <a:pPr>
              <a:spcAft>
                <a:spcPts val="400"/>
              </a:spcAft>
              <a:defRPr sz="2000" b="0">
                <a:solidFill>
                  <a:srgbClr val="B2EBF2"/>
                </a:solidFill>
                <a:latin typeface="Calibri"/>
              </a:defRPr>
            </a:pPr>
            <a:r>
              <a:t>Lab host: {{VM_IP}} — replace with your machine 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0A4AE"/>
                </a:solidFill>
                <a:latin typeface="Calibri"/>
              </a:defRPr>
            </a:pPr>
            <a:r>
              <a:t>Assembling Smart CPS · Part II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394960"/>
            <a:ext cx="3200400" cy="36576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Where this lab sits in the 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Book Introduction · Part I / Part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Part I vs Part II — reading map (1/2)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Part I (Chapters 1–12) establishes the theoretical foundations of the cloud continuum, the I/Ocloud paradigm, the Web of Things, and the Blueprint methodology for smart CPS.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Part II (Chapters 13–21) moves from architecture to practice: deploy Stack4Things, inject plugins, build urban services, and study real case studies.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Module A is the mandatory entry point for all Part II hands-on work — without a running I/Ocloud and an Active board, Modules B through I cannot proceed.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Today's session combines Chapter 4 (why Stack4Things exists) with Chapter 13 (how to deploy it reproducibly using Docker Compose).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book authors (Longo, Merlino, Puliafito, Benomar — MDSLab, University of Messina) designed S4T as an OpenStack extension for IoT fleet management.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By the end of this hour you will have reproduced the S4T testbed that every subsequent chapter assumes as its starting environment.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Ch.4 abstract · Ch.13 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Part I vs Part II — reading map (2/2)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Chapter 4 introduces the I/Ocloud as an architectural abstraction that elevates sensors, actuators, and edge devices into first-class programmable cloud resources.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Chapter 13 operationalises that vision: clone the IoTronic repository, launch containers, register a virtual board, and verify cloud-to-edge connectivity.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Module B (Ch.14) will inject synchronous and asynchronous plugins onto the board you register today.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Module C (Ch.15) will stream environmental sensor data from an async plugin into InfluxDB.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training lab uses Docker-only deployment instead of the book's VirtualBox VM path — same services, faster provisioning, identical learning outcomes.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Keep the distinction clear: theory from Ch.4 explains *why*; Ch.13 explains *how* to deploy.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Module A — learning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Clone the ch13 repository and start the full S4T stack with Docker Compose plus the lab overlay.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Verify the IoTronic Conductor REST API responds and the Horizon dashboard is reachable.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Register a virtual board in Horizon and configure Lightning-Rod to reach Active state.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Deliverable: screenshot of board Active in Horizon + successful API curl against :8812.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Run training/validate-lab.sh to confirm the environment is ready for Module B.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Chapter 4 — I/Ocloud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Why Stack4Things exists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Ch.4 § Integrating IoT and the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Integrating IoT and the cloud (Ch.4 §4.1)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proliferation of embedded smart devices across cities and industries makes vertical ad-hoc solutions ineffective at scale.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IoT and cloud integration is presented in the book as a winning strategy to manage both the volume of data and the number of connected devices.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Rather than inventing new infrastructure tooling, the authors propose extending OpenStack — the de-facto open-source IaaS platform — toward Cyber-Physical Systems.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OpenStack already manages virtualised compute and storage; Stack4Things extends it to manage sensor- and actuator-hosting nodes at the network edge.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On the board side the reference platforms are open-source devices such as 4rancino and Arduino YUN, running Linux distributions like Arancino OS on the MPU.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I/Ocloud vision treats physical I/O pins and connected transducers as cloud-manageable resources, not isolated firmware silos.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Ch.4 § I/Ocloud design considerations · fig:chap04:Stack4Things-pillar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I/Ocloud design considerations (Ch.4 §4.1.1)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I/Ocloud extends OpenStack's virtual infrastructure manager to encompass IoT devices as programmable entities within a unified cloud-native ecosystem.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Unlike rigid predefined schemes for mixing resources, the IaaS approach to IoT nodes offers higher degrees of freedom when engineering any vertical application.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Leveraging an industrial-strength open-source IaaS brings built-in role-based authentication, delegation, and service-oriented governance that ad-hoc IoT platforms lack.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 novel subsystem called IoTronic is introduced specifically for provisioning configuration and tasks for board-hosted sensing and actuation resources.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In the conceptual architecture, a diamond-shaped board replaces the traditional VM box, with interactions described along the control and data paths.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Integrating IoT management into OpenStack had not been independently explored by the community before Stack4Things — making this a genuinely novel research contribution.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Ch.4 § Cloud side: IoTronic · fig:chap04:S4T-cloud-arch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OpenStack extension — IoTronic subsystem (Ch.4 §4.2)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IoTronic is modelled after standard OpenStack services (Nova, Neutron, Keystone) and exposes a REST interface for managing remote IoT nodes.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IoTronic Conductor is the core component: it manages the database, dispatches RPCs among internal microservices, and orchestrates board lifecycle events.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IoTronic API server exposes REST endpoints for boards, plugins, services, and telemetry — accessible via CLI client or Web browser.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OpenStack Horizon has been enhanced with an S4T dashboard panel for visual board management, plugin injection, and service orchestration.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IoTronic WAMP agent acts as a bridge between AMQP-internal messaging and WAMP messages sent to edge boards via Crossbar.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IoTronic WS tunnel agent (WSTUN) wraps the WebSocket server that boards connect to for reverse-tunnel access to board-hosted services.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Stack4Things pillars (Ch.4)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42260" y="1426464"/>
            <a:ext cx="7107173" cy="4123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4t-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412" y="1499616"/>
            <a:ext cx="6960869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6875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7474F"/>
                </a:solidFill>
                <a:latin typeface="Calibri"/>
              </a:defRPr>
            </a:pPr>
            <a:r>
              <a:t>OpenStack core + IoTronic + Lightning-Rod — reference architecture from Ch.4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Diagram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Ch.4 § Remote configuration · WAMP routed RPC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WAMP — routed RPC for NAT traversal (Ch.4 §4.2.1)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Traditional RPC client-server models fail when IoT devices sit behind NATs, firewalls, or cellular networks with frequently changing IP addresses.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Routed RPCs (rRPCs) solve this by introducing a broker that routes calls dynamically, keeping communication possible even when direct IP reachability is impossible.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Web Application Messaging Protocol (WAMP) is a real-time, routed messaging protocol designed specifically for these networking challenges.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With WAMP, devices do not need to know each other's IP addresses — messages are routed through a Dealer (router) that bypasses NAT and firewall restrictions.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Connections remain persistent over WebSockets, reducing the overhead of frequent reconnections that plague polling-based approaches.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WAMP supports both Remote Procedure Calls and Publish/Subscribe patterns — RPC is not available in plain AMQP, which is why S4T chose WAMP for board interactions.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Ch.4 · fig:chap04:WAMP-steps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WAMP call procedure — Caller, Dealer, Callee (Ch.4)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 Callee registers a procedure at the Dealer under an abstract URI identifying the procedure (step 1 in the book's WAMP sequence diagram).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Dealer maintains a registry mapping procedure URIs to the Callees that implement them.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To invoke a remote procedure, the Caller sends the procedure URI to the Dealer (step 2).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Dealer looks up the URI in its registry and forwards the call to the correct Callee.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When execution completes, the Dealer retrieves the result and returns it to the Caller (step 3).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Neither Caller nor Callee needs direct network knowledge of the other — all routing is handled at the WAMP level by Crossbar in the S4T deployment.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In our lab, Lightning-Rod is the Callee and IoTronic components act as Callers via the WAMP agent bridge.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Ch.4 § Service forwarding mechanism · fig:chap04:service-forwarding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WebSocket reverse tunneling — WSTUN (Ch.4 §4.2.2)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Boards in restrictive IPv4 deployments can almost always initiate outgoing HTTP/HTTPS traffic, even when inbound connections are blocked by NAT or firewall rules.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Stack4Things implements a novel reverse tunneling technique: the board initiates a WebSocket connection to the cloud, and the cloud exposes a TCP port for external clients.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When an external client connects to the cloud-side TCP port, the tunnel server signals the board through the control WebSocket to open a data tunnel.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TCP segments are piped through the WebSocket tunnel, allowing cloud-triggered reachability to any board-hosted service (SSH, HTTP, custom daemons).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This design enables server-initiated connectivity without port forwarding or VPNs — critical for large-scale IoT fleet management.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WSTUN (iotronic-wstun container) implements this mechanism on port 8080 in the lab stack.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Module F (Ch.14 web services) will demonstrate exposing an edge HTTP service through this tunnel.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Ch.4 § Device side: Lightning-Rod · fig:chap04:LR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Lightning-Rod — the edge agent (Ch.4 §4.3)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Lightning-Rod (LR) runs on the board's MPU and is the single point of contact between the physical device and the cloud infrastructure.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LR engine connects to Crossbar via a WebSocket full-duplex WAMP channel, sending and receiving commands from IoTronic in the cloud.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LR can interact with digital/analog I/O pins through MCUIO sysfs libraries, with OS tools (filesystem, package manager, services), and with user-injected plugins.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plugin loader allows custom Python Workers to be injected from the cloud and executed on the board — the foundation for Modules B and C.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LR also acts as a WebSocket reverse tunnel client, enabling external users to reach board-internal services through the cloud-side WSTUN agent.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In the emulated lab environment, Lightning-Rod runs inside a Docker container that simulates a virtual board — no physical hardware is required.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Stack4Things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Cloud ↔ edge messaging planes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Ch.4 § Stack4Things architecture · Ch.13 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What is Stack4Things? — platform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Stack4Things (S4T) is open-source middleware for IoT fleet management built on top of OpenStack, extending cloud orchestration to the network edge.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IoTronic is the cloud-side controller providing REST API, Horizon UI, and MariaDB-backed persistence for boards, plugins, and services.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Lightning-Rod is the device-side agent providing plugin runtime, WAMP client, and local I/O abstraction on each board.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S4T is designed with modular architecture: individual components can be developed, deployed, and updated independently.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All services are containerised and orchestrated via Docker Compose for reproducible single-host testbed deployments.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book positions S4T as the instantiation of the I/Ocloud vision within the OpenStack ecosystem.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Ch.13 · Ch.4 § Architecture overview · Ch.16 MACM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Logical architecture — three communication planes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control plane comprises IoTronic Conductor, Keystone identity service, and the plugin/service registry exposed through Horizon and REST.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messaging plane uses RabbitMQ (AMQP) for internal microservice coordination and Crossbar (WAMP) for bidirectional cloud-to-board RPC and pub/sub.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data/tunnel plane is implemented by WSTUN (iotronic-wstun), providing reverse WebSocket tunnels for NAT traversal to board-hosted services.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edge plane is Lightning-Rod on each board, connecting local I/O, plugins, and OS resources to the three cloud planes above.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IoTronic WAMP agent translates AMQP messages from internal services into WAMP messages routed through Crossbar to the correct board.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This separation of planes allows each layer to scale independently — multiple WAMP agents and WSTUN instances can be instantiated for redundancy.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IoTronic REST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Ch.4 — nodes, pins, services, plugins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Ch.4 § Stack4Things REST API · table:api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Stack4Things REST API — resource groups (Ch.4)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Table table:api documents IoTronic v0.1 endpoints grouped by resource type.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Nodes: GET /v1/nodes lists registered boards; GET /v1/nodes/{uuid} returns board metadata.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Pins: read/set GPIO modes and values — REST hides WAMP complexity for I/O abstraction.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Services: activate or delete forwarded services (SSH, HTTP) on a board via JSON body.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Plugins: GET/POST/DELETE /v1/nodes/{uuid}/plugins — same inject/remove semantics as Horizon.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Lab health check curl http://{{VM_IP}}:8812/ maps to modern Conductor root; book uses v0.1 paths.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Ch.4 § List of nodes · fig:chap04:list-node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Use case — list registered nodes (Ch.4)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Prerequisite: one or more boards already registered in IoTronic MariaDB.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Horizon or CLI issues GET /v1/nodes → message on RabbitMQ AMQP queue.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Conductor queries MariaDB and returns NodeCollection JSON with UUID and description links.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No board interaction required — listing is purely cloud-side metadata.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Optional: Conductor queries WAMP presence on demand for live connectivity status.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Alternative: WAMP agents periodically write connectivity into DB — trades freshness for API speed.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Ch.4 § Service forwarding · fig:chap04:enable-ssh · WSTUN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Use case — SSH service forwarding via WSTUN (Ch.4)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User requests SSH to board port 22 through Horizon — REST call #10 in table:api.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Boards behind NAT cannot accept inbound SSH; a board-initiated reverse tunnel is required.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Conductor picks a free TCP port on WSTUN agent and signals LR via WAMP.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Lightning-Rod opens WebSocket tunnel to WSTUN and pipes traffic to local sshd.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User receives cloud IP + port — same reverse-channel pattern reused for HTTP in Module F.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Module F WSTUN demos are the HTTP analogue of this classic SSH forwarding workflow.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Ch.4 § I/Ocloud implementation · fig:chap04:S4T-IOcloud · YUN virtuali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I/Ocloud virtual filesystem — FUSE drivers (Ch.4)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Beyond REST, S4T exposes remote board I/O as a virtual POSIX filesystem via FUSE.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Plugin Node.js drivers map sensors/actuators to filesystem paths — cloud VMs mount remote pins.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MCUIO hypervisor virtualizes Arduino YUN GPIO across containers with access control.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Design trade-off: interactive apps keep VNs near sensors; compute-heavy tasks migrate to cloud.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Training lab focuses on Docker Compose + REST; FUSE path is production/research extension.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Connects I/Ocloud theory (Ch.4) to environmental plugins (Ch.15) as callable functions.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Docker &amp; Docker 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Why containers for S4T deployment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Ch.13 §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Docker — portability and isolation (Ch.13 §13.2)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Docker is an open-source platform for building, shipping, and running applications inside lightweight, portable containers.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Unlike virtual machines that emulate an entire operating system, containers encapsulate only the application and its dependencies, sharing the host kernel.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Portability enables the write-once-run-anywhere paradigm: a Stack4Things component deployed on Ubuntu 22.04 behaves identically on any host with Docker installed.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Isolation prevents dependency conflicts by encapsulating each service in its own container with independent filesystem, network namespace, and process tree.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Docker builds on Linux cgroups and namespaces, offering a higher-level abstraction accessible through CLI and REST APIs.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This reproducibility makes containers especially suitable for research prototyping, training labs, and production deployments alike.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Ch.13 § Docker · scalability bullet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Docker — efficiency and scalability (Ch.13 §13.2)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Containers consume significantly fewer system resources than virtual machines because they share the host operating system kernel rather than duplicating it.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 full S4T stack with ten or more services runs comfortably on a VM with 4 GB RAM — impossible with equivalent VM-per-service virtualization.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Docker integrates seamlessly with orchestration tools such as Docker Compose and Kubernetes to facilitate automated deployment and dynamic scaling.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For the training lab, a single docker compose up -d command replaces hours of manual per-service installation and configuration.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book's alternative path uses Oracle VirtualBox with Ubuntu 22.04 — functionally equivalent but slower to provision for a 60-minute session.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Scaling beyond single-host Compose deployments toward Kubernetes is covered in Chapter 11 for production-grade multi-node environments.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Ch.13 §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Docker Compose — multi-container orchestration (Ch.13 §13.2)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Docker Compose extends Docker by enabling definition and management of multi-container applications through a declarative YAML configuration file.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Real-world systems consist of interconnected services (databases, message brokers, API servers) that must be orchestrated together with explicit dependency ordering.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Compose describes services, their dependencies (depends_on), networks, and storage volumes in a single docker-compose.yml file.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 single command — docker compose up -d — brings up the entire S4T application stack, eliminating manual container creation and wiring.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Compose manages service dependencies and coordinates the lifecycle of multiple containers as a cohesive application.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Internally Compose relies on the Docker Engine but provides declarative reproducibility ideal for prototyping, experimentation, and CI/CD pipelines.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For Stack4Things, Compose defines and launches IoTronic, Crossbar, MariaDB, RabbitMQ, Keystone, WSTUN, and Lightning-Rod in one unified environment.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S4T services &amp; 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Ch.13 Table — comprehensive service map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Ch.13 · tab:S4T-services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S4T services — API, messaging, persistence (Ch.13 Table)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IoTronic Conductor API: central RESTful interface for boards, plugins, services, and telemetry — exposed on port 8812 in the repository (book lists 8888).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Crossbar.io WAMP router: bidirectional RPC and pub/sub via WAMP protocol on port 8181 — Lightning-Rod connects to wss://crossbar:8181 inside the Docker network.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MariaDB database: persistent store for board metadata, user data, plugins, and services on port 3306 — controlled via MYSQL_ROOT_PASSWORD environment variable.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RabbitMQ message bus: AMQP-based internal coordination between Conductor, WAMP agent, and other IoTronic microservices on port 5672.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MQTT Broker (Mosquitto): lightweight pub/sub for IoTronic-to-Lightning-Rod communication on port 1883 in some S4T configurations.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CA Service: Certificate Authority generating TLS material for secure board authentication and encrypted internal communications.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All inter-service traffic on the internal s4t Docker network uses container hostnames for DNS resolution.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Ch.13 · tab:S4T-services · training lab overlay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S4T services — identity, UI, edge agent (Ch.13 Table)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Keystone identity service: OpenStack authentication and authorization on port 5000 — required for Horizon login and API token issuance.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IoTronic Web UI (Horizon): OpenStack dashboard enhanced with S4T IoT panel on port 80 — credentials admin / s4t.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Lightning-Rod agent: edge software executing remote tasks, running plugins, and maintaining WAMP session — local UI on port 1474.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IoT WSTUN (iotronic-wstun): reverse WebSocket tunnel server on port 8080 for exposing board-hosted services to external clients.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WebSocket (WS) agent: alternative reverse tunneling on port 8083 in some configurations.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InfluxDB (lab overlay only): time-series database on port 8086 for Module C environmental data — not in the upstream ch13 compose file.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RabbitMQ management UI is optionally available on port 15672 for queue inspection during troubleshooting.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Ch.4 § IoTronic WAMP agent · Ch.13 service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Internal messaging — AMQP bridge to WAMP (Ch.4 + Ch.13)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All communication among IoTronic internal components travels over the network via AMQP queues on RabbitMQ, following standard OpenStack microservice philosophy.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This AMQP bus allows components to be deployed on different machines without affecting service functionality — enabling horizontal scalability.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IoTronic WAMP agent (iotronic-wagent container) translates AMQP messages into WAMP messages and vice versa for board-facing communication.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Multiple WAMP agents and WSTUN instances can be instantiated, each handling a subset of IoT devices for redundancy and high availability.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WAMP was chosen over extending AMQP to boards because it is a WebSocket subprotocol supporting both RPC and Publish/Subscribe — RPC is not natively available in AMQP.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Crossbar serves as the WAMP Dealer: Lightning-Rod registers procedures, IoTronic invokes them.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WAMP realm used in the lab is s4t — all LR agents authenticate against this realm.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Compose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Services, networks, lab overlay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Ch.13 deploy walkthrough · docker-compose.yml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docker-compose.yml — service roles and dependencies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32918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ca_service generates the Root CA and Crossbar TLS certificates into the shared iotronic_ssl volume.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crossbar starts the WAMP router on port 8181, depending on CA certificates being present.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iotronic-db (MariaDB) and rabbitmq must pass healthchecks before downstream services start.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keystone provides OpenStack identity — Horizon and Conductor authenticate against it on port 5000.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iotronic-conductor is the core REST API and orchestration logic, healthy on port 8812.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iotronic-wagent bridges AMQP internal bus to WAMP messages for board communication.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iotronic-wstun provides reverse WebSocket tunnels on port 8080 for board service exposure.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iotronic-ui (Horizon) and lightning-rod provide operator dashboards on ports 80 and 1474.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Ch.13 networking section · Ch.13 § Configuration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Docker network s4t — internal DNS resolution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All S4T containers are placed on a user-defined bridge network named s4t.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Docker's embedded DNS resolves container service names as hostnames within the network.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Lightning-Rod reaches Crossbar at wss://crossbar:8181 — not localhost, not the host IP.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IoTronic Conductor connects to iotronic-db, rabbitmq, and keystone using their service names.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This eliminates manual IP configuration and makes the compose file portable across hosts.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Port mappings (e.g. 80:80, 8812:8812) expose selected services to the host for browser and curl access.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Limitation: this single-host s4t network is designed for local development and training — multi-host production requires additional networking (Ch.11 Kubernetes).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Training material — patches/docker-compose.lab.yml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Lab overlay — training patches (not in book repo)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training/patches/docker-compose.lab.yml extends the upstream ch13 docker-compose.yml.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Fixes ca_service: replaces EOL debian:buster with alpine:3.19 + openssl for certificate generation.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Fixes Lightning-Rod image: mdslab/lrod:compose replaces a broken @sha256 placeholder in upstream.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Mounts /var/run/docker.sock into LR — enables the Ch.14 Docker lifecycle plugin demo in Module B.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Adds influxdb:1.8 on network s4t with hostname influxdb — required for Module C CSV ingestion.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Adds lightning-rod-2 and lightning-rod-3 on ports 1475 and 1476 for multi-board modules later.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Always launch with both compose files: -f docker-compose.yml -f ../../patches/docker-compose.lab.yml.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417320" cy="329184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⚠  BOOK ↔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BF360C"/>
                </a:solidFill>
                <a:latin typeface="Calibri"/>
              </a:defRPr>
            </a:pPr>
            <a:r>
              <a:t>Book ↔ repository corrections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11556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104241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API port: book documents :8888 → repository exposes Conductor on :8812 — use curl http://{{VM_IP}}:8812/.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Horizon dashboard: http://{{VM_IP}}/horizon — credentials admin / s4t.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Lightning-Rod UI: http://{{VM_IP}}:1474 — credentials me / arancino.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Boards panel URL: /horizon/iot/ (NOT /horizon/iot/boards/ — that path returns 404).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WAMP inside Docker: wss://crossbar:8181 — never use localhost or {{VM_IP}} from inside LR container.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Lab: deploy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Docker Compose + lab overlay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868680" cy="310896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Module A — expected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115568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10424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You will prove that the full S4T cloud-side stack runs reproducibly on a single training VM.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You will confirm the IoTronic Conductor REST API responds with HTTP 200 on port 8812.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You will log into Horizon and navigate to the IoT Boards panel without authentication errors.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You will register a virtual board and configure Lightning-Rod to establish a WAMP session.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You will observe the board transition to Active state — the mandatory gate for Modules B–I.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This deployment connects Ch.4 theory (I/Ocloud, WAMP, WSTUN) to Ch.13 practice (Compose, onboarding).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Every subsequent module assumes today's stack is running and at least one board is Active.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Demo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Environment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300" b="0">
                <a:solidFill>
                  <a:srgbClr val="0D2B45"/>
                </a:solidFill>
                <a:latin typeface="Consolas"/>
              </a:defRPr>
            </a:pPr>
            <a:r>
              <a:t>$ docker --version &amp;&amp; docker compose version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 b="0">
                <a:solidFill>
                  <a:srgbClr val="0D2B45"/>
                </a:solidFill>
                <a:latin typeface="Consolas"/>
              </a:defRPr>
            </a:pPr>
            <a:r>
              <a:t>$ groups | grep docker # user must be in docker group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 b="0">
                <a:solidFill>
                  <a:srgbClr val="0D2B45"/>
                </a:solidFill>
                <a:latin typeface="Consolas"/>
              </a:defRPr>
            </a:pPr>
            <a:r>
              <a:t>$ free -h # ≥ 4 GB free RAM recommended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 b="0">
                <a:solidFill>
                  <a:srgbClr val="0D2B45"/>
                </a:solidFill>
                <a:latin typeface="Consolas"/>
              </a:defRPr>
            </a:pPr>
            <a:r>
              <a:t>$ git clone https://github.com/AssemblingSmartCPS/ch13.git training/repos/ch13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Start the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300" b="0">
                <a:solidFill>
                  <a:srgbClr val="0D2B45"/>
                </a:solidFill>
                <a:latin typeface="Consolas"/>
              </a:defRPr>
            </a:pPr>
            <a:r>
              <a:t>$ cd training/repos/ch13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 b="0">
                <a:solidFill>
                  <a:srgbClr val="0D2B45"/>
                </a:solidFill>
                <a:latin typeface="Consolas"/>
              </a:defRPr>
            </a:pPr>
            <a:r>
              <a:t>$ docker compose -f docker-compose.yml \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-f ../../patches/docker-compose.lab.yml up -d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First boot: 15–25 min (image pull + MariaDB init + CA certificate generation).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Monitor with: docker compose ps and docker compose logs -f crossbar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868680" cy="310896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First-boot timing — why Compose starts early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First boot is I/O-bound: Docker pulls ~2 GB of images and MariaDB runs schema migrations.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CA certificate generation must complete before Crossbar can start its WAMP router.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Keystone database initialisation and RabbitMQ healthcheck add several minutes of startup time.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Use the waiting period to study boot order, CA/TLS, and service roles in the theory slides.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Monitor with docker compose ps — look for (healthy) status on db, rabbitmq, and conductor.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If any container restart-loops, the troubleshooting section at the end provides diagnostic steps.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Demo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Horizon IoT — Boards panel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8975" y="1426464"/>
            <a:ext cx="6333744" cy="4123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orizon-boards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127" y="1499616"/>
            <a:ext cx="6187440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6875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7474F"/>
                </a:solidFill>
                <a:latin typeface="Calibri"/>
              </a:defRPr>
            </a:pPr>
            <a:r>
              <a:t>http://{{VM_IP}}/horizon/iot/ — target UI for board registration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Ch.13 · operational sequencing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Boot order — infrastructure layer (Ch.13)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Step 1: ca_service writes Root CA and Crossbar TLS certificates to the iotronic_ssl shared volume.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Step 2: iotronic-db (MariaDB) starts and must pass its healthcheck before any service needing persistence.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Step 3: rabbitmq starts and must pass its healthcheck — the AMQP bus must be ready for microservices.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Step 4: keystone starts, initialising the OpenStack identity database for Horizon authentication.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If MariaDB or RabbitMQ fail healthchecks, all downstream services will remain in a waiting state.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Inspect with: docker compose logs iotronic-db and docker compose logs rabbitmq.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Typical first-boot delay: 5–10 minutes for database schema creation alone.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Ch.13 · operational sequencing · fig:chap13:Docker-compose-ok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Boot order — application layer (Ch.13)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Step 5: crossbar starts the WAMP router on port 8181, mounting certificates from iotronic_ssl.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Step 6: iotronic-wagent starts, connecting to both RabbitMQ (AMQP) and Crossbar (WAMP).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Step 7: iotronic-wstun starts the reverse tunnel server on port 8080 with TLS from iotronic_ssl.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Step 8: iotronic-conductor starts the REST API, becoming healthy on port 8812.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Step 9: iotronic-ui (Horizon) becomes reachable on port 80 after Keystone is ready.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Step 10: lightning-rod container starts with its local configuration UI on port 1474.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Healthy stack indicator: docker compose ps shows (healthy) for db, rabbitmq, and conductor.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While waiting — monitor in terminal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300" b="0">
                <a:solidFill>
                  <a:srgbClr val="0D2B45"/>
                </a:solidFill>
                <a:latin typeface="Consolas"/>
              </a:defRPr>
            </a:pPr>
            <a:r>
              <a:t>$ docker compose -f docker-compose.yml \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-f ../../patches/docker-compose.lab.yml ps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 b="0">
                <a:solidFill>
                  <a:srgbClr val="0D2B45"/>
                </a:solidFill>
                <a:latin typeface="Consolas"/>
              </a:defRPr>
            </a:pPr>
            <a:r>
              <a:t>$ docker compose logs -f crossbar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 b="0">
                <a:solidFill>
                  <a:srgbClr val="0D2B45"/>
                </a:solidFill>
                <a:latin typeface="Consolas"/>
              </a:defRPr>
            </a:pPr>
            <a:r>
              <a:t>$ docker compose logs -f iotronic-conductor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Healthy = (healthy) in ps output for iotronic-db, rabbitmq, iotronic-conductor.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Ch.16 — CA secures internal tunnel communications · Ch.13 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CA service &amp; TLS certificate chain (Ch.13 + Ch.16)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Certificate Authority container (ca_service) generates a Root CA key and certificate plus a Crossbar-specific key and signed certificate.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All TLS material is written to the iotronic_ssl Docker volume, shared by crossbar, iotronic-wstun, and other components requiring encrypted communications.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Crossbar mounts iotronic_ssl at /node/.crossbar/ssl and starts WAMP over wss:// on port 8181.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If Crossbar enters a restart loop, inspect ca_service logs: docker compose logs ca_service.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lab overlay uses alpine:3.19 instead of debian:buster because Buster apt repositories are EOL.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WAMP endpoint inside Docker: wss://crossbar:8181 in realm s4t — TLS is terminated at Crossbar.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Never delete iotronic_ssl volume while the stack is running — Crossbar will lose its certificates.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Ch.13 · Crossbar service · Ch.4 WAMP Dealer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Crossbar — WAMP router configuration (Ch.13)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Crossbar.io is the WAMP Dealer that routes RPC calls and pub/sub messages between IoTronic and boards.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Lightning-Rod connects as a Callee, registering board procedures under URIs in the s4t realm.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IoTronic WAMP agent connects as a Caller, invoking board procedures on behalf of REST API requests.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Crossbar requires valid TLS certificates from ca_service before it can accept wss:// connections.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Port 8181 is mapped to the host for debugging but LR must use the internal hostname crossbar.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If WAMP session fails, check: (1) Crossbar healthy, (2) certificates present, (3) LR uses wss:// not ws://.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Crossbar logs show registration events when LR successfully connects and registers procedures.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Ch.13 service table · Ch.13 § 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MariaDB — IoTronic persistence layer (Ch.13)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MariaDB (iotronic-db container) stores all persistent IoTronic state on port 3306.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Board registrations, UUIDs, user associations, and tenant mappings are stored in the IoTronic schema.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Plugin definitions, injection records, and service catalog entries persist across container restarts.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Data is stored in the unime_iotronic_db_data Docker volume — survives docker compose down without -v.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Connection string is configured via DB_CONNECTION in .env: mysql+pymysql://user:pass@iotronic-db/iotronic.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If Conductor fails with database connection errors, verify iotronic-db shows (healthy) in compose ps.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Wiping unime_iotronic_db_data forces full re-initialisation — all board registrations are lost.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Ch.13 service table · Ch.4 § AMQP internal 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RabbitMQ — internal AMQP message bus (Ch.13)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RabbitMQ provides the AMQP message bus for asynchronous coordination among IoTronic microservices.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Conductor publishes commands and events that WAMP agent, WSTUN, and other workers consume.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Default AMQP port is 5672; management UI is available on 15672 for queue depth inspection.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RabbitMQ must pass its healthcheck before iotronic-conductor and iotronic-wagent can start.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Message orientation, queueing, routing (point-to-point and pub/sub), and reliability are provided by the AMQP open standard.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If services hang at startup, check RabbitMQ logs: docker compose logs rabbitmq.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RabbitMQ data persists in its own Docker volume — queue state survives container restarts.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Ch.13 service table · Ch.4 § OpenStack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Keystone — OpenStack identity service (Ch.13)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Keystone provides authentication and authorization for Horizon and IoTronic API access.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Horizon login uses Keystone credentials: admin / s4t in the lab environment.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API requests to Conductor include Keystone-issued tokens when auth_strategy=keystone in iotronic.conf.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Keystone runs on port 5000 inside the s4t network; iotronic-conductor references http://keystone:5000.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OpenStack role-based access model from Ch.4 applies: users, projects, and domains are managed through Keystone's identity backend.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If Horizon shows authentication errors, verify keystone container is running and its database initialised: docker compose logs keystone.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Keystone is a standard OpenStack service — the same identity layer used by Nova, Neutron, and Glance.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Verify API and dashboards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300" b="0">
                <a:solidFill>
                  <a:srgbClr val="0D2B45"/>
                </a:solidFill>
                <a:latin typeface="Consolas"/>
              </a:defRPr>
            </a:pPr>
            <a:r>
              <a:t>$ curl -s -o /dev/null -w '%{http_code}\n' http://{{VM_IP}}:8812/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Browser: http://{{VM_IP}}/horizon (admin / s4t)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Browser: http://{{VM_IP}}:1474 (me / arancino)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Expected: HTTP 200 or 302 — not 000 (connection refused) or 502 (upstream not ready).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Horizon — login screen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8975" y="1426464"/>
            <a:ext cx="6333744" cy="4123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orizon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127" y="1499616"/>
            <a:ext cx="6187440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6875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7474F"/>
                </a:solidFill>
                <a:latin typeface="Calibri"/>
              </a:defRPr>
            </a:pPr>
            <a:r>
              <a:t>http://{{VM_IP}}/horizon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Horizon — after login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8975" y="1426464"/>
            <a:ext cx="6333744" cy="4123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orizon-after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127" y="1499616"/>
            <a:ext cx="6187440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6875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7474F"/>
                </a:solidFill>
                <a:latin typeface="Calibri"/>
              </a:defRPr>
            </a:pPr>
            <a:r>
              <a:t>OpenStack admin dashboard — navigate to IoT section in left sidebar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Board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Cloud registration + edge agent configuration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Ch.13 § Setting up Stack4Things · § Adding a new virtual IoT device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Virtual board concept — emulated IoT device (Ch.13)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In the emulated lab environment, the IoT device is a Lightning-Rod Docker container, not physical hardware.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Horizon Create Board allocates a unique UUID and registration code stored in the IoTronic MariaDB.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registration code acts as a one-time credential allowing the LR agent to bind to the cloud record.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Board states progress: registered → first_boot → online/Active when WAMP session is established.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An Active board can receive plugin injections, service deployments, and WSTUN tunnel requests.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Multiple virtual boards can coexist: lightning-rod (1474), lightning-rod-2 (1475), lightning-rod-3 (1476).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book describes adding a second board on a separate VM — the lab uses additional LR containers instead.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Ch.13 · fig:chap13:New-IoT · fig:chap13:blist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Board lifecycle and Horizon management (Ch.13)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Navigate to Horizon → IoT → Boards to see all registered boards with ID, name, fleet, and status.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Create Board form requires: board name, description, and device type — tags are optional.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After submission, Horizon displays the board UUID and registration code — copy both immediately.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registration code must be pasted into Lightning-Rod Configuration before the agent can connect.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Board status in Horizon updates in real time as LR establishes or loses its WAMP session.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Fleet assignment groups boards for coordinated plugin injection in Module B (Ch.14 fleet management).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Deleting a board in Horizon does not automatically stop the LR container — reconfigure or restart LR separately.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868680" cy="310896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What board onboarding proves — theory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115568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10424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Onboarding demonstrates that IoTronic's cloud registry and the edge LR agent can establish a secure, persistent WAMP session through Crossbar.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It validates the Ch.4 routed RPC model: LR registers procedures, IoTronic invokes them without direct IP reachability.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It confirms Keystone authentication works end-to-end: Horizon login, board creation, API access.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It proves the CA/TLS chain is functional: LR connects via wss:// with valid Crossbar certificates.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An Active board is the prerequisite for plugin injection (Module B), environmental data (Module C), and web service exposure (Module F).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Without Active state, WSTUN tunnels cannot be established and no edge service is reachable.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Take a screenshot of the Active board — it is the mandatory Module A deliverable.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Demo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UML sequence — Board onboarding (Module 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58663" y="1426464"/>
            <a:ext cx="6474367" cy="4123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q-board-onboar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815" y="1499616"/>
            <a:ext cx="6328063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6875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7474F"/>
                </a:solidFill>
                <a:latin typeface="Calibri"/>
              </a:defRPr>
            </a:pPr>
            <a:r>
              <a:t>Horizon → Conductor → Crossbar → Lightning-Rod → Active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Diagram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Create Board on Horizon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Horizon → IoT → Boards → + Create Board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Fill: name (e.g. board-alpha), description, device type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Copy registration code and board UUID shown after create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Book reference: Ch.13 fig. sshot-create-board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Book figure — Create Board (Ch.13)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935" y="1426464"/>
            <a:ext cx="10021824" cy="39909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shot-create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87" y="1499616"/>
            <a:ext cx="9875520" cy="38446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55459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7474F"/>
                </a:solidFill>
                <a:latin typeface="Calibri"/>
              </a:defRPr>
            </a:pPr>
            <a:r>
              <a:t>Reference UI fields from book — name, description, device 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Ch.13 step-by-step onboarding · fig:chap13:lrconf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Lightning-Rod configuration fields (Ch.13)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Open the LR web UI at http://{{VM_IP}}:1474 and log in with me / arancino.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WAMP endpoint field must be set to wss://crossbar:8181 — the internal Docker hostname.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Using localhost or {{VM_IP}} in the WAMP field will fail because LR runs inside the s4t network.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Paste the board registration code from Horizon into the designated configuration field.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Click CONFIGURE to persist settings — LR will attempt to connect to Crossbar immediately.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Navigate to the Status page: IoTronic connection must show Connected with Name and UUID populated.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LR credentials (me / arancino) are separate from Horizon credentials (admin / s4t).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Ch.4 § WAMP registration · Ch.13 § Lightning-Rod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WAMP session establishment — what happens at CONFIGURE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Lightning-Rod initiates a WebSocket connection to wss://crossbar:8181 with TLS verification.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LR authenticates to the s4t WAMP realm using the board registration code as credential.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Crossbar accepts the session and LR registers its board procedures under WAMP URIs.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IoTronic WAMP agent is notified via AMQP that a new board session is active.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Conductor updates the board record in MariaDB from registered to online/Active status.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Horizon Boards panel reflects the status change within seconds of successful WAMP registration.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If connection fails, LR Status shows error details — cross-check WAMP URL and registration code.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Lightning-Rod — login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8975" y="1426464"/>
            <a:ext cx="6333744" cy="4123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r-ui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127" y="1499616"/>
            <a:ext cx="6187440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6875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7474F"/>
                </a:solidFill>
                <a:latin typeface="Calibri"/>
              </a:defRPr>
            </a:pPr>
            <a:r>
              <a:t>http://{{VM_IP}}:1474 — me / arancino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Lightning-Rod — Configuration (live)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8975" y="1426464"/>
            <a:ext cx="6333744" cy="4123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r-dashboard-con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127" y="1499616"/>
            <a:ext cx="6187440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6875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7474F"/>
                </a:solidFill>
                <a:latin typeface="Calibri"/>
              </a:defRPr>
            </a:pPr>
            <a:r>
              <a:t>Registration code + WAMP endpoint wss://crossbar:8181 — configure before Status check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Configure Lightning-Rod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Open http://{{VM_IP}}:1474 — login me / arancino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WAMP field: wss://crossbar:8181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Paste board registration code from Horizon → click CONFIGURE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Verify Status page: Connected + board Name and UUID populated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Book figure — LR configuration (Ch.13)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935" y="1426464"/>
            <a:ext cx="10021824" cy="39909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shot-lr-con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87" y="1499616"/>
            <a:ext cx="9875520" cy="38446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55459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7474F"/>
                </a:solidFill>
                <a:latin typeface="Calibri"/>
              </a:defRPr>
            </a:pPr>
            <a:r>
              <a:t>Book reference for WAMP endpoint and board registration code fields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Lightning-Rod — Status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8975" y="1426464"/>
            <a:ext cx="6333744" cy="4123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r-dashboard-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127" y="1499616"/>
            <a:ext cx="6187440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6875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7474F"/>
                </a:solidFill>
                <a:latin typeface="Calibri"/>
              </a:defRPr>
            </a:pPr>
            <a:r>
              <a:t>Connected board — mandatory gate before Module B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Confirm Active 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Horizon → IoT → Boards → your board row shows Active/online status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LR Status: IoTronic connection Connected, Name and UUID populated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Take screenshot — mandatory deliverable before Module B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Run: cd training &amp;&amp; ./validate-lab.sh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Book figure — board info Active (Ch.13)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11952" y="1426464"/>
            <a:ext cx="8567791" cy="4123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shot-board-in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104" y="1499616"/>
            <a:ext cx="8421487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6875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7474F"/>
                </a:solidFill>
                <a:latin typeface="Calibri"/>
              </a:defRPr>
            </a:pPr>
            <a:r>
              <a:t>Target end state for Module A — board details with Active status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Ch.13 § 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Persistent volumes — data survival across restarts (Ch.13)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unime_iotronic_db_data stores MariaDB content: board registrations, users, plugins, services.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iotronic_ssl holds CA-generated TLS certificates used by Crossbar, WSTUN, and other secure services.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iotronic_logs and iotronic-ui_logs capture audit trails from Conductor and Horizon for troubleshooting.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lr_data, lr_var, lr_confs volumes persist Lightning-Rod configuration and plugin state across restarts.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docker compose down stops containers but preserves volumes — board data survives a simple restart.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docker compose down -v wipes ALL volumes — full re-onboarding required, including new board registration.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Volumes are defined in docker-compose.yml and automatically managed by Docker.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Ch.13 § Networking · § Configuration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Networking, ports, and environment variables (Ch.13)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All containers share the s4t user-defined bridge network with embedded DNS hostname resolution.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Host port mappings expose services to the training VM: 80 (Horizon), 8812 (API), 1474 (LR), 8181 (Crossbar).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Environment variables control service behaviour: DB passwords, Keystone URLs, auth strategy.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Variables can be set inline in docker-compose.yml, in .env file, or as Docker secrets for production.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This single-host configuration is designed for development, testing, and demonstration only.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Distributed multi-host deployment requires additional networking and security configuration (Ch.11).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book's configuration summary table lists all default ports and roles for reference.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Common first-boot and onboarding issues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Troubleshooting — infrastructure 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Crossbar restart loop → inspect ca_service: docker compose logs ca_service; wait for iotronic_ssl certs.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MariaDB not ready → wait for iotronic-db (healthy); Conductor will not start without it.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RabbitMQ connection refused → check rabbitmq healthcheck; restart with docker compose restart rabbitmq.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Keystone auth failure → verify keystone container running; check iotronic.conf auth_strategy=keystone.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Conductor unhealthy → docker compose logs iotronic-conductor; often a downstream dependency not ready.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Troubleshooting — edge agent and ports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Port 80 or 8812 busy → ss -tlnp | grep ':80\|:8812' — stop conflicting host services.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LR image pull error → confirm lab overlay uses mdslab/lrod:compose, not broken upstream SHA.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LR WAMP connection failed → verify wss://crossbar:8181 (not localhost); check Crossbar is healthy.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Board stays registered but not Active → re-paste registration code; restart LR: docker compose restart lightning-rod.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Horizon 404 on /horizon/iot/boards/ → use correct path /horizon/iot/ instead.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868680" cy="310896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Module A deliverable — what you submit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115568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10424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Screenshot of Horizon Boards panel showing your board in Active/online state.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Terminal output of curl returning HTTP 200 from http://{{VM_IP}}:8812/.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Confirmation that LR Status page shows Connected with correct board UUID.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Successful run of training/validate-lab.sh with no FAIL lines.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This deliverable unlocks Module B: synchronous HelloName plugin injection (Ch.14).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Keep the stack running between modules — docker compose down stops all services.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If you must restart, volumes preserve board data; LR reconnects automatically if already configured.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Demo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Module A checklist &amp; handoff to Module 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□ curl http://{{VM_IP}}:8812/ returns 200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□ Horizon login OK at http://{{VM_IP}}/horizon (admin / s4t)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□ LR login OK at http://{{VM_IP}}:1474 (me / arancino)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□ Board Active in Horizon — screenshot saved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Next: Module B — Plugins &amp; Services (Ch.14) · ./training/validate-lab.sh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