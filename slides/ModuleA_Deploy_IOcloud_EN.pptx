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In this module we will work through Live Deploy — Stack4Things I/Ocloud.</a:t>
            </a:r>
          </a:p>
          <a:p/>
          <a:p>
            <a:r>
              <a:t>Module A — Deploy Stack4Things I/Ocloud · Ch.4 + Ch.13 Lab host: {{VM_IP}} — replace with your machine IP</a:t>
            </a:r>
          </a:p>
          <a:p/>
          <a:p>
            <a:r>
              <a:t>The session alternates theory from the book with live exercises on the Stack4Things lab VM. Replace the placeholder IP with the address of the machine you are using.</a:t>
            </a:r>
          </a:p>
          <a:p/>
          <a:p>
            <a:r>
              <a:t>Assembling Smart CPS · Part II.</a:t>
            </a:r>
          </a:p>
          <a:p/>
          <a:p>
            <a:r>
              <a:t>When you're ready, advance to the first section.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Context. Where this lab sits in the book.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Part I vs Part II — reading map (1/2). This material is covered in Book Introduction · Part I / Part II.</a:t>
            </a:r>
          </a:p>
          <a:p/>
          <a:p>
            <a:r>
              <a:t>First, Part I (Chapters 1–12) establishes the theoretical foundations of the cloud continuum, the I/Ocloud paradigm, the Web of Things, and the Blueprint methodology for smart CPS. Next, Part II (Chapters 13–21) moves from architecture to practice: deploy Stack4Things, inject plugins, build urban services, and study real case studies.</a:t>
            </a:r>
          </a:p>
          <a:p/>
          <a:p>
            <a:r>
              <a:t>By contrast, Module A is the mandatory entry point for all Part II hands-on work — without a running I/Ocloud and an Active board, Modules B through I cannot proceed. We should also consider that Today's session combines Chapter 4 (why Stack4Things exists) with Chapter 13 (how to deploy it reproducibly using Docker Compose).</a:t>
            </a:r>
          </a:p>
          <a:p/>
          <a:p>
            <a:r>
              <a:t>Another key point is that The book authors (Longo, Merlino, Puliafito, Benomar — MDSLab, University of Messina) designed S4T as an OpenStack extension for IoT fleet management. Furthermore, By the end of this hour you will have reproduced the S4T testbed that every subsequent chapter assumes as its starting environment.</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Part I vs Part II — reading map (2/2). This material is covered in Ch.4 abstract · Ch.13 abstract.</a:t>
            </a:r>
          </a:p>
          <a:p/>
          <a:p>
            <a:r>
              <a:t>First, Chapter 4 introduces the I/Ocloud as an architectural abstraction that elevates sensors, actuators, and edge devices into first-class programmable cloud resources. Next, regarding chapter 13 operationalises that vision, clone the IoTronic repository, launch containers, register a virtual board, and verify cloud-to-edge connectivity.</a:t>
            </a:r>
          </a:p>
          <a:p/>
          <a:p>
            <a:r>
              <a:t>By contrast, Module B (Ch.14) will inject synchronous and asynchronous plugins onto the board you register today. We should also consider that Module C (Ch.15) will stream environmental sensor data from an async plugin into InfluxDB.</a:t>
            </a:r>
          </a:p>
          <a:p/>
          <a:p>
            <a:r>
              <a:t>Another key point is that The training lab uses Docker-only deployment instead of the book's VirtualBox VM path — same services, faster provisioning, identical learning outcomes. Furthermore, regarding keep the distinction clear, theory from Ch.4 explains *why*; Ch.13 explains *how* to deploy.</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Module A — learning objectives.</a:t>
            </a:r>
          </a:p>
          <a:p/>
          <a:p>
            <a:r>
              <a:t>First, Clone the ch13 repository and start the full S4T stack with Docker Compose plus the lab overlay. Next, Verify the IoTronic Conductor REST API responds and the Horizon dashboard is reachable.</a:t>
            </a:r>
          </a:p>
          <a:p/>
          <a:p>
            <a:r>
              <a:t>By contrast, Register a virtual board in Horizon and configure Lightning-Rod to reach Active state. We should also consider that regarding deliverable, screenshot of board Active in Horizon + successful API curl against :8812.</a:t>
            </a:r>
          </a:p>
          <a:p/>
          <a:p>
            <a:r>
              <a:t>Another key point is that Run training/validate-lab.sh to confirm the environment is ready for Module B.</a:t>
            </a:r>
          </a:p>
          <a:p/>
          <a:p>
            <a:r>
              <a:t>If these objectives are clear, we can proceed.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Chapter 4 — I/Ocloud foundations. Why Stack4Things exists. In the next slides, listen for whether we are in theory mode or hands-on mode, and open your terminal when the slides turn to lab work.</a:t>
            </a:r>
          </a:p>
          <a:p/>
          <a:p>
            <a:r>
              <a:t>Session timing — 60-minute timeline: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Integrating IoT and the cloud (Ch.4 §4.1). This material is covered in Ch.4 § Integrating IoT and the cloud.</a:t>
            </a:r>
          </a:p>
          <a:p/>
          <a:p>
            <a:r>
              <a:t>First, The proliferation of embedded smart devices across cities and industries makes vertical ad-hoc solutions ineffective at scale. Next, IoT and cloud integration is presented in the book as a winning strategy to manage both the volume of data and the number of connected devices.</a:t>
            </a:r>
          </a:p>
          <a:p/>
          <a:p>
            <a:r>
              <a:t>By contrast, Rather than inventing new infrastructure tooling, the authors propose extending OpenStack — the de-facto open-source IaaS platform — toward Cyber-Physical Systems. We should also consider that OpenStack already manages virtualised compute and storage; Stack4Things extends it to manage sensor- and actuator-hosting nodes at the network edge.</a:t>
            </a:r>
          </a:p>
          <a:p/>
          <a:p>
            <a:r>
              <a:t>Another key point is that On the board side the reference platforms are open-source devices such as 4rancino and Arduino YUN, running Linux distributions like Arancino OS on the MPU. Furthermore, The I/Ocloud vision treats physical I/O pins and connected transducers as cloud-manageable resources, not isolated firmware silos.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I/Ocloud design considerations (Ch.4 §4.1.1). This material is covered in Ch.4 § I/Ocloud design considerations · fig:chap04:Stack4Things-pillars.</a:t>
            </a:r>
          </a:p>
          <a:p/>
          <a:p>
            <a:r>
              <a:t>First, The I/Ocloud extends OpenStack's virtual infrastructure manager to encompass IoT devices as programmable entities within a unified cloud-native ecosystem. Next, Unlike rigid predefined schemes for mixing resources, the IaaS approach to IoT nodes offers higher degrees of freedom when engineering any vertical application.</a:t>
            </a:r>
          </a:p>
          <a:p/>
          <a:p>
            <a:r>
              <a:t>By contrast, Leveraging an industrial-strength open-source IaaS brings built-in role-based authentication, delegation, and service-oriented governance that ad-hoc IoT platforms lack. We should also consider that A novel subsystem called IoTronic is introduced specifically for provisioning configuration and tasks for board-hosted sensing and actuation resources.</a:t>
            </a:r>
          </a:p>
          <a:p/>
          <a:p>
            <a:r>
              <a:t>Another key point is that In the conceptual architecture, a diamond-shaped board replaces the traditional VM box, with interactions described along the control and data paths. Furthermore, Integrating IoT management into OpenStack had not been independently explored by the community before Stack4Things — making this a genuinely novel research contribution.</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OpenStack extension — IoTronic subsystem (Ch.4 §4.2). This material is covered in Ch.4 § Cloud side: IoTronic · fig:chap04:S4T-cloud-arch.</a:t>
            </a:r>
          </a:p>
          <a:p/>
          <a:p>
            <a:r>
              <a:t>First, IoTronic is modelled after standard OpenStack services (Nova, Neutron, Keystone) and exposes a REST interface for managing remote IoT nodes. Next, regarding the iotronic conductor is the core component, it manages the database, dispatches RPCs among internal microservices, and orchestrates board lifecycle events.</a:t>
            </a:r>
          </a:p>
          <a:p/>
          <a:p>
            <a:r>
              <a:t>By contrast, The IoTronic API server exposes REST endpoints for boards, plugins, services, and telemetry — accessible via CLI client or Web browser. We should also consider that OpenStack Horizon has been enhanced with an S4T dashboard panel for visual board management, plugin injection, and service orchestration.</a:t>
            </a:r>
          </a:p>
          <a:p/>
          <a:p>
            <a:r>
              <a:t>Another key point is that The IoTronic WAMP agent acts as a bridge between AMQP-internal messaging and WAMP messages sent to edge boards via Crossbar. Furthermore, The IoTronic WS tunnel agent (WSTUN) wraps the WebSocket server that boards connect to for reverse-tunnel access to board-hosted services.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diagram on screen: Stack4Things pillars (Ch.4). Describe the main boxes and arrows. Relate each element to a Docker service or API you have already seen. In particular, note the following: OpenStack core + IoTronic + Lightning-Rod — reference architecture from Ch.4.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WAMP — routed RPC for NAT traversal (Ch.4 §4.2.1). This material is covered in Ch.4 § Remote configuration · WAMP routed RPC.</a:t>
            </a:r>
          </a:p>
          <a:p/>
          <a:p>
            <a:r>
              <a:t>First, Traditional RPC client-server models fail when IoT devices sit behind NATs, firewalls, or cellular networks with frequently changing IP addresses. Next, Routed RPCs (rRPCs) solve this by introducing a broker that routes calls dynamically, keeping communication possible even when direct IP reachability is impossible.</a:t>
            </a:r>
          </a:p>
          <a:p/>
          <a:p>
            <a:r>
              <a:t>By contrast, The Web Application Messaging Protocol (WAMP) is a real-time, routed messaging protocol designed specifically for these networking challenges. We should also consider that With WAMP, devices do not need to know each other's IP addresses — messages are routed through a Dealer (router) that bypasses NAT and firewall restrictions.</a:t>
            </a:r>
          </a:p>
          <a:p/>
          <a:p>
            <a:r>
              <a:t>Another key point is that Connections remain persistent over WebSockets, reducing the overhead of frequent reconnections that plague polling-based approaches. Furthermore, WAMP supports both Remote Procedure Calls and Publish/Subscribe patterns — RPC is not available in plain AMQP, which is why S4T chose WAMP for board interactions.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WAMP call procedure — Caller, Dealer, Callee (Ch.4). This material is covered in Ch.4 · fig:chap04:WAMP-steps.</a:t>
            </a:r>
          </a:p>
          <a:p/>
          <a:p>
            <a:r>
              <a:t>First, A Callee registers a procedure at the Dealer under an abstract URI identifying the procedure (step 1 in the book's WAMP sequence diagram). Next, The Dealer maintains a registry mapping procedure URIs to the Callees that implement them.</a:t>
            </a:r>
          </a:p>
          <a:p/>
          <a:p>
            <a:r>
              <a:t>By contrast, To invoke a remote procedure, the Caller sends the procedure URI to the Dealer (step 2). We should also consider that The Dealer looks up the URI in its registry and forwards the call to the correct Callee.</a:t>
            </a:r>
          </a:p>
          <a:p/>
          <a:p>
            <a:r>
              <a:t>Another key point is that When execution completes, the Dealer retrieves the result and returns it to the Caller (step 3). Furthermore, Neither Caller nor Callee needs direct network knowledge of the other — all routing is handled at the WAMP level by Crossbar in the S4T deployment.</a:t>
            </a:r>
          </a:p>
          <a:p/>
          <a:p>
            <a:r>
              <a:t>In addition, In our lab, Lightning-Rod is the Callee and IoTronic components act as Callers via the WAMP agent bridge.</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WebSocket reverse tunneling — WSTUN (Ch.4 §4.2.2). This material is covered in Ch.4 § Service forwarding mechanism · fig:chap04:service-forwarding.</a:t>
            </a:r>
          </a:p>
          <a:p/>
          <a:p>
            <a:r>
              <a:t>First, Boards in restrictive IPv4 deployments can almost always initiate outgoing HTTP/HTTPS traffic, even when inbound connections are blocked by NAT or firewall rules. Next, Stack4Things implements a novel reverse tunneling technique: the board initiates a WebSocket connection to the cloud, and the cloud exposes a TCP port for external clients.</a:t>
            </a:r>
          </a:p>
          <a:p/>
          <a:p>
            <a:r>
              <a:t>By contrast, When an external client connects to the cloud-side TCP port, the tunnel server signals the board through the control WebSocket to open a data tunnel. We should also consider that TCP segments are piped through the WebSocket tunnel, allowing cloud-triggered reachability to any board-hosted service (SSH, HTTP, custom daemons).</a:t>
            </a:r>
          </a:p>
          <a:p/>
          <a:p>
            <a:r>
              <a:t>Another key point is that This design enables server-initiated connectivity without port forwarding or VPNs — critical for large-scale IoT fleet management. Furthermore, WSTUN (iotronic-wstun container) implements this mechanism on port 8080 in the lab stack.</a:t>
            </a:r>
          </a:p>
          <a:p/>
          <a:p>
            <a:r>
              <a:t>In addition, Module F (Ch.14 web services) will demonstrate exposing an edge HTTP service through this tunnel.</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Lightning-Rod — the edge agent (Ch.4 §4.3). This material is covered in Ch.4 § Device side: Lightning-Rod · fig:chap04:LR.</a:t>
            </a:r>
          </a:p>
          <a:p/>
          <a:p>
            <a:r>
              <a:t>First, Lightning-Rod (LR) runs on the board's MPU and is the single point of contact between the physical device and the cloud infrastructure. Next, The LR engine connects to Crossbar via a WebSocket full-duplex WAMP channel, sending and receiving commands from IoTronic in the cloud.</a:t>
            </a:r>
          </a:p>
          <a:p/>
          <a:p>
            <a:r>
              <a:t>By contrast, LR can interact with digital/analog I/O pins through MCUIO sysfs libraries, with OS tools (filesystem, package manager, services), and with user-injected plugins. We should also consider that The plugin loader allows custom Python Workers to be injected from the cloud and executed on the board — the foundation for Modules B and C.</a:t>
            </a:r>
          </a:p>
          <a:p/>
          <a:p>
            <a:r>
              <a:t>Another key point is that LR also acts as a WebSocket reverse tunnel client, enabling external users to reach board-internal services through the cloud-side WSTUN agent. Furthermore, In the emulated lab environment, Lightning-Rod runs inside a Docker container that simulates a virtual board — no physical hardware is required.</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Stack4Things architecture. Cloud ↔ edge messaging planes.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What is Stack4Things? — platform overview. This material is covered in Ch.4 § Stack4Things architecture · Ch.13 abstract.</a:t>
            </a:r>
          </a:p>
          <a:p/>
          <a:p>
            <a:r>
              <a:t>First, Stack4Things (S4T) is open-source middleware for IoT fleet management built on top of OpenStack, extending cloud orchestration to the network edge. Next, IoTronic is the cloud-side controller providing REST API, Horizon UI, and MariaDB-backed persistence for boards, plugins, and services.</a:t>
            </a:r>
          </a:p>
          <a:p/>
          <a:p>
            <a:r>
              <a:t>By contrast, Lightning-Rod is the device-side agent providing plugin runtime, WAMP client, and local I/O abstraction on each board. We should also consider that regarding s4t is designed with modular architecture, individual components can be developed, deployed, and updated independently.</a:t>
            </a:r>
          </a:p>
          <a:p/>
          <a:p>
            <a:r>
              <a:t>Another key point is that All services are containerised and orchestrated via Docker Compose for reproducible single-host testbed deployments. Furthermore, The book positions S4T as the instantiation of the I/Ocloud vision within the OpenStack ecosystem.</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Logical architecture — three communication planes. This material is covered in Ch.13 · Ch.4 § Architecture overview · Ch.16 MACM components.</a:t>
            </a:r>
          </a:p>
          <a:p/>
          <a:p>
            <a:r>
              <a:t>First, The control plane comprises IoTronic Conductor, Keystone identity service, and the plugin/service registry exposed through Horizon and REST. Next, The messaging plane uses RabbitMQ (AMQP) for internal microservice coordination and Crossbar (WAMP) for bidirectional cloud-to-board RPC and pub/sub.</a:t>
            </a:r>
          </a:p>
          <a:p/>
          <a:p>
            <a:r>
              <a:t>By contrast, The data/tunnel plane is implemented by WSTUN (iotronic-wstun), providing reverse WebSocket tunnels for NAT traversal to board-hosted services. We should also consider that The edge plane is Lightning-Rod on each board, connecting local I/O, plugins, and OS resources to the three cloud planes above.</a:t>
            </a:r>
          </a:p>
          <a:p/>
          <a:p>
            <a:r>
              <a:t>Another key point is that IoTronic WAMP agent translates AMQP messages from internal services into WAMP messages routed through Crossbar to the correct board. Furthermore, This separation of planes allows each layer to scale independently — multiple WAMP agents and WSTUN instances can be instantiated for redundancy.</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IoTronic REST API. Ch.4 — nodes, pins, services, plugins.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Stack4Things REST API — resource groups (Ch.4). This material is covered in Ch.4 § Stack4Things REST API · table:api.</a:t>
            </a:r>
          </a:p>
          <a:p/>
          <a:p>
            <a:r>
              <a:t>First, regarding table table, api documents IoTronic v0.1 endpoints grouped by resource type. Next, regarding nodes, GET /v1/nodes lists registered boards; GET /v1/nodes/{uuid} returns board metadata.</a:t>
            </a:r>
          </a:p>
          <a:p/>
          <a:p>
            <a:r>
              <a:t>By contrast, regarding pins, read/set GPIO modes and values — REST hides WAMP complexity for I/O abstraction. We should also consider that regarding services, activate or delete forwarded services (SSH, HTTP) on a board via JSON body.</a:t>
            </a:r>
          </a:p>
          <a:p/>
          <a:p>
            <a:r>
              <a:t>Another key point is that regarding plugins, GET/POST/DELETE /v1/nodes/{uuid}/plugins — same inject/remove semantics as Horizon. Furthermore, regarding lab health check curl http, //{{VM_IP}}:8812/ maps to modern Conductor root; book uses v0.1 paths.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Use case — list registered nodes (Ch.4). This material is covered in Ch.4 § List of nodes · fig:chap04:list-node.</a:t>
            </a:r>
          </a:p>
          <a:p/>
          <a:p>
            <a:r>
              <a:t>First, regarding prerequisite, one or more boards already registered in IoTronic MariaDB. Next, Horizon or CLI issues GET /v1/nodes, then message on RabbitMQ AMQP queue.</a:t>
            </a:r>
          </a:p>
          <a:p/>
          <a:p>
            <a:r>
              <a:t>By contrast, Conductor queries MariaDB and returns NodeCollection JSON with UUID and description links. We should also consider that No board interaction required — listing is purely cloud-side metadata.</a:t>
            </a:r>
          </a:p>
          <a:p/>
          <a:p>
            <a:r>
              <a:t>Another key point is that regarding optional, conductor queries WAMP presence on demand for live connectivity status. Furthermore, regarding alternative, WAMP agents periodically write connectivity into DB — trades freshness for API speed.</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Use case — SSH service forwarding via WSTUN (Ch.4). This material is covered in Ch.4 § Service forwarding · fig:chap04:enable-ssh · WSTUN.</a:t>
            </a:r>
          </a:p>
          <a:p/>
          <a:p>
            <a:r>
              <a:t>First, User requests SSH to board port 22 through Horizon — REST call #10 in table:api. Next, Boards behind NAT cannot accept inbound SSH; a board-initiated reverse tunnel is required.</a:t>
            </a:r>
          </a:p>
          <a:p/>
          <a:p>
            <a:r>
              <a:t>By contrast, Conductor picks a free TCP port on WSTUN agent and signals LR via WAMP. We should also consider that Lightning-Rod opens WebSocket tunnel to WSTUN and pipes traffic to local sshd.</a:t>
            </a:r>
          </a:p>
          <a:p/>
          <a:p>
            <a:r>
              <a:t>Another key point is that User receives cloud IP + port — same reverse-channel pattern reused for HTTP in Module F. Furthermore, Module F WSTUN demos are the HTTP analogue of this classic SSH forwarding workflow.</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I/Ocloud virtual filesystem — FUSE drivers (Ch.4). This material is covered in Ch.4 § I/Ocloud implementation · fig:chap04:S4T-IOcloud · YUN virtualization.</a:t>
            </a:r>
          </a:p>
          <a:p/>
          <a:p>
            <a:r>
              <a:t>First, Beyond REST, S4T exposes remote board I/O as a virtual POSIX filesystem via FUSE. Next, Plugin Node.js drivers map sensors/actuators to filesystem paths — cloud VMs mount remote pins.</a:t>
            </a:r>
          </a:p>
          <a:p/>
          <a:p>
            <a:r>
              <a:t>By contrast, MCUIO hypervisor virtualizes Arduino YUN GPIO across containers with access control. We should also consider that regarding design trade-off, interactive apps keep VNs near sensors; compute-heavy tasks migrate to cloud.</a:t>
            </a:r>
          </a:p>
          <a:p/>
          <a:p>
            <a:r>
              <a:t>Another key point is that Training lab focuses on Docker Compose + REST; FUSE path is production/research extension. Furthermore, Connects I/Ocloud theory (Ch.4) to environmental plugins (Ch.15) as callable functions.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Docker &amp; Docker Compose. Why containers for S4T deployment.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Docker — portability and isolation (Ch.13 §13.2). This material is covered in Ch.13 § Docker.</a:t>
            </a:r>
          </a:p>
          <a:p/>
          <a:p>
            <a:r>
              <a:t>First, Docker is an open-source platform for building, shipping, and running applications inside lightweight, portable containers. Next, Unlike virtual machines that emulate an entire operating system, containers encapsulate only the application and its dependencies, sharing the host kernel.</a:t>
            </a:r>
          </a:p>
          <a:p/>
          <a:p>
            <a:r>
              <a:t>By contrast, Portability enables the write-once-run-anywhere paradigm: a Stack4Things component deployed on Ubuntu 22.04 behaves identically on any host with Docker installed. We should also consider that Isolation prevents dependency conflicts by encapsulating each service in its own container with independent filesystem, network namespace, and process tree.</a:t>
            </a:r>
          </a:p>
          <a:p/>
          <a:p>
            <a:r>
              <a:t>Another key point is that Docker builds on Linux cgroups and namespaces, offering a higher-level abstraction accessible through CLI and REST APIs. Furthermore, This reproducibility makes containers especially suitable for research prototyping, training labs, and production deployments alike.</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Docker — efficiency and scalability (Ch.13 §13.2). This material is covered in Ch.13 § Docker · scalability bullet.</a:t>
            </a:r>
          </a:p>
          <a:p/>
          <a:p>
            <a:r>
              <a:t>First, Containers consume significantly fewer system resources than virtual machines because they share the host operating system kernel rather than duplicating it. Next, A full S4T stack with ten or more services runs comfortably on a VM with 4 GB RAM — impossible with equivalent VM-per-service virtualization.</a:t>
            </a:r>
          </a:p>
          <a:p/>
          <a:p>
            <a:r>
              <a:t>By contrast, Docker integrates seamlessly with orchestration tools such as Docker Compose and Kubernetes to facilitate automated deployment and dynamic scaling. We should also consider that For the training lab, a single docker compose up -d command replaces hours of manual per-service installation and configuration.</a:t>
            </a:r>
          </a:p>
          <a:p/>
          <a:p>
            <a:r>
              <a:t>Another key point is that The book's alternative path uses Oracle VirtualBox with Ubuntu 22.04 — functionally equivalent but slower to provision for a 60-minute session. Furthermore, Scaling beyond single-host Compose deployments toward Kubernetes is covered in Chapter 11 for production-grade multi-node environments.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Docker Compose — multi-container orchestration (Ch.13 §13.2). This material is covered in Ch.13 § Docker Compose.</a:t>
            </a:r>
          </a:p>
          <a:p/>
          <a:p>
            <a:r>
              <a:t>First, Docker Compose extends Docker by enabling definition and management of multi-container applications through a declarative YAML configuration file. Next, Real-world systems consist of interconnected services (databases, message brokers, API servers) that must be orchestrated together with explicit dependency ordering.</a:t>
            </a:r>
          </a:p>
          <a:p/>
          <a:p>
            <a:r>
              <a:t>By contrast, Compose describes services, their dependencies (depends_on), networks, and storage volumes in a single docker-compose.yml file. We should also consider that A single command — docker compose up -d — brings up the entire S4T application stack, eliminating manual container creation and wiring.</a:t>
            </a:r>
          </a:p>
          <a:p/>
          <a:p>
            <a:r>
              <a:t>Another key point is that Compose manages service dependencies and coordinates the lifecycle of multiple containers as a cohesive application. Furthermore, Internally Compose relies on the Docker Engine but provides declarative reproducibility ideal for prototyping, experimentation, and CI/CD pipelines.</a:t>
            </a:r>
          </a:p>
          <a:p/>
          <a:p>
            <a:r>
              <a:t>In addition, For Stack4Things, Compose defines and launches IoTronic, Crossbar, MariaDB, RabbitMQ, Keystone, WSTUN, and Lightning-Rod in one unified environment.</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S4T services &amp; ports. Ch.13 Table — comprehensive service map.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S4T services — API, messaging, persistence (Ch.13 Table). This material is covered in Ch.13 · tab:S4T-services.</a:t>
            </a:r>
          </a:p>
          <a:p/>
          <a:p>
            <a:r>
              <a:t>First, regarding iotronic conductor api, central RESTful interface for boards, plugins, services, and telemetry — exposed on port 8812 in the repository (book lists 8888). Next, regarding crossbar.io wamp router, bidirectional RPC and pub/sub via WAMP protocol on port 8181 — Lightning-Rod connects to wss://crossbar:8181 inside the Docker network.</a:t>
            </a:r>
          </a:p>
          <a:p/>
          <a:p>
            <a:r>
              <a:t>By contrast, regarding mariadb database, persistent store for board metadata, user data, plugins, and services on port 3306 — controlled via MYSQL_ROOT_PASSWORD environment variable. We should also consider that regarding rabbitmq message bus, AMQP-based internal coordination between Conductor, WAMP agent, and other IoTronic microservices on port 5672.</a:t>
            </a:r>
          </a:p>
          <a:p/>
          <a:p>
            <a:r>
              <a:t>Another key point is that regarding mqtt broker (mosquitto), lightweight pub/sub for IoTronic-to-Lightning-Rod communication on port 1883 in some S4T configurations. Furthermore, regarding ca service, certificate Authority generating TLS material for secure board authentication and encrypted internal communications.</a:t>
            </a:r>
          </a:p>
          <a:p/>
          <a:p>
            <a:r>
              <a:t>In addition, All inter-service traffic on the internal s4t Docker network uses container hostnames for DNS resolution.</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S4T services — identity, UI, edge agent (Ch.13 Table). This material is covered in Ch.13 · tab:S4T-services · training lab overlay.</a:t>
            </a:r>
          </a:p>
          <a:p/>
          <a:p>
            <a:r>
              <a:t>First, regarding keystone identity service, openStack authentication and authorization on port 5000 — required for Horizon login and API token issuance. Next, regarding iotronic web ui (horizon), openStack dashboard enhanced with S4T IoT panel on port 80 — credentials admin / s4t.</a:t>
            </a:r>
          </a:p>
          <a:p/>
          <a:p>
            <a:r>
              <a:t>By contrast, regarding lightning-rod agent, edge software executing remote tasks, running plugins, and maintaining WAMP session — local UI on port 1474. We should also consider that regarding iot wstun (iotronic-wstun), reverse WebSocket tunnel server on port 8080 for exposing board-hosted services to external clients.</a:t>
            </a:r>
          </a:p>
          <a:p/>
          <a:p>
            <a:r>
              <a:t>Another key point is that regarding websocket (ws) agent, alternative reverse tunneling on port 8083 in some configurations. Furthermore, regarding influxdb (lab overlay only), time-series database on port 8086 for Module C environmental data — not in the upstream ch13 compose file.</a:t>
            </a:r>
          </a:p>
          <a:p/>
          <a:p>
            <a:r>
              <a:t>In addition, RabbitMQ management UI is optionally available on port 15672 for queue inspection during troubleshooting.</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Internal messaging — AMQP bridge to WAMP (Ch.4 + Ch.13). This material is covered in Ch.4 § IoTronic WAMP agent · Ch.13 service table.</a:t>
            </a:r>
          </a:p>
          <a:p/>
          <a:p>
            <a:r>
              <a:t>First, All communication among IoTronic internal components travels over the network via AMQP queues on RabbitMQ, following standard OpenStack microservice philosophy. Next, This AMQP bus allows components to be deployed on different machines without affecting service functionality — enabling horizontal scalability.</a:t>
            </a:r>
          </a:p>
          <a:p/>
          <a:p>
            <a:r>
              <a:t>By contrast, The IoTronic WAMP agent (iotronic-wagent container) translates AMQP messages into WAMP messages and vice versa for board-facing communication. We should also consider that Multiple WAMP agents and WSTUN instances can be instantiated, each handling a subset of IoT devices for redundancy and high availability.</a:t>
            </a:r>
          </a:p>
          <a:p/>
          <a:p>
            <a:r>
              <a:t>Another key point is that WAMP was chosen over extending AMQP to boards because it is a WebSocket subprotocol supporting both RPC and Publish/Subscribe — RPC is not natively available in AMQP. Furthermore, regarding crossbar serves as the wamp dealer, lightning-Rod registers procedures, IoTronic invokes them.</a:t>
            </a:r>
          </a:p>
          <a:p/>
          <a:p>
            <a:r>
              <a:t>In addition, The WAMP realm used in the lab is s4t — all LR agents authenticate against this realm.</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Compose configuration. Services, networks, lab overlay.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docker-compose.yml — service roles and dependencies. This material is covered in Ch.13 deploy walkthrough · docker-compose.yml.</a:t>
            </a:r>
          </a:p>
          <a:p/>
          <a:p>
            <a:r>
              <a:t>First, Ca_service generates the Root CA and Crossbar TLS certificates into the shared iotronic_ssl volume. Next, Crossbar starts the WAMP router on port 8181, depending on CA certificates being present.</a:t>
            </a:r>
          </a:p>
          <a:p/>
          <a:p>
            <a:r>
              <a:t>By contrast, Iotronic-db (MariaDB) and rabbitmq must pass healthchecks before downstream services start. We should also consider that Keystone provides OpenStack identity — Horizon and Conductor authenticate against it on port 5000.</a:t>
            </a:r>
          </a:p>
          <a:p/>
          <a:p>
            <a:r>
              <a:t>Another key point is that Iotronic-conductor is the core REST API and orchestration logic, healthy on port 8812. Furthermore, Iotronic-wagent bridges AMQP internal bus to WAMP messages for board communication.</a:t>
            </a:r>
          </a:p>
          <a:p/>
          <a:p>
            <a:r>
              <a:t>In addition, Iotronic-wstun provides reverse WebSocket tunnels on port 8080 for board service exposure. Finally, Iotronic-ui (Horizon) and lightning-rod provide operator dashboards on ports 80 and 1474.</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Docker network s4t — internal DNS resolution. This material is covered in Ch.13 networking section · Ch.13 § Configuration summary.</a:t>
            </a:r>
          </a:p>
          <a:p/>
          <a:p>
            <a:r>
              <a:t>First, All S4T containers are placed on a user-defined bridge network named s4t. Next, Docker's embedded DNS resolves container service names as hostnames within the network.</a:t>
            </a:r>
          </a:p>
          <a:p/>
          <a:p>
            <a:r>
              <a:t>By contrast, regarding lightning-rod reaches crossbar at wss, //crossbar:8181 — not localhost, not the host IP. We should also consider that IoTronic Conductor connects to iotronic-db, rabbitmq, and keystone using their service names.</a:t>
            </a:r>
          </a:p>
          <a:p/>
          <a:p>
            <a:r>
              <a:t>Another key point is that This eliminates manual IP configuration and makes the compose file portable across hosts. Furthermore, regarding port mappings (e.g. 80, 80, 8812:8812) expose selected services to the host for browser and curl access.</a:t>
            </a:r>
          </a:p>
          <a:p/>
          <a:p>
            <a:r>
              <a:t>In addition, regarding limitation, this single-host s4t network is designed for local development and training — multi-host production requires additional networking (Ch.11 Kubernetes).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Lab overlay — training patches (not in book repo). This material is covered in Training material — patches/docker-compose.lab.yml.</a:t>
            </a:r>
          </a:p>
          <a:p/>
          <a:p>
            <a:r>
              <a:t>First, Training/patches/docker-compose.lab.yml extends the upstream ch13 docker-compose.yml. Next, regarding fixes ca_service, replaces EOL debian:buster with alpine:3.19 + openssl for certificate generation.</a:t>
            </a:r>
          </a:p>
          <a:p/>
          <a:p>
            <a:r>
              <a:t>By contrast, regarding fixes lightning-rod image, mdslab/lrod:compose replaces a broken @sha256 placeholder in upstream. We should also consider that Mounts /var/run/docker.sock into LR — enables the Ch.14 Docker lifecycle plugin demo in Module B.</a:t>
            </a:r>
          </a:p>
          <a:p/>
          <a:p>
            <a:r>
              <a:t>Another key point is that regarding adds influxdb, 1.8 on network s4t with hostname influxdb — required for Module C CSV ingestion. Furthermore, Adds lightning-rod-2 and lightning-rod-3 on ports 1475 and 1476 for multi-board modules later.</a:t>
            </a:r>
          </a:p>
          <a:p/>
          <a:p>
            <a:r>
              <a:t>In addition, regarding always launch with both compose files, -f docker-compose.yml -f ../../patches/docker-compose.lab.yml.</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continue, an important note about Book ↔ repository corrections.</a:t>
            </a:r>
          </a:p>
          <a:p/>
          <a:p>
            <a:r>
              <a:t>First, regarding api port, book documents :8888, then repository exposes Conductor on :8812 — use curl http://{{VM_IP}}:8812/. Next, regarding horizon dashboard, http://{{VM_IP}}/horizon — credentials admin / s4t.</a:t>
            </a:r>
          </a:p>
          <a:p/>
          <a:p>
            <a:r>
              <a:t>By contrast, regarding lightning-rod ui, http://{{VM_IP}}:1474 — credentials me / arancino. We should also consider that regarding boards panel url, /horizon/iot/ (NOT /horizon/iot/boards/ — that path returns 404).</a:t>
            </a:r>
          </a:p>
          <a:p/>
          <a:p>
            <a:r>
              <a:t>Another key point is that regarding wamp inside docker, wss://crossbar:8181 — never use localhost or {{VM_IP}} from inside LR container.</a:t>
            </a:r>
          </a:p>
          <a:p/>
          <a:p>
            <a:r>
              <a:t>Keep this difference in mind for the rest of the lab.</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Lab: deploy stack. Docker Compose + lab overlay.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demonstration, Module A — expected outcomes.</a:t>
            </a:r>
          </a:p>
          <a:p/>
          <a:p>
            <a:r>
              <a:t>First, You will prove that the full S4T cloud-side stack runs reproducibly on a single training VM. Next, You will confirm the IoTronic Conductor REST API responds with HTTP 200 on port 8812.</a:t>
            </a:r>
          </a:p>
          <a:p/>
          <a:p>
            <a:r>
              <a:t>By contrast, You will log into Horizon and navigate to the IoT Boards panel without authentication errors. We should also consider that You will register a virtual board and configure Lightning-Rod to establish a WAMP session.</a:t>
            </a:r>
          </a:p>
          <a:p/>
          <a:p>
            <a:r>
              <a:t>Another key point is that You will observe the board transition to Active state — the mandatory gate for Modules B–I. Furthermore, This deployment connects Ch.4 theory (I/Ocloud, WAMP, WSTUN) to Ch.13 practice (Compose, onboarding).</a:t>
            </a:r>
          </a:p>
          <a:p/>
          <a:p>
            <a:r>
              <a:t>In addition, Every subsequent module assumes today's stack is running and at least one board is Active.</a:t>
            </a:r>
          </a:p>
          <a:p/>
          <a:p>
            <a:r>
              <a:t>Check that your screen matches what we showed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Environment check.</a:t>
            </a:r>
          </a:p>
          <a:p/>
          <a:p>
            <a:r>
              <a:t>Please run the following command on your VM: docker --version &amp;&amp; docker compose version. Wait until you see a sensible result before continuing. Please run the following command on your VM: groups | grep docker # user must be in docker group. Wait until you see a sensible result before continuing.</a:t>
            </a:r>
          </a:p>
          <a:p/>
          <a:p>
            <a:r>
              <a:t>Please run the following command on your VM: free -h # ≥ 4 GB free RAM recommended. Wait until you see a sensible result before continuing. Please run the following command on your VM: git clone https://github.com/AssemblingSmartCPS/ch13.git training/repos/ch13. Wait until you see a sensible result before continuing.</a:t>
            </a:r>
          </a:p>
          <a:p/>
          <a:p>
            <a:r>
              <a:t>If these objectives are clear, we can proceed.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Start the stack. Open your lab VM and follow along.</a:t>
            </a:r>
          </a:p>
          <a:p/>
          <a:p>
            <a:r>
              <a:t>Please run the following command on your VM: cd training/repos/ch13. Wait until you see a sensible result before continuing. Please run the following command on your VM: docker compose -f docker-compose.yml \. Wait until you see a sensible result before continuing.</a:t>
            </a:r>
          </a:p>
          <a:p/>
          <a:p>
            <a:r>
              <a:t>By contrast, -f ../../patches/docker-compose.lab.yml up -d. We should also consider that regarding first boot, 15–25 min (image pull + MariaDB init + CA certificate generation).</a:t>
            </a:r>
          </a:p>
          <a:p/>
          <a:p>
            <a:r>
              <a:t>Another key point is that regarding monitor with, docker compose ps and docker compose logs -f crossbar.</a:t>
            </a:r>
          </a:p>
          <a:p/>
          <a:p>
            <a:r>
              <a:t>Raise your hand if you're stuck — we'll wait until most of you are done.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demonstration, First-boot timing — why Compose starts early.</a:t>
            </a:r>
          </a:p>
          <a:p/>
          <a:p>
            <a:r>
              <a:t>First, regarding first boot is i/o-bound, docker pulls ~2 GB of images and MariaDB runs schema migrations. Next, CA certificate generation must complete before Crossbar can start its WAMP router.</a:t>
            </a:r>
          </a:p>
          <a:p/>
          <a:p>
            <a:r>
              <a:t>By contrast, Keystone database initialisation and RabbitMQ healthcheck add several minutes of startup time. We should also consider that Use the waiting period to study boot order, CA/TLS, and service roles in the theory slides.</a:t>
            </a:r>
          </a:p>
          <a:p/>
          <a:p>
            <a:r>
              <a:t>Another key point is that Monitor with docker compose ps — look for (healthy) status on db, rabbitmq, and conductor. Furthermore, If any container restart-loops, the troubleshooting section at the end provides diagnostic steps.</a:t>
            </a:r>
          </a:p>
          <a:p/>
          <a:p>
            <a:r>
              <a:t>Check that your screen matches what we showed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Horizon IoT — Boards panel. Walk the class through what they see in the interface. Connect each panel and button to a component we already deployed in the stack. In particular, note the following: http://{{VM_IP}}/horizon/iot/ — target UI for board registration.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Boot order — infrastructure layer (Ch.13). This material is covered in Ch.13 · operational sequencing.</a:t>
            </a:r>
          </a:p>
          <a:p/>
          <a:p>
            <a:r>
              <a:t>First, regarding step 1, ca_service writes Root CA and Crossbar TLS certificates to the iotronic_ssl shared volume. Next, regarding step 2, iotronic-db (MariaDB) starts and must pass its healthcheck before any service needing persistence.</a:t>
            </a:r>
          </a:p>
          <a:p/>
          <a:p>
            <a:r>
              <a:t>By contrast, regarding step 3, rabbitmq starts and must pass its healthcheck — the AMQP bus must be ready for microservices. We should also consider that regarding step 4, keystone starts, initialising the OpenStack identity database for Horizon authentication.</a:t>
            </a:r>
          </a:p>
          <a:p/>
          <a:p>
            <a:r>
              <a:t>Another key point is that If MariaDB or RabbitMQ fail healthchecks, all downstream services will remain in a waiting state. Furthermore, regarding inspect with, docker compose logs iotronic-db and docker compose logs rabbitmq.</a:t>
            </a:r>
          </a:p>
          <a:p/>
          <a:p>
            <a:r>
              <a:t>In addition, regarding typical first-boot delay, 5–10 minutes for database schema creation alone.</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Boot order — application layer (Ch.13). This material is covered in Ch.13 · operational sequencing · fig:chap13:Docker-compose-ok.</a:t>
            </a:r>
          </a:p>
          <a:p/>
          <a:p>
            <a:r>
              <a:t>First, regarding step 5, crossbar starts the WAMP router on port 8181, mounting certificates from iotronic_ssl. Next, regarding step 6, iotronic-wagent starts, connecting to both RabbitMQ (AMQP) and Crossbar (WAMP).</a:t>
            </a:r>
          </a:p>
          <a:p/>
          <a:p>
            <a:r>
              <a:t>By contrast, regarding step 7, iotronic-wstun starts the reverse tunnel server on port 8080 with TLS from iotronic_ssl. We should also consider that regarding step 8, iotronic-conductor starts the REST API, becoming healthy on port 8812.</a:t>
            </a:r>
          </a:p>
          <a:p/>
          <a:p>
            <a:r>
              <a:t>Another key point is that regarding step 9, iotronic-ui (Horizon) becomes reachable on port 80 after Keystone is ready. Furthermore, regarding step 10, lightning-rod container starts with its local configuration UI on port 1474.</a:t>
            </a:r>
          </a:p>
          <a:p/>
          <a:p>
            <a:r>
              <a:t>In addition, regarding healthy stack indicator, docker compose ps shows (healthy) for db, rabbitmq, and conductor.</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While waiting — monitor in terminal 2.</a:t>
            </a:r>
          </a:p>
          <a:p/>
          <a:p>
            <a:r>
              <a:t>Please run the following command on your VM: docker compose -f docker-compose.yml \. Wait until you see a sensible result before continuing. Next, -f ../../patches/docker-compose.lab.yml ps.</a:t>
            </a:r>
          </a:p>
          <a:p/>
          <a:p>
            <a:r>
              <a:t>Please run the following command on your VM: docker compose logs -f crossbar. Wait until you see a sensible result before continuing. Please run the following command on your VM: docker compose logs -f iotronic-conductor. Wait until you see a sensible result before continuing.</a:t>
            </a:r>
          </a:p>
          <a:p/>
          <a:p>
            <a:r>
              <a:t>Another key point is that Healthy = (healthy) in ps output for iotronic-db, rabbitmq, iotronic-conductor.</a:t>
            </a:r>
          </a:p>
          <a:p/>
          <a:p>
            <a:r>
              <a:t>If these objectives are clear, we can proceed.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CA service &amp; TLS certificate chain (Ch.13 + Ch.16). This material is covered in Ch.16 — CA secures internal tunnel communications · Ch.13 volumes.</a:t>
            </a:r>
          </a:p>
          <a:p/>
          <a:p>
            <a:r>
              <a:t>First, The Certificate Authority container (ca_service) generates a Root CA key and certificate plus a Crossbar-specific key and signed certificate. Next, All TLS material is written to the iotronic_ssl Docker volume, shared by crossbar, iotronic-wstun, and other components requiring encrypted communications.</a:t>
            </a:r>
          </a:p>
          <a:p/>
          <a:p>
            <a:r>
              <a:t>By contrast, Crossbar mounts iotronic_ssl at /node/.crossbar/ssl and starts WAMP over wss:// on port 8181. We should also consider that If Crossbar enters a restart loop, inspect ca_service logs: docker compose logs ca_service.</a:t>
            </a:r>
          </a:p>
          <a:p/>
          <a:p>
            <a:r>
              <a:t>Another key point is that regarding the lab overlay uses alpine, 3.19 instead of debian:buster because Buster apt repositories are EOL. Furthermore, regarding wamp endpoint inside docker, wss://crossbar:8181 in realm s4t — TLS is terminated at Crossbar.</a:t>
            </a:r>
          </a:p>
          <a:p/>
          <a:p>
            <a:r>
              <a:t>In addition, Never delete iotronic_ssl volume while the stack is running — Crossbar will lose its certificates.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Crossbar — WAMP router configuration (Ch.13). This material is covered in Ch.13 · Crossbar service · Ch.4 WAMP Dealer role.</a:t>
            </a:r>
          </a:p>
          <a:p/>
          <a:p>
            <a:r>
              <a:t>First, Crossbar.io is the WAMP Dealer that routes RPC calls and pub/sub messages between IoTronic and boards. Next, Lightning-Rod connects as a Callee, registering board procedures under URIs in the s4t realm.</a:t>
            </a:r>
          </a:p>
          <a:p/>
          <a:p>
            <a:r>
              <a:t>By contrast, IoTronic WAMP agent connects as a Caller, invoking board procedures on behalf of REST API requests. We should also consider that Crossbar requires valid TLS certificates from ca_service before it can accept wss:// connections.</a:t>
            </a:r>
          </a:p>
          <a:p/>
          <a:p>
            <a:r>
              <a:t>Another key point is that Port 8181 is mapped to the host for debugging but LR must use the internal hostname crossbar. Furthermore, regarding if wamp session fails, check, (1) Crossbar healthy, (2) certificates present, (3) LR uses wss:// not ws://.</a:t>
            </a:r>
          </a:p>
          <a:p/>
          <a:p>
            <a:r>
              <a:t>In addition, Crossbar logs show registration events when LR successfully connects and registers procedures.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MariaDB — IoTronic persistence layer (Ch.13). This material is covered in Ch.13 service table · Ch.13 § Volumes.</a:t>
            </a:r>
          </a:p>
          <a:p/>
          <a:p>
            <a:r>
              <a:t>First, MariaDB (iotronic-db container) stores all persistent IoTronic state on port 3306. Next, Board registrations, UUIDs, user associations, and tenant mappings are stored in the IoTronic schema.</a:t>
            </a:r>
          </a:p>
          <a:p/>
          <a:p>
            <a:r>
              <a:t>By contrast, Plugin definitions, injection records, and service catalog entries persist across container restarts. We should also consider that Data is stored in the unime_iotronic_db_data Docker volume — survives docker compose down without -v.</a:t>
            </a:r>
          </a:p>
          <a:p/>
          <a:p>
            <a:r>
              <a:t>Another key point is that Connection string is configured via DB_CONNECTION in .env: mysql+pymysql://user:pass@iotronic-db/iotronic. Furthermore, If Conductor fails with database connection errors, verify iotronic-db shows (healthy) in compose ps.</a:t>
            </a:r>
          </a:p>
          <a:p/>
          <a:p>
            <a:r>
              <a:t>In addition, Wiping unime_iotronic_db_data forces full re-initialisation — all board registrations are lost.</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RabbitMQ — internal AMQP message bus (Ch.13). This material is covered in Ch.13 service table · Ch.4 § AMQP internal bus.</a:t>
            </a:r>
          </a:p>
          <a:p/>
          <a:p>
            <a:r>
              <a:t>First, RabbitMQ provides the AMQP message bus for asynchronous coordination among IoTronic microservices. Next, The Conductor publishes commands and events that WAMP agent, WSTUN, and other workers consume.</a:t>
            </a:r>
          </a:p>
          <a:p/>
          <a:p>
            <a:r>
              <a:t>By contrast, Default AMQP port is 5672; management UI is available on 15672 for queue depth inspection. We should also consider that RabbitMQ must pass its healthcheck before iotronic-conductor and iotronic-wagent can start.</a:t>
            </a:r>
          </a:p>
          <a:p/>
          <a:p>
            <a:r>
              <a:t>Another key point is that Message orientation, queueing, routing (point-to-point and pub/sub), and reliability are provided by the AMQP open standard. Furthermore, If services hang at startup, check RabbitMQ logs: docker compose logs rabbitmq.</a:t>
            </a:r>
          </a:p>
          <a:p/>
          <a:p>
            <a:r>
              <a:t>In addition, RabbitMQ data persists in its own Docker volume — queue state survives container restarts.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Keystone — OpenStack identity service (Ch.13). This material is covered in Ch.13 service table · Ch.4 § OpenStack identity.</a:t>
            </a:r>
          </a:p>
          <a:p/>
          <a:p>
            <a:r>
              <a:t>First, Keystone provides authentication and authorization for Horizon and IoTronic API access. Next, regarding horizon login uses keystone credentials, admin / s4t in the lab environment.</a:t>
            </a:r>
          </a:p>
          <a:p/>
          <a:p>
            <a:r>
              <a:t>By contrast, API requests to Conductor include Keystone-issued tokens when auth_strategy=keystone in iotronic.conf. We should also consider that Keystone runs on port 5000 inside the s4t network; iotronic-conductor references http://keystone:5000.</a:t>
            </a:r>
          </a:p>
          <a:p/>
          <a:p>
            <a:r>
              <a:t>Another key point is that The OpenStack role-based access model from Ch.4 applies: users, projects, and domains are managed through Keystone's identity backend. Furthermore, If Horizon shows authentication errors, verify keystone container is running and its database initialised: docker compose logs keystone.</a:t>
            </a:r>
          </a:p>
          <a:p/>
          <a:p>
            <a:r>
              <a:t>In addition, Keystone is a standard OpenStack service — the same identity layer used by Nova, Neutron, and Glance.</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Verify API and dashboards.</a:t>
            </a:r>
          </a:p>
          <a:p/>
          <a:p>
            <a:r>
              <a:t>Please run the following command on your VM: curl -s -o /dev/null -w '%{http_code}\n' http://{{VM_IP}}:8812/. Wait until you see a sensible result before continuing. Next, regarding browser, http://{{VM_IP}}/horizon (admin / s4t).</a:t>
            </a:r>
          </a:p>
          <a:p/>
          <a:p>
            <a:r>
              <a:t>By contrast, regarding browser, http://{{VM_IP}}:1474 (me / arancino). We should also consider that regarding expected, HTTP 200 or 302 — not 000 (connection refused) or 502 (upstream not ready).</a:t>
            </a:r>
          </a:p>
          <a:p/>
          <a:p>
            <a:r>
              <a:t>If these objectives are clear, we can proceed.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Horizon — login screen. Walk the class through what they see in the interface. Connect each panel and button to a component we already deployed in the stack. In particular, note the following: http://{{VM_IP}}/horizon.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Horizon — after login. Walk the class through what they see in the interface. Connect each panel and button to a component we already deployed in the stack. In particular, note the following: OpenStack admin dashboard — navigate to IoT section in left sidebar.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Board onboarding. Cloud registration + edge agent configuration.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Virtual board concept — emulated IoT device (Ch.13). This material is covered in Ch.13 § Setting up Stack4Things · § Adding a new virtual IoT device.</a:t>
            </a:r>
          </a:p>
          <a:p/>
          <a:p>
            <a:r>
              <a:t>First, In the emulated lab environment, the IoT device is a Lightning-Rod Docker container, not physical hardware. Next, Horizon Create Board allocates a unique UUID and registration code stored in the IoTronic MariaDB.</a:t>
            </a:r>
          </a:p>
          <a:p/>
          <a:p>
            <a:r>
              <a:t>By contrast, The registration code acts as a one-time credential allowing the LR agent to bind to the cloud record. We should also consider that regarding board states progress, registered, then first_boot, then online/Active when WAMP session is established.</a:t>
            </a:r>
          </a:p>
          <a:p/>
          <a:p>
            <a:r>
              <a:t>Another key point is that An Active board can receive plugin injections, service deployments, and WSTUN tunnel requests. Furthermore, regarding multiple virtual boards can coexist, lightning-rod (1474), lightning-rod-2 (1475), lightning-rod-3 (1476).</a:t>
            </a:r>
          </a:p>
          <a:p/>
          <a:p>
            <a:r>
              <a:t>In addition, The book describes adding a second board on a separate VM — the lab uses additional LR containers instead.</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Board lifecycle and Horizon management (Ch.13). This material is covered in Ch.13 · fig:chap13:New-IoT · fig:chap13:blist.</a:t>
            </a:r>
          </a:p>
          <a:p/>
          <a:p>
            <a:r>
              <a:t>First, Navigate to Horizon, then IoT, then Boards to see all registered boards with ID, name, fleet, and status. Next, regarding create board form requires, board name, description, and device type — tags are optional.</a:t>
            </a:r>
          </a:p>
          <a:p/>
          <a:p>
            <a:r>
              <a:t>By contrast, After submission, Horizon displays the board UUID and registration code — copy both immediately. We should also consider that The registration code must be pasted into Lightning-Rod Configuration before the agent can connect.</a:t>
            </a:r>
          </a:p>
          <a:p/>
          <a:p>
            <a:r>
              <a:t>Another key point is that Board status in Horizon updates in real time as LR establishes or loses its WAMP session. Furthermore, Fleet assignment groups boards for coordinated plugin injection in Module B (Ch.14 fleet management).</a:t>
            </a:r>
          </a:p>
          <a:p/>
          <a:p>
            <a:r>
              <a:t>In addition, Deleting a board in Horizon does not automatically stop the LR container — reconfigure or restart LR separately.</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demonstration, What board onboarding proves — theory connection.</a:t>
            </a:r>
          </a:p>
          <a:p/>
          <a:p>
            <a:r>
              <a:t>First, Onboarding demonstrates that IoTronic's cloud registry and the edge LR agent can establish a secure, persistent WAMP session through Crossbar. Next, regarding it validates the ch.4 routed rpc model, LR registers procedures, IoTronic invokes them without direct IP reachability.</a:t>
            </a:r>
          </a:p>
          <a:p/>
          <a:p>
            <a:r>
              <a:t>By contrast, It confirms Keystone authentication works end-to-end: Horizon login, board creation, API access. We should also consider that regarding it proves the ca/tls chain is functional, LR connects via wss:// with valid Crossbar certificates.</a:t>
            </a:r>
          </a:p>
          <a:p/>
          <a:p>
            <a:r>
              <a:t>Another key point is that An Active board is the prerequisite for plugin injection (Module B), environmental data (Module C), and web service exposure (Module F). Furthermore, Without Active state, WSTUN tunnels cannot be established and no edge service is reachable.</a:t>
            </a:r>
          </a:p>
          <a:p/>
          <a:p>
            <a:r>
              <a:t>In addition, Take a screenshot of the Active board — it is the mandatory Module A deliverable.</a:t>
            </a:r>
          </a:p>
          <a:p/>
          <a:p>
            <a:r>
              <a:t>Check that your screen matches what we showed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sequence diagram on screen: UML sequence — Board onboarding (Module A). Trace the diagram from left to right. Name each actor, the protocol used, and the message that crosses the cloud–edge boundary. In particular, note the following: Horizon → Conductor → Crossbar → Lightning-Rod → Active state.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Create Board on Horizon.</a:t>
            </a:r>
          </a:p>
          <a:p/>
          <a:p>
            <a:r>
              <a:t>First, Horizon, then IoT, then Boards, then + Create Board. Next, regarding fill, name (e.g. board-alpha), description, device type.</a:t>
            </a:r>
          </a:p>
          <a:p/>
          <a:p>
            <a:r>
              <a:t>By contrast, Copy registration code and board UUID shown after create. We should also consider that regarding book reference, ch.13 fig. sshot-create-board.</a:t>
            </a:r>
          </a:p>
          <a:p/>
          <a:p>
            <a:r>
              <a:t>If these objectives are clear, we can proceed.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Book figure — Create Board (Ch.13). Walk the class through what they see in the interface. Connect each panel and button to a component we already deployed in the stack. In particular, note the following: Reference UI fields from book — name, description, device type.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Lightning-Rod configuration fields (Ch.13). This material is covered in Ch.13 step-by-step onboarding · fig:chap13:lrconf.</a:t>
            </a:r>
          </a:p>
          <a:p/>
          <a:p>
            <a:r>
              <a:t>First, regarding open the lr web ui at http, //{{VM_IP}}:1474 and log in with me / arancino. Next, regarding the wamp endpoint field must be set to wss, //crossbar:8181 — the internal Docker hostname.</a:t>
            </a:r>
          </a:p>
          <a:p/>
          <a:p>
            <a:r>
              <a:t>By contrast, Using localhost or {{VM_IP}} in the WAMP field will fail because LR runs inside the s4t network. We should also consider that Paste the board registration code from Horizon into the designated configuration field.</a:t>
            </a:r>
          </a:p>
          <a:p/>
          <a:p>
            <a:r>
              <a:t>Another key point is that Click CONFIGURE to persist settings — LR will attempt to connect to Crossbar immediately. Furthermore, regarding navigate to the status page, IoTronic connection must show Connected with Name and UUID populated.</a:t>
            </a:r>
          </a:p>
          <a:p/>
          <a:p>
            <a:r>
              <a:t>In addition, LR credentials (me / arancino) are separate from Horizon credentials (admin / s4t).</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WAMP session establishment — what happens at CONFIGURE. This material is covered in Ch.4 § WAMP registration · Ch.13 § Lightning-Rod configuration.</a:t>
            </a:r>
          </a:p>
          <a:p/>
          <a:p>
            <a:r>
              <a:t>First, Lightning-Rod initiates a WebSocket connection to wss://crossbar:8181 with TLS verification. Next, LR authenticates to the s4t WAMP realm using the board registration code as credential.</a:t>
            </a:r>
          </a:p>
          <a:p/>
          <a:p>
            <a:r>
              <a:t>By contrast, Crossbar accepts the session and LR registers its board procedures under WAMP URIs. We should also consider that IoTronic WAMP agent is notified via AMQP that a new board session is active.</a:t>
            </a:r>
          </a:p>
          <a:p/>
          <a:p>
            <a:r>
              <a:t>Another key point is that The Conductor updates the board record in MariaDB from registered to online/Active status. Furthermore, Horizon Boards panel reflects the status change within seconds of successful WAMP registration.</a:t>
            </a:r>
          </a:p>
          <a:p/>
          <a:p>
            <a:r>
              <a:t>In addition, If connection fails, LR Status shows error details — cross-check WAMP URL and registration code.</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Lightning-Rod — login. Walk the class through what they see in the interface. Connect each panel and button to a component we already deployed in the stack. In particular, note the following: http://{{VM_IP}}:1474 — me / arancino.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Lightning-Rod — Configuration (live). Walk the class through what they see in the interface. Connect each panel and button to a component we already deployed in the stack. In particular, note the following: Registration code + WAMP endpoint wss://crossbar:8181 — configure before Status check.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Configure Lightning-Rod.</a:t>
            </a:r>
          </a:p>
          <a:p/>
          <a:p>
            <a:r>
              <a:t>First, regarding open http, //{{VM_IP}}:1474 — login me / arancino. Next, regarding wamp field, wss://crossbar:8181.</a:t>
            </a:r>
          </a:p>
          <a:p/>
          <a:p>
            <a:r>
              <a:t>By contrast, Paste board registration code from Horizon, then click CONFIGURE. We should also consider that regarding verify status page, connected + board Name and UUID populated.</a:t>
            </a:r>
          </a:p>
          <a:p/>
          <a:p>
            <a:r>
              <a:t>If these objectives are clear, we can proceed.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Book figure — LR configuration (Ch.13). Walk the class through what they see in the interface. Connect each panel and button to a component we already deployed in the stack. In particular, note the following: Book reference for WAMP endpoint and board registration code fields.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Lightning-Rod — Status dashboard. Walk the class through what they see in the interface. Connect each panel and button to a component we already deployed in the stack. In particular, note the following: Connected board — mandatory gate before Module B.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Confirm Active board.</a:t>
            </a:r>
          </a:p>
          <a:p/>
          <a:p>
            <a:r>
              <a:t>First, Horizon, then IoT, then Boards, then your board row shows Active/online status. Next, regarding lr status, IoTronic connection Connected, Name and UUID populated.</a:t>
            </a:r>
          </a:p>
          <a:p/>
          <a:p>
            <a:r>
              <a:t>By contrast, Take screenshot — mandatory deliverable before Module B. We should also consider that regarding run, cd training &amp;&amp; ./validate-lab.sh.</a:t>
            </a:r>
          </a:p>
          <a:p/>
          <a:p>
            <a:r>
              <a:t>If these objectives are clear, we can proceed.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Book figure — board info Active (Ch.13). Walk the class through what they see in the interface. Connect each panel and button to a component we already deployed in the stack. In particular, note the following: Target end state for Module A — board details with Active status.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Persistent volumes — data survival across restarts (Ch.13). This material is covered in Ch.13 § Volumes.</a:t>
            </a:r>
          </a:p>
          <a:p/>
          <a:p>
            <a:r>
              <a:t>First, regarding unime_iotronic_db_data stores mariadb content, board registrations, users, plugins, services. Next, Iotronic_ssl holds CA-generated TLS certificates used by Crossbar, WSTUN, and other secure services.</a:t>
            </a:r>
          </a:p>
          <a:p/>
          <a:p>
            <a:r>
              <a:t>By contrast, Iotronic_logs and iotronic-ui_logs capture audit trails from Conductor and Horizon for troubleshooting. We should also consider that Lr_data, lr_var, lr_confs volumes persist Lightning-Rod configuration and plugin state across restarts.</a:t>
            </a:r>
          </a:p>
          <a:p/>
          <a:p>
            <a:r>
              <a:t>Another key point is that Docker compose down stops containers but preserves volumes — board data survives a simple restart. Furthermore, Docker compose down -v wipes ALL volumes — full re-onboarding required, including new board registration.</a:t>
            </a:r>
          </a:p>
          <a:p/>
          <a:p>
            <a:r>
              <a:t>In addition, Volumes are defined in docker-compose.yml and automatically managed by Docker.</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Networking, ports, and environment variables (Ch.13). This material is covered in Ch.13 § Networking · § Configuration summary.</a:t>
            </a:r>
          </a:p>
          <a:p/>
          <a:p>
            <a:r>
              <a:t>First, All containers share the s4t user-defined bridge network with embedded DNS hostname resolution. Next, Host port mappings expose services to the training VM: 80 (Horizon), 8812 (API), 1474 (LR), 8181 (Crossbar).</a:t>
            </a:r>
          </a:p>
          <a:p/>
          <a:p>
            <a:r>
              <a:t>By contrast, regarding environment variables control service behaviour, DB passwords, Keystone URLs, auth strategy. We should also consider that Variables can be set inline in docker-compose.yml, in .env file, or as Docker secrets for production.</a:t>
            </a:r>
          </a:p>
          <a:p/>
          <a:p>
            <a:r>
              <a:t>Another key point is that This single-host configuration is designed for development, testing, and demonstration only. Furthermore, Distributed multi-host deployment requires additional networking and security configuration (Ch.11).</a:t>
            </a:r>
          </a:p>
          <a:p/>
          <a:p>
            <a:r>
              <a:t>In addition, The book's configuration summary table lists all default ports and roles for reference.</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Troubleshooting. Common first-boot and onboarding issues.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Troubleshooting — infrastructure services.</a:t>
            </a:r>
          </a:p>
          <a:p/>
          <a:p>
            <a:r>
              <a:t>First, regarding crossbar restart loop → inspect ca_service, docker compose logs ca_service; wait for iotronic_ssl certs. Next, MariaDB not ready, then wait for iotronic-db (healthy); Conductor will not start without it.</a:t>
            </a:r>
          </a:p>
          <a:p/>
          <a:p>
            <a:r>
              <a:t>By contrast, RabbitMQ connection refused, then check rabbitmq healthcheck; restart with docker compose restart rabbitmq. We should also consider that Keystone auth failure, then verify keystone container running; check iotronic.conf auth_strategy=keystone.</a:t>
            </a:r>
          </a:p>
          <a:p/>
          <a:p>
            <a:r>
              <a:t>Another key point is that Conductor unhealthy, then docker compose logs iotronic-conductor; often a downstream dependency not ready.</a:t>
            </a:r>
          </a:p>
          <a:p/>
          <a:p>
            <a:r>
              <a:t>If these objectives are clear, we can proceed.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Troubleshooting — edge agent and ports.</a:t>
            </a:r>
          </a:p>
          <a:p/>
          <a:p>
            <a:r>
              <a:t>First, regarding port 80 or 8812 busy → ss -tlnp | grep ', 80\|:8812' — stop conflicting host services. Next, LR image pull error, then confirm lab overlay uses mdslab/lrod:compose, not broken upstream SHA.</a:t>
            </a:r>
          </a:p>
          <a:p/>
          <a:p>
            <a:r>
              <a:t>By contrast, regarding lr wamp connection failed → verify wss, //crossbar:8181 (not localhost); check Crossbar is healthy. We should also consider that Board stays registered but not Active, then re-paste registration code; restart LR: docker compose restart lightning-rod.</a:t>
            </a:r>
          </a:p>
          <a:p/>
          <a:p>
            <a:r>
              <a:t>Another key point is that Horizon 404 on /horizon/iot/boards/, then use correct path /horizon/iot/ instead.</a:t>
            </a:r>
          </a:p>
          <a:p/>
          <a:p>
            <a:r>
              <a:t>If these objectives are clear, we can proceed.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demonstration, Module A deliverable — what you submit.</a:t>
            </a:r>
          </a:p>
          <a:p/>
          <a:p>
            <a:r>
              <a:t>First, Screenshot of Horizon Boards panel showing your board in Active/online state. Next, Terminal output of curl returning HTTP 200 from http://{{VM_IP}}:8812/.</a:t>
            </a:r>
          </a:p>
          <a:p/>
          <a:p>
            <a:r>
              <a:t>By contrast, Confirmation that LR Status page shows Connected with correct board UUID. We should also consider that Successful run of training/validate-lab.sh with no FAIL lines.</a:t>
            </a:r>
          </a:p>
          <a:p/>
          <a:p>
            <a:r>
              <a:t>Another key point is that regarding this deliverable unlocks module b, synchronous HelloName plugin injection (Ch.14). Furthermore, Keep the stack running between modules — docker compose down stops all services.</a:t>
            </a:r>
          </a:p>
          <a:p/>
          <a:p>
            <a:r>
              <a:t>In addition, If you must restart, volumes preserve board data; LR reconnects automatically if already configured.</a:t>
            </a:r>
          </a:p>
          <a:p/>
          <a:p>
            <a:r>
              <a:t>Check that your screen matches what we showed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Module A checklist &amp; handoff to Module B.</a:t>
            </a:r>
          </a:p>
          <a:p/>
          <a:p>
            <a:r>
              <a:t>First, regarding □ curl http, //{{VM_IP}}:8812/ returns 200. Next, regarding □ horizon login ok at http, //{{VM_IP}}/horizon (admin / s4t).</a:t>
            </a:r>
          </a:p>
          <a:p/>
          <a:p>
            <a:r>
              <a:t>By contrast, regarding □ lr login ok at http, //{{VM_IP}}:1474 (me / arancino). We should also consider that □ Board Active in Horizon — screenshot saved.</a:t>
            </a:r>
          </a:p>
          <a:p/>
          <a:p>
            <a:r>
              <a:t>Another key point is that regarding next, module B — Plugins &amp; Services (Ch.14) · ./training/validate-lab.sh.</a:t>
            </a:r>
          </a:p>
          <a:p/>
          <a:p>
            <a:r>
              <a:t>If these objectives are clear, we can proceed.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502920"/>
            <a:ext cx="2011680" cy="347472"/>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S4T TRAINING</a:t>
            </a:r>
          </a:p>
        </p:txBody>
      </p:sp>
      <p:sp>
        <p:nvSpPr>
          <p:cNvPr id="5" name="TextBox 4"/>
          <p:cNvSpPr txBox="1"/>
          <p:nvPr/>
        </p:nvSpPr>
        <p:spPr>
          <a:xfrm>
            <a:off x="685800" y="1828800"/>
            <a:ext cx="10789920" cy="1645920"/>
          </a:xfrm>
          <a:prstGeom prst="rect">
            <a:avLst/>
          </a:prstGeom>
          <a:noFill/>
        </p:spPr>
        <p:txBody>
          <a:bodyPr wrap="none">
            <a:spAutoFit/>
          </a:bodyPr>
          <a:lstStyle/>
          <a:p>
            <a:pPr>
              <a:defRPr sz="4000" b="1">
                <a:solidFill>
                  <a:srgbClr val="FFFFFF"/>
                </a:solidFill>
                <a:latin typeface="Calibri"/>
              </a:defRPr>
            </a:pPr>
            <a:r>
              <a:t>Live Deploy — Stack4Things I/Ocloud</a:t>
            </a:r>
          </a:p>
        </p:txBody>
      </p:sp>
      <p:sp>
        <p:nvSpPr>
          <p:cNvPr id="6" name="TextBox 5"/>
          <p:cNvSpPr txBox="1"/>
          <p:nvPr/>
        </p:nvSpPr>
        <p:spPr>
          <a:xfrm>
            <a:off x="685800" y="3520440"/>
            <a:ext cx="10515600" cy="1280160"/>
          </a:xfrm>
          <a:prstGeom prst="rect">
            <a:avLst/>
          </a:prstGeom>
          <a:noFill/>
        </p:spPr>
        <p:txBody>
          <a:bodyPr wrap="none">
            <a:spAutoFit/>
          </a:bodyPr>
          <a:lstStyle/>
          <a:p>
            <a:pPr>
              <a:spcAft>
                <a:spcPts val="400"/>
              </a:spcAft>
              <a:defRPr sz="2200" b="0">
                <a:solidFill>
                  <a:srgbClr val="B2EBF2"/>
                </a:solidFill>
                <a:latin typeface="Calibri"/>
              </a:defRPr>
            </a:pPr>
            <a:r>
              <a:t>Module A — Deploy Stack4Things I/Ocloud · Ch.4 + Ch.13</a:t>
            </a:r>
          </a:p>
          <a:p>
            <a:pPr>
              <a:spcAft>
                <a:spcPts val="400"/>
              </a:spcAft>
              <a:defRPr sz="2200" b="0">
                <a:solidFill>
                  <a:srgbClr val="B2EBF2"/>
                </a:solidFill>
                <a:latin typeface="Calibri"/>
              </a:defRPr>
            </a:pPr>
            <a:r>
              <a:t>Lab host: {{VM_IP}} — replace with your machine IP</a:t>
            </a:r>
          </a:p>
        </p:txBody>
      </p:sp>
      <p:sp>
        <p:nvSpPr>
          <p:cNvPr id="7" name="TextBox 6"/>
          <p:cNvSpPr txBox="1"/>
          <p:nvPr/>
        </p:nvSpPr>
        <p:spPr>
          <a:xfrm>
            <a:off x="685800" y="5623560"/>
            <a:ext cx="10515600" cy="548640"/>
          </a:xfrm>
          <a:prstGeom prst="rect">
            <a:avLst/>
          </a:prstGeom>
          <a:noFill/>
        </p:spPr>
        <p:txBody>
          <a:bodyPr wrap="none">
            <a:spAutoFit/>
          </a:bodyPr>
          <a:lstStyle/>
          <a:p>
            <a:pPr>
              <a:defRPr sz="1400" b="0">
                <a:solidFill>
                  <a:srgbClr val="90A4AE"/>
                </a:solidFill>
                <a:latin typeface="Calibri"/>
              </a:defRPr>
            </a:pPr>
            <a:r>
              <a:t>Assembling Smart CPS · Part II</a:t>
            </a:r>
          </a:p>
        </p:txBody>
      </p:sp>
      <p:sp>
        <p:nvSpPr>
          <p:cNvPr id="8" name="Rectangle 7"/>
          <p:cNvSpPr/>
          <p:nvPr/>
        </p:nvSpPr>
        <p:spPr>
          <a:xfrm>
            <a:off x="685800" y="5394960"/>
            <a:ext cx="3200400" cy="36576"/>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Context</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Where this lab sits in the book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Book Introduction · Part I / Part II</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Part I vs Part II — reading map (1/2)</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Part I (Chapters 1–12) establishes the theoretical foundations of the cloud continuum, the I/Ocloud paradigm, the Web of Things, and the Blueprint methodology for smart CPS.</a:t>
            </a:r>
          </a:p>
          <a:p>
            <a:pPr>
              <a:lnSpc>
                <a:spcPct val="115000"/>
              </a:lnSpc>
              <a:spcAft>
                <a:spcPts val="500"/>
              </a:spcAft>
              <a:defRPr sz="1600" b="0">
                <a:solidFill>
                  <a:srgbClr val="37474F"/>
                </a:solidFill>
                <a:latin typeface="Calibri"/>
              </a:defRPr>
            </a:pPr>
            <a:r>
              <a:t>▸  Part II (Chapters 13–21) moves from architecture to practice: deploy Stack4Things, inject plugins, build urban services, and study real case studies.</a:t>
            </a:r>
          </a:p>
          <a:p>
            <a:pPr>
              <a:lnSpc>
                <a:spcPct val="115000"/>
              </a:lnSpc>
              <a:spcAft>
                <a:spcPts val="500"/>
              </a:spcAft>
              <a:defRPr sz="1600" b="0">
                <a:solidFill>
                  <a:srgbClr val="37474F"/>
                </a:solidFill>
                <a:latin typeface="Calibri"/>
              </a:defRPr>
            </a:pPr>
            <a:r>
              <a:t>▸  Module A is the mandatory entry point for all Part II hands-on work — without a running I/Ocloud and an Active board, Modules B through I cannot proceed.</a:t>
            </a:r>
          </a:p>
          <a:p>
            <a:pPr>
              <a:lnSpc>
                <a:spcPct val="115000"/>
              </a:lnSpc>
              <a:spcAft>
                <a:spcPts val="500"/>
              </a:spcAft>
              <a:defRPr sz="1600" b="0">
                <a:solidFill>
                  <a:srgbClr val="37474F"/>
                </a:solidFill>
                <a:latin typeface="Calibri"/>
              </a:defRPr>
            </a:pPr>
            <a:r>
              <a:t>▸  Today's session combines Chapter 4 (why Stack4Things exists) with Chapter 13 (how to deploy it reproducibly using Docker Compose).</a:t>
            </a:r>
          </a:p>
          <a:p>
            <a:pPr>
              <a:lnSpc>
                <a:spcPct val="115000"/>
              </a:lnSpc>
              <a:spcAft>
                <a:spcPts val="500"/>
              </a:spcAft>
              <a:defRPr sz="1600" b="0">
                <a:solidFill>
                  <a:srgbClr val="37474F"/>
                </a:solidFill>
                <a:latin typeface="Calibri"/>
              </a:defRPr>
            </a:pPr>
            <a:r>
              <a:t>▸  The book authors (Longo, Merlino, Puliafito, Benomar — MDSLab, University of Messina) designed S4T as an OpenStack extension for IoT fleet management.</a:t>
            </a:r>
          </a:p>
          <a:p>
            <a:pPr>
              <a:lnSpc>
                <a:spcPct val="115000"/>
              </a:lnSpc>
              <a:spcAft>
                <a:spcPts val="500"/>
              </a:spcAft>
              <a:defRPr sz="1600" b="0">
                <a:solidFill>
                  <a:srgbClr val="37474F"/>
                </a:solidFill>
                <a:latin typeface="Calibri"/>
              </a:defRPr>
            </a:pPr>
            <a:r>
              <a:t>▸  By the end of this hour you will have reproduced the S4T testbed that every subsequent chapter assumes as its starting environment.</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Ch.4 abstract · Ch.13 abstract</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Part I vs Part II — reading map (2/2)</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Chapter 4 introduces the I/Ocloud as an architectural abstraction that elevates sensors, actuators, and edge devices into first-class programmable cloud resources.</a:t>
            </a:r>
          </a:p>
          <a:p>
            <a:pPr>
              <a:lnSpc>
                <a:spcPct val="115000"/>
              </a:lnSpc>
              <a:spcAft>
                <a:spcPts val="500"/>
              </a:spcAft>
              <a:defRPr sz="1600" b="0">
                <a:solidFill>
                  <a:srgbClr val="37474F"/>
                </a:solidFill>
                <a:latin typeface="Calibri"/>
              </a:defRPr>
            </a:pPr>
            <a:r>
              <a:t>▸  Chapter 13 operationalises that vision: clone the IoTronic repository, launch containers, register a virtual board, and verify cloud-to-edge connectivity.</a:t>
            </a:r>
          </a:p>
          <a:p>
            <a:pPr>
              <a:lnSpc>
                <a:spcPct val="115000"/>
              </a:lnSpc>
              <a:spcAft>
                <a:spcPts val="500"/>
              </a:spcAft>
              <a:defRPr sz="1600" b="0">
                <a:solidFill>
                  <a:srgbClr val="37474F"/>
                </a:solidFill>
                <a:latin typeface="Calibri"/>
              </a:defRPr>
            </a:pPr>
            <a:r>
              <a:t>▸  Module B (Ch.14) will inject synchronous and asynchronous plugins onto the board you register today.</a:t>
            </a:r>
          </a:p>
          <a:p>
            <a:pPr>
              <a:lnSpc>
                <a:spcPct val="115000"/>
              </a:lnSpc>
              <a:spcAft>
                <a:spcPts val="500"/>
              </a:spcAft>
              <a:defRPr sz="1600" b="0">
                <a:solidFill>
                  <a:srgbClr val="37474F"/>
                </a:solidFill>
                <a:latin typeface="Calibri"/>
              </a:defRPr>
            </a:pPr>
            <a:r>
              <a:t>▸  Module C (Ch.15) will stream environmental sensor data from an async plugin into InfluxDB.</a:t>
            </a:r>
          </a:p>
          <a:p>
            <a:pPr>
              <a:lnSpc>
                <a:spcPct val="115000"/>
              </a:lnSpc>
              <a:spcAft>
                <a:spcPts val="500"/>
              </a:spcAft>
              <a:defRPr sz="1600" b="0">
                <a:solidFill>
                  <a:srgbClr val="37474F"/>
                </a:solidFill>
                <a:latin typeface="Calibri"/>
              </a:defRPr>
            </a:pPr>
            <a:r>
              <a:t>▸  The training lab uses Docker-only deployment instead of the book's VirtualBox VM path — same services, faster provisioning, identical learning outcomes.</a:t>
            </a:r>
          </a:p>
          <a:p>
            <a:pPr>
              <a:lnSpc>
                <a:spcPct val="115000"/>
              </a:lnSpc>
              <a:spcAft>
                <a:spcPts val="500"/>
              </a:spcAft>
              <a:defRPr sz="1600" b="0">
                <a:solidFill>
                  <a:srgbClr val="37474F"/>
                </a:solidFill>
                <a:latin typeface="Calibri"/>
              </a:defRPr>
            </a:pPr>
            <a:r>
              <a:t>▸  Keep the distinction clear: theory from Ch.4 explains *why*; Ch.13 explains *how* to deploy.</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Module A — learning objectives</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Clone the ch13 repository and start the full S4T stack with Docker Compose plus the lab overlay.</a:t>
            </a:r>
          </a:p>
          <a:p>
            <a:pPr>
              <a:lnSpc>
                <a:spcPct val="115000"/>
              </a:lnSpc>
              <a:spcAft>
                <a:spcPts val="800"/>
              </a:spcAft>
              <a:defRPr sz="1900" b="0">
                <a:solidFill>
                  <a:srgbClr val="37474F"/>
                </a:solidFill>
                <a:latin typeface="Calibri"/>
              </a:defRPr>
            </a:pPr>
            <a:r>
              <a:t>▸  Verify the IoTronic Conductor REST API responds and the Horizon dashboard is reachable.</a:t>
            </a:r>
          </a:p>
          <a:p>
            <a:pPr>
              <a:lnSpc>
                <a:spcPct val="115000"/>
              </a:lnSpc>
              <a:spcAft>
                <a:spcPts val="800"/>
              </a:spcAft>
              <a:defRPr sz="1900" b="0">
                <a:solidFill>
                  <a:srgbClr val="37474F"/>
                </a:solidFill>
                <a:latin typeface="Calibri"/>
              </a:defRPr>
            </a:pPr>
            <a:r>
              <a:t>▸  Register a virtual board in Horizon and configure Lightning-Rod to reach Active state.</a:t>
            </a:r>
          </a:p>
          <a:p>
            <a:pPr>
              <a:lnSpc>
                <a:spcPct val="115000"/>
              </a:lnSpc>
              <a:spcAft>
                <a:spcPts val="800"/>
              </a:spcAft>
              <a:defRPr sz="1900" b="0">
                <a:solidFill>
                  <a:srgbClr val="37474F"/>
                </a:solidFill>
                <a:latin typeface="Calibri"/>
              </a:defRPr>
            </a:pPr>
            <a:r>
              <a:t>▸  Deliverable: screenshot of board Active in Horizon + successful API curl against :8812.</a:t>
            </a:r>
          </a:p>
          <a:p>
            <a:pPr>
              <a:lnSpc>
                <a:spcPct val="115000"/>
              </a:lnSpc>
              <a:spcAft>
                <a:spcPts val="800"/>
              </a:spcAft>
              <a:defRPr sz="1900" b="0">
                <a:solidFill>
                  <a:srgbClr val="37474F"/>
                </a:solidFill>
                <a:latin typeface="Calibri"/>
              </a:defRPr>
            </a:pPr>
            <a:r>
              <a:t>▸  Run training/validate-lab.sh to confirm the environment is ready for Module B.</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Chapter 4 — I/Ocloud foundations</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Why Stack4Things exists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Ch.4 § Integrating IoT and the cloud</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Integrating IoT and the cloud (Ch.4 §4.1)</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The proliferation of embedded smart devices across cities and industries makes vertical ad-hoc solutions ineffective at scale.</a:t>
            </a:r>
          </a:p>
          <a:p>
            <a:pPr>
              <a:lnSpc>
                <a:spcPct val="115000"/>
              </a:lnSpc>
              <a:spcAft>
                <a:spcPts val="500"/>
              </a:spcAft>
              <a:defRPr sz="1600" b="0">
                <a:solidFill>
                  <a:srgbClr val="37474F"/>
                </a:solidFill>
                <a:latin typeface="Calibri"/>
              </a:defRPr>
            </a:pPr>
            <a:r>
              <a:t>▸  IoT and cloud integration is presented in the book as a winning strategy to manage both the volume of data and the number of connected devices.</a:t>
            </a:r>
          </a:p>
          <a:p>
            <a:pPr>
              <a:lnSpc>
                <a:spcPct val="115000"/>
              </a:lnSpc>
              <a:spcAft>
                <a:spcPts val="500"/>
              </a:spcAft>
              <a:defRPr sz="1600" b="0">
                <a:solidFill>
                  <a:srgbClr val="37474F"/>
                </a:solidFill>
                <a:latin typeface="Calibri"/>
              </a:defRPr>
            </a:pPr>
            <a:r>
              <a:t>▸  Rather than inventing new infrastructure tooling, the authors propose extending OpenStack — the de-facto open-source IaaS platform — toward Cyber-Physical Systems.</a:t>
            </a:r>
          </a:p>
          <a:p>
            <a:pPr>
              <a:lnSpc>
                <a:spcPct val="115000"/>
              </a:lnSpc>
              <a:spcAft>
                <a:spcPts val="500"/>
              </a:spcAft>
              <a:defRPr sz="1600" b="0">
                <a:solidFill>
                  <a:srgbClr val="37474F"/>
                </a:solidFill>
                <a:latin typeface="Calibri"/>
              </a:defRPr>
            </a:pPr>
            <a:r>
              <a:t>▸  OpenStack already manages virtualised compute and storage; Stack4Things extends it to manage sensor- and actuator-hosting nodes at the network edge.</a:t>
            </a:r>
          </a:p>
          <a:p>
            <a:pPr>
              <a:lnSpc>
                <a:spcPct val="115000"/>
              </a:lnSpc>
              <a:spcAft>
                <a:spcPts val="500"/>
              </a:spcAft>
              <a:defRPr sz="1600" b="0">
                <a:solidFill>
                  <a:srgbClr val="37474F"/>
                </a:solidFill>
                <a:latin typeface="Calibri"/>
              </a:defRPr>
            </a:pPr>
            <a:r>
              <a:t>▸  On the board side the reference platforms are open-source devices such as 4rancino and Arduino YUN, running Linux distributions like Arancino OS on the MPU.</a:t>
            </a:r>
          </a:p>
          <a:p>
            <a:pPr>
              <a:lnSpc>
                <a:spcPct val="115000"/>
              </a:lnSpc>
              <a:spcAft>
                <a:spcPts val="500"/>
              </a:spcAft>
              <a:defRPr sz="1600" b="0">
                <a:solidFill>
                  <a:srgbClr val="37474F"/>
                </a:solidFill>
                <a:latin typeface="Calibri"/>
              </a:defRPr>
            </a:pPr>
            <a:r>
              <a:t>▸  The I/Ocloud vision treats physical I/O pins and connected transducers as cloud-manageable resources, not isolated firmware silos.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Ch.4 § I/Ocloud design considerations · fig:chap04:Stack4Things-pillar</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I/Ocloud design considerations (Ch.4 §4.1.1)</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The I/Ocloud extends OpenStack's virtual infrastructure manager to encompass IoT devices as programmable entities within a unified cloud-native ecosystem.</a:t>
            </a:r>
          </a:p>
          <a:p>
            <a:pPr>
              <a:lnSpc>
                <a:spcPct val="115000"/>
              </a:lnSpc>
              <a:spcAft>
                <a:spcPts val="500"/>
              </a:spcAft>
              <a:defRPr sz="1600" b="0">
                <a:solidFill>
                  <a:srgbClr val="37474F"/>
                </a:solidFill>
                <a:latin typeface="Calibri"/>
              </a:defRPr>
            </a:pPr>
            <a:r>
              <a:t>▸  Unlike rigid predefined schemes for mixing resources, the IaaS approach to IoT nodes offers higher degrees of freedom when engineering any vertical application.</a:t>
            </a:r>
          </a:p>
          <a:p>
            <a:pPr>
              <a:lnSpc>
                <a:spcPct val="115000"/>
              </a:lnSpc>
              <a:spcAft>
                <a:spcPts val="500"/>
              </a:spcAft>
              <a:defRPr sz="1600" b="0">
                <a:solidFill>
                  <a:srgbClr val="37474F"/>
                </a:solidFill>
                <a:latin typeface="Calibri"/>
              </a:defRPr>
            </a:pPr>
            <a:r>
              <a:t>▸  Leveraging an industrial-strength open-source IaaS brings built-in role-based authentication, delegation, and service-oriented governance that ad-hoc IoT platforms lack.</a:t>
            </a:r>
          </a:p>
          <a:p>
            <a:pPr>
              <a:lnSpc>
                <a:spcPct val="115000"/>
              </a:lnSpc>
              <a:spcAft>
                <a:spcPts val="500"/>
              </a:spcAft>
              <a:defRPr sz="1600" b="0">
                <a:solidFill>
                  <a:srgbClr val="37474F"/>
                </a:solidFill>
                <a:latin typeface="Calibri"/>
              </a:defRPr>
            </a:pPr>
            <a:r>
              <a:t>▸  A novel subsystem called IoTronic is introduced specifically for provisioning configuration and tasks for board-hosted sensing and actuation resources.</a:t>
            </a:r>
          </a:p>
          <a:p>
            <a:pPr>
              <a:lnSpc>
                <a:spcPct val="115000"/>
              </a:lnSpc>
              <a:spcAft>
                <a:spcPts val="500"/>
              </a:spcAft>
              <a:defRPr sz="1600" b="0">
                <a:solidFill>
                  <a:srgbClr val="37474F"/>
                </a:solidFill>
                <a:latin typeface="Calibri"/>
              </a:defRPr>
            </a:pPr>
            <a:r>
              <a:t>▸  In the conceptual architecture, a diamond-shaped board replaces the traditional VM box, with interactions described along the control and data paths.</a:t>
            </a:r>
          </a:p>
          <a:p>
            <a:pPr>
              <a:lnSpc>
                <a:spcPct val="115000"/>
              </a:lnSpc>
              <a:spcAft>
                <a:spcPts val="500"/>
              </a:spcAft>
              <a:defRPr sz="1600" b="0">
                <a:solidFill>
                  <a:srgbClr val="37474F"/>
                </a:solidFill>
                <a:latin typeface="Calibri"/>
              </a:defRPr>
            </a:pPr>
            <a:r>
              <a:t>▸  Integrating IoT management into OpenStack had not been independently explored by the community before Stack4Things — making this a genuinely novel research contribution.</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Ch.4 § Cloud side: IoTronic · fig:chap04:S4T-cloud-arch</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OpenStack extension — IoTronic subsystem (Ch.4 §4.2)</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IoTronic is modelled after standard OpenStack services (Nova, Neutron, Keystone) and exposes a REST interface for managing remote IoT nodes.</a:t>
            </a:r>
          </a:p>
          <a:p>
            <a:pPr>
              <a:lnSpc>
                <a:spcPct val="115000"/>
              </a:lnSpc>
              <a:spcAft>
                <a:spcPts val="500"/>
              </a:spcAft>
              <a:defRPr sz="1600" b="0">
                <a:solidFill>
                  <a:srgbClr val="37474F"/>
                </a:solidFill>
                <a:latin typeface="Calibri"/>
              </a:defRPr>
            </a:pPr>
            <a:r>
              <a:t>▸  The IoTronic Conductor is the core component: it manages the database, dispatches RPCs among internal microservices, and orchestrates board lifecycle events.</a:t>
            </a:r>
          </a:p>
          <a:p>
            <a:pPr>
              <a:lnSpc>
                <a:spcPct val="115000"/>
              </a:lnSpc>
              <a:spcAft>
                <a:spcPts val="500"/>
              </a:spcAft>
              <a:defRPr sz="1600" b="0">
                <a:solidFill>
                  <a:srgbClr val="37474F"/>
                </a:solidFill>
                <a:latin typeface="Calibri"/>
              </a:defRPr>
            </a:pPr>
            <a:r>
              <a:t>▸  The IoTronic API server exposes REST endpoints for boards, plugins, services, and telemetry — accessible via CLI client or Web browser.</a:t>
            </a:r>
          </a:p>
          <a:p>
            <a:pPr>
              <a:lnSpc>
                <a:spcPct val="115000"/>
              </a:lnSpc>
              <a:spcAft>
                <a:spcPts val="500"/>
              </a:spcAft>
              <a:defRPr sz="1600" b="0">
                <a:solidFill>
                  <a:srgbClr val="37474F"/>
                </a:solidFill>
                <a:latin typeface="Calibri"/>
              </a:defRPr>
            </a:pPr>
            <a:r>
              <a:t>▸  OpenStack Horizon has been enhanced with an S4T dashboard panel for visual board management, plugin injection, and service orchestration.</a:t>
            </a:r>
          </a:p>
          <a:p>
            <a:pPr>
              <a:lnSpc>
                <a:spcPct val="115000"/>
              </a:lnSpc>
              <a:spcAft>
                <a:spcPts val="500"/>
              </a:spcAft>
              <a:defRPr sz="1600" b="0">
                <a:solidFill>
                  <a:srgbClr val="37474F"/>
                </a:solidFill>
                <a:latin typeface="Calibri"/>
              </a:defRPr>
            </a:pPr>
            <a:r>
              <a:t>▸  The IoTronic WAMP agent acts as a bridge between AMQP-internal messaging and WAMP messages sent to edge boards via Crossbar.</a:t>
            </a:r>
          </a:p>
          <a:p>
            <a:pPr>
              <a:lnSpc>
                <a:spcPct val="115000"/>
              </a:lnSpc>
              <a:spcAft>
                <a:spcPts val="500"/>
              </a:spcAft>
              <a:defRPr sz="1600" b="0">
                <a:solidFill>
                  <a:srgbClr val="37474F"/>
                </a:solidFill>
                <a:latin typeface="Calibri"/>
              </a:defRPr>
            </a:pPr>
            <a:r>
              <a:t>▸  The IoTronic WS tunnel agent (WSTUN) wraps the WebSocket server that boards connect to for reverse-tunnel access to board-hosted services.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Stack4Things pillars (Ch.4)</a:t>
            </a:r>
          </a:p>
        </p:txBody>
      </p:sp>
      <p:sp>
        <p:nvSpPr>
          <p:cNvPr id="4" name="Rounded Rectangle 3"/>
          <p:cNvSpPr/>
          <p:nvPr/>
        </p:nvSpPr>
        <p:spPr>
          <a:xfrm>
            <a:off x="1120368" y="1298448"/>
            <a:ext cx="995095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4t-stack.png"/>
          <p:cNvPicPr>
            <a:picLocks noChangeAspect="1"/>
          </p:cNvPicPr>
          <p:nvPr/>
        </p:nvPicPr>
        <p:blipFill>
          <a:blip r:embed="rId2"/>
          <a:stretch>
            <a:fillRect/>
          </a:stretch>
        </p:blipFill>
        <p:spPr>
          <a:xfrm>
            <a:off x="1175232" y="1353312"/>
            <a:ext cx="984123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OpenStack core + IoTronic + Lightning-Rod — reference architecture from Ch.4</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Diagram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Ch.4 § Remote configuration · WAMP routed RPC</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WAMP — routed RPC for NAT traversal (Ch.4 §4.2.1)</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Traditional RPC client-server models fail when IoT devices sit behind NATs, firewalls, or cellular networks with frequently changing IP addresses.</a:t>
            </a:r>
          </a:p>
          <a:p>
            <a:pPr>
              <a:lnSpc>
                <a:spcPct val="115000"/>
              </a:lnSpc>
              <a:spcAft>
                <a:spcPts val="500"/>
              </a:spcAft>
              <a:defRPr sz="1600" b="0">
                <a:solidFill>
                  <a:srgbClr val="37474F"/>
                </a:solidFill>
                <a:latin typeface="Calibri"/>
              </a:defRPr>
            </a:pPr>
            <a:r>
              <a:t>▸  Routed RPCs (rRPCs) solve this by introducing a broker that routes calls dynamically, keeping communication possible even when direct IP reachability is impossible.</a:t>
            </a:r>
          </a:p>
          <a:p>
            <a:pPr>
              <a:lnSpc>
                <a:spcPct val="115000"/>
              </a:lnSpc>
              <a:spcAft>
                <a:spcPts val="500"/>
              </a:spcAft>
              <a:defRPr sz="1600" b="0">
                <a:solidFill>
                  <a:srgbClr val="37474F"/>
                </a:solidFill>
                <a:latin typeface="Calibri"/>
              </a:defRPr>
            </a:pPr>
            <a:r>
              <a:t>▸  The Web Application Messaging Protocol (WAMP) is a real-time, routed messaging protocol designed specifically for these networking challenges.</a:t>
            </a:r>
          </a:p>
          <a:p>
            <a:pPr>
              <a:lnSpc>
                <a:spcPct val="115000"/>
              </a:lnSpc>
              <a:spcAft>
                <a:spcPts val="500"/>
              </a:spcAft>
              <a:defRPr sz="1600" b="0">
                <a:solidFill>
                  <a:srgbClr val="37474F"/>
                </a:solidFill>
                <a:latin typeface="Calibri"/>
              </a:defRPr>
            </a:pPr>
            <a:r>
              <a:t>▸  With WAMP, devices do not need to know each other's IP addresses — messages are routed through a Dealer (router) that bypasses NAT and firewall restrictions.</a:t>
            </a:r>
          </a:p>
          <a:p>
            <a:pPr>
              <a:lnSpc>
                <a:spcPct val="115000"/>
              </a:lnSpc>
              <a:spcAft>
                <a:spcPts val="500"/>
              </a:spcAft>
              <a:defRPr sz="1600" b="0">
                <a:solidFill>
                  <a:srgbClr val="37474F"/>
                </a:solidFill>
                <a:latin typeface="Calibri"/>
              </a:defRPr>
            </a:pPr>
            <a:r>
              <a:t>▸  Connections remain persistent over WebSockets, reducing the overhead of frequent reconnections that plague polling-based approaches.</a:t>
            </a:r>
          </a:p>
          <a:p>
            <a:pPr>
              <a:lnSpc>
                <a:spcPct val="115000"/>
              </a:lnSpc>
              <a:spcAft>
                <a:spcPts val="500"/>
              </a:spcAft>
              <a:defRPr sz="1600" b="0">
                <a:solidFill>
                  <a:srgbClr val="37474F"/>
                </a:solidFill>
                <a:latin typeface="Calibri"/>
              </a:defRPr>
            </a:pPr>
            <a:r>
              <a:t>▸  WAMP supports both Remote Procedure Calls and Publish/Subscribe patterns — RPC is not available in plain AMQP, which is why S4T chose WAMP for board interactions.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Ch.4 · fig:chap04:WAMP-steps</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WAMP call procedure — Caller, Dealer, Callee (Ch.4)</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A Callee registers a procedure at the Dealer under an abstract URI identifying the procedure (step 1 in the book's WAMP sequence diagram).</a:t>
            </a:r>
          </a:p>
          <a:p>
            <a:pPr>
              <a:lnSpc>
                <a:spcPct val="115000"/>
              </a:lnSpc>
              <a:spcAft>
                <a:spcPts val="500"/>
              </a:spcAft>
              <a:defRPr sz="1600" b="0">
                <a:solidFill>
                  <a:srgbClr val="37474F"/>
                </a:solidFill>
                <a:latin typeface="Calibri"/>
              </a:defRPr>
            </a:pPr>
            <a:r>
              <a:t>▸  The Dealer maintains a registry mapping procedure URIs to the Callees that implement them.</a:t>
            </a:r>
          </a:p>
          <a:p>
            <a:pPr>
              <a:lnSpc>
                <a:spcPct val="115000"/>
              </a:lnSpc>
              <a:spcAft>
                <a:spcPts val="500"/>
              </a:spcAft>
              <a:defRPr sz="1600" b="0">
                <a:solidFill>
                  <a:srgbClr val="37474F"/>
                </a:solidFill>
                <a:latin typeface="Calibri"/>
              </a:defRPr>
            </a:pPr>
            <a:r>
              <a:t>▸  To invoke a remote procedure, the Caller sends the procedure URI to the Dealer (step 2).</a:t>
            </a:r>
          </a:p>
          <a:p>
            <a:pPr>
              <a:lnSpc>
                <a:spcPct val="115000"/>
              </a:lnSpc>
              <a:spcAft>
                <a:spcPts val="500"/>
              </a:spcAft>
              <a:defRPr sz="1600" b="0">
                <a:solidFill>
                  <a:srgbClr val="37474F"/>
                </a:solidFill>
                <a:latin typeface="Calibri"/>
              </a:defRPr>
            </a:pPr>
            <a:r>
              <a:t>▸  The Dealer looks up the URI in its registry and forwards the call to the correct Callee.</a:t>
            </a:r>
          </a:p>
          <a:p>
            <a:pPr>
              <a:lnSpc>
                <a:spcPct val="115000"/>
              </a:lnSpc>
              <a:spcAft>
                <a:spcPts val="500"/>
              </a:spcAft>
              <a:defRPr sz="1600" b="0">
                <a:solidFill>
                  <a:srgbClr val="37474F"/>
                </a:solidFill>
                <a:latin typeface="Calibri"/>
              </a:defRPr>
            </a:pPr>
            <a:r>
              <a:t>▸  When execution completes, the Dealer retrieves the result and returns it to the Caller (step 3).</a:t>
            </a:r>
          </a:p>
          <a:p>
            <a:pPr>
              <a:lnSpc>
                <a:spcPct val="115000"/>
              </a:lnSpc>
              <a:spcAft>
                <a:spcPts val="500"/>
              </a:spcAft>
              <a:defRPr sz="1600" b="0">
                <a:solidFill>
                  <a:srgbClr val="37474F"/>
                </a:solidFill>
                <a:latin typeface="Calibri"/>
              </a:defRPr>
            </a:pPr>
            <a:r>
              <a:t>▸  Neither Caller nor Callee needs direct network knowledge of the other — all routing is handled at the WAMP level by Crossbar in the S4T deployment.</a:t>
            </a:r>
          </a:p>
          <a:p>
            <a:pPr>
              <a:lnSpc>
                <a:spcPct val="115000"/>
              </a:lnSpc>
              <a:spcAft>
                <a:spcPts val="500"/>
              </a:spcAft>
              <a:defRPr sz="1600" b="0">
                <a:solidFill>
                  <a:srgbClr val="37474F"/>
                </a:solidFill>
                <a:latin typeface="Calibri"/>
              </a:defRPr>
            </a:pPr>
            <a:r>
              <a:t>▸  In our lab, Lightning-Rod is the Callee and IoTronic components act as Callers via the WAMP agent bridge.</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Ch.4 § Service forwarding mechanism · fig:chap04:service-forwarding</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WebSocket reverse tunneling — WSTUN (Ch.4 §4.2.2)</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Boards in restrictive IPv4 deployments can almost always initiate outgoing HTTP/HTTPS traffic, even when inbound connections are blocked by NAT or firewall rules.</a:t>
            </a:r>
          </a:p>
          <a:p>
            <a:pPr>
              <a:lnSpc>
                <a:spcPct val="115000"/>
              </a:lnSpc>
              <a:spcAft>
                <a:spcPts val="500"/>
              </a:spcAft>
              <a:defRPr sz="1600" b="0">
                <a:solidFill>
                  <a:srgbClr val="37474F"/>
                </a:solidFill>
                <a:latin typeface="Calibri"/>
              </a:defRPr>
            </a:pPr>
            <a:r>
              <a:t>▸  Stack4Things implements a novel reverse tunneling technique: the board initiates a WebSocket connection to the cloud, and the cloud exposes a TCP port for external clients.</a:t>
            </a:r>
          </a:p>
          <a:p>
            <a:pPr>
              <a:lnSpc>
                <a:spcPct val="115000"/>
              </a:lnSpc>
              <a:spcAft>
                <a:spcPts val="500"/>
              </a:spcAft>
              <a:defRPr sz="1600" b="0">
                <a:solidFill>
                  <a:srgbClr val="37474F"/>
                </a:solidFill>
                <a:latin typeface="Calibri"/>
              </a:defRPr>
            </a:pPr>
            <a:r>
              <a:t>▸  When an external client connects to the cloud-side TCP port, the tunnel server signals the board through the control WebSocket to open a data tunnel.</a:t>
            </a:r>
          </a:p>
          <a:p>
            <a:pPr>
              <a:lnSpc>
                <a:spcPct val="115000"/>
              </a:lnSpc>
              <a:spcAft>
                <a:spcPts val="500"/>
              </a:spcAft>
              <a:defRPr sz="1600" b="0">
                <a:solidFill>
                  <a:srgbClr val="37474F"/>
                </a:solidFill>
                <a:latin typeface="Calibri"/>
              </a:defRPr>
            </a:pPr>
            <a:r>
              <a:t>▸  TCP segments are piped through the WebSocket tunnel, allowing cloud-triggered reachability to any board-hosted service (SSH, HTTP, custom daemons).</a:t>
            </a:r>
          </a:p>
          <a:p>
            <a:pPr>
              <a:lnSpc>
                <a:spcPct val="115000"/>
              </a:lnSpc>
              <a:spcAft>
                <a:spcPts val="500"/>
              </a:spcAft>
              <a:defRPr sz="1600" b="0">
                <a:solidFill>
                  <a:srgbClr val="37474F"/>
                </a:solidFill>
                <a:latin typeface="Calibri"/>
              </a:defRPr>
            </a:pPr>
            <a:r>
              <a:t>▸  This design enables server-initiated connectivity without port forwarding or VPNs — critical for large-scale IoT fleet management.</a:t>
            </a:r>
          </a:p>
          <a:p>
            <a:pPr>
              <a:lnSpc>
                <a:spcPct val="115000"/>
              </a:lnSpc>
              <a:spcAft>
                <a:spcPts val="500"/>
              </a:spcAft>
              <a:defRPr sz="1600" b="0">
                <a:solidFill>
                  <a:srgbClr val="37474F"/>
                </a:solidFill>
                <a:latin typeface="Calibri"/>
              </a:defRPr>
            </a:pPr>
            <a:r>
              <a:t>▸  WSTUN (iotronic-wstun container) implements this mechanism on port 8080 in the lab stack.</a:t>
            </a:r>
          </a:p>
          <a:p>
            <a:pPr>
              <a:lnSpc>
                <a:spcPct val="115000"/>
              </a:lnSpc>
              <a:spcAft>
                <a:spcPts val="500"/>
              </a:spcAft>
              <a:defRPr sz="1600" b="0">
                <a:solidFill>
                  <a:srgbClr val="37474F"/>
                </a:solidFill>
                <a:latin typeface="Calibri"/>
              </a:defRPr>
            </a:pPr>
            <a:r>
              <a:t>▸  Module F (Ch.14 web services) will demonstrate exposing an edge HTTP service through this tunnel.</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Ch.4 § Device side: Lightning-Rod · fig:chap04:LR</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Lightning-Rod — the edge agent (Ch.4 §4.3)</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Lightning-Rod (LR) runs on the board's MPU and is the single point of contact between the physical device and the cloud infrastructure.</a:t>
            </a:r>
          </a:p>
          <a:p>
            <a:pPr>
              <a:lnSpc>
                <a:spcPct val="115000"/>
              </a:lnSpc>
              <a:spcAft>
                <a:spcPts val="500"/>
              </a:spcAft>
              <a:defRPr sz="1600" b="0">
                <a:solidFill>
                  <a:srgbClr val="37474F"/>
                </a:solidFill>
                <a:latin typeface="Calibri"/>
              </a:defRPr>
            </a:pPr>
            <a:r>
              <a:t>▸  The LR engine connects to Crossbar via a WebSocket full-duplex WAMP channel, sending and receiving commands from IoTronic in the cloud.</a:t>
            </a:r>
          </a:p>
          <a:p>
            <a:pPr>
              <a:lnSpc>
                <a:spcPct val="115000"/>
              </a:lnSpc>
              <a:spcAft>
                <a:spcPts val="500"/>
              </a:spcAft>
              <a:defRPr sz="1600" b="0">
                <a:solidFill>
                  <a:srgbClr val="37474F"/>
                </a:solidFill>
                <a:latin typeface="Calibri"/>
              </a:defRPr>
            </a:pPr>
            <a:r>
              <a:t>▸  LR can interact with digital/analog I/O pins through MCUIO sysfs libraries, with OS tools (filesystem, package manager, services), and with user-injected plugins.</a:t>
            </a:r>
          </a:p>
          <a:p>
            <a:pPr>
              <a:lnSpc>
                <a:spcPct val="115000"/>
              </a:lnSpc>
              <a:spcAft>
                <a:spcPts val="500"/>
              </a:spcAft>
              <a:defRPr sz="1600" b="0">
                <a:solidFill>
                  <a:srgbClr val="37474F"/>
                </a:solidFill>
                <a:latin typeface="Calibri"/>
              </a:defRPr>
            </a:pPr>
            <a:r>
              <a:t>▸  The plugin loader allows custom Python Workers to be injected from the cloud and executed on the board — the foundation for Modules B and C.</a:t>
            </a:r>
          </a:p>
          <a:p>
            <a:pPr>
              <a:lnSpc>
                <a:spcPct val="115000"/>
              </a:lnSpc>
              <a:spcAft>
                <a:spcPts val="500"/>
              </a:spcAft>
              <a:defRPr sz="1600" b="0">
                <a:solidFill>
                  <a:srgbClr val="37474F"/>
                </a:solidFill>
                <a:latin typeface="Calibri"/>
              </a:defRPr>
            </a:pPr>
            <a:r>
              <a:t>▸  LR also acts as a WebSocket reverse tunnel client, enabling external users to reach board-internal services through the cloud-side WSTUN agent.</a:t>
            </a:r>
          </a:p>
          <a:p>
            <a:pPr>
              <a:lnSpc>
                <a:spcPct val="115000"/>
              </a:lnSpc>
              <a:spcAft>
                <a:spcPts val="500"/>
              </a:spcAft>
              <a:defRPr sz="1600" b="0">
                <a:solidFill>
                  <a:srgbClr val="37474F"/>
                </a:solidFill>
                <a:latin typeface="Calibri"/>
              </a:defRPr>
            </a:pPr>
            <a:r>
              <a:t>▸  In the emulated lab environment, Lightning-Rod runs inside a Docker container that simulates a virtual board — no physical hardware is required.</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Stack4Things architecture</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Cloud ↔ edge messaging planes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Ch.4 § Stack4Things architecture · Ch.13 abstract</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What is Stack4Things? — platform overview</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Stack4Things (S4T) is open-source middleware for IoT fleet management built on top of OpenStack, extending cloud orchestration to the network edge.</a:t>
            </a:r>
          </a:p>
          <a:p>
            <a:pPr>
              <a:lnSpc>
                <a:spcPct val="115000"/>
              </a:lnSpc>
              <a:spcAft>
                <a:spcPts val="500"/>
              </a:spcAft>
              <a:defRPr sz="1600" b="0">
                <a:solidFill>
                  <a:srgbClr val="37474F"/>
                </a:solidFill>
                <a:latin typeface="Calibri"/>
              </a:defRPr>
            </a:pPr>
            <a:r>
              <a:t>▸  IoTronic is the cloud-side controller providing REST API, Horizon UI, and MariaDB-backed persistence for boards, plugins, and services.</a:t>
            </a:r>
          </a:p>
          <a:p>
            <a:pPr>
              <a:lnSpc>
                <a:spcPct val="115000"/>
              </a:lnSpc>
              <a:spcAft>
                <a:spcPts val="500"/>
              </a:spcAft>
              <a:defRPr sz="1600" b="0">
                <a:solidFill>
                  <a:srgbClr val="37474F"/>
                </a:solidFill>
                <a:latin typeface="Calibri"/>
              </a:defRPr>
            </a:pPr>
            <a:r>
              <a:t>▸  Lightning-Rod is the device-side agent providing plugin runtime, WAMP client, and local I/O abstraction on each board.</a:t>
            </a:r>
          </a:p>
          <a:p>
            <a:pPr>
              <a:lnSpc>
                <a:spcPct val="115000"/>
              </a:lnSpc>
              <a:spcAft>
                <a:spcPts val="500"/>
              </a:spcAft>
              <a:defRPr sz="1600" b="0">
                <a:solidFill>
                  <a:srgbClr val="37474F"/>
                </a:solidFill>
                <a:latin typeface="Calibri"/>
              </a:defRPr>
            </a:pPr>
            <a:r>
              <a:t>▸  S4T is designed with modular architecture: individual components can be developed, deployed, and updated independently.</a:t>
            </a:r>
          </a:p>
          <a:p>
            <a:pPr>
              <a:lnSpc>
                <a:spcPct val="115000"/>
              </a:lnSpc>
              <a:spcAft>
                <a:spcPts val="500"/>
              </a:spcAft>
              <a:defRPr sz="1600" b="0">
                <a:solidFill>
                  <a:srgbClr val="37474F"/>
                </a:solidFill>
                <a:latin typeface="Calibri"/>
              </a:defRPr>
            </a:pPr>
            <a:r>
              <a:t>▸  All services are containerised and orchestrated via Docker Compose for reproducible single-host testbed deployments.</a:t>
            </a:r>
          </a:p>
          <a:p>
            <a:pPr>
              <a:lnSpc>
                <a:spcPct val="115000"/>
              </a:lnSpc>
              <a:spcAft>
                <a:spcPts val="500"/>
              </a:spcAft>
              <a:defRPr sz="1600" b="0">
                <a:solidFill>
                  <a:srgbClr val="37474F"/>
                </a:solidFill>
                <a:latin typeface="Calibri"/>
              </a:defRPr>
            </a:pPr>
            <a:r>
              <a:t>▸  The book positions S4T as the instantiation of the I/Ocloud vision within the OpenStack ecosystem.</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Ch.13 · Ch.4 § Architecture overview · Ch.16 MACM components</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Logical architecture — three communication planes</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The control plane comprises IoTronic Conductor, Keystone identity service, and the plugin/service registry exposed through Horizon and REST.</a:t>
            </a:r>
          </a:p>
          <a:p>
            <a:pPr>
              <a:lnSpc>
                <a:spcPct val="115000"/>
              </a:lnSpc>
              <a:spcAft>
                <a:spcPts val="500"/>
              </a:spcAft>
              <a:defRPr sz="1600" b="0">
                <a:solidFill>
                  <a:srgbClr val="37474F"/>
                </a:solidFill>
                <a:latin typeface="Calibri"/>
              </a:defRPr>
            </a:pPr>
            <a:r>
              <a:t>▸  The messaging plane uses RabbitMQ (AMQP) for internal microservice coordination and Crossbar (WAMP) for bidirectional cloud-to-board RPC and pub/sub.</a:t>
            </a:r>
          </a:p>
          <a:p>
            <a:pPr>
              <a:lnSpc>
                <a:spcPct val="115000"/>
              </a:lnSpc>
              <a:spcAft>
                <a:spcPts val="500"/>
              </a:spcAft>
              <a:defRPr sz="1600" b="0">
                <a:solidFill>
                  <a:srgbClr val="37474F"/>
                </a:solidFill>
                <a:latin typeface="Calibri"/>
              </a:defRPr>
            </a:pPr>
            <a:r>
              <a:t>▸  The data/tunnel plane is implemented by WSTUN (iotronic-wstun), providing reverse WebSocket tunnels for NAT traversal to board-hosted services.</a:t>
            </a:r>
          </a:p>
          <a:p>
            <a:pPr>
              <a:lnSpc>
                <a:spcPct val="115000"/>
              </a:lnSpc>
              <a:spcAft>
                <a:spcPts val="500"/>
              </a:spcAft>
              <a:defRPr sz="1600" b="0">
                <a:solidFill>
                  <a:srgbClr val="37474F"/>
                </a:solidFill>
                <a:latin typeface="Calibri"/>
              </a:defRPr>
            </a:pPr>
            <a:r>
              <a:t>▸  The edge plane is Lightning-Rod on each board, connecting local I/O, plugins, and OS resources to the three cloud planes above.</a:t>
            </a:r>
          </a:p>
          <a:p>
            <a:pPr>
              <a:lnSpc>
                <a:spcPct val="115000"/>
              </a:lnSpc>
              <a:spcAft>
                <a:spcPts val="500"/>
              </a:spcAft>
              <a:defRPr sz="1600" b="0">
                <a:solidFill>
                  <a:srgbClr val="37474F"/>
                </a:solidFill>
                <a:latin typeface="Calibri"/>
              </a:defRPr>
            </a:pPr>
            <a:r>
              <a:t>▸  IoTronic WAMP agent translates AMQP messages from internal services into WAMP messages routed through Crossbar to the correct board.</a:t>
            </a:r>
          </a:p>
          <a:p>
            <a:pPr>
              <a:lnSpc>
                <a:spcPct val="115000"/>
              </a:lnSpc>
              <a:spcAft>
                <a:spcPts val="500"/>
              </a:spcAft>
              <a:defRPr sz="1600" b="0">
                <a:solidFill>
                  <a:srgbClr val="37474F"/>
                </a:solidFill>
                <a:latin typeface="Calibri"/>
              </a:defRPr>
            </a:pPr>
            <a:r>
              <a:t>▸  This separation of planes allows each layer to scale independently — multiple WAMP agents and WSTUN instances can be instantiated for redundancy.</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IoTronic REST API</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Ch.4 — nodes, pins, services, plugins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Ch.4 § Stack4Things REST API · table:api</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Stack4Things REST API — resource groups (Ch.4)</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Table table:api documents IoTronic v0.1 endpoints grouped by resource type.</a:t>
            </a:r>
          </a:p>
          <a:p>
            <a:pPr>
              <a:lnSpc>
                <a:spcPct val="115000"/>
              </a:lnSpc>
              <a:spcAft>
                <a:spcPts val="500"/>
              </a:spcAft>
              <a:defRPr sz="1600" b="0">
                <a:solidFill>
                  <a:srgbClr val="37474F"/>
                </a:solidFill>
                <a:latin typeface="Calibri"/>
              </a:defRPr>
            </a:pPr>
            <a:r>
              <a:t>▸  Nodes: GET /v1/nodes lists registered boards; GET /v1/nodes/{uuid} returns board metadata.</a:t>
            </a:r>
          </a:p>
          <a:p>
            <a:pPr>
              <a:lnSpc>
                <a:spcPct val="115000"/>
              </a:lnSpc>
              <a:spcAft>
                <a:spcPts val="500"/>
              </a:spcAft>
              <a:defRPr sz="1600" b="0">
                <a:solidFill>
                  <a:srgbClr val="37474F"/>
                </a:solidFill>
                <a:latin typeface="Calibri"/>
              </a:defRPr>
            </a:pPr>
            <a:r>
              <a:t>▸  Pins: read/set GPIO modes and values — REST hides WAMP complexity for I/O abstraction.</a:t>
            </a:r>
          </a:p>
          <a:p>
            <a:pPr>
              <a:lnSpc>
                <a:spcPct val="115000"/>
              </a:lnSpc>
              <a:spcAft>
                <a:spcPts val="500"/>
              </a:spcAft>
              <a:defRPr sz="1600" b="0">
                <a:solidFill>
                  <a:srgbClr val="37474F"/>
                </a:solidFill>
                <a:latin typeface="Calibri"/>
              </a:defRPr>
            </a:pPr>
            <a:r>
              <a:t>▸  Services: activate or delete forwarded services (SSH, HTTP) on a board via JSON body.</a:t>
            </a:r>
          </a:p>
          <a:p>
            <a:pPr>
              <a:lnSpc>
                <a:spcPct val="115000"/>
              </a:lnSpc>
              <a:spcAft>
                <a:spcPts val="500"/>
              </a:spcAft>
              <a:defRPr sz="1600" b="0">
                <a:solidFill>
                  <a:srgbClr val="37474F"/>
                </a:solidFill>
                <a:latin typeface="Calibri"/>
              </a:defRPr>
            </a:pPr>
            <a:r>
              <a:t>▸  Plugins: GET/POST/DELETE /v1/nodes/{uuid}/plugins — same inject/remove semantics as Horizon.</a:t>
            </a:r>
          </a:p>
          <a:p>
            <a:pPr>
              <a:lnSpc>
                <a:spcPct val="115000"/>
              </a:lnSpc>
              <a:spcAft>
                <a:spcPts val="500"/>
              </a:spcAft>
              <a:defRPr sz="1600" b="0">
                <a:solidFill>
                  <a:srgbClr val="37474F"/>
                </a:solidFill>
                <a:latin typeface="Calibri"/>
              </a:defRPr>
            </a:pPr>
            <a:r>
              <a:t>▸  Lab health check curl http://{{VM_IP}}:8812/ maps to modern Conductor root; book uses v0.1 paths.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Ch.4 § List of nodes · fig:chap04:list-node</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Use case — list registered nodes (Ch.4)</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Prerequisite: one or more boards already registered in IoTronic MariaDB.</a:t>
            </a:r>
          </a:p>
          <a:p>
            <a:pPr>
              <a:lnSpc>
                <a:spcPct val="115000"/>
              </a:lnSpc>
              <a:spcAft>
                <a:spcPts val="500"/>
              </a:spcAft>
              <a:defRPr sz="1600" b="0">
                <a:solidFill>
                  <a:srgbClr val="37474F"/>
                </a:solidFill>
                <a:latin typeface="Calibri"/>
              </a:defRPr>
            </a:pPr>
            <a:r>
              <a:t>▸  Horizon or CLI issues GET /v1/nodes → message on RabbitMQ AMQP queue.</a:t>
            </a:r>
          </a:p>
          <a:p>
            <a:pPr>
              <a:lnSpc>
                <a:spcPct val="115000"/>
              </a:lnSpc>
              <a:spcAft>
                <a:spcPts val="500"/>
              </a:spcAft>
              <a:defRPr sz="1600" b="0">
                <a:solidFill>
                  <a:srgbClr val="37474F"/>
                </a:solidFill>
                <a:latin typeface="Calibri"/>
              </a:defRPr>
            </a:pPr>
            <a:r>
              <a:t>▸  Conductor queries MariaDB and returns NodeCollection JSON with UUID and description links.</a:t>
            </a:r>
          </a:p>
          <a:p>
            <a:pPr>
              <a:lnSpc>
                <a:spcPct val="115000"/>
              </a:lnSpc>
              <a:spcAft>
                <a:spcPts val="500"/>
              </a:spcAft>
              <a:defRPr sz="1600" b="0">
                <a:solidFill>
                  <a:srgbClr val="37474F"/>
                </a:solidFill>
                <a:latin typeface="Calibri"/>
              </a:defRPr>
            </a:pPr>
            <a:r>
              <a:t>▸  No board interaction required — listing is purely cloud-side metadata.</a:t>
            </a:r>
          </a:p>
          <a:p>
            <a:pPr>
              <a:lnSpc>
                <a:spcPct val="115000"/>
              </a:lnSpc>
              <a:spcAft>
                <a:spcPts val="500"/>
              </a:spcAft>
              <a:defRPr sz="1600" b="0">
                <a:solidFill>
                  <a:srgbClr val="37474F"/>
                </a:solidFill>
                <a:latin typeface="Calibri"/>
              </a:defRPr>
            </a:pPr>
            <a:r>
              <a:t>▸  Optional: Conductor queries WAMP presence on demand for live connectivity status.</a:t>
            </a:r>
          </a:p>
          <a:p>
            <a:pPr>
              <a:lnSpc>
                <a:spcPct val="115000"/>
              </a:lnSpc>
              <a:spcAft>
                <a:spcPts val="500"/>
              </a:spcAft>
              <a:defRPr sz="1600" b="0">
                <a:solidFill>
                  <a:srgbClr val="37474F"/>
                </a:solidFill>
                <a:latin typeface="Calibri"/>
              </a:defRPr>
            </a:pPr>
            <a:r>
              <a:t>▸  Alternative: WAMP agents periodically write connectivity into DB — trades freshness for API speed.</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Ch.4 § Service forwarding · fig:chap04:enable-ssh · WSTUN</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Use case — SSH service forwarding via WSTUN (Ch.4)</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User requests SSH to board port 22 through Horizon — REST call #10 in table:api.</a:t>
            </a:r>
          </a:p>
          <a:p>
            <a:pPr>
              <a:lnSpc>
                <a:spcPct val="115000"/>
              </a:lnSpc>
              <a:spcAft>
                <a:spcPts val="500"/>
              </a:spcAft>
              <a:defRPr sz="1600" b="0">
                <a:solidFill>
                  <a:srgbClr val="37474F"/>
                </a:solidFill>
                <a:latin typeface="Calibri"/>
              </a:defRPr>
            </a:pPr>
            <a:r>
              <a:t>▸  Boards behind NAT cannot accept inbound SSH; a board-initiated reverse tunnel is required.</a:t>
            </a:r>
          </a:p>
          <a:p>
            <a:pPr>
              <a:lnSpc>
                <a:spcPct val="115000"/>
              </a:lnSpc>
              <a:spcAft>
                <a:spcPts val="500"/>
              </a:spcAft>
              <a:defRPr sz="1600" b="0">
                <a:solidFill>
                  <a:srgbClr val="37474F"/>
                </a:solidFill>
                <a:latin typeface="Calibri"/>
              </a:defRPr>
            </a:pPr>
            <a:r>
              <a:t>▸  Conductor picks a free TCP port on WSTUN agent and signals LR via WAMP.</a:t>
            </a:r>
          </a:p>
          <a:p>
            <a:pPr>
              <a:lnSpc>
                <a:spcPct val="115000"/>
              </a:lnSpc>
              <a:spcAft>
                <a:spcPts val="500"/>
              </a:spcAft>
              <a:defRPr sz="1600" b="0">
                <a:solidFill>
                  <a:srgbClr val="37474F"/>
                </a:solidFill>
                <a:latin typeface="Calibri"/>
              </a:defRPr>
            </a:pPr>
            <a:r>
              <a:t>▸  Lightning-Rod opens WebSocket tunnel to WSTUN and pipes traffic to local sshd.</a:t>
            </a:r>
          </a:p>
          <a:p>
            <a:pPr>
              <a:lnSpc>
                <a:spcPct val="115000"/>
              </a:lnSpc>
              <a:spcAft>
                <a:spcPts val="500"/>
              </a:spcAft>
              <a:defRPr sz="1600" b="0">
                <a:solidFill>
                  <a:srgbClr val="37474F"/>
                </a:solidFill>
                <a:latin typeface="Calibri"/>
              </a:defRPr>
            </a:pPr>
            <a:r>
              <a:t>▸  User receives cloud IP + port — same reverse-channel pattern reused for HTTP in Module F.</a:t>
            </a:r>
          </a:p>
          <a:p>
            <a:pPr>
              <a:lnSpc>
                <a:spcPct val="115000"/>
              </a:lnSpc>
              <a:spcAft>
                <a:spcPts val="500"/>
              </a:spcAft>
              <a:defRPr sz="1600" b="0">
                <a:solidFill>
                  <a:srgbClr val="37474F"/>
                </a:solidFill>
                <a:latin typeface="Calibri"/>
              </a:defRPr>
            </a:pPr>
            <a:r>
              <a:t>▸  Module F WSTUN demos are the HTTP analogue of this classic SSH forwarding workflow.</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Ch.4 § I/Ocloud implementation · fig:chap04:S4T-IOcloud · YUN virtuali</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I/Ocloud virtual filesystem — FUSE drivers (Ch.4)</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Beyond REST, S4T exposes remote board I/O as a virtual POSIX filesystem via FUSE.</a:t>
            </a:r>
          </a:p>
          <a:p>
            <a:pPr>
              <a:lnSpc>
                <a:spcPct val="115000"/>
              </a:lnSpc>
              <a:spcAft>
                <a:spcPts val="500"/>
              </a:spcAft>
              <a:defRPr sz="1600" b="0">
                <a:solidFill>
                  <a:srgbClr val="37474F"/>
                </a:solidFill>
                <a:latin typeface="Calibri"/>
              </a:defRPr>
            </a:pPr>
            <a:r>
              <a:t>▸  Plugin Node.js drivers map sensors/actuators to filesystem paths — cloud VMs mount remote pins.</a:t>
            </a:r>
          </a:p>
          <a:p>
            <a:pPr>
              <a:lnSpc>
                <a:spcPct val="115000"/>
              </a:lnSpc>
              <a:spcAft>
                <a:spcPts val="500"/>
              </a:spcAft>
              <a:defRPr sz="1600" b="0">
                <a:solidFill>
                  <a:srgbClr val="37474F"/>
                </a:solidFill>
                <a:latin typeface="Calibri"/>
              </a:defRPr>
            </a:pPr>
            <a:r>
              <a:t>▸  MCUIO hypervisor virtualizes Arduino YUN GPIO across containers with access control.</a:t>
            </a:r>
          </a:p>
          <a:p>
            <a:pPr>
              <a:lnSpc>
                <a:spcPct val="115000"/>
              </a:lnSpc>
              <a:spcAft>
                <a:spcPts val="500"/>
              </a:spcAft>
              <a:defRPr sz="1600" b="0">
                <a:solidFill>
                  <a:srgbClr val="37474F"/>
                </a:solidFill>
                <a:latin typeface="Calibri"/>
              </a:defRPr>
            </a:pPr>
            <a:r>
              <a:t>▸  Design trade-off: interactive apps keep VNs near sensors; compute-heavy tasks migrate to cloud.</a:t>
            </a:r>
          </a:p>
          <a:p>
            <a:pPr>
              <a:lnSpc>
                <a:spcPct val="115000"/>
              </a:lnSpc>
              <a:spcAft>
                <a:spcPts val="500"/>
              </a:spcAft>
              <a:defRPr sz="1600" b="0">
                <a:solidFill>
                  <a:srgbClr val="37474F"/>
                </a:solidFill>
                <a:latin typeface="Calibri"/>
              </a:defRPr>
            </a:pPr>
            <a:r>
              <a:t>▸  Training lab focuses on Docker Compose + REST; FUSE path is production/research extension.</a:t>
            </a:r>
          </a:p>
          <a:p>
            <a:pPr>
              <a:lnSpc>
                <a:spcPct val="115000"/>
              </a:lnSpc>
              <a:spcAft>
                <a:spcPts val="500"/>
              </a:spcAft>
              <a:defRPr sz="1600" b="0">
                <a:solidFill>
                  <a:srgbClr val="37474F"/>
                </a:solidFill>
                <a:latin typeface="Calibri"/>
              </a:defRPr>
            </a:pPr>
            <a:r>
              <a:t>▸  Connects I/Ocloud theory (Ch.4) to environmental plugins (Ch.15) as callable functions.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Docker &amp; Docker Compose</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Why containers for S4T deployment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Ch.13 § Docker</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Docker — portability and isolation (Ch.13 §13.2)</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Docker is an open-source platform for building, shipping, and running applications inside lightweight, portable containers.</a:t>
            </a:r>
          </a:p>
          <a:p>
            <a:pPr>
              <a:lnSpc>
                <a:spcPct val="115000"/>
              </a:lnSpc>
              <a:spcAft>
                <a:spcPts val="500"/>
              </a:spcAft>
              <a:defRPr sz="1600" b="0">
                <a:solidFill>
                  <a:srgbClr val="37474F"/>
                </a:solidFill>
                <a:latin typeface="Calibri"/>
              </a:defRPr>
            </a:pPr>
            <a:r>
              <a:t>▸  Unlike virtual machines that emulate an entire operating system, containers encapsulate only the application and its dependencies, sharing the host kernel.</a:t>
            </a:r>
          </a:p>
          <a:p>
            <a:pPr>
              <a:lnSpc>
                <a:spcPct val="115000"/>
              </a:lnSpc>
              <a:spcAft>
                <a:spcPts val="500"/>
              </a:spcAft>
              <a:defRPr sz="1600" b="0">
                <a:solidFill>
                  <a:srgbClr val="37474F"/>
                </a:solidFill>
                <a:latin typeface="Calibri"/>
              </a:defRPr>
            </a:pPr>
            <a:r>
              <a:t>▸  Portability enables the write-once-run-anywhere paradigm: a Stack4Things component deployed on Ubuntu 22.04 behaves identically on any host with Docker installed.</a:t>
            </a:r>
          </a:p>
          <a:p>
            <a:pPr>
              <a:lnSpc>
                <a:spcPct val="115000"/>
              </a:lnSpc>
              <a:spcAft>
                <a:spcPts val="500"/>
              </a:spcAft>
              <a:defRPr sz="1600" b="0">
                <a:solidFill>
                  <a:srgbClr val="37474F"/>
                </a:solidFill>
                <a:latin typeface="Calibri"/>
              </a:defRPr>
            </a:pPr>
            <a:r>
              <a:t>▸  Isolation prevents dependency conflicts by encapsulating each service in its own container with independent filesystem, network namespace, and process tree.</a:t>
            </a:r>
          </a:p>
          <a:p>
            <a:pPr>
              <a:lnSpc>
                <a:spcPct val="115000"/>
              </a:lnSpc>
              <a:spcAft>
                <a:spcPts val="500"/>
              </a:spcAft>
              <a:defRPr sz="1600" b="0">
                <a:solidFill>
                  <a:srgbClr val="37474F"/>
                </a:solidFill>
                <a:latin typeface="Calibri"/>
              </a:defRPr>
            </a:pPr>
            <a:r>
              <a:t>▸  Docker builds on Linux cgroups and namespaces, offering a higher-level abstraction accessible through CLI and REST APIs.</a:t>
            </a:r>
          </a:p>
          <a:p>
            <a:pPr>
              <a:lnSpc>
                <a:spcPct val="115000"/>
              </a:lnSpc>
              <a:spcAft>
                <a:spcPts val="500"/>
              </a:spcAft>
              <a:defRPr sz="1600" b="0">
                <a:solidFill>
                  <a:srgbClr val="37474F"/>
                </a:solidFill>
                <a:latin typeface="Calibri"/>
              </a:defRPr>
            </a:pPr>
            <a:r>
              <a:t>▸  This reproducibility makes containers especially suitable for research prototyping, training labs, and production deployments alike.</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Ch.13 § Docker · scalability bullet</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Docker — efficiency and scalability (Ch.13 §13.2)</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Containers consume significantly fewer system resources than virtual machines because they share the host operating system kernel rather than duplicating it.</a:t>
            </a:r>
          </a:p>
          <a:p>
            <a:pPr>
              <a:lnSpc>
                <a:spcPct val="115000"/>
              </a:lnSpc>
              <a:spcAft>
                <a:spcPts val="500"/>
              </a:spcAft>
              <a:defRPr sz="1600" b="0">
                <a:solidFill>
                  <a:srgbClr val="37474F"/>
                </a:solidFill>
                <a:latin typeface="Calibri"/>
              </a:defRPr>
            </a:pPr>
            <a:r>
              <a:t>▸  A full S4T stack with ten or more services runs comfortably on a VM with 4 GB RAM — impossible with equivalent VM-per-service virtualization.</a:t>
            </a:r>
          </a:p>
          <a:p>
            <a:pPr>
              <a:lnSpc>
                <a:spcPct val="115000"/>
              </a:lnSpc>
              <a:spcAft>
                <a:spcPts val="500"/>
              </a:spcAft>
              <a:defRPr sz="1600" b="0">
                <a:solidFill>
                  <a:srgbClr val="37474F"/>
                </a:solidFill>
                <a:latin typeface="Calibri"/>
              </a:defRPr>
            </a:pPr>
            <a:r>
              <a:t>▸  Docker integrates seamlessly with orchestration tools such as Docker Compose and Kubernetes to facilitate automated deployment and dynamic scaling.</a:t>
            </a:r>
          </a:p>
          <a:p>
            <a:pPr>
              <a:lnSpc>
                <a:spcPct val="115000"/>
              </a:lnSpc>
              <a:spcAft>
                <a:spcPts val="500"/>
              </a:spcAft>
              <a:defRPr sz="1600" b="0">
                <a:solidFill>
                  <a:srgbClr val="37474F"/>
                </a:solidFill>
                <a:latin typeface="Calibri"/>
              </a:defRPr>
            </a:pPr>
            <a:r>
              <a:t>▸  For the training lab, a single docker compose up -d command replaces hours of manual per-service installation and configuration.</a:t>
            </a:r>
          </a:p>
          <a:p>
            <a:pPr>
              <a:lnSpc>
                <a:spcPct val="115000"/>
              </a:lnSpc>
              <a:spcAft>
                <a:spcPts val="500"/>
              </a:spcAft>
              <a:defRPr sz="1600" b="0">
                <a:solidFill>
                  <a:srgbClr val="37474F"/>
                </a:solidFill>
                <a:latin typeface="Calibri"/>
              </a:defRPr>
            </a:pPr>
            <a:r>
              <a:t>▸  The book's alternative path uses Oracle VirtualBox with Ubuntu 22.04 — functionally equivalent but slower to provision for a 60-minute session.</a:t>
            </a:r>
          </a:p>
          <a:p>
            <a:pPr>
              <a:lnSpc>
                <a:spcPct val="115000"/>
              </a:lnSpc>
              <a:spcAft>
                <a:spcPts val="500"/>
              </a:spcAft>
              <a:defRPr sz="1600" b="0">
                <a:solidFill>
                  <a:srgbClr val="37474F"/>
                </a:solidFill>
                <a:latin typeface="Calibri"/>
              </a:defRPr>
            </a:pPr>
            <a:r>
              <a:t>▸  Scaling beyond single-host Compose deployments toward Kubernetes is covered in Chapter 11 for production-grade multi-node environments.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Ch.13 § Docker Compose</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Docker Compose — multi-container orchestration (Ch.13 §13.2)</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Docker Compose extends Docker by enabling definition and management of multi-container applications through a declarative YAML configuration file.</a:t>
            </a:r>
          </a:p>
          <a:p>
            <a:pPr>
              <a:lnSpc>
                <a:spcPct val="115000"/>
              </a:lnSpc>
              <a:spcAft>
                <a:spcPts val="500"/>
              </a:spcAft>
              <a:defRPr sz="1600" b="0">
                <a:solidFill>
                  <a:srgbClr val="37474F"/>
                </a:solidFill>
                <a:latin typeface="Calibri"/>
              </a:defRPr>
            </a:pPr>
            <a:r>
              <a:t>▸  Real-world systems consist of interconnected services (databases, message brokers, API servers) that must be orchestrated together with explicit dependency ordering.</a:t>
            </a:r>
          </a:p>
          <a:p>
            <a:pPr>
              <a:lnSpc>
                <a:spcPct val="115000"/>
              </a:lnSpc>
              <a:spcAft>
                <a:spcPts val="500"/>
              </a:spcAft>
              <a:defRPr sz="1600" b="0">
                <a:solidFill>
                  <a:srgbClr val="37474F"/>
                </a:solidFill>
                <a:latin typeface="Calibri"/>
              </a:defRPr>
            </a:pPr>
            <a:r>
              <a:t>▸  Compose describes services, their dependencies (depends_on), networks, and storage volumes in a single docker-compose.yml file.</a:t>
            </a:r>
          </a:p>
          <a:p>
            <a:pPr>
              <a:lnSpc>
                <a:spcPct val="115000"/>
              </a:lnSpc>
              <a:spcAft>
                <a:spcPts val="500"/>
              </a:spcAft>
              <a:defRPr sz="1600" b="0">
                <a:solidFill>
                  <a:srgbClr val="37474F"/>
                </a:solidFill>
                <a:latin typeface="Calibri"/>
              </a:defRPr>
            </a:pPr>
            <a:r>
              <a:t>▸  A single command — docker compose up -d — brings up the entire S4T application stack, eliminating manual container creation and wiring.</a:t>
            </a:r>
          </a:p>
          <a:p>
            <a:pPr>
              <a:lnSpc>
                <a:spcPct val="115000"/>
              </a:lnSpc>
              <a:spcAft>
                <a:spcPts val="500"/>
              </a:spcAft>
              <a:defRPr sz="1600" b="0">
                <a:solidFill>
                  <a:srgbClr val="37474F"/>
                </a:solidFill>
                <a:latin typeface="Calibri"/>
              </a:defRPr>
            </a:pPr>
            <a:r>
              <a:t>▸  Compose manages service dependencies and coordinates the lifecycle of multiple containers as a cohesive application.</a:t>
            </a:r>
          </a:p>
          <a:p>
            <a:pPr>
              <a:lnSpc>
                <a:spcPct val="115000"/>
              </a:lnSpc>
              <a:spcAft>
                <a:spcPts val="500"/>
              </a:spcAft>
              <a:defRPr sz="1600" b="0">
                <a:solidFill>
                  <a:srgbClr val="37474F"/>
                </a:solidFill>
                <a:latin typeface="Calibri"/>
              </a:defRPr>
            </a:pPr>
            <a:r>
              <a:t>▸  Internally Compose relies on the Docker Engine but provides declarative reproducibility ideal for prototyping, experimentation, and CI/CD pipelines.</a:t>
            </a:r>
          </a:p>
          <a:p>
            <a:pPr>
              <a:lnSpc>
                <a:spcPct val="115000"/>
              </a:lnSpc>
              <a:spcAft>
                <a:spcPts val="500"/>
              </a:spcAft>
              <a:defRPr sz="1600" b="0">
                <a:solidFill>
                  <a:srgbClr val="37474F"/>
                </a:solidFill>
                <a:latin typeface="Calibri"/>
              </a:defRPr>
            </a:pPr>
            <a:r>
              <a:t>▸  For Stack4Things, Compose defines and launches IoTronic, Crossbar, MariaDB, RabbitMQ, Keystone, WSTUN, and Lightning-Rod in one unified environment.</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S4T services &amp; ports</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Ch.13 Table — comprehensive service map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Ch.13 · tab:S4T-services</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S4T services — API, messaging, persistence (Ch.13 Table)</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IoTronic Conductor API: central RESTful interface for boards, plugins, services, and telemetry — exposed on port 8812 in the repository (book lists 8888).</a:t>
            </a:r>
          </a:p>
          <a:p>
            <a:pPr>
              <a:lnSpc>
                <a:spcPct val="115000"/>
              </a:lnSpc>
              <a:spcAft>
                <a:spcPts val="500"/>
              </a:spcAft>
              <a:defRPr sz="1600" b="0">
                <a:solidFill>
                  <a:srgbClr val="37474F"/>
                </a:solidFill>
                <a:latin typeface="Calibri"/>
              </a:defRPr>
            </a:pPr>
            <a:r>
              <a:t>▸  Crossbar.io WAMP router: bidirectional RPC and pub/sub via WAMP protocol on port 8181 — Lightning-Rod connects to wss://crossbar:8181 inside the Docker network.</a:t>
            </a:r>
          </a:p>
          <a:p>
            <a:pPr>
              <a:lnSpc>
                <a:spcPct val="115000"/>
              </a:lnSpc>
              <a:spcAft>
                <a:spcPts val="500"/>
              </a:spcAft>
              <a:defRPr sz="1600" b="0">
                <a:solidFill>
                  <a:srgbClr val="37474F"/>
                </a:solidFill>
                <a:latin typeface="Calibri"/>
              </a:defRPr>
            </a:pPr>
            <a:r>
              <a:t>▸  MariaDB database: persistent store for board metadata, user data, plugins, and services on port 3306 — controlled via MYSQL_ROOT_PASSWORD environment variable.</a:t>
            </a:r>
          </a:p>
          <a:p>
            <a:pPr>
              <a:lnSpc>
                <a:spcPct val="115000"/>
              </a:lnSpc>
              <a:spcAft>
                <a:spcPts val="500"/>
              </a:spcAft>
              <a:defRPr sz="1600" b="0">
                <a:solidFill>
                  <a:srgbClr val="37474F"/>
                </a:solidFill>
                <a:latin typeface="Calibri"/>
              </a:defRPr>
            </a:pPr>
            <a:r>
              <a:t>▸  RabbitMQ message bus: AMQP-based internal coordination between Conductor, WAMP agent, and other IoTronic microservices on port 5672.</a:t>
            </a:r>
          </a:p>
          <a:p>
            <a:pPr>
              <a:lnSpc>
                <a:spcPct val="115000"/>
              </a:lnSpc>
              <a:spcAft>
                <a:spcPts val="500"/>
              </a:spcAft>
              <a:defRPr sz="1600" b="0">
                <a:solidFill>
                  <a:srgbClr val="37474F"/>
                </a:solidFill>
                <a:latin typeface="Calibri"/>
              </a:defRPr>
            </a:pPr>
            <a:r>
              <a:t>▸  MQTT Broker (Mosquitto): lightweight pub/sub for IoTronic-to-Lightning-Rod communication on port 1883 in some S4T configurations.</a:t>
            </a:r>
          </a:p>
          <a:p>
            <a:pPr>
              <a:lnSpc>
                <a:spcPct val="115000"/>
              </a:lnSpc>
              <a:spcAft>
                <a:spcPts val="500"/>
              </a:spcAft>
              <a:defRPr sz="1600" b="0">
                <a:solidFill>
                  <a:srgbClr val="37474F"/>
                </a:solidFill>
                <a:latin typeface="Calibri"/>
              </a:defRPr>
            </a:pPr>
            <a:r>
              <a:t>▸  CA Service: Certificate Authority generating TLS material for secure board authentication and encrypted internal communications.</a:t>
            </a:r>
          </a:p>
          <a:p>
            <a:pPr>
              <a:lnSpc>
                <a:spcPct val="115000"/>
              </a:lnSpc>
              <a:spcAft>
                <a:spcPts val="500"/>
              </a:spcAft>
              <a:defRPr sz="1600" b="0">
                <a:solidFill>
                  <a:srgbClr val="37474F"/>
                </a:solidFill>
                <a:latin typeface="Calibri"/>
              </a:defRPr>
            </a:pPr>
            <a:r>
              <a:t>▸  All inter-service traffic on the internal s4t Docker network uses container hostnames for DNS resolution.</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Ch.13 · tab:S4T-services · training lab overlay</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S4T services — identity, UI, edge agent (Ch.13 Table)</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Keystone identity service: OpenStack authentication and authorization on port 5000 — required for Horizon login and API token issuance.</a:t>
            </a:r>
          </a:p>
          <a:p>
            <a:pPr>
              <a:lnSpc>
                <a:spcPct val="115000"/>
              </a:lnSpc>
              <a:spcAft>
                <a:spcPts val="500"/>
              </a:spcAft>
              <a:defRPr sz="1600" b="0">
                <a:solidFill>
                  <a:srgbClr val="37474F"/>
                </a:solidFill>
                <a:latin typeface="Calibri"/>
              </a:defRPr>
            </a:pPr>
            <a:r>
              <a:t>▸  IoTronic Web UI (Horizon): OpenStack dashboard enhanced with S4T IoT panel on port 80 — credentials admin / s4t.</a:t>
            </a:r>
          </a:p>
          <a:p>
            <a:pPr>
              <a:lnSpc>
                <a:spcPct val="115000"/>
              </a:lnSpc>
              <a:spcAft>
                <a:spcPts val="500"/>
              </a:spcAft>
              <a:defRPr sz="1600" b="0">
                <a:solidFill>
                  <a:srgbClr val="37474F"/>
                </a:solidFill>
                <a:latin typeface="Calibri"/>
              </a:defRPr>
            </a:pPr>
            <a:r>
              <a:t>▸  Lightning-Rod agent: edge software executing remote tasks, running plugins, and maintaining WAMP session — local UI on port 1474.</a:t>
            </a:r>
          </a:p>
          <a:p>
            <a:pPr>
              <a:lnSpc>
                <a:spcPct val="115000"/>
              </a:lnSpc>
              <a:spcAft>
                <a:spcPts val="500"/>
              </a:spcAft>
              <a:defRPr sz="1600" b="0">
                <a:solidFill>
                  <a:srgbClr val="37474F"/>
                </a:solidFill>
                <a:latin typeface="Calibri"/>
              </a:defRPr>
            </a:pPr>
            <a:r>
              <a:t>▸  IoT WSTUN (iotronic-wstun): reverse WebSocket tunnel server on port 8080 for exposing board-hosted services to external clients.</a:t>
            </a:r>
          </a:p>
          <a:p>
            <a:pPr>
              <a:lnSpc>
                <a:spcPct val="115000"/>
              </a:lnSpc>
              <a:spcAft>
                <a:spcPts val="500"/>
              </a:spcAft>
              <a:defRPr sz="1600" b="0">
                <a:solidFill>
                  <a:srgbClr val="37474F"/>
                </a:solidFill>
                <a:latin typeface="Calibri"/>
              </a:defRPr>
            </a:pPr>
            <a:r>
              <a:t>▸  WebSocket (WS) agent: alternative reverse tunneling on port 8083 in some configurations.</a:t>
            </a:r>
          </a:p>
          <a:p>
            <a:pPr>
              <a:lnSpc>
                <a:spcPct val="115000"/>
              </a:lnSpc>
              <a:spcAft>
                <a:spcPts val="500"/>
              </a:spcAft>
              <a:defRPr sz="1600" b="0">
                <a:solidFill>
                  <a:srgbClr val="37474F"/>
                </a:solidFill>
                <a:latin typeface="Calibri"/>
              </a:defRPr>
            </a:pPr>
            <a:r>
              <a:t>▸  InfluxDB (lab overlay only): time-series database on port 8086 for Module C environmental data — not in the upstream ch13 compose file.</a:t>
            </a:r>
          </a:p>
          <a:p>
            <a:pPr>
              <a:lnSpc>
                <a:spcPct val="115000"/>
              </a:lnSpc>
              <a:spcAft>
                <a:spcPts val="500"/>
              </a:spcAft>
              <a:defRPr sz="1600" b="0">
                <a:solidFill>
                  <a:srgbClr val="37474F"/>
                </a:solidFill>
                <a:latin typeface="Calibri"/>
              </a:defRPr>
            </a:pPr>
            <a:r>
              <a:t>▸  RabbitMQ management UI is optionally available on port 15672 for queue inspection during troubleshooting.</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Ch.4 § IoTronic WAMP agent · Ch.13 service table</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Internal messaging — AMQP bridge to WAMP (Ch.4 + Ch.13)</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All communication among IoTronic internal components travels over the network via AMQP queues on RabbitMQ, following standard OpenStack microservice philosophy.</a:t>
            </a:r>
          </a:p>
          <a:p>
            <a:pPr>
              <a:lnSpc>
                <a:spcPct val="115000"/>
              </a:lnSpc>
              <a:spcAft>
                <a:spcPts val="500"/>
              </a:spcAft>
              <a:defRPr sz="1600" b="0">
                <a:solidFill>
                  <a:srgbClr val="37474F"/>
                </a:solidFill>
                <a:latin typeface="Calibri"/>
              </a:defRPr>
            </a:pPr>
            <a:r>
              <a:t>▸  This AMQP bus allows components to be deployed on different machines without affecting service functionality — enabling horizontal scalability.</a:t>
            </a:r>
          </a:p>
          <a:p>
            <a:pPr>
              <a:lnSpc>
                <a:spcPct val="115000"/>
              </a:lnSpc>
              <a:spcAft>
                <a:spcPts val="500"/>
              </a:spcAft>
              <a:defRPr sz="1600" b="0">
                <a:solidFill>
                  <a:srgbClr val="37474F"/>
                </a:solidFill>
                <a:latin typeface="Calibri"/>
              </a:defRPr>
            </a:pPr>
            <a:r>
              <a:t>▸  The IoTronic WAMP agent (iotronic-wagent container) translates AMQP messages into WAMP messages and vice versa for board-facing communication.</a:t>
            </a:r>
          </a:p>
          <a:p>
            <a:pPr>
              <a:lnSpc>
                <a:spcPct val="115000"/>
              </a:lnSpc>
              <a:spcAft>
                <a:spcPts val="500"/>
              </a:spcAft>
              <a:defRPr sz="1600" b="0">
                <a:solidFill>
                  <a:srgbClr val="37474F"/>
                </a:solidFill>
                <a:latin typeface="Calibri"/>
              </a:defRPr>
            </a:pPr>
            <a:r>
              <a:t>▸  Multiple WAMP agents and WSTUN instances can be instantiated, each handling a subset of IoT devices for redundancy and high availability.</a:t>
            </a:r>
          </a:p>
          <a:p>
            <a:pPr>
              <a:lnSpc>
                <a:spcPct val="115000"/>
              </a:lnSpc>
              <a:spcAft>
                <a:spcPts val="500"/>
              </a:spcAft>
              <a:defRPr sz="1600" b="0">
                <a:solidFill>
                  <a:srgbClr val="37474F"/>
                </a:solidFill>
                <a:latin typeface="Calibri"/>
              </a:defRPr>
            </a:pPr>
            <a:r>
              <a:t>▸  WAMP was chosen over extending AMQP to boards because it is a WebSocket subprotocol supporting both RPC and Publish/Subscribe — RPC is not natively available in AMQP.</a:t>
            </a:r>
          </a:p>
          <a:p>
            <a:pPr>
              <a:lnSpc>
                <a:spcPct val="115000"/>
              </a:lnSpc>
              <a:spcAft>
                <a:spcPts val="500"/>
              </a:spcAft>
              <a:defRPr sz="1600" b="0">
                <a:solidFill>
                  <a:srgbClr val="37474F"/>
                </a:solidFill>
                <a:latin typeface="Calibri"/>
              </a:defRPr>
            </a:pPr>
            <a:r>
              <a:t>▸  Crossbar serves as the WAMP Dealer: Lightning-Rod registers procedures, IoTronic invokes them.</a:t>
            </a:r>
          </a:p>
          <a:p>
            <a:pPr>
              <a:lnSpc>
                <a:spcPct val="115000"/>
              </a:lnSpc>
              <a:spcAft>
                <a:spcPts val="500"/>
              </a:spcAft>
              <a:defRPr sz="1600" b="0">
                <a:solidFill>
                  <a:srgbClr val="37474F"/>
                </a:solidFill>
                <a:latin typeface="Calibri"/>
              </a:defRPr>
            </a:pPr>
            <a:r>
              <a:t>▸  The WAMP realm used in the lab is s4t — all LR agents authenticate against this realm.</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Compose configuration</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Services, networks, lab overlay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Ch.13 deploy walkthrough · docker-compose.yml</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docker-compose.yml — service roles and dependencies</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ca_service generates the Root CA and Crossbar TLS certificates into the shared iotronic_ssl volume.</a:t>
            </a:r>
          </a:p>
          <a:p>
            <a:pPr>
              <a:lnSpc>
                <a:spcPct val="115000"/>
              </a:lnSpc>
              <a:spcAft>
                <a:spcPts val="500"/>
              </a:spcAft>
              <a:defRPr sz="1600" b="0">
                <a:solidFill>
                  <a:srgbClr val="37474F"/>
                </a:solidFill>
                <a:latin typeface="Calibri"/>
              </a:defRPr>
            </a:pPr>
            <a:r>
              <a:t>▸  crossbar starts the WAMP router on port 8181, depending on CA certificates being present.</a:t>
            </a:r>
          </a:p>
          <a:p>
            <a:pPr>
              <a:lnSpc>
                <a:spcPct val="115000"/>
              </a:lnSpc>
              <a:spcAft>
                <a:spcPts val="500"/>
              </a:spcAft>
              <a:defRPr sz="1600" b="0">
                <a:solidFill>
                  <a:srgbClr val="37474F"/>
                </a:solidFill>
                <a:latin typeface="Calibri"/>
              </a:defRPr>
            </a:pPr>
            <a:r>
              <a:t>▸  iotronic-db (MariaDB) and rabbitmq must pass healthchecks before downstream services start.</a:t>
            </a:r>
          </a:p>
          <a:p>
            <a:pPr>
              <a:lnSpc>
                <a:spcPct val="115000"/>
              </a:lnSpc>
              <a:spcAft>
                <a:spcPts val="500"/>
              </a:spcAft>
              <a:defRPr sz="1600" b="0">
                <a:solidFill>
                  <a:srgbClr val="37474F"/>
                </a:solidFill>
                <a:latin typeface="Calibri"/>
              </a:defRPr>
            </a:pPr>
            <a:r>
              <a:t>▸  keystone provides OpenStack identity — Horizon and Conductor authenticate against it on port 5000.</a:t>
            </a:r>
          </a:p>
          <a:p>
            <a:pPr>
              <a:lnSpc>
                <a:spcPct val="115000"/>
              </a:lnSpc>
              <a:spcAft>
                <a:spcPts val="500"/>
              </a:spcAft>
              <a:defRPr sz="1600" b="0">
                <a:solidFill>
                  <a:srgbClr val="37474F"/>
                </a:solidFill>
                <a:latin typeface="Calibri"/>
              </a:defRPr>
            </a:pPr>
            <a:r>
              <a:t>▸  iotronic-conductor is the core REST API and orchestration logic, healthy on port 8812.</a:t>
            </a:r>
          </a:p>
          <a:p>
            <a:pPr>
              <a:lnSpc>
                <a:spcPct val="115000"/>
              </a:lnSpc>
              <a:spcAft>
                <a:spcPts val="500"/>
              </a:spcAft>
              <a:defRPr sz="1600" b="0">
                <a:solidFill>
                  <a:srgbClr val="37474F"/>
                </a:solidFill>
                <a:latin typeface="Calibri"/>
              </a:defRPr>
            </a:pPr>
            <a:r>
              <a:t>▸  iotronic-wagent bridges AMQP internal bus to WAMP messages for board communication.</a:t>
            </a:r>
          </a:p>
          <a:p>
            <a:pPr>
              <a:lnSpc>
                <a:spcPct val="115000"/>
              </a:lnSpc>
              <a:spcAft>
                <a:spcPts val="500"/>
              </a:spcAft>
              <a:defRPr sz="1600" b="0">
                <a:solidFill>
                  <a:srgbClr val="37474F"/>
                </a:solidFill>
                <a:latin typeface="Calibri"/>
              </a:defRPr>
            </a:pPr>
            <a:r>
              <a:t>▸  iotronic-wstun provides reverse WebSocket tunnels on port 8080 for board service exposure.</a:t>
            </a:r>
          </a:p>
          <a:p>
            <a:pPr>
              <a:lnSpc>
                <a:spcPct val="115000"/>
              </a:lnSpc>
              <a:spcAft>
                <a:spcPts val="500"/>
              </a:spcAft>
              <a:defRPr sz="1600" b="0">
                <a:solidFill>
                  <a:srgbClr val="37474F"/>
                </a:solidFill>
                <a:latin typeface="Calibri"/>
              </a:defRPr>
            </a:pPr>
            <a:r>
              <a:t>▸  iotronic-ui (Horizon) and lightning-rod provide operator dashboards on ports 80 and 1474.</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Ch.13 networking section · Ch.13 § Configuration summary</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Docker network s4t — internal DNS resolution</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All S4T containers are placed on a user-defined bridge network named s4t.</a:t>
            </a:r>
          </a:p>
          <a:p>
            <a:pPr>
              <a:lnSpc>
                <a:spcPct val="115000"/>
              </a:lnSpc>
              <a:spcAft>
                <a:spcPts val="500"/>
              </a:spcAft>
              <a:defRPr sz="1600" b="0">
                <a:solidFill>
                  <a:srgbClr val="37474F"/>
                </a:solidFill>
                <a:latin typeface="Calibri"/>
              </a:defRPr>
            </a:pPr>
            <a:r>
              <a:t>▸  Docker's embedded DNS resolves container service names as hostnames within the network.</a:t>
            </a:r>
          </a:p>
          <a:p>
            <a:pPr>
              <a:lnSpc>
                <a:spcPct val="115000"/>
              </a:lnSpc>
              <a:spcAft>
                <a:spcPts val="500"/>
              </a:spcAft>
              <a:defRPr sz="1600" b="0">
                <a:solidFill>
                  <a:srgbClr val="37474F"/>
                </a:solidFill>
                <a:latin typeface="Calibri"/>
              </a:defRPr>
            </a:pPr>
            <a:r>
              <a:t>▸  Lightning-Rod reaches Crossbar at wss://crossbar:8181 — not localhost, not the host IP.</a:t>
            </a:r>
          </a:p>
          <a:p>
            <a:pPr>
              <a:lnSpc>
                <a:spcPct val="115000"/>
              </a:lnSpc>
              <a:spcAft>
                <a:spcPts val="500"/>
              </a:spcAft>
              <a:defRPr sz="1600" b="0">
                <a:solidFill>
                  <a:srgbClr val="37474F"/>
                </a:solidFill>
                <a:latin typeface="Calibri"/>
              </a:defRPr>
            </a:pPr>
            <a:r>
              <a:t>▸  IoTronic Conductor connects to iotronic-db, rabbitmq, and keystone using their service names.</a:t>
            </a:r>
          </a:p>
          <a:p>
            <a:pPr>
              <a:lnSpc>
                <a:spcPct val="115000"/>
              </a:lnSpc>
              <a:spcAft>
                <a:spcPts val="500"/>
              </a:spcAft>
              <a:defRPr sz="1600" b="0">
                <a:solidFill>
                  <a:srgbClr val="37474F"/>
                </a:solidFill>
                <a:latin typeface="Calibri"/>
              </a:defRPr>
            </a:pPr>
            <a:r>
              <a:t>▸  This eliminates manual IP configuration and makes the compose file portable across hosts.</a:t>
            </a:r>
          </a:p>
          <a:p>
            <a:pPr>
              <a:lnSpc>
                <a:spcPct val="115000"/>
              </a:lnSpc>
              <a:spcAft>
                <a:spcPts val="500"/>
              </a:spcAft>
              <a:defRPr sz="1600" b="0">
                <a:solidFill>
                  <a:srgbClr val="37474F"/>
                </a:solidFill>
                <a:latin typeface="Calibri"/>
              </a:defRPr>
            </a:pPr>
            <a:r>
              <a:t>▸  Port mappings (e.g. 80:80, 8812:8812) expose selected services to the host for browser and curl access.</a:t>
            </a:r>
          </a:p>
          <a:p>
            <a:pPr>
              <a:lnSpc>
                <a:spcPct val="115000"/>
              </a:lnSpc>
              <a:spcAft>
                <a:spcPts val="500"/>
              </a:spcAft>
              <a:defRPr sz="1600" b="0">
                <a:solidFill>
                  <a:srgbClr val="37474F"/>
                </a:solidFill>
                <a:latin typeface="Calibri"/>
              </a:defRPr>
            </a:pPr>
            <a:r>
              <a:t>▸  Limitation: this single-host s4t network is designed for local development and training — multi-host production requires additional networking (Ch.11 Kubernetes).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Training material — patches/docker-compose.lab.yml</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Lab overlay — training patches (not in book repo)</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training/patches/docker-compose.lab.yml extends the upstream ch13 docker-compose.yml.</a:t>
            </a:r>
          </a:p>
          <a:p>
            <a:pPr>
              <a:lnSpc>
                <a:spcPct val="115000"/>
              </a:lnSpc>
              <a:spcAft>
                <a:spcPts val="500"/>
              </a:spcAft>
              <a:defRPr sz="1600" b="0">
                <a:solidFill>
                  <a:srgbClr val="37474F"/>
                </a:solidFill>
                <a:latin typeface="Calibri"/>
              </a:defRPr>
            </a:pPr>
            <a:r>
              <a:t>▸  Fixes ca_service: replaces EOL debian:buster with alpine:3.19 + openssl for certificate generation.</a:t>
            </a:r>
          </a:p>
          <a:p>
            <a:pPr>
              <a:lnSpc>
                <a:spcPct val="115000"/>
              </a:lnSpc>
              <a:spcAft>
                <a:spcPts val="500"/>
              </a:spcAft>
              <a:defRPr sz="1600" b="0">
                <a:solidFill>
                  <a:srgbClr val="37474F"/>
                </a:solidFill>
                <a:latin typeface="Calibri"/>
              </a:defRPr>
            </a:pPr>
            <a:r>
              <a:t>▸  Fixes Lightning-Rod image: mdslab/lrod:compose replaces a broken @sha256 placeholder in upstream.</a:t>
            </a:r>
          </a:p>
          <a:p>
            <a:pPr>
              <a:lnSpc>
                <a:spcPct val="115000"/>
              </a:lnSpc>
              <a:spcAft>
                <a:spcPts val="500"/>
              </a:spcAft>
              <a:defRPr sz="1600" b="0">
                <a:solidFill>
                  <a:srgbClr val="37474F"/>
                </a:solidFill>
                <a:latin typeface="Calibri"/>
              </a:defRPr>
            </a:pPr>
            <a:r>
              <a:t>▸  Mounts /var/run/docker.sock into LR — enables the Ch.14 Docker lifecycle plugin demo in Module B.</a:t>
            </a:r>
          </a:p>
          <a:p>
            <a:pPr>
              <a:lnSpc>
                <a:spcPct val="115000"/>
              </a:lnSpc>
              <a:spcAft>
                <a:spcPts val="500"/>
              </a:spcAft>
              <a:defRPr sz="1600" b="0">
                <a:solidFill>
                  <a:srgbClr val="37474F"/>
                </a:solidFill>
                <a:latin typeface="Calibri"/>
              </a:defRPr>
            </a:pPr>
            <a:r>
              <a:t>▸  Adds influxdb:1.8 on network s4t with hostname influxdb — required for Module C CSV ingestion.</a:t>
            </a:r>
          </a:p>
          <a:p>
            <a:pPr>
              <a:lnSpc>
                <a:spcPct val="115000"/>
              </a:lnSpc>
              <a:spcAft>
                <a:spcPts val="500"/>
              </a:spcAft>
              <a:defRPr sz="1600" b="0">
                <a:solidFill>
                  <a:srgbClr val="37474F"/>
                </a:solidFill>
                <a:latin typeface="Calibri"/>
              </a:defRPr>
            </a:pPr>
            <a:r>
              <a:t>▸  Adds lightning-rod-2 and lightning-rod-3 on ports 1475 and 1476 for multi-board modules later.</a:t>
            </a:r>
          </a:p>
          <a:p>
            <a:pPr>
              <a:lnSpc>
                <a:spcPct val="115000"/>
              </a:lnSpc>
              <a:spcAft>
                <a:spcPts val="500"/>
              </a:spcAft>
              <a:defRPr sz="1600" b="0">
                <a:solidFill>
                  <a:srgbClr val="37474F"/>
                </a:solidFill>
                <a:latin typeface="Calibri"/>
              </a:defRPr>
            </a:pPr>
            <a:r>
              <a:t>▸  Always launch with both compose files: -f docker-compose.yml -f ../../patches/docker-compose.lab.yml.</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3E0"/>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1417320" cy="329184"/>
          </a:xfrm>
          <a:prstGeom prst="round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  BOOK ↔ LAB</a:t>
            </a:r>
          </a:p>
        </p:txBody>
      </p:sp>
      <p:sp>
        <p:nvSpPr>
          <p:cNvPr id="4" name="TextBox 3"/>
          <p:cNvSpPr txBox="1"/>
          <p:nvPr/>
        </p:nvSpPr>
        <p:spPr>
          <a:xfrm>
            <a:off x="594360" y="713232"/>
            <a:ext cx="10972800" cy="868680"/>
          </a:xfrm>
          <a:prstGeom prst="rect">
            <a:avLst/>
          </a:prstGeom>
          <a:noFill/>
        </p:spPr>
        <p:txBody>
          <a:bodyPr wrap="none">
            <a:spAutoFit/>
          </a:bodyPr>
          <a:lstStyle/>
          <a:p>
            <a:pPr>
              <a:defRPr sz="2800" b="1">
                <a:solidFill>
                  <a:srgbClr val="BF360C"/>
                </a:solidFill>
                <a:latin typeface="Calibri"/>
              </a:defRPr>
            </a:pPr>
            <a:r>
              <a:t>Book ↔ repository corrections</a:t>
            </a:r>
          </a:p>
        </p:txBody>
      </p:sp>
      <p:sp>
        <p:nvSpPr>
          <p:cNvPr id="5" name="Rounded Rectangle 4"/>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73352"/>
            <a:ext cx="10424160" cy="4572000"/>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API port: book documents :8888 → repository exposes Conductor on :8812 — use curl http://{{VM_IP}}:8812/.</a:t>
            </a:r>
          </a:p>
          <a:p>
            <a:pPr>
              <a:lnSpc>
                <a:spcPct val="115000"/>
              </a:lnSpc>
              <a:spcAft>
                <a:spcPts val="800"/>
              </a:spcAft>
              <a:defRPr sz="1900" b="0">
                <a:solidFill>
                  <a:srgbClr val="37474F"/>
                </a:solidFill>
                <a:latin typeface="Calibri"/>
              </a:defRPr>
            </a:pPr>
            <a:r>
              <a:t>▸  Horizon dashboard: http://{{VM_IP}}/horizon — credentials admin / s4t.</a:t>
            </a:r>
          </a:p>
          <a:p>
            <a:pPr>
              <a:lnSpc>
                <a:spcPct val="115000"/>
              </a:lnSpc>
              <a:spcAft>
                <a:spcPts val="800"/>
              </a:spcAft>
              <a:defRPr sz="1900" b="0">
                <a:solidFill>
                  <a:srgbClr val="37474F"/>
                </a:solidFill>
                <a:latin typeface="Calibri"/>
              </a:defRPr>
            </a:pPr>
            <a:r>
              <a:t>▸  Lightning-Rod UI: http://{{VM_IP}}:1474 — credentials me / arancino.</a:t>
            </a:r>
          </a:p>
          <a:p>
            <a:pPr>
              <a:lnSpc>
                <a:spcPct val="115000"/>
              </a:lnSpc>
              <a:spcAft>
                <a:spcPts val="800"/>
              </a:spcAft>
              <a:defRPr sz="1900" b="0">
                <a:solidFill>
                  <a:srgbClr val="37474F"/>
                </a:solidFill>
                <a:latin typeface="Calibri"/>
              </a:defRPr>
            </a:pPr>
            <a:r>
              <a:t>▸  Boards panel URL: /horizon/iot/ (NOT /horizon/iot/boards/ — that path returns 404).</a:t>
            </a:r>
          </a:p>
          <a:p>
            <a:pPr>
              <a:lnSpc>
                <a:spcPct val="115000"/>
              </a:lnSpc>
              <a:spcAft>
                <a:spcPts val="800"/>
              </a:spcAft>
              <a:defRPr sz="1900" b="0">
                <a:solidFill>
                  <a:srgbClr val="37474F"/>
                </a:solidFill>
                <a:latin typeface="Calibri"/>
              </a:defRPr>
            </a:pPr>
            <a:r>
              <a:t>▸  WAMP inside Docker: wss://crossbar:8181 — never use localhost or {{VM_IP}} from inside LR container.</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Lab: deploy stack</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Docker Compose + lab overlay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8E1"/>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868680" cy="310896"/>
          </a:xfrm>
          <a:prstGeom prst="round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DEMO</a:t>
            </a:r>
          </a:p>
        </p:txBody>
      </p:sp>
      <p:sp>
        <p:nvSpPr>
          <p:cNvPr id="4" name="TextBox 3"/>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Module A — expected outcomes</a:t>
            </a:r>
          </a:p>
        </p:txBody>
      </p:sp>
      <p:sp>
        <p:nvSpPr>
          <p:cNvPr id="5" name="Rounded Rectangle 4"/>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You will prove that the full S4T cloud-side stack runs reproducibly on a single training VM.</a:t>
            </a:r>
          </a:p>
          <a:p>
            <a:pPr>
              <a:lnSpc>
                <a:spcPct val="115000"/>
              </a:lnSpc>
              <a:spcAft>
                <a:spcPts val="500"/>
              </a:spcAft>
              <a:defRPr sz="1600" b="0">
                <a:solidFill>
                  <a:srgbClr val="37474F"/>
                </a:solidFill>
                <a:latin typeface="Calibri"/>
              </a:defRPr>
            </a:pPr>
            <a:r>
              <a:t>▸  You will confirm the IoTronic Conductor REST API responds with HTTP 200 on port 8812.</a:t>
            </a:r>
          </a:p>
          <a:p>
            <a:pPr>
              <a:lnSpc>
                <a:spcPct val="115000"/>
              </a:lnSpc>
              <a:spcAft>
                <a:spcPts val="500"/>
              </a:spcAft>
              <a:defRPr sz="1600" b="0">
                <a:solidFill>
                  <a:srgbClr val="37474F"/>
                </a:solidFill>
                <a:latin typeface="Calibri"/>
              </a:defRPr>
            </a:pPr>
            <a:r>
              <a:t>▸  You will log into Horizon and navigate to the IoT Boards panel without authentication errors.</a:t>
            </a:r>
          </a:p>
          <a:p>
            <a:pPr>
              <a:lnSpc>
                <a:spcPct val="115000"/>
              </a:lnSpc>
              <a:spcAft>
                <a:spcPts val="500"/>
              </a:spcAft>
              <a:defRPr sz="1600" b="0">
                <a:solidFill>
                  <a:srgbClr val="37474F"/>
                </a:solidFill>
                <a:latin typeface="Calibri"/>
              </a:defRPr>
            </a:pPr>
            <a:r>
              <a:t>▸  You will register a virtual board and configure Lightning-Rod to establish a WAMP session.</a:t>
            </a:r>
          </a:p>
          <a:p>
            <a:pPr>
              <a:lnSpc>
                <a:spcPct val="115000"/>
              </a:lnSpc>
              <a:spcAft>
                <a:spcPts val="500"/>
              </a:spcAft>
              <a:defRPr sz="1600" b="0">
                <a:solidFill>
                  <a:srgbClr val="37474F"/>
                </a:solidFill>
                <a:latin typeface="Calibri"/>
              </a:defRPr>
            </a:pPr>
            <a:r>
              <a:t>▸  You will observe the board transition to Active state — the mandatory gate for Modules B–I.</a:t>
            </a:r>
          </a:p>
          <a:p>
            <a:pPr>
              <a:lnSpc>
                <a:spcPct val="115000"/>
              </a:lnSpc>
              <a:spcAft>
                <a:spcPts val="500"/>
              </a:spcAft>
              <a:defRPr sz="1600" b="0">
                <a:solidFill>
                  <a:srgbClr val="37474F"/>
                </a:solidFill>
                <a:latin typeface="Calibri"/>
              </a:defRPr>
            </a:pPr>
            <a:r>
              <a:t>▸  This deployment connects Ch.4 theory (I/Ocloud, WAMP, WSTUN) to Ch.13 practice (Compose, onboarding).</a:t>
            </a:r>
          </a:p>
          <a:p>
            <a:pPr>
              <a:lnSpc>
                <a:spcPct val="115000"/>
              </a:lnSpc>
              <a:spcAft>
                <a:spcPts val="500"/>
              </a:spcAft>
              <a:defRPr sz="1600" b="0">
                <a:solidFill>
                  <a:srgbClr val="37474F"/>
                </a:solidFill>
                <a:latin typeface="Calibri"/>
              </a:defRPr>
            </a:pPr>
            <a:r>
              <a:t>▸  Every subsequent module assumes today's stack is running and at least one board is Active.</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Demo</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Environment check</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400" b="0">
                <a:solidFill>
                  <a:srgbClr val="0D2B45"/>
                </a:solidFill>
                <a:latin typeface="Consolas"/>
              </a:defRPr>
            </a:pPr>
            <a:r>
              <a:t>$ docker --version &amp;&amp; docker compose version</a:t>
            </a:r>
          </a:p>
          <a:p>
            <a:pPr>
              <a:lnSpc>
                <a:spcPct val="115000"/>
              </a:lnSpc>
              <a:spcAft>
                <a:spcPts val="800"/>
              </a:spcAft>
              <a:defRPr sz="1400" b="0">
                <a:solidFill>
                  <a:srgbClr val="0D2B45"/>
                </a:solidFill>
                <a:latin typeface="Consolas"/>
              </a:defRPr>
            </a:pPr>
            <a:r>
              <a:t>$ groups | grep docker # user must be in docker group</a:t>
            </a:r>
          </a:p>
          <a:p>
            <a:pPr>
              <a:lnSpc>
                <a:spcPct val="115000"/>
              </a:lnSpc>
              <a:spcAft>
                <a:spcPts val="800"/>
              </a:spcAft>
              <a:defRPr sz="1400" b="0">
                <a:solidFill>
                  <a:srgbClr val="0D2B45"/>
                </a:solidFill>
                <a:latin typeface="Consolas"/>
              </a:defRPr>
            </a:pPr>
            <a:r>
              <a:t>$ free -h # ≥ 4 GB free RAM recommended</a:t>
            </a:r>
          </a:p>
          <a:p>
            <a:pPr>
              <a:lnSpc>
                <a:spcPct val="115000"/>
              </a:lnSpc>
              <a:spcAft>
                <a:spcPts val="800"/>
              </a:spcAft>
              <a:defRPr sz="1400" b="0">
                <a:solidFill>
                  <a:srgbClr val="0D2B45"/>
                </a:solidFill>
                <a:latin typeface="Consolas"/>
              </a:defRPr>
            </a:pPr>
            <a:r>
              <a:t>$ git clone https://github.com/AssemblingSmartCPS/ch13.git training/repos/ch13</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Start the stack</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400" b="0">
                <a:solidFill>
                  <a:srgbClr val="0D2B45"/>
                </a:solidFill>
                <a:latin typeface="Consolas"/>
              </a:defRPr>
            </a:pPr>
            <a:r>
              <a:t>$ cd training/repos/ch13</a:t>
            </a:r>
          </a:p>
          <a:p>
            <a:pPr>
              <a:lnSpc>
                <a:spcPct val="115000"/>
              </a:lnSpc>
              <a:spcAft>
                <a:spcPts val="800"/>
              </a:spcAft>
              <a:defRPr sz="1400" b="0">
                <a:solidFill>
                  <a:srgbClr val="0D2B45"/>
                </a:solidFill>
                <a:latin typeface="Consolas"/>
              </a:defRPr>
            </a:pPr>
            <a:r>
              <a:t>$ docker compose -f docker-compose.yml \</a:t>
            </a:r>
          </a:p>
          <a:p>
            <a:pPr>
              <a:lnSpc>
                <a:spcPct val="115000"/>
              </a:lnSpc>
              <a:spcAft>
                <a:spcPts val="800"/>
              </a:spcAft>
              <a:defRPr sz="1900" b="0">
                <a:solidFill>
                  <a:srgbClr val="37474F"/>
                </a:solidFill>
                <a:latin typeface="Calibri"/>
              </a:defRPr>
            </a:pPr>
            <a:r>
              <a:t>▸  -f ../../patches/docker-compose.lab.yml up -d</a:t>
            </a:r>
          </a:p>
          <a:p>
            <a:pPr>
              <a:lnSpc>
                <a:spcPct val="115000"/>
              </a:lnSpc>
              <a:spcAft>
                <a:spcPts val="800"/>
              </a:spcAft>
              <a:defRPr sz="1900" b="0">
                <a:solidFill>
                  <a:srgbClr val="37474F"/>
                </a:solidFill>
                <a:latin typeface="Calibri"/>
              </a:defRPr>
            </a:pPr>
            <a:r>
              <a:t>▸  First boot: 15–25 min (image pull + MariaDB init + CA certificate generation).</a:t>
            </a:r>
          </a:p>
          <a:p>
            <a:pPr>
              <a:lnSpc>
                <a:spcPct val="115000"/>
              </a:lnSpc>
              <a:spcAft>
                <a:spcPts val="800"/>
              </a:spcAft>
              <a:defRPr sz="1900" b="0">
                <a:solidFill>
                  <a:srgbClr val="37474F"/>
                </a:solidFill>
                <a:latin typeface="Calibri"/>
              </a:defRPr>
            </a:pPr>
            <a:r>
              <a:t>▸  Monitor with: docker compose ps and docker compose logs -f crossbar</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8E1"/>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868680" cy="310896"/>
          </a:xfrm>
          <a:prstGeom prst="round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DEMO</a:t>
            </a:r>
          </a:p>
        </p:txBody>
      </p:sp>
      <p:sp>
        <p:nvSpPr>
          <p:cNvPr id="4" name="TextBox 3"/>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First-boot timing — why Compose starts early</a:t>
            </a:r>
          </a:p>
        </p:txBody>
      </p:sp>
      <p:sp>
        <p:nvSpPr>
          <p:cNvPr id="5" name="Rounded Rectangle 4"/>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First boot is I/O-bound: Docker pulls ~2 GB of images and MariaDB runs schema migrations.</a:t>
            </a:r>
          </a:p>
          <a:p>
            <a:pPr>
              <a:lnSpc>
                <a:spcPct val="115000"/>
              </a:lnSpc>
              <a:spcAft>
                <a:spcPts val="500"/>
              </a:spcAft>
              <a:defRPr sz="1600" b="0">
                <a:solidFill>
                  <a:srgbClr val="37474F"/>
                </a:solidFill>
                <a:latin typeface="Calibri"/>
              </a:defRPr>
            </a:pPr>
            <a:r>
              <a:t>▸  CA certificate generation must complete before Crossbar can start its WAMP router.</a:t>
            </a:r>
          </a:p>
          <a:p>
            <a:pPr>
              <a:lnSpc>
                <a:spcPct val="115000"/>
              </a:lnSpc>
              <a:spcAft>
                <a:spcPts val="500"/>
              </a:spcAft>
              <a:defRPr sz="1600" b="0">
                <a:solidFill>
                  <a:srgbClr val="37474F"/>
                </a:solidFill>
                <a:latin typeface="Calibri"/>
              </a:defRPr>
            </a:pPr>
            <a:r>
              <a:t>▸  Keystone database initialisation and RabbitMQ healthcheck add several minutes of startup time.</a:t>
            </a:r>
          </a:p>
          <a:p>
            <a:pPr>
              <a:lnSpc>
                <a:spcPct val="115000"/>
              </a:lnSpc>
              <a:spcAft>
                <a:spcPts val="500"/>
              </a:spcAft>
              <a:defRPr sz="1600" b="0">
                <a:solidFill>
                  <a:srgbClr val="37474F"/>
                </a:solidFill>
                <a:latin typeface="Calibri"/>
              </a:defRPr>
            </a:pPr>
            <a:r>
              <a:t>▸  Use the waiting period to study boot order, CA/TLS, and service roles in the theory slides.</a:t>
            </a:r>
          </a:p>
          <a:p>
            <a:pPr>
              <a:lnSpc>
                <a:spcPct val="115000"/>
              </a:lnSpc>
              <a:spcAft>
                <a:spcPts val="500"/>
              </a:spcAft>
              <a:defRPr sz="1600" b="0">
                <a:solidFill>
                  <a:srgbClr val="37474F"/>
                </a:solidFill>
                <a:latin typeface="Calibri"/>
              </a:defRPr>
            </a:pPr>
            <a:r>
              <a:t>▸  Monitor with docker compose ps — look for (healthy) status on db, rabbitmq, and conductor.</a:t>
            </a:r>
          </a:p>
          <a:p>
            <a:pPr>
              <a:lnSpc>
                <a:spcPct val="115000"/>
              </a:lnSpc>
              <a:spcAft>
                <a:spcPts val="500"/>
              </a:spcAft>
              <a:defRPr sz="1600" b="0">
                <a:solidFill>
                  <a:srgbClr val="37474F"/>
                </a:solidFill>
                <a:latin typeface="Calibri"/>
              </a:defRPr>
            </a:pPr>
            <a:r>
              <a:t>▸  If any container restart-loops, the troubleshooting section at the end provides diagnostic steps.</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Demo</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Horizon IoT — Boards panel</a:t>
            </a:r>
          </a:p>
        </p:txBody>
      </p:sp>
      <p:sp>
        <p:nvSpPr>
          <p:cNvPr id="4" name="Rounded Rectangle 3"/>
          <p:cNvSpPr/>
          <p:nvPr/>
        </p:nvSpPr>
        <p:spPr>
          <a:xfrm>
            <a:off x="1667103" y="1298448"/>
            <a:ext cx="885748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horizon-boards-dashboard.png"/>
          <p:cNvPicPr>
            <a:picLocks noChangeAspect="1"/>
          </p:cNvPicPr>
          <p:nvPr/>
        </p:nvPicPr>
        <p:blipFill>
          <a:blip r:embed="rId2"/>
          <a:stretch>
            <a:fillRect/>
          </a:stretch>
        </p:blipFill>
        <p:spPr>
          <a:xfrm>
            <a:off x="1721967" y="1353312"/>
            <a:ext cx="874776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http://{{VM_IP}}/horizon/iot/ — target UI for board registration</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Screenshot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Ch.13 · operational sequencing</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Boot order — infrastructure layer (Ch.13)</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Step 1: ca_service writes Root CA and Crossbar TLS certificates to the iotronic_ssl shared volume.</a:t>
            </a:r>
          </a:p>
          <a:p>
            <a:pPr>
              <a:lnSpc>
                <a:spcPct val="115000"/>
              </a:lnSpc>
              <a:spcAft>
                <a:spcPts val="500"/>
              </a:spcAft>
              <a:defRPr sz="1600" b="0">
                <a:solidFill>
                  <a:srgbClr val="37474F"/>
                </a:solidFill>
                <a:latin typeface="Calibri"/>
              </a:defRPr>
            </a:pPr>
            <a:r>
              <a:t>▸  Step 2: iotronic-db (MariaDB) starts and must pass its healthcheck before any service needing persistence.</a:t>
            </a:r>
          </a:p>
          <a:p>
            <a:pPr>
              <a:lnSpc>
                <a:spcPct val="115000"/>
              </a:lnSpc>
              <a:spcAft>
                <a:spcPts val="500"/>
              </a:spcAft>
              <a:defRPr sz="1600" b="0">
                <a:solidFill>
                  <a:srgbClr val="37474F"/>
                </a:solidFill>
                <a:latin typeface="Calibri"/>
              </a:defRPr>
            </a:pPr>
            <a:r>
              <a:t>▸  Step 3: rabbitmq starts and must pass its healthcheck — the AMQP bus must be ready for microservices.</a:t>
            </a:r>
          </a:p>
          <a:p>
            <a:pPr>
              <a:lnSpc>
                <a:spcPct val="115000"/>
              </a:lnSpc>
              <a:spcAft>
                <a:spcPts val="500"/>
              </a:spcAft>
              <a:defRPr sz="1600" b="0">
                <a:solidFill>
                  <a:srgbClr val="37474F"/>
                </a:solidFill>
                <a:latin typeface="Calibri"/>
              </a:defRPr>
            </a:pPr>
            <a:r>
              <a:t>▸  Step 4: keystone starts, initialising the OpenStack identity database for Horizon authentication.</a:t>
            </a:r>
          </a:p>
          <a:p>
            <a:pPr>
              <a:lnSpc>
                <a:spcPct val="115000"/>
              </a:lnSpc>
              <a:spcAft>
                <a:spcPts val="500"/>
              </a:spcAft>
              <a:defRPr sz="1600" b="0">
                <a:solidFill>
                  <a:srgbClr val="37474F"/>
                </a:solidFill>
                <a:latin typeface="Calibri"/>
              </a:defRPr>
            </a:pPr>
            <a:r>
              <a:t>▸  If MariaDB or RabbitMQ fail healthchecks, all downstream services will remain in a waiting state.</a:t>
            </a:r>
          </a:p>
          <a:p>
            <a:pPr>
              <a:lnSpc>
                <a:spcPct val="115000"/>
              </a:lnSpc>
              <a:spcAft>
                <a:spcPts val="500"/>
              </a:spcAft>
              <a:defRPr sz="1600" b="0">
                <a:solidFill>
                  <a:srgbClr val="37474F"/>
                </a:solidFill>
                <a:latin typeface="Calibri"/>
              </a:defRPr>
            </a:pPr>
            <a:r>
              <a:t>▸  Inspect with: docker compose logs iotronic-db and docker compose logs rabbitmq.</a:t>
            </a:r>
          </a:p>
          <a:p>
            <a:pPr>
              <a:lnSpc>
                <a:spcPct val="115000"/>
              </a:lnSpc>
              <a:spcAft>
                <a:spcPts val="500"/>
              </a:spcAft>
              <a:defRPr sz="1600" b="0">
                <a:solidFill>
                  <a:srgbClr val="37474F"/>
                </a:solidFill>
                <a:latin typeface="Calibri"/>
              </a:defRPr>
            </a:pPr>
            <a:r>
              <a:t>▸  Typical first-boot delay: 5–10 minutes for database schema creation alone.</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Ch.13 · operational sequencing · fig:chap13:Docker-compose-ok</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Boot order — application layer (Ch.13)</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Step 5: crossbar starts the WAMP router on port 8181, mounting certificates from iotronic_ssl.</a:t>
            </a:r>
          </a:p>
          <a:p>
            <a:pPr>
              <a:lnSpc>
                <a:spcPct val="115000"/>
              </a:lnSpc>
              <a:spcAft>
                <a:spcPts val="500"/>
              </a:spcAft>
              <a:defRPr sz="1600" b="0">
                <a:solidFill>
                  <a:srgbClr val="37474F"/>
                </a:solidFill>
                <a:latin typeface="Calibri"/>
              </a:defRPr>
            </a:pPr>
            <a:r>
              <a:t>▸  Step 6: iotronic-wagent starts, connecting to both RabbitMQ (AMQP) and Crossbar (WAMP).</a:t>
            </a:r>
          </a:p>
          <a:p>
            <a:pPr>
              <a:lnSpc>
                <a:spcPct val="115000"/>
              </a:lnSpc>
              <a:spcAft>
                <a:spcPts val="500"/>
              </a:spcAft>
              <a:defRPr sz="1600" b="0">
                <a:solidFill>
                  <a:srgbClr val="37474F"/>
                </a:solidFill>
                <a:latin typeface="Calibri"/>
              </a:defRPr>
            </a:pPr>
            <a:r>
              <a:t>▸  Step 7: iotronic-wstun starts the reverse tunnel server on port 8080 with TLS from iotronic_ssl.</a:t>
            </a:r>
          </a:p>
          <a:p>
            <a:pPr>
              <a:lnSpc>
                <a:spcPct val="115000"/>
              </a:lnSpc>
              <a:spcAft>
                <a:spcPts val="500"/>
              </a:spcAft>
              <a:defRPr sz="1600" b="0">
                <a:solidFill>
                  <a:srgbClr val="37474F"/>
                </a:solidFill>
                <a:latin typeface="Calibri"/>
              </a:defRPr>
            </a:pPr>
            <a:r>
              <a:t>▸  Step 8: iotronic-conductor starts the REST API, becoming healthy on port 8812.</a:t>
            </a:r>
          </a:p>
          <a:p>
            <a:pPr>
              <a:lnSpc>
                <a:spcPct val="115000"/>
              </a:lnSpc>
              <a:spcAft>
                <a:spcPts val="500"/>
              </a:spcAft>
              <a:defRPr sz="1600" b="0">
                <a:solidFill>
                  <a:srgbClr val="37474F"/>
                </a:solidFill>
                <a:latin typeface="Calibri"/>
              </a:defRPr>
            </a:pPr>
            <a:r>
              <a:t>▸  Step 9: iotronic-ui (Horizon) becomes reachable on port 80 after Keystone is ready.</a:t>
            </a:r>
          </a:p>
          <a:p>
            <a:pPr>
              <a:lnSpc>
                <a:spcPct val="115000"/>
              </a:lnSpc>
              <a:spcAft>
                <a:spcPts val="500"/>
              </a:spcAft>
              <a:defRPr sz="1600" b="0">
                <a:solidFill>
                  <a:srgbClr val="37474F"/>
                </a:solidFill>
                <a:latin typeface="Calibri"/>
              </a:defRPr>
            </a:pPr>
            <a:r>
              <a:t>▸  Step 10: lightning-rod container starts with its local configuration UI on port 1474.</a:t>
            </a:r>
          </a:p>
          <a:p>
            <a:pPr>
              <a:lnSpc>
                <a:spcPct val="115000"/>
              </a:lnSpc>
              <a:spcAft>
                <a:spcPts val="500"/>
              </a:spcAft>
              <a:defRPr sz="1600" b="0">
                <a:solidFill>
                  <a:srgbClr val="37474F"/>
                </a:solidFill>
                <a:latin typeface="Calibri"/>
              </a:defRPr>
            </a:pPr>
            <a:r>
              <a:t>▸  Healthy stack indicator: docker compose ps shows (healthy) for db, rabbitmq, and conductor.</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While waiting — monitor in terminal 2</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400" b="0">
                <a:solidFill>
                  <a:srgbClr val="0D2B45"/>
                </a:solidFill>
                <a:latin typeface="Consolas"/>
              </a:defRPr>
            </a:pPr>
            <a:r>
              <a:t>$ docker compose -f docker-compose.yml \</a:t>
            </a:r>
          </a:p>
          <a:p>
            <a:pPr>
              <a:lnSpc>
                <a:spcPct val="115000"/>
              </a:lnSpc>
              <a:spcAft>
                <a:spcPts val="800"/>
              </a:spcAft>
              <a:defRPr sz="1900" b="0">
                <a:solidFill>
                  <a:srgbClr val="37474F"/>
                </a:solidFill>
                <a:latin typeface="Calibri"/>
              </a:defRPr>
            </a:pPr>
            <a:r>
              <a:t>▸  -f ../../patches/docker-compose.lab.yml ps</a:t>
            </a:r>
          </a:p>
          <a:p>
            <a:pPr>
              <a:lnSpc>
                <a:spcPct val="115000"/>
              </a:lnSpc>
              <a:spcAft>
                <a:spcPts val="800"/>
              </a:spcAft>
              <a:defRPr sz="1400" b="0">
                <a:solidFill>
                  <a:srgbClr val="0D2B45"/>
                </a:solidFill>
                <a:latin typeface="Consolas"/>
              </a:defRPr>
            </a:pPr>
            <a:r>
              <a:t>$ docker compose logs -f crossbar</a:t>
            </a:r>
          </a:p>
          <a:p>
            <a:pPr>
              <a:lnSpc>
                <a:spcPct val="115000"/>
              </a:lnSpc>
              <a:spcAft>
                <a:spcPts val="800"/>
              </a:spcAft>
              <a:defRPr sz="1400" b="0">
                <a:solidFill>
                  <a:srgbClr val="0D2B45"/>
                </a:solidFill>
                <a:latin typeface="Consolas"/>
              </a:defRPr>
            </a:pPr>
            <a:r>
              <a:t>$ docker compose logs -f iotronic-conductor</a:t>
            </a:r>
          </a:p>
          <a:p>
            <a:pPr>
              <a:lnSpc>
                <a:spcPct val="115000"/>
              </a:lnSpc>
              <a:spcAft>
                <a:spcPts val="800"/>
              </a:spcAft>
              <a:defRPr sz="1900" b="0">
                <a:solidFill>
                  <a:srgbClr val="37474F"/>
                </a:solidFill>
                <a:latin typeface="Calibri"/>
              </a:defRPr>
            </a:pPr>
            <a:r>
              <a:t>▸  Healthy = (healthy) in ps output for iotronic-db, rabbitmq, iotronic-conductor.</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Ch.16 — CA secures internal tunnel communications · Ch.13 volumes</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CA service &amp; TLS certificate chain (Ch.13 + Ch.16)</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The Certificate Authority container (ca_service) generates a Root CA key and certificate plus a Crossbar-specific key and signed certificate.</a:t>
            </a:r>
          </a:p>
          <a:p>
            <a:pPr>
              <a:lnSpc>
                <a:spcPct val="115000"/>
              </a:lnSpc>
              <a:spcAft>
                <a:spcPts val="500"/>
              </a:spcAft>
              <a:defRPr sz="1600" b="0">
                <a:solidFill>
                  <a:srgbClr val="37474F"/>
                </a:solidFill>
                <a:latin typeface="Calibri"/>
              </a:defRPr>
            </a:pPr>
            <a:r>
              <a:t>▸  All TLS material is written to the iotronic_ssl Docker volume, shared by crossbar, iotronic-wstun, and other components requiring encrypted communications.</a:t>
            </a:r>
          </a:p>
          <a:p>
            <a:pPr>
              <a:lnSpc>
                <a:spcPct val="115000"/>
              </a:lnSpc>
              <a:spcAft>
                <a:spcPts val="500"/>
              </a:spcAft>
              <a:defRPr sz="1600" b="0">
                <a:solidFill>
                  <a:srgbClr val="37474F"/>
                </a:solidFill>
                <a:latin typeface="Calibri"/>
              </a:defRPr>
            </a:pPr>
            <a:r>
              <a:t>▸  Crossbar mounts iotronic_ssl at /node/.crossbar/ssl and starts WAMP over wss:// on port 8181.</a:t>
            </a:r>
          </a:p>
          <a:p>
            <a:pPr>
              <a:lnSpc>
                <a:spcPct val="115000"/>
              </a:lnSpc>
              <a:spcAft>
                <a:spcPts val="500"/>
              </a:spcAft>
              <a:defRPr sz="1600" b="0">
                <a:solidFill>
                  <a:srgbClr val="37474F"/>
                </a:solidFill>
                <a:latin typeface="Calibri"/>
              </a:defRPr>
            </a:pPr>
            <a:r>
              <a:t>▸  If Crossbar enters a restart loop, inspect ca_service logs: docker compose logs ca_service.</a:t>
            </a:r>
          </a:p>
          <a:p>
            <a:pPr>
              <a:lnSpc>
                <a:spcPct val="115000"/>
              </a:lnSpc>
              <a:spcAft>
                <a:spcPts val="500"/>
              </a:spcAft>
              <a:defRPr sz="1600" b="0">
                <a:solidFill>
                  <a:srgbClr val="37474F"/>
                </a:solidFill>
                <a:latin typeface="Calibri"/>
              </a:defRPr>
            </a:pPr>
            <a:r>
              <a:t>▸  The lab overlay uses alpine:3.19 instead of debian:buster because Buster apt repositories are EOL.</a:t>
            </a:r>
          </a:p>
          <a:p>
            <a:pPr>
              <a:lnSpc>
                <a:spcPct val="115000"/>
              </a:lnSpc>
              <a:spcAft>
                <a:spcPts val="500"/>
              </a:spcAft>
              <a:defRPr sz="1600" b="0">
                <a:solidFill>
                  <a:srgbClr val="37474F"/>
                </a:solidFill>
                <a:latin typeface="Calibri"/>
              </a:defRPr>
            </a:pPr>
            <a:r>
              <a:t>▸  WAMP endpoint inside Docker: wss://crossbar:8181 in realm s4t — TLS is terminated at Crossbar.</a:t>
            </a:r>
          </a:p>
          <a:p>
            <a:pPr>
              <a:lnSpc>
                <a:spcPct val="115000"/>
              </a:lnSpc>
              <a:spcAft>
                <a:spcPts val="500"/>
              </a:spcAft>
              <a:defRPr sz="1600" b="0">
                <a:solidFill>
                  <a:srgbClr val="37474F"/>
                </a:solidFill>
                <a:latin typeface="Calibri"/>
              </a:defRPr>
            </a:pPr>
            <a:r>
              <a:t>▸  Never delete iotronic_ssl volume while the stack is running — Crossbar will lose its certificates.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Ch.13 · Crossbar service · Ch.4 WAMP Dealer role</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Crossbar — WAMP router configuration (Ch.13)</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Crossbar.io is the WAMP Dealer that routes RPC calls and pub/sub messages between IoTronic and boards.</a:t>
            </a:r>
          </a:p>
          <a:p>
            <a:pPr>
              <a:lnSpc>
                <a:spcPct val="115000"/>
              </a:lnSpc>
              <a:spcAft>
                <a:spcPts val="500"/>
              </a:spcAft>
              <a:defRPr sz="1600" b="0">
                <a:solidFill>
                  <a:srgbClr val="37474F"/>
                </a:solidFill>
                <a:latin typeface="Calibri"/>
              </a:defRPr>
            </a:pPr>
            <a:r>
              <a:t>▸  Lightning-Rod connects as a Callee, registering board procedures under URIs in the s4t realm.</a:t>
            </a:r>
          </a:p>
          <a:p>
            <a:pPr>
              <a:lnSpc>
                <a:spcPct val="115000"/>
              </a:lnSpc>
              <a:spcAft>
                <a:spcPts val="500"/>
              </a:spcAft>
              <a:defRPr sz="1600" b="0">
                <a:solidFill>
                  <a:srgbClr val="37474F"/>
                </a:solidFill>
                <a:latin typeface="Calibri"/>
              </a:defRPr>
            </a:pPr>
            <a:r>
              <a:t>▸  IoTronic WAMP agent connects as a Caller, invoking board procedures on behalf of REST API requests.</a:t>
            </a:r>
          </a:p>
          <a:p>
            <a:pPr>
              <a:lnSpc>
                <a:spcPct val="115000"/>
              </a:lnSpc>
              <a:spcAft>
                <a:spcPts val="500"/>
              </a:spcAft>
              <a:defRPr sz="1600" b="0">
                <a:solidFill>
                  <a:srgbClr val="37474F"/>
                </a:solidFill>
                <a:latin typeface="Calibri"/>
              </a:defRPr>
            </a:pPr>
            <a:r>
              <a:t>▸  Crossbar requires valid TLS certificates from ca_service before it can accept wss:// connections.</a:t>
            </a:r>
          </a:p>
          <a:p>
            <a:pPr>
              <a:lnSpc>
                <a:spcPct val="115000"/>
              </a:lnSpc>
              <a:spcAft>
                <a:spcPts val="500"/>
              </a:spcAft>
              <a:defRPr sz="1600" b="0">
                <a:solidFill>
                  <a:srgbClr val="37474F"/>
                </a:solidFill>
                <a:latin typeface="Calibri"/>
              </a:defRPr>
            </a:pPr>
            <a:r>
              <a:t>▸  Port 8181 is mapped to the host for debugging but LR must use the internal hostname crossbar.</a:t>
            </a:r>
          </a:p>
          <a:p>
            <a:pPr>
              <a:lnSpc>
                <a:spcPct val="115000"/>
              </a:lnSpc>
              <a:spcAft>
                <a:spcPts val="500"/>
              </a:spcAft>
              <a:defRPr sz="1600" b="0">
                <a:solidFill>
                  <a:srgbClr val="37474F"/>
                </a:solidFill>
                <a:latin typeface="Calibri"/>
              </a:defRPr>
            </a:pPr>
            <a:r>
              <a:t>▸  If WAMP session fails, check: (1) Crossbar healthy, (2) certificates present, (3) LR uses wss:// not ws://.</a:t>
            </a:r>
          </a:p>
          <a:p>
            <a:pPr>
              <a:lnSpc>
                <a:spcPct val="115000"/>
              </a:lnSpc>
              <a:spcAft>
                <a:spcPts val="500"/>
              </a:spcAft>
              <a:defRPr sz="1600" b="0">
                <a:solidFill>
                  <a:srgbClr val="37474F"/>
                </a:solidFill>
                <a:latin typeface="Calibri"/>
              </a:defRPr>
            </a:pPr>
            <a:r>
              <a:t>▸  Crossbar logs show registration events when LR successfully connects and registers procedures.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Ch.13 service table · Ch.13 § Volumes</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MariaDB — IoTronic persistence layer (Ch.13)</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MariaDB (iotronic-db container) stores all persistent IoTronic state on port 3306.</a:t>
            </a:r>
          </a:p>
          <a:p>
            <a:pPr>
              <a:lnSpc>
                <a:spcPct val="115000"/>
              </a:lnSpc>
              <a:spcAft>
                <a:spcPts val="500"/>
              </a:spcAft>
              <a:defRPr sz="1600" b="0">
                <a:solidFill>
                  <a:srgbClr val="37474F"/>
                </a:solidFill>
                <a:latin typeface="Calibri"/>
              </a:defRPr>
            </a:pPr>
            <a:r>
              <a:t>▸  Board registrations, UUIDs, user associations, and tenant mappings are stored in the IoTronic schema.</a:t>
            </a:r>
          </a:p>
          <a:p>
            <a:pPr>
              <a:lnSpc>
                <a:spcPct val="115000"/>
              </a:lnSpc>
              <a:spcAft>
                <a:spcPts val="500"/>
              </a:spcAft>
              <a:defRPr sz="1600" b="0">
                <a:solidFill>
                  <a:srgbClr val="37474F"/>
                </a:solidFill>
                <a:latin typeface="Calibri"/>
              </a:defRPr>
            </a:pPr>
            <a:r>
              <a:t>▸  Plugin definitions, injection records, and service catalog entries persist across container restarts.</a:t>
            </a:r>
          </a:p>
          <a:p>
            <a:pPr>
              <a:lnSpc>
                <a:spcPct val="115000"/>
              </a:lnSpc>
              <a:spcAft>
                <a:spcPts val="500"/>
              </a:spcAft>
              <a:defRPr sz="1600" b="0">
                <a:solidFill>
                  <a:srgbClr val="37474F"/>
                </a:solidFill>
                <a:latin typeface="Calibri"/>
              </a:defRPr>
            </a:pPr>
            <a:r>
              <a:t>▸  Data is stored in the unime_iotronic_db_data Docker volume — survives docker compose down without -v.</a:t>
            </a:r>
          </a:p>
          <a:p>
            <a:pPr>
              <a:lnSpc>
                <a:spcPct val="115000"/>
              </a:lnSpc>
              <a:spcAft>
                <a:spcPts val="500"/>
              </a:spcAft>
              <a:defRPr sz="1600" b="0">
                <a:solidFill>
                  <a:srgbClr val="37474F"/>
                </a:solidFill>
                <a:latin typeface="Calibri"/>
              </a:defRPr>
            </a:pPr>
            <a:r>
              <a:t>▸  Connection string is configured via DB_CONNECTION in .env: mysql+pymysql://user:pass@iotronic-db/iotronic.</a:t>
            </a:r>
          </a:p>
          <a:p>
            <a:pPr>
              <a:lnSpc>
                <a:spcPct val="115000"/>
              </a:lnSpc>
              <a:spcAft>
                <a:spcPts val="500"/>
              </a:spcAft>
              <a:defRPr sz="1600" b="0">
                <a:solidFill>
                  <a:srgbClr val="37474F"/>
                </a:solidFill>
                <a:latin typeface="Calibri"/>
              </a:defRPr>
            </a:pPr>
            <a:r>
              <a:t>▸  If Conductor fails with database connection errors, verify iotronic-db shows (healthy) in compose ps.</a:t>
            </a:r>
          </a:p>
          <a:p>
            <a:pPr>
              <a:lnSpc>
                <a:spcPct val="115000"/>
              </a:lnSpc>
              <a:spcAft>
                <a:spcPts val="500"/>
              </a:spcAft>
              <a:defRPr sz="1600" b="0">
                <a:solidFill>
                  <a:srgbClr val="37474F"/>
                </a:solidFill>
                <a:latin typeface="Calibri"/>
              </a:defRPr>
            </a:pPr>
            <a:r>
              <a:t>▸  Wiping unime_iotronic_db_data forces full re-initialisation — all board registrations are lost.</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Ch.13 service table · Ch.4 § AMQP internal bus</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RabbitMQ — internal AMQP message bus (Ch.13)</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RabbitMQ provides the AMQP message bus for asynchronous coordination among IoTronic microservices.</a:t>
            </a:r>
          </a:p>
          <a:p>
            <a:pPr>
              <a:lnSpc>
                <a:spcPct val="115000"/>
              </a:lnSpc>
              <a:spcAft>
                <a:spcPts val="500"/>
              </a:spcAft>
              <a:defRPr sz="1600" b="0">
                <a:solidFill>
                  <a:srgbClr val="37474F"/>
                </a:solidFill>
                <a:latin typeface="Calibri"/>
              </a:defRPr>
            </a:pPr>
            <a:r>
              <a:t>▸  The Conductor publishes commands and events that WAMP agent, WSTUN, and other workers consume.</a:t>
            </a:r>
          </a:p>
          <a:p>
            <a:pPr>
              <a:lnSpc>
                <a:spcPct val="115000"/>
              </a:lnSpc>
              <a:spcAft>
                <a:spcPts val="500"/>
              </a:spcAft>
              <a:defRPr sz="1600" b="0">
                <a:solidFill>
                  <a:srgbClr val="37474F"/>
                </a:solidFill>
                <a:latin typeface="Calibri"/>
              </a:defRPr>
            </a:pPr>
            <a:r>
              <a:t>▸  Default AMQP port is 5672; management UI is available on 15672 for queue depth inspection.</a:t>
            </a:r>
          </a:p>
          <a:p>
            <a:pPr>
              <a:lnSpc>
                <a:spcPct val="115000"/>
              </a:lnSpc>
              <a:spcAft>
                <a:spcPts val="500"/>
              </a:spcAft>
              <a:defRPr sz="1600" b="0">
                <a:solidFill>
                  <a:srgbClr val="37474F"/>
                </a:solidFill>
                <a:latin typeface="Calibri"/>
              </a:defRPr>
            </a:pPr>
            <a:r>
              <a:t>▸  RabbitMQ must pass its healthcheck before iotronic-conductor and iotronic-wagent can start.</a:t>
            </a:r>
          </a:p>
          <a:p>
            <a:pPr>
              <a:lnSpc>
                <a:spcPct val="115000"/>
              </a:lnSpc>
              <a:spcAft>
                <a:spcPts val="500"/>
              </a:spcAft>
              <a:defRPr sz="1600" b="0">
                <a:solidFill>
                  <a:srgbClr val="37474F"/>
                </a:solidFill>
                <a:latin typeface="Calibri"/>
              </a:defRPr>
            </a:pPr>
            <a:r>
              <a:t>▸  Message orientation, queueing, routing (point-to-point and pub/sub), and reliability are provided by the AMQP open standard.</a:t>
            </a:r>
          </a:p>
          <a:p>
            <a:pPr>
              <a:lnSpc>
                <a:spcPct val="115000"/>
              </a:lnSpc>
              <a:spcAft>
                <a:spcPts val="500"/>
              </a:spcAft>
              <a:defRPr sz="1600" b="0">
                <a:solidFill>
                  <a:srgbClr val="37474F"/>
                </a:solidFill>
                <a:latin typeface="Calibri"/>
              </a:defRPr>
            </a:pPr>
            <a:r>
              <a:t>▸  If services hang at startup, check RabbitMQ logs: docker compose logs rabbitmq.</a:t>
            </a:r>
          </a:p>
          <a:p>
            <a:pPr>
              <a:lnSpc>
                <a:spcPct val="115000"/>
              </a:lnSpc>
              <a:spcAft>
                <a:spcPts val="500"/>
              </a:spcAft>
              <a:defRPr sz="1600" b="0">
                <a:solidFill>
                  <a:srgbClr val="37474F"/>
                </a:solidFill>
                <a:latin typeface="Calibri"/>
              </a:defRPr>
            </a:pPr>
            <a:r>
              <a:t>▸  RabbitMQ data persists in its own Docker volume — queue state survives container restarts.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Ch.13 service table · Ch.4 § OpenStack identity</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Keystone — OpenStack identity service (Ch.13)</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Keystone provides authentication and authorization for Horizon and IoTronic API access.</a:t>
            </a:r>
          </a:p>
          <a:p>
            <a:pPr>
              <a:lnSpc>
                <a:spcPct val="115000"/>
              </a:lnSpc>
              <a:spcAft>
                <a:spcPts val="500"/>
              </a:spcAft>
              <a:defRPr sz="1600" b="0">
                <a:solidFill>
                  <a:srgbClr val="37474F"/>
                </a:solidFill>
                <a:latin typeface="Calibri"/>
              </a:defRPr>
            </a:pPr>
            <a:r>
              <a:t>▸  Horizon login uses Keystone credentials: admin / s4t in the lab environment.</a:t>
            </a:r>
          </a:p>
          <a:p>
            <a:pPr>
              <a:lnSpc>
                <a:spcPct val="115000"/>
              </a:lnSpc>
              <a:spcAft>
                <a:spcPts val="500"/>
              </a:spcAft>
              <a:defRPr sz="1600" b="0">
                <a:solidFill>
                  <a:srgbClr val="37474F"/>
                </a:solidFill>
                <a:latin typeface="Calibri"/>
              </a:defRPr>
            </a:pPr>
            <a:r>
              <a:t>▸  API requests to Conductor include Keystone-issued tokens when auth_strategy=keystone in iotronic.conf.</a:t>
            </a:r>
          </a:p>
          <a:p>
            <a:pPr>
              <a:lnSpc>
                <a:spcPct val="115000"/>
              </a:lnSpc>
              <a:spcAft>
                <a:spcPts val="500"/>
              </a:spcAft>
              <a:defRPr sz="1600" b="0">
                <a:solidFill>
                  <a:srgbClr val="37474F"/>
                </a:solidFill>
                <a:latin typeface="Calibri"/>
              </a:defRPr>
            </a:pPr>
            <a:r>
              <a:t>▸  Keystone runs on port 5000 inside the s4t network; iotronic-conductor references http://keystone:5000.</a:t>
            </a:r>
          </a:p>
          <a:p>
            <a:pPr>
              <a:lnSpc>
                <a:spcPct val="115000"/>
              </a:lnSpc>
              <a:spcAft>
                <a:spcPts val="500"/>
              </a:spcAft>
              <a:defRPr sz="1600" b="0">
                <a:solidFill>
                  <a:srgbClr val="37474F"/>
                </a:solidFill>
                <a:latin typeface="Calibri"/>
              </a:defRPr>
            </a:pPr>
            <a:r>
              <a:t>▸  The OpenStack role-based access model from Ch.4 applies: users, projects, and domains are managed through Keystone's identity backend.</a:t>
            </a:r>
          </a:p>
          <a:p>
            <a:pPr>
              <a:lnSpc>
                <a:spcPct val="115000"/>
              </a:lnSpc>
              <a:spcAft>
                <a:spcPts val="500"/>
              </a:spcAft>
              <a:defRPr sz="1600" b="0">
                <a:solidFill>
                  <a:srgbClr val="37474F"/>
                </a:solidFill>
                <a:latin typeface="Calibri"/>
              </a:defRPr>
            </a:pPr>
            <a:r>
              <a:t>▸  If Horizon shows authentication errors, verify keystone container is running and its database initialised: docker compose logs keystone.</a:t>
            </a:r>
          </a:p>
          <a:p>
            <a:pPr>
              <a:lnSpc>
                <a:spcPct val="115000"/>
              </a:lnSpc>
              <a:spcAft>
                <a:spcPts val="500"/>
              </a:spcAft>
              <a:defRPr sz="1600" b="0">
                <a:solidFill>
                  <a:srgbClr val="37474F"/>
                </a:solidFill>
                <a:latin typeface="Calibri"/>
              </a:defRPr>
            </a:pPr>
            <a:r>
              <a:t>▸  Keystone is a standard OpenStack service — the same identity layer used by Nova, Neutron, and Glance.</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Verify API and dashboards</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400" b="0">
                <a:solidFill>
                  <a:srgbClr val="0D2B45"/>
                </a:solidFill>
                <a:latin typeface="Consolas"/>
              </a:defRPr>
            </a:pPr>
            <a:r>
              <a:t>$ curl -s -o /dev/null -w '%{http_code}\n' http://{{VM_IP}}:8812/</a:t>
            </a:r>
          </a:p>
          <a:p>
            <a:pPr>
              <a:lnSpc>
                <a:spcPct val="115000"/>
              </a:lnSpc>
              <a:spcAft>
                <a:spcPts val="800"/>
              </a:spcAft>
              <a:defRPr sz="1900" b="0">
                <a:solidFill>
                  <a:srgbClr val="37474F"/>
                </a:solidFill>
                <a:latin typeface="Calibri"/>
              </a:defRPr>
            </a:pPr>
            <a:r>
              <a:t>▸  Browser: http://{{VM_IP}}/horizon (admin / s4t)</a:t>
            </a:r>
          </a:p>
          <a:p>
            <a:pPr>
              <a:lnSpc>
                <a:spcPct val="115000"/>
              </a:lnSpc>
              <a:spcAft>
                <a:spcPts val="800"/>
              </a:spcAft>
              <a:defRPr sz="1900" b="0">
                <a:solidFill>
                  <a:srgbClr val="37474F"/>
                </a:solidFill>
                <a:latin typeface="Calibri"/>
              </a:defRPr>
            </a:pPr>
            <a:r>
              <a:t>▸  Browser: http://{{VM_IP}}:1474 (me / arancino)</a:t>
            </a:r>
          </a:p>
          <a:p>
            <a:pPr>
              <a:lnSpc>
                <a:spcPct val="115000"/>
              </a:lnSpc>
              <a:spcAft>
                <a:spcPts val="800"/>
              </a:spcAft>
              <a:defRPr sz="1900" b="0">
                <a:solidFill>
                  <a:srgbClr val="37474F"/>
                </a:solidFill>
                <a:latin typeface="Calibri"/>
              </a:defRPr>
            </a:pPr>
            <a:r>
              <a:t>▸  Expected: HTTP 200 or 302 — not 000 (connection refused) or 502 (upstream not ready).</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Horizon — login screen</a:t>
            </a:r>
          </a:p>
        </p:txBody>
      </p:sp>
      <p:sp>
        <p:nvSpPr>
          <p:cNvPr id="4" name="Rounded Rectangle 3"/>
          <p:cNvSpPr/>
          <p:nvPr/>
        </p:nvSpPr>
        <p:spPr>
          <a:xfrm>
            <a:off x="1667103" y="1298448"/>
            <a:ext cx="885748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horizon-login.png"/>
          <p:cNvPicPr>
            <a:picLocks noChangeAspect="1"/>
          </p:cNvPicPr>
          <p:nvPr/>
        </p:nvPicPr>
        <p:blipFill>
          <a:blip r:embed="rId2"/>
          <a:stretch>
            <a:fillRect/>
          </a:stretch>
        </p:blipFill>
        <p:spPr>
          <a:xfrm>
            <a:off x="1721967" y="1353312"/>
            <a:ext cx="874776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http://{{VM_IP}}/horizon</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Screenshot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Horizon — after login</a:t>
            </a:r>
          </a:p>
        </p:txBody>
      </p:sp>
      <p:sp>
        <p:nvSpPr>
          <p:cNvPr id="4" name="Rounded Rectangle 3"/>
          <p:cNvSpPr/>
          <p:nvPr/>
        </p:nvSpPr>
        <p:spPr>
          <a:xfrm>
            <a:off x="1667103" y="1298448"/>
            <a:ext cx="885748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horizon-after-login.png"/>
          <p:cNvPicPr>
            <a:picLocks noChangeAspect="1"/>
          </p:cNvPicPr>
          <p:nvPr/>
        </p:nvPicPr>
        <p:blipFill>
          <a:blip r:embed="rId2"/>
          <a:stretch>
            <a:fillRect/>
          </a:stretch>
        </p:blipFill>
        <p:spPr>
          <a:xfrm>
            <a:off x="1721967" y="1353312"/>
            <a:ext cx="874776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OpenStack admin dashboard — navigate to IoT section in left sidebar</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Screenshot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Board onboarding</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Cloud registration + edge agent configuration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Ch.13 § Setting up Stack4Things · § Adding a new virtual IoT device</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Virtual board concept — emulated IoT device (Ch.13)</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In the emulated lab environment, the IoT device is a Lightning-Rod Docker container, not physical hardware.</a:t>
            </a:r>
          </a:p>
          <a:p>
            <a:pPr>
              <a:lnSpc>
                <a:spcPct val="115000"/>
              </a:lnSpc>
              <a:spcAft>
                <a:spcPts val="500"/>
              </a:spcAft>
              <a:defRPr sz="1600" b="0">
                <a:solidFill>
                  <a:srgbClr val="37474F"/>
                </a:solidFill>
                <a:latin typeface="Calibri"/>
              </a:defRPr>
            </a:pPr>
            <a:r>
              <a:t>▸  Horizon Create Board allocates a unique UUID and registration code stored in the IoTronic MariaDB.</a:t>
            </a:r>
          </a:p>
          <a:p>
            <a:pPr>
              <a:lnSpc>
                <a:spcPct val="115000"/>
              </a:lnSpc>
              <a:spcAft>
                <a:spcPts val="500"/>
              </a:spcAft>
              <a:defRPr sz="1600" b="0">
                <a:solidFill>
                  <a:srgbClr val="37474F"/>
                </a:solidFill>
                <a:latin typeface="Calibri"/>
              </a:defRPr>
            </a:pPr>
            <a:r>
              <a:t>▸  The registration code acts as a one-time credential allowing the LR agent to bind to the cloud record.</a:t>
            </a:r>
          </a:p>
          <a:p>
            <a:pPr>
              <a:lnSpc>
                <a:spcPct val="115000"/>
              </a:lnSpc>
              <a:spcAft>
                <a:spcPts val="500"/>
              </a:spcAft>
              <a:defRPr sz="1600" b="0">
                <a:solidFill>
                  <a:srgbClr val="37474F"/>
                </a:solidFill>
                <a:latin typeface="Calibri"/>
              </a:defRPr>
            </a:pPr>
            <a:r>
              <a:t>▸  Board states progress: registered → first_boot → online/Active when WAMP session is established.</a:t>
            </a:r>
          </a:p>
          <a:p>
            <a:pPr>
              <a:lnSpc>
                <a:spcPct val="115000"/>
              </a:lnSpc>
              <a:spcAft>
                <a:spcPts val="500"/>
              </a:spcAft>
              <a:defRPr sz="1600" b="0">
                <a:solidFill>
                  <a:srgbClr val="37474F"/>
                </a:solidFill>
                <a:latin typeface="Calibri"/>
              </a:defRPr>
            </a:pPr>
            <a:r>
              <a:t>▸  An Active board can receive plugin injections, service deployments, and WSTUN tunnel requests.</a:t>
            </a:r>
          </a:p>
          <a:p>
            <a:pPr>
              <a:lnSpc>
                <a:spcPct val="115000"/>
              </a:lnSpc>
              <a:spcAft>
                <a:spcPts val="500"/>
              </a:spcAft>
              <a:defRPr sz="1600" b="0">
                <a:solidFill>
                  <a:srgbClr val="37474F"/>
                </a:solidFill>
                <a:latin typeface="Calibri"/>
              </a:defRPr>
            </a:pPr>
            <a:r>
              <a:t>▸  Multiple virtual boards can coexist: lightning-rod (1474), lightning-rod-2 (1475), lightning-rod-3 (1476).</a:t>
            </a:r>
          </a:p>
          <a:p>
            <a:pPr>
              <a:lnSpc>
                <a:spcPct val="115000"/>
              </a:lnSpc>
              <a:spcAft>
                <a:spcPts val="500"/>
              </a:spcAft>
              <a:defRPr sz="1600" b="0">
                <a:solidFill>
                  <a:srgbClr val="37474F"/>
                </a:solidFill>
                <a:latin typeface="Calibri"/>
              </a:defRPr>
            </a:pPr>
            <a:r>
              <a:t>▸  The book describes adding a second board on a separate VM — the lab uses additional LR containers instead.</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Ch.13 · fig:chap13:New-IoT · fig:chap13:blist</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Board lifecycle and Horizon management (Ch.13)</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Navigate to Horizon → IoT → Boards to see all registered boards with ID, name, fleet, and status.</a:t>
            </a:r>
          </a:p>
          <a:p>
            <a:pPr>
              <a:lnSpc>
                <a:spcPct val="115000"/>
              </a:lnSpc>
              <a:spcAft>
                <a:spcPts val="500"/>
              </a:spcAft>
              <a:defRPr sz="1600" b="0">
                <a:solidFill>
                  <a:srgbClr val="37474F"/>
                </a:solidFill>
                <a:latin typeface="Calibri"/>
              </a:defRPr>
            </a:pPr>
            <a:r>
              <a:t>▸  Create Board form requires: board name, description, and device type — tags are optional.</a:t>
            </a:r>
          </a:p>
          <a:p>
            <a:pPr>
              <a:lnSpc>
                <a:spcPct val="115000"/>
              </a:lnSpc>
              <a:spcAft>
                <a:spcPts val="500"/>
              </a:spcAft>
              <a:defRPr sz="1600" b="0">
                <a:solidFill>
                  <a:srgbClr val="37474F"/>
                </a:solidFill>
                <a:latin typeface="Calibri"/>
              </a:defRPr>
            </a:pPr>
            <a:r>
              <a:t>▸  After submission, Horizon displays the board UUID and registration code — copy both immediately.</a:t>
            </a:r>
          </a:p>
          <a:p>
            <a:pPr>
              <a:lnSpc>
                <a:spcPct val="115000"/>
              </a:lnSpc>
              <a:spcAft>
                <a:spcPts val="500"/>
              </a:spcAft>
              <a:defRPr sz="1600" b="0">
                <a:solidFill>
                  <a:srgbClr val="37474F"/>
                </a:solidFill>
                <a:latin typeface="Calibri"/>
              </a:defRPr>
            </a:pPr>
            <a:r>
              <a:t>▸  The registration code must be pasted into Lightning-Rod Configuration before the agent can connect.</a:t>
            </a:r>
          </a:p>
          <a:p>
            <a:pPr>
              <a:lnSpc>
                <a:spcPct val="115000"/>
              </a:lnSpc>
              <a:spcAft>
                <a:spcPts val="500"/>
              </a:spcAft>
              <a:defRPr sz="1600" b="0">
                <a:solidFill>
                  <a:srgbClr val="37474F"/>
                </a:solidFill>
                <a:latin typeface="Calibri"/>
              </a:defRPr>
            </a:pPr>
            <a:r>
              <a:t>▸  Board status in Horizon updates in real time as LR establishes or loses its WAMP session.</a:t>
            </a:r>
          </a:p>
          <a:p>
            <a:pPr>
              <a:lnSpc>
                <a:spcPct val="115000"/>
              </a:lnSpc>
              <a:spcAft>
                <a:spcPts val="500"/>
              </a:spcAft>
              <a:defRPr sz="1600" b="0">
                <a:solidFill>
                  <a:srgbClr val="37474F"/>
                </a:solidFill>
                <a:latin typeface="Calibri"/>
              </a:defRPr>
            </a:pPr>
            <a:r>
              <a:t>▸  Fleet assignment groups boards for coordinated plugin injection in Module B (Ch.14 fleet management).</a:t>
            </a:r>
          </a:p>
          <a:p>
            <a:pPr>
              <a:lnSpc>
                <a:spcPct val="115000"/>
              </a:lnSpc>
              <a:spcAft>
                <a:spcPts val="500"/>
              </a:spcAft>
              <a:defRPr sz="1600" b="0">
                <a:solidFill>
                  <a:srgbClr val="37474F"/>
                </a:solidFill>
                <a:latin typeface="Calibri"/>
              </a:defRPr>
            </a:pPr>
            <a:r>
              <a:t>▸  Deleting a board in Horizon does not automatically stop the LR container — reconfigure or restart LR separately.</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8E1"/>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868680" cy="310896"/>
          </a:xfrm>
          <a:prstGeom prst="round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DEMO</a:t>
            </a:r>
          </a:p>
        </p:txBody>
      </p:sp>
      <p:sp>
        <p:nvSpPr>
          <p:cNvPr id="4" name="TextBox 3"/>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What board onboarding proves — theory connection</a:t>
            </a:r>
          </a:p>
        </p:txBody>
      </p:sp>
      <p:sp>
        <p:nvSpPr>
          <p:cNvPr id="5" name="Rounded Rectangle 4"/>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Onboarding demonstrates that IoTronic's cloud registry and the edge LR agent can establish a secure, persistent WAMP session through Crossbar.</a:t>
            </a:r>
          </a:p>
          <a:p>
            <a:pPr>
              <a:lnSpc>
                <a:spcPct val="115000"/>
              </a:lnSpc>
              <a:spcAft>
                <a:spcPts val="500"/>
              </a:spcAft>
              <a:defRPr sz="1600" b="0">
                <a:solidFill>
                  <a:srgbClr val="37474F"/>
                </a:solidFill>
                <a:latin typeface="Calibri"/>
              </a:defRPr>
            </a:pPr>
            <a:r>
              <a:t>▸  It validates the Ch.4 routed RPC model: LR registers procedures, IoTronic invokes them without direct IP reachability.</a:t>
            </a:r>
          </a:p>
          <a:p>
            <a:pPr>
              <a:lnSpc>
                <a:spcPct val="115000"/>
              </a:lnSpc>
              <a:spcAft>
                <a:spcPts val="500"/>
              </a:spcAft>
              <a:defRPr sz="1600" b="0">
                <a:solidFill>
                  <a:srgbClr val="37474F"/>
                </a:solidFill>
                <a:latin typeface="Calibri"/>
              </a:defRPr>
            </a:pPr>
            <a:r>
              <a:t>▸  It confirms Keystone authentication works end-to-end: Horizon login, board creation, API access.</a:t>
            </a:r>
          </a:p>
          <a:p>
            <a:pPr>
              <a:lnSpc>
                <a:spcPct val="115000"/>
              </a:lnSpc>
              <a:spcAft>
                <a:spcPts val="500"/>
              </a:spcAft>
              <a:defRPr sz="1600" b="0">
                <a:solidFill>
                  <a:srgbClr val="37474F"/>
                </a:solidFill>
                <a:latin typeface="Calibri"/>
              </a:defRPr>
            </a:pPr>
            <a:r>
              <a:t>▸  It proves the CA/TLS chain is functional: LR connects via wss:// with valid Crossbar certificates.</a:t>
            </a:r>
          </a:p>
          <a:p>
            <a:pPr>
              <a:lnSpc>
                <a:spcPct val="115000"/>
              </a:lnSpc>
              <a:spcAft>
                <a:spcPts val="500"/>
              </a:spcAft>
              <a:defRPr sz="1600" b="0">
                <a:solidFill>
                  <a:srgbClr val="37474F"/>
                </a:solidFill>
                <a:latin typeface="Calibri"/>
              </a:defRPr>
            </a:pPr>
            <a:r>
              <a:t>▸  An Active board is the prerequisite for plugin injection (Module B), environmental data (Module C), and web service exposure (Module F).</a:t>
            </a:r>
          </a:p>
          <a:p>
            <a:pPr>
              <a:lnSpc>
                <a:spcPct val="115000"/>
              </a:lnSpc>
              <a:spcAft>
                <a:spcPts val="500"/>
              </a:spcAft>
              <a:defRPr sz="1600" b="0">
                <a:solidFill>
                  <a:srgbClr val="37474F"/>
                </a:solidFill>
                <a:latin typeface="Calibri"/>
              </a:defRPr>
            </a:pPr>
            <a:r>
              <a:t>▸  Without Active state, WSTUN tunnels cannot be established and no edge service is reachable.</a:t>
            </a:r>
          </a:p>
          <a:p>
            <a:pPr>
              <a:lnSpc>
                <a:spcPct val="115000"/>
              </a:lnSpc>
              <a:spcAft>
                <a:spcPts val="500"/>
              </a:spcAft>
              <a:defRPr sz="1600" b="0">
                <a:solidFill>
                  <a:srgbClr val="37474F"/>
                </a:solidFill>
                <a:latin typeface="Calibri"/>
              </a:defRPr>
            </a:pPr>
            <a:r>
              <a:t>▸  Take a screenshot of the Active board — it is the mandatory Module A deliverable.</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Demo</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UML sequence — Board onboarding (Module A)</a:t>
            </a:r>
          </a:p>
        </p:txBody>
      </p:sp>
      <p:sp>
        <p:nvSpPr>
          <p:cNvPr id="4" name="Rounded Rectangle 3"/>
          <p:cNvSpPr/>
          <p:nvPr/>
        </p:nvSpPr>
        <p:spPr>
          <a:xfrm>
            <a:off x="1567697" y="1298448"/>
            <a:ext cx="9056300"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q-board-onboarding.png"/>
          <p:cNvPicPr>
            <a:picLocks noChangeAspect="1"/>
          </p:cNvPicPr>
          <p:nvPr/>
        </p:nvPicPr>
        <p:blipFill>
          <a:blip r:embed="rId2"/>
          <a:stretch>
            <a:fillRect/>
          </a:stretch>
        </p:blipFill>
        <p:spPr>
          <a:xfrm>
            <a:off x="1622561" y="1353312"/>
            <a:ext cx="8946572"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Horizon → Conductor → Crossbar → Lightning-Rod → Active state</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Diagram</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Create Board on Horizon</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Horizon → IoT → Boards → + Create Board</a:t>
            </a:r>
          </a:p>
          <a:p>
            <a:pPr>
              <a:lnSpc>
                <a:spcPct val="115000"/>
              </a:lnSpc>
              <a:spcAft>
                <a:spcPts val="800"/>
              </a:spcAft>
              <a:defRPr sz="1900" b="0">
                <a:solidFill>
                  <a:srgbClr val="37474F"/>
                </a:solidFill>
                <a:latin typeface="Calibri"/>
              </a:defRPr>
            </a:pPr>
            <a:r>
              <a:t>▸  Fill: name (e.g. board-alpha), description, device type</a:t>
            </a:r>
          </a:p>
          <a:p>
            <a:pPr>
              <a:lnSpc>
                <a:spcPct val="115000"/>
              </a:lnSpc>
              <a:spcAft>
                <a:spcPts val="800"/>
              </a:spcAft>
              <a:defRPr sz="1900" b="0">
                <a:solidFill>
                  <a:srgbClr val="37474F"/>
                </a:solidFill>
                <a:latin typeface="Calibri"/>
              </a:defRPr>
            </a:pPr>
            <a:r>
              <a:t>▸  Copy registration code and board UUID shown after create</a:t>
            </a:r>
          </a:p>
          <a:p>
            <a:pPr>
              <a:lnSpc>
                <a:spcPct val="115000"/>
              </a:lnSpc>
              <a:spcAft>
                <a:spcPts val="800"/>
              </a:spcAft>
              <a:defRPr sz="1900" b="0">
                <a:solidFill>
                  <a:srgbClr val="37474F"/>
                </a:solidFill>
                <a:latin typeface="Calibri"/>
              </a:defRPr>
            </a:pPr>
            <a:r>
              <a:t>▸  Book reference: Ch.13 fig. sshot-create-board</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Book figure — Create Board (Ch.13)</a:t>
            </a:r>
          </a:p>
        </p:txBody>
      </p:sp>
      <p:sp>
        <p:nvSpPr>
          <p:cNvPr id="4" name="Rounded Rectangle 3"/>
          <p:cNvSpPr/>
          <p:nvPr/>
        </p:nvSpPr>
        <p:spPr>
          <a:xfrm>
            <a:off x="280263" y="1298448"/>
            <a:ext cx="11631167" cy="4595174"/>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shot-create-board.png"/>
          <p:cNvPicPr>
            <a:picLocks noChangeAspect="1"/>
          </p:cNvPicPr>
          <p:nvPr/>
        </p:nvPicPr>
        <p:blipFill>
          <a:blip r:embed="rId2"/>
          <a:stretch>
            <a:fillRect/>
          </a:stretch>
        </p:blipFill>
        <p:spPr>
          <a:xfrm>
            <a:off x="335127" y="1353312"/>
            <a:ext cx="11521440" cy="4485446"/>
          </a:xfrm>
          <a:prstGeom prst="rect">
            <a:avLst/>
          </a:prstGeom>
        </p:spPr>
      </p:pic>
      <p:sp>
        <p:nvSpPr>
          <p:cNvPr id="6" name="TextBox 5"/>
          <p:cNvSpPr txBox="1"/>
          <p:nvPr/>
        </p:nvSpPr>
        <p:spPr>
          <a:xfrm>
            <a:off x="594360" y="6030782"/>
            <a:ext cx="10972800" cy="411480"/>
          </a:xfrm>
          <a:prstGeom prst="rect">
            <a:avLst/>
          </a:prstGeom>
          <a:noFill/>
        </p:spPr>
        <p:txBody>
          <a:bodyPr wrap="none">
            <a:spAutoFit/>
          </a:bodyPr>
          <a:lstStyle/>
          <a:p>
            <a:pPr>
              <a:defRPr sz="1200" b="0">
                <a:solidFill>
                  <a:srgbClr val="37474F"/>
                </a:solidFill>
                <a:latin typeface="Calibri"/>
              </a:defRPr>
            </a:pPr>
            <a:r>
              <a:t>Reference UI fields from book — name, description, device type</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Screenshot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Ch.13 step-by-step onboarding · fig:chap13:lrconf</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Lightning-Rod configuration fields (Ch.13)</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Open the LR web UI at http://{{VM_IP}}:1474 and log in with me / arancino.</a:t>
            </a:r>
          </a:p>
          <a:p>
            <a:pPr>
              <a:lnSpc>
                <a:spcPct val="115000"/>
              </a:lnSpc>
              <a:spcAft>
                <a:spcPts val="500"/>
              </a:spcAft>
              <a:defRPr sz="1600" b="0">
                <a:solidFill>
                  <a:srgbClr val="37474F"/>
                </a:solidFill>
                <a:latin typeface="Calibri"/>
              </a:defRPr>
            </a:pPr>
            <a:r>
              <a:t>▸  The WAMP endpoint field must be set to wss://crossbar:8181 — the internal Docker hostname.</a:t>
            </a:r>
          </a:p>
          <a:p>
            <a:pPr>
              <a:lnSpc>
                <a:spcPct val="115000"/>
              </a:lnSpc>
              <a:spcAft>
                <a:spcPts val="500"/>
              </a:spcAft>
              <a:defRPr sz="1600" b="0">
                <a:solidFill>
                  <a:srgbClr val="37474F"/>
                </a:solidFill>
                <a:latin typeface="Calibri"/>
              </a:defRPr>
            </a:pPr>
            <a:r>
              <a:t>▸  Using localhost or {{VM_IP}} in the WAMP field will fail because LR runs inside the s4t network.</a:t>
            </a:r>
          </a:p>
          <a:p>
            <a:pPr>
              <a:lnSpc>
                <a:spcPct val="115000"/>
              </a:lnSpc>
              <a:spcAft>
                <a:spcPts val="500"/>
              </a:spcAft>
              <a:defRPr sz="1600" b="0">
                <a:solidFill>
                  <a:srgbClr val="37474F"/>
                </a:solidFill>
                <a:latin typeface="Calibri"/>
              </a:defRPr>
            </a:pPr>
            <a:r>
              <a:t>▸  Paste the board registration code from Horizon into the designated configuration field.</a:t>
            </a:r>
          </a:p>
          <a:p>
            <a:pPr>
              <a:lnSpc>
                <a:spcPct val="115000"/>
              </a:lnSpc>
              <a:spcAft>
                <a:spcPts val="500"/>
              </a:spcAft>
              <a:defRPr sz="1600" b="0">
                <a:solidFill>
                  <a:srgbClr val="37474F"/>
                </a:solidFill>
                <a:latin typeface="Calibri"/>
              </a:defRPr>
            </a:pPr>
            <a:r>
              <a:t>▸  Click CONFIGURE to persist settings — LR will attempt to connect to Crossbar immediately.</a:t>
            </a:r>
          </a:p>
          <a:p>
            <a:pPr>
              <a:lnSpc>
                <a:spcPct val="115000"/>
              </a:lnSpc>
              <a:spcAft>
                <a:spcPts val="500"/>
              </a:spcAft>
              <a:defRPr sz="1600" b="0">
                <a:solidFill>
                  <a:srgbClr val="37474F"/>
                </a:solidFill>
                <a:latin typeface="Calibri"/>
              </a:defRPr>
            </a:pPr>
            <a:r>
              <a:t>▸  Navigate to the Status page: IoTronic connection must show Connected with Name and UUID populated.</a:t>
            </a:r>
          </a:p>
          <a:p>
            <a:pPr>
              <a:lnSpc>
                <a:spcPct val="115000"/>
              </a:lnSpc>
              <a:spcAft>
                <a:spcPts val="500"/>
              </a:spcAft>
              <a:defRPr sz="1600" b="0">
                <a:solidFill>
                  <a:srgbClr val="37474F"/>
                </a:solidFill>
                <a:latin typeface="Calibri"/>
              </a:defRPr>
            </a:pPr>
            <a:r>
              <a:t>▸  LR credentials (me / arancino) are separate from Horizon credentials (admin / s4t).</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Ch.4 § WAMP registration · Ch.13 § Lightning-Rod configuration</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WAMP session establishment — what happens at CONFIGURE</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Lightning-Rod initiates a WebSocket connection to wss://crossbar:8181 with TLS verification.</a:t>
            </a:r>
          </a:p>
          <a:p>
            <a:pPr>
              <a:lnSpc>
                <a:spcPct val="115000"/>
              </a:lnSpc>
              <a:spcAft>
                <a:spcPts val="500"/>
              </a:spcAft>
              <a:defRPr sz="1600" b="0">
                <a:solidFill>
                  <a:srgbClr val="37474F"/>
                </a:solidFill>
                <a:latin typeface="Calibri"/>
              </a:defRPr>
            </a:pPr>
            <a:r>
              <a:t>▸  LR authenticates to the s4t WAMP realm using the board registration code as credential.</a:t>
            </a:r>
          </a:p>
          <a:p>
            <a:pPr>
              <a:lnSpc>
                <a:spcPct val="115000"/>
              </a:lnSpc>
              <a:spcAft>
                <a:spcPts val="500"/>
              </a:spcAft>
              <a:defRPr sz="1600" b="0">
                <a:solidFill>
                  <a:srgbClr val="37474F"/>
                </a:solidFill>
                <a:latin typeface="Calibri"/>
              </a:defRPr>
            </a:pPr>
            <a:r>
              <a:t>▸  Crossbar accepts the session and LR registers its board procedures under WAMP URIs.</a:t>
            </a:r>
          </a:p>
          <a:p>
            <a:pPr>
              <a:lnSpc>
                <a:spcPct val="115000"/>
              </a:lnSpc>
              <a:spcAft>
                <a:spcPts val="500"/>
              </a:spcAft>
              <a:defRPr sz="1600" b="0">
                <a:solidFill>
                  <a:srgbClr val="37474F"/>
                </a:solidFill>
                <a:latin typeface="Calibri"/>
              </a:defRPr>
            </a:pPr>
            <a:r>
              <a:t>▸  IoTronic WAMP agent is notified via AMQP that a new board session is active.</a:t>
            </a:r>
          </a:p>
          <a:p>
            <a:pPr>
              <a:lnSpc>
                <a:spcPct val="115000"/>
              </a:lnSpc>
              <a:spcAft>
                <a:spcPts val="500"/>
              </a:spcAft>
              <a:defRPr sz="1600" b="0">
                <a:solidFill>
                  <a:srgbClr val="37474F"/>
                </a:solidFill>
                <a:latin typeface="Calibri"/>
              </a:defRPr>
            </a:pPr>
            <a:r>
              <a:t>▸  The Conductor updates the board record in MariaDB from registered to online/Active status.</a:t>
            </a:r>
          </a:p>
          <a:p>
            <a:pPr>
              <a:lnSpc>
                <a:spcPct val="115000"/>
              </a:lnSpc>
              <a:spcAft>
                <a:spcPts val="500"/>
              </a:spcAft>
              <a:defRPr sz="1600" b="0">
                <a:solidFill>
                  <a:srgbClr val="37474F"/>
                </a:solidFill>
                <a:latin typeface="Calibri"/>
              </a:defRPr>
            </a:pPr>
            <a:r>
              <a:t>▸  Horizon Boards panel reflects the status change within seconds of successful WAMP registration.</a:t>
            </a:r>
          </a:p>
          <a:p>
            <a:pPr>
              <a:lnSpc>
                <a:spcPct val="115000"/>
              </a:lnSpc>
              <a:spcAft>
                <a:spcPts val="500"/>
              </a:spcAft>
              <a:defRPr sz="1600" b="0">
                <a:solidFill>
                  <a:srgbClr val="37474F"/>
                </a:solidFill>
                <a:latin typeface="Calibri"/>
              </a:defRPr>
            </a:pPr>
            <a:r>
              <a:t>▸  If connection fails, LR Status shows error details — cross-check WAMP URL and registration code.</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Lightning-Rod — login</a:t>
            </a:r>
          </a:p>
        </p:txBody>
      </p:sp>
      <p:sp>
        <p:nvSpPr>
          <p:cNvPr id="4" name="Rounded Rectangle 3"/>
          <p:cNvSpPr/>
          <p:nvPr/>
        </p:nvSpPr>
        <p:spPr>
          <a:xfrm>
            <a:off x="1667103" y="1298448"/>
            <a:ext cx="885748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r-ui-login.png"/>
          <p:cNvPicPr>
            <a:picLocks noChangeAspect="1"/>
          </p:cNvPicPr>
          <p:nvPr/>
        </p:nvPicPr>
        <p:blipFill>
          <a:blip r:embed="rId2"/>
          <a:stretch>
            <a:fillRect/>
          </a:stretch>
        </p:blipFill>
        <p:spPr>
          <a:xfrm>
            <a:off x="1721967" y="1353312"/>
            <a:ext cx="874776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http://{{VM_IP}}:1474 — me / arancino</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Screenshot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Lightning-Rod — Configuration (live)</a:t>
            </a:r>
          </a:p>
        </p:txBody>
      </p:sp>
      <p:sp>
        <p:nvSpPr>
          <p:cNvPr id="4" name="Rounded Rectangle 3"/>
          <p:cNvSpPr/>
          <p:nvPr/>
        </p:nvSpPr>
        <p:spPr>
          <a:xfrm>
            <a:off x="1667103" y="1298448"/>
            <a:ext cx="885748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r-dashboard-conf.png"/>
          <p:cNvPicPr>
            <a:picLocks noChangeAspect="1"/>
          </p:cNvPicPr>
          <p:nvPr/>
        </p:nvPicPr>
        <p:blipFill>
          <a:blip r:embed="rId2"/>
          <a:stretch>
            <a:fillRect/>
          </a:stretch>
        </p:blipFill>
        <p:spPr>
          <a:xfrm>
            <a:off x="1721967" y="1353312"/>
            <a:ext cx="874776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Registration code + WAMP endpoint wss://crossbar:8181 — configure before Status check</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Screenshot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Configure Lightning-Rod</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Open http://{{VM_IP}}:1474 — login me / arancino</a:t>
            </a:r>
          </a:p>
          <a:p>
            <a:pPr>
              <a:lnSpc>
                <a:spcPct val="115000"/>
              </a:lnSpc>
              <a:spcAft>
                <a:spcPts val="800"/>
              </a:spcAft>
              <a:defRPr sz="1900" b="0">
                <a:solidFill>
                  <a:srgbClr val="37474F"/>
                </a:solidFill>
                <a:latin typeface="Calibri"/>
              </a:defRPr>
            </a:pPr>
            <a:r>
              <a:t>▸  WAMP field: wss://crossbar:8181</a:t>
            </a:r>
          </a:p>
          <a:p>
            <a:pPr>
              <a:lnSpc>
                <a:spcPct val="115000"/>
              </a:lnSpc>
              <a:spcAft>
                <a:spcPts val="800"/>
              </a:spcAft>
              <a:defRPr sz="1900" b="0">
                <a:solidFill>
                  <a:srgbClr val="37474F"/>
                </a:solidFill>
                <a:latin typeface="Calibri"/>
              </a:defRPr>
            </a:pPr>
            <a:r>
              <a:t>▸  Paste board registration code from Horizon → click CONFIGURE</a:t>
            </a:r>
          </a:p>
          <a:p>
            <a:pPr>
              <a:lnSpc>
                <a:spcPct val="115000"/>
              </a:lnSpc>
              <a:spcAft>
                <a:spcPts val="800"/>
              </a:spcAft>
              <a:defRPr sz="1900" b="0">
                <a:solidFill>
                  <a:srgbClr val="37474F"/>
                </a:solidFill>
                <a:latin typeface="Calibri"/>
              </a:defRPr>
            </a:pPr>
            <a:r>
              <a:t>▸  Verify Status page: Connected + board Name and UUID populated</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Book figure — LR configuration (Ch.13)</a:t>
            </a:r>
          </a:p>
        </p:txBody>
      </p:sp>
      <p:sp>
        <p:nvSpPr>
          <p:cNvPr id="4" name="Rounded Rectangle 3"/>
          <p:cNvSpPr/>
          <p:nvPr/>
        </p:nvSpPr>
        <p:spPr>
          <a:xfrm>
            <a:off x="280263" y="1298448"/>
            <a:ext cx="11631167" cy="4595174"/>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shot-lr-conf.png"/>
          <p:cNvPicPr>
            <a:picLocks noChangeAspect="1"/>
          </p:cNvPicPr>
          <p:nvPr/>
        </p:nvPicPr>
        <p:blipFill>
          <a:blip r:embed="rId2"/>
          <a:stretch>
            <a:fillRect/>
          </a:stretch>
        </p:blipFill>
        <p:spPr>
          <a:xfrm>
            <a:off x="335127" y="1353312"/>
            <a:ext cx="11521440" cy="4485446"/>
          </a:xfrm>
          <a:prstGeom prst="rect">
            <a:avLst/>
          </a:prstGeom>
        </p:spPr>
      </p:pic>
      <p:sp>
        <p:nvSpPr>
          <p:cNvPr id="6" name="TextBox 5"/>
          <p:cNvSpPr txBox="1"/>
          <p:nvPr/>
        </p:nvSpPr>
        <p:spPr>
          <a:xfrm>
            <a:off x="594360" y="6030782"/>
            <a:ext cx="10972800" cy="411480"/>
          </a:xfrm>
          <a:prstGeom prst="rect">
            <a:avLst/>
          </a:prstGeom>
          <a:noFill/>
        </p:spPr>
        <p:txBody>
          <a:bodyPr wrap="none">
            <a:spAutoFit/>
          </a:bodyPr>
          <a:lstStyle/>
          <a:p>
            <a:pPr>
              <a:defRPr sz="1200" b="0">
                <a:solidFill>
                  <a:srgbClr val="37474F"/>
                </a:solidFill>
                <a:latin typeface="Calibri"/>
              </a:defRPr>
            </a:pPr>
            <a:r>
              <a:t>Book reference for WAMP endpoint and board registration code fields</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Screenshot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Lightning-Rod — Status dashboard</a:t>
            </a:r>
          </a:p>
        </p:txBody>
      </p:sp>
      <p:sp>
        <p:nvSpPr>
          <p:cNvPr id="4" name="Rounded Rectangle 3"/>
          <p:cNvSpPr/>
          <p:nvPr/>
        </p:nvSpPr>
        <p:spPr>
          <a:xfrm>
            <a:off x="1667103" y="1298448"/>
            <a:ext cx="885748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r-dashboard-status.png"/>
          <p:cNvPicPr>
            <a:picLocks noChangeAspect="1"/>
          </p:cNvPicPr>
          <p:nvPr/>
        </p:nvPicPr>
        <p:blipFill>
          <a:blip r:embed="rId2"/>
          <a:stretch>
            <a:fillRect/>
          </a:stretch>
        </p:blipFill>
        <p:spPr>
          <a:xfrm>
            <a:off x="1721967" y="1353312"/>
            <a:ext cx="874776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Connected board — mandatory gate before Module B</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Screenshot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Confirm Active board</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Horizon → IoT → Boards → your board row shows Active/online status</a:t>
            </a:r>
          </a:p>
          <a:p>
            <a:pPr>
              <a:lnSpc>
                <a:spcPct val="115000"/>
              </a:lnSpc>
              <a:spcAft>
                <a:spcPts val="800"/>
              </a:spcAft>
              <a:defRPr sz="1900" b="0">
                <a:solidFill>
                  <a:srgbClr val="37474F"/>
                </a:solidFill>
                <a:latin typeface="Calibri"/>
              </a:defRPr>
            </a:pPr>
            <a:r>
              <a:t>▸  LR Status: IoTronic connection Connected, Name and UUID populated</a:t>
            </a:r>
          </a:p>
          <a:p>
            <a:pPr>
              <a:lnSpc>
                <a:spcPct val="115000"/>
              </a:lnSpc>
              <a:spcAft>
                <a:spcPts val="800"/>
              </a:spcAft>
              <a:defRPr sz="1900" b="0">
                <a:solidFill>
                  <a:srgbClr val="37474F"/>
                </a:solidFill>
                <a:latin typeface="Calibri"/>
              </a:defRPr>
            </a:pPr>
            <a:r>
              <a:t>▸  Take screenshot — mandatory deliverable before Module B</a:t>
            </a:r>
          </a:p>
          <a:p>
            <a:pPr>
              <a:lnSpc>
                <a:spcPct val="115000"/>
              </a:lnSpc>
              <a:spcAft>
                <a:spcPts val="800"/>
              </a:spcAft>
              <a:defRPr sz="1900" b="0">
                <a:solidFill>
                  <a:srgbClr val="37474F"/>
                </a:solidFill>
                <a:latin typeface="Calibri"/>
              </a:defRPr>
            </a:pPr>
            <a:r>
              <a:t>▸  Run: cd training &amp;&amp; ./validate-lab.sh</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Book figure — board info Active (Ch.13)</a:t>
            </a:r>
          </a:p>
        </p:txBody>
      </p:sp>
      <p:sp>
        <p:nvSpPr>
          <p:cNvPr id="4" name="Rounded Rectangle 3"/>
          <p:cNvSpPr/>
          <p:nvPr/>
        </p:nvSpPr>
        <p:spPr>
          <a:xfrm>
            <a:off x="280263" y="1298448"/>
            <a:ext cx="11631167" cy="555153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shot-board-info.png"/>
          <p:cNvPicPr>
            <a:picLocks noChangeAspect="1"/>
          </p:cNvPicPr>
          <p:nvPr/>
        </p:nvPicPr>
        <p:blipFill>
          <a:blip r:embed="rId2"/>
          <a:stretch>
            <a:fillRect/>
          </a:stretch>
        </p:blipFill>
        <p:spPr>
          <a:xfrm>
            <a:off x="335127" y="1353312"/>
            <a:ext cx="11521440" cy="5441810"/>
          </a:xfrm>
          <a:prstGeom prst="rect">
            <a:avLst/>
          </a:prstGeom>
        </p:spPr>
      </p:pic>
      <p:sp>
        <p:nvSpPr>
          <p:cNvPr id="6" name="TextBox 5"/>
          <p:cNvSpPr txBox="1"/>
          <p:nvPr/>
        </p:nvSpPr>
        <p:spPr>
          <a:xfrm>
            <a:off x="594360" y="6987146"/>
            <a:ext cx="10972800" cy="411480"/>
          </a:xfrm>
          <a:prstGeom prst="rect">
            <a:avLst/>
          </a:prstGeom>
          <a:noFill/>
        </p:spPr>
        <p:txBody>
          <a:bodyPr wrap="none">
            <a:spAutoFit/>
          </a:bodyPr>
          <a:lstStyle/>
          <a:p>
            <a:pPr>
              <a:defRPr sz="1200" b="0">
                <a:solidFill>
                  <a:srgbClr val="37474F"/>
                </a:solidFill>
                <a:latin typeface="Calibri"/>
              </a:defRPr>
            </a:pPr>
            <a:r>
              <a:t>Target end state for Module A — board details with Active status</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Screenshot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Ch.13 § Volumes</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Persistent volumes — data survival across restarts (Ch.13)</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unime_iotronic_db_data stores MariaDB content: board registrations, users, plugins, services.</a:t>
            </a:r>
          </a:p>
          <a:p>
            <a:pPr>
              <a:lnSpc>
                <a:spcPct val="115000"/>
              </a:lnSpc>
              <a:spcAft>
                <a:spcPts val="500"/>
              </a:spcAft>
              <a:defRPr sz="1600" b="0">
                <a:solidFill>
                  <a:srgbClr val="37474F"/>
                </a:solidFill>
                <a:latin typeface="Calibri"/>
              </a:defRPr>
            </a:pPr>
            <a:r>
              <a:t>▸  iotronic_ssl holds CA-generated TLS certificates used by Crossbar, WSTUN, and other secure services.</a:t>
            </a:r>
          </a:p>
          <a:p>
            <a:pPr>
              <a:lnSpc>
                <a:spcPct val="115000"/>
              </a:lnSpc>
              <a:spcAft>
                <a:spcPts val="500"/>
              </a:spcAft>
              <a:defRPr sz="1600" b="0">
                <a:solidFill>
                  <a:srgbClr val="37474F"/>
                </a:solidFill>
                <a:latin typeface="Calibri"/>
              </a:defRPr>
            </a:pPr>
            <a:r>
              <a:t>▸  iotronic_logs and iotronic-ui_logs capture audit trails from Conductor and Horizon for troubleshooting.</a:t>
            </a:r>
          </a:p>
          <a:p>
            <a:pPr>
              <a:lnSpc>
                <a:spcPct val="115000"/>
              </a:lnSpc>
              <a:spcAft>
                <a:spcPts val="500"/>
              </a:spcAft>
              <a:defRPr sz="1600" b="0">
                <a:solidFill>
                  <a:srgbClr val="37474F"/>
                </a:solidFill>
                <a:latin typeface="Calibri"/>
              </a:defRPr>
            </a:pPr>
            <a:r>
              <a:t>▸  lr_data, lr_var, lr_confs volumes persist Lightning-Rod configuration and plugin state across restarts.</a:t>
            </a:r>
          </a:p>
          <a:p>
            <a:pPr>
              <a:lnSpc>
                <a:spcPct val="115000"/>
              </a:lnSpc>
              <a:spcAft>
                <a:spcPts val="500"/>
              </a:spcAft>
              <a:defRPr sz="1600" b="0">
                <a:solidFill>
                  <a:srgbClr val="37474F"/>
                </a:solidFill>
                <a:latin typeface="Calibri"/>
              </a:defRPr>
            </a:pPr>
            <a:r>
              <a:t>▸  docker compose down stops containers but preserves volumes — board data survives a simple restart.</a:t>
            </a:r>
          </a:p>
          <a:p>
            <a:pPr>
              <a:lnSpc>
                <a:spcPct val="115000"/>
              </a:lnSpc>
              <a:spcAft>
                <a:spcPts val="500"/>
              </a:spcAft>
              <a:defRPr sz="1600" b="0">
                <a:solidFill>
                  <a:srgbClr val="37474F"/>
                </a:solidFill>
                <a:latin typeface="Calibri"/>
              </a:defRPr>
            </a:pPr>
            <a:r>
              <a:t>▸  docker compose down -v wipes ALL volumes — full re-onboarding required, including new board registration.</a:t>
            </a:r>
          </a:p>
          <a:p>
            <a:pPr>
              <a:lnSpc>
                <a:spcPct val="115000"/>
              </a:lnSpc>
              <a:spcAft>
                <a:spcPts val="500"/>
              </a:spcAft>
              <a:defRPr sz="1600" b="0">
                <a:solidFill>
                  <a:srgbClr val="37474F"/>
                </a:solidFill>
                <a:latin typeface="Calibri"/>
              </a:defRPr>
            </a:pPr>
            <a:r>
              <a:t>▸  Volumes are defined in docker-compose.yml and automatically managed by Docker.</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Ch.13 § Networking · § Configuration summary</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Networking, ports, and environment variables (Ch.13)</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All containers share the s4t user-defined bridge network with embedded DNS hostname resolution.</a:t>
            </a:r>
          </a:p>
          <a:p>
            <a:pPr>
              <a:lnSpc>
                <a:spcPct val="115000"/>
              </a:lnSpc>
              <a:spcAft>
                <a:spcPts val="500"/>
              </a:spcAft>
              <a:defRPr sz="1600" b="0">
                <a:solidFill>
                  <a:srgbClr val="37474F"/>
                </a:solidFill>
                <a:latin typeface="Calibri"/>
              </a:defRPr>
            </a:pPr>
            <a:r>
              <a:t>▸  Host port mappings expose services to the training VM: 80 (Horizon), 8812 (API), 1474 (LR), 8181 (Crossbar).</a:t>
            </a:r>
          </a:p>
          <a:p>
            <a:pPr>
              <a:lnSpc>
                <a:spcPct val="115000"/>
              </a:lnSpc>
              <a:spcAft>
                <a:spcPts val="500"/>
              </a:spcAft>
              <a:defRPr sz="1600" b="0">
                <a:solidFill>
                  <a:srgbClr val="37474F"/>
                </a:solidFill>
                <a:latin typeface="Calibri"/>
              </a:defRPr>
            </a:pPr>
            <a:r>
              <a:t>▸  Environment variables control service behaviour: DB passwords, Keystone URLs, auth strategy.</a:t>
            </a:r>
          </a:p>
          <a:p>
            <a:pPr>
              <a:lnSpc>
                <a:spcPct val="115000"/>
              </a:lnSpc>
              <a:spcAft>
                <a:spcPts val="500"/>
              </a:spcAft>
              <a:defRPr sz="1600" b="0">
                <a:solidFill>
                  <a:srgbClr val="37474F"/>
                </a:solidFill>
                <a:latin typeface="Calibri"/>
              </a:defRPr>
            </a:pPr>
            <a:r>
              <a:t>▸  Variables can be set inline in docker-compose.yml, in .env file, or as Docker secrets for production.</a:t>
            </a:r>
          </a:p>
          <a:p>
            <a:pPr>
              <a:lnSpc>
                <a:spcPct val="115000"/>
              </a:lnSpc>
              <a:spcAft>
                <a:spcPts val="500"/>
              </a:spcAft>
              <a:defRPr sz="1600" b="0">
                <a:solidFill>
                  <a:srgbClr val="37474F"/>
                </a:solidFill>
                <a:latin typeface="Calibri"/>
              </a:defRPr>
            </a:pPr>
            <a:r>
              <a:t>▸  This single-host configuration is designed for development, testing, and demonstration only.</a:t>
            </a:r>
          </a:p>
          <a:p>
            <a:pPr>
              <a:lnSpc>
                <a:spcPct val="115000"/>
              </a:lnSpc>
              <a:spcAft>
                <a:spcPts val="500"/>
              </a:spcAft>
              <a:defRPr sz="1600" b="0">
                <a:solidFill>
                  <a:srgbClr val="37474F"/>
                </a:solidFill>
                <a:latin typeface="Calibri"/>
              </a:defRPr>
            </a:pPr>
            <a:r>
              <a:t>▸  Distributed multi-host deployment requires additional networking and security configuration (Ch.11).</a:t>
            </a:r>
          </a:p>
          <a:p>
            <a:pPr>
              <a:lnSpc>
                <a:spcPct val="115000"/>
              </a:lnSpc>
              <a:spcAft>
                <a:spcPts val="500"/>
              </a:spcAft>
              <a:defRPr sz="1600" b="0">
                <a:solidFill>
                  <a:srgbClr val="37474F"/>
                </a:solidFill>
                <a:latin typeface="Calibri"/>
              </a:defRPr>
            </a:pPr>
            <a:r>
              <a:t>▸  The book's configuration summary table lists all default ports and roles for reference.</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Troubleshooting</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Common first-boot and onboarding issues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Troubleshooting — infrastructure services</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Crossbar restart loop → inspect ca_service: docker compose logs ca_service; wait for iotronic_ssl certs.</a:t>
            </a:r>
          </a:p>
          <a:p>
            <a:pPr>
              <a:lnSpc>
                <a:spcPct val="115000"/>
              </a:lnSpc>
              <a:spcAft>
                <a:spcPts val="800"/>
              </a:spcAft>
              <a:defRPr sz="1900" b="0">
                <a:solidFill>
                  <a:srgbClr val="37474F"/>
                </a:solidFill>
                <a:latin typeface="Calibri"/>
              </a:defRPr>
            </a:pPr>
            <a:r>
              <a:t>▸  MariaDB not ready → wait for iotronic-db (healthy); Conductor will not start without it.</a:t>
            </a:r>
          </a:p>
          <a:p>
            <a:pPr>
              <a:lnSpc>
                <a:spcPct val="115000"/>
              </a:lnSpc>
              <a:spcAft>
                <a:spcPts val="800"/>
              </a:spcAft>
              <a:defRPr sz="1900" b="0">
                <a:solidFill>
                  <a:srgbClr val="37474F"/>
                </a:solidFill>
                <a:latin typeface="Calibri"/>
              </a:defRPr>
            </a:pPr>
            <a:r>
              <a:t>▸  RabbitMQ connection refused → check rabbitmq healthcheck; restart with docker compose restart rabbitmq.</a:t>
            </a:r>
          </a:p>
          <a:p>
            <a:pPr>
              <a:lnSpc>
                <a:spcPct val="115000"/>
              </a:lnSpc>
              <a:spcAft>
                <a:spcPts val="800"/>
              </a:spcAft>
              <a:defRPr sz="1900" b="0">
                <a:solidFill>
                  <a:srgbClr val="37474F"/>
                </a:solidFill>
                <a:latin typeface="Calibri"/>
              </a:defRPr>
            </a:pPr>
            <a:r>
              <a:t>▸  Keystone auth failure → verify keystone container running; check iotronic.conf auth_strategy=keystone.</a:t>
            </a:r>
          </a:p>
          <a:p>
            <a:pPr>
              <a:lnSpc>
                <a:spcPct val="115000"/>
              </a:lnSpc>
              <a:spcAft>
                <a:spcPts val="800"/>
              </a:spcAft>
              <a:defRPr sz="1900" b="0">
                <a:solidFill>
                  <a:srgbClr val="37474F"/>
                </a:solidFill>
                <a:latin typeface="Calibri"/>
              </a:defRPr>
            </a:pPr>
            <a:r>
              <a:t>▸  Conductor unhealthy → docker compose logs iotronic-conductor; often a downstream dependency not ready.</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Troubleshooting — edge agent and ports</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Port 80 or 8812 busy → ss -tlnp | grep ':80\|:8812' — stop conflicting host services.</a:t>
            </a:r>
          </a:p>
          <a:p>
            <a:pPr>
              <a:lnSpc>
                <a:spcPct val="115000"/>
              </a:lnSpc>
              <a:spcAft>
                <a:spcPts val="800"/>
              </a:spcAft>
              <a:defRPr sz="1900" b="0">
                <a:solidFill>
                  <a:srgbClr val="37474F"/>
                </a:solidFill>
                <a:latin typeface="Calibri"/>
              </a:defRPr>
            </a:pPr>
            <a:r>
              <a:t>▸  LR image pull error → confirm lab overlay uses mdslab/lrod:compose, not broken upstream SHA.</a:t>
            </a:r>
          </a:p>
          <a:p>
            <a:pPr>
              <a:lnSpc>
                <a:spcPct val="115000"/>
              </a:lnSpc>
              <a:spcAft>
                <a:spcPts val="800"/>
              </a:spcAft>
              <a:defRPr sz="1900" b="0">
                <a:solidFill>
                  <a:srgbClr val="37474F"/>
                </a:solidFill>
                <a:latin typeface="Calibri"/>
              </a:defRPr>
            </a:pPr>
            <a:r>
              <a:t>▸  LR WAMP connection failed → verify wss://crossbar:8181 (not localhost); check Crossbar is healthy.</a:t>
            </a:r>
          </a:p>
          <a:p>
            <a:pPr>
              <a:lnSpc>
                <a:spcPct val="115000"/>
              </a:lnSpc>
              <a:spcAft>
                <a:spcPts val="800"/>
              </a:spcAft>
              <a:defRPr sz="1900" b="0">
                <a:solidFill>
                  <a:srgbClr val="37474F"/>
                </a:solidFill>
                <a:latin typeface="Calibri"/>
              </a:defRPr>
            </a:pPr>
            <a:r>
              <a:t>▸  Board stays registered but not Active → re-paste registration code; restart LR: docker compose restart lightning-rod.</a:t>
            </a:r>
          </a:p>
          <a:p>
            <a:pPr>
              <a:lnSpc>
                <a:spcPct val="115000"/>
              </a:lnSpc>
              <a:spcAft>
                <a:spcPts val="800"/>
              </a:spcAft>
              <a:defRPr sz="1900" b="0">
                <a:solidFill>
                  <a:srgbClr val="37474F"/>
                </a:solidFill>
                <a:latin typeface="Calibri"/>
              </a:defRPr>
            </a:pPr>
            <a:r>
              <a:t>▸  Horizon 404 on /horizon/iot/boards/ → use correct path /horizon/iot/ instead.</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8E1"/>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868680" cy="310896"/>
          </a:xfrm>
          <a:prstGeom prst="round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DEMO</a:t>
            </a:r>
          </a:p>
        </p:txBody>
      </p:sp>
      <p:sp>
        <p:nvSpPr>
          <p:cNvPr id="4" name="TextBox 3"/>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Module A deliverable — what you submit</a:t>
            </a:r>
          </a:p>
        </p:txBody>
      </p:sp>
      <p:sp>
        <p:nvSpPr>
          <p:cNvPr id="5" name="Rounded Rectangle 4"/>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Screenshot of Horizon Boards panel showing your board in Active/online state.</a:t>
            </a:r>
          </a:p>
          <a:p>
            <a:pPr>
              <a:lnSpc>
                <a:spcPct val="115000"/>
              </a:lnSpc>
              <a:spcAft>
                <a:spcPts val="500"/>
              </a:spcAft>
              <a:defRPr sz="1600" b="0">
                <a:solidFill>
                  <a:srgbClr val="37474F"/>
                </a:solidFill>
                <a:latin typeface="Calibri"/>
              </a:defRPr>
            </a:pPr>
            <a:r>
              <a:t>▸  Terminal output of curl returning HTTP 200 from http://{{VM_IP}}:8812/.</a:t>
            </a:r>
          </a:p>
          <a:p>
            <a:pPr>
              <a:lnSpc>
                <a:spcPct val="115000"/>
              </a:lnSpc>
              <a:spcAft>
                <a:spcPts val="500"/>
              </a:spcAft>
              <a:defRPr sz="1600" b="0">
                <a:solidFill>
                  <a:srgbClr val="37474F"/>
                </a:solidFill>
                <a:latin typeface="Calibri"/>
              </a:defRPr>
            </a:pPr>
            <a:r>
              <a:t>▸  Confirmation that LR Status page shows Connected with correct board UUID.</a:t>
            </a:r>
          </a:p>
          <a:p>
            <a:pPr>
              <a:lnSpc>
                <a:spcPct val="115000"/>
              </a:lnSpc>
              <a:spcAft>
                <a:spcPts val="500"/>
              </a:spcAft>
              <a:defRPr sz="1600" b="0">
                <a:solidFill>
                  <a:srgbClr val="37474F"/>
                </a:solidFill>
                <a:latin typeface="Calibri"/>
              </a:defRPr>
            </a:pPr>
            <a:r>
              <a:t>▸  Successful run of training/validate-lab.sh with no FAIL lines.</a:t>
            </a:r>
          </a:p>
          <a:p>
            <a:pPr>
              <a:lnSpc>
                <a:spcPct val="115000"/>
              </a:lnSpc>
              <a:spcAft>
                <a:spcPts val="500"/>
              </a:spcAft>
              <a:defRPr sz="1600" b="0">
                <a:solidFill>
                  <a:srgbClr val="37474F"/>
                </a:solidFill>
                <a:latin typeface="Calibri"/>
              </a:defRPr>
            </a:pPr>
            <a:r>
              <a:t>▸  This deliverable unlocks Module B: synchronous HelloName plugin injection (Ch.14).</a:t>
            </a:r>
          </a:p>
          <a:p>
            <a:pPr>
              <a:lnSpc>
                <a:spcPct val="115000"/>
              </a:lnSpc>
              <a:spcAft>
                <a:spcPts val="500"/>
              </a:spcAft>
              <a:defRPr sz="1600" b="0">
                <a:solidFill>
                  <a:srgbClr val="37474F"/>
                </a:solidFill>
                <a:latin typeface="Calibri"/>
              </a:defRPr>
            </a:pPr>
            <a:r>
              <a:t>▸  Keep the stack running between modules — docker compose down stops all services.</a:t>
            </a:r>
          </a:p>
          <a:p>
            <a:pPr>
              <a:lnSpc>
                <a:spcPct val="115000"/>
              </a:lnSpc>
              <a:spcAft>
                <a:spcPts val="500"/>
              </a:spcAft>
              <a:defRPr sz="1600" b="0">
                <a:solidFill>
                  <a:srgbClr val="37474F"/>
                </a:solidFill>
                <a:latin typeface="Calibri"/>
              </a:defRPr>
            </a:pPr>
            <a:r>
              <a:t>▸  If you must restart, volumes preserve board data; LR reconnects automatically if already configured.</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Demo</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Module A checklist &amp; handoff to Module B</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 curl http://{{VM_IP}}:8812/ returns 200</a:t>
            </a:r>
          </a:p>
          <a:p>
            <a:pPr>
              <a:lnSpc>
                <a:spcPct val="115000"/>
              </a:lnSpc>
              <a:spcAft>
                <a:spcPts val="800"/>
              </a:spcAft>
              <a:defRPr sz="1900" b="0">
                <a:solidFill>
                  <a:srgbClr val="37474F"/>
                </a:solidFill>
                <a:latin typeface="Calibri"/>
              </a:defRPr>
            </a:pPr>
            <a:r>
              <a:t>▸  □ Horizon login OK at http://{{VM_IP}}/horizon (admin / s4t)</a:t>
            </a:r>
          </a:p>
          <a:p>
            <a:pPr>
              <a:lnSpc>
                <a:spcPct val="115000"/>
              </a:lnSpc>
              <a:spcAft>
                <a:spcPts val="800"/>
              </a:spcAft>
              <a:defRPr sz="1900" b="0">
                <a:solidFill>
                  <a:srgbClr val="37474F"/>
                </a:solidFill>
                <a:latin typeface="Calibri"/>
              </a:defRPr>
            </a:pPr>
            <a:r>
              <a:t>▸  □ LR login OK at http://{{VM_IP}}:1474 (me / arancino)</a:t>
            </a:r>
          </a:p>
          <a:p>
            <a:pPr>
              <a:lnSpc>
                <a:spcPct val="115000"/>
              </a:lnSpc>
              <a:spcAft>
                <a:spcPts val="800"/>
              </a:spcAft>
              <a:defRPr sz="1900" b="0">
                <a:solidFill>
                  <a:srgbClr val="37474F"/>
                </a:solidFill>
                <a:latin typeface="Calibri"/>
              </a:defRPr>
            </a:pPr>
            <a:r>
              <a:t>▸  □ Board Active in Horizon — screenshot saved</a:t>
            </a:r>
          </a:p>
          <a:p>
            <a:pPr>
              <a:lnSpc>
                <a:spcPct val="115000"/>
              </a:lnSpc>
              <a:spcAft>
                <a:spcPts val="800"/>
              </a:spcAft>
              <a:defRPr sz="1900" b="0">
                <a:solidFill>
                  <a:srgbClr val="37474F"/>
                </a:solidFill>
                <a:latin typeface="Calibri"/>
              </a:defRPr>
            </a:pPr>
            <a:r>
              <a:t>▸  Next: Module B — Plugins &amp; Services (Ch.14) · ./training/validate-lab.sh</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