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In this module we will work through Stack4Things Plugins &amp; Edge Services.</a:t>
            </a:r>
          </a:p>
          <a:p/>
          <a:p>
            <a:r>
              <a:t>Module B — IoTronic Plugins &amp; Services · Ch.14 Lab VM: {{VM_IP}}</a:t>
            </a:r>
          </a:p>
          <a:p/>
          <a:p>
            <a:r>
              <a:t>The session alternates theory from the book with live exercises on the Stack4Things lab VM. Replace the placeholder IP with the address of the machine you are using.</a:t>
            </a:r>
          </a:p>
          <a:p/>
          <a:p>
            <a:r>
              <a:t>Assembling Smart CPS · Part II.</a:t>
            </a:r>
          </a:p>
          <a:p/>
          <a:p>
            <a:r>
              <a:t>When you're ready, advance to the first section.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Chapter 14 overview. Plugins · Fleet · Web services.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What Chapter 14 covers (abstract). This material is covered in Ch.14 abstract · Stack4Things Services.</a:t>
            </a:r>
          </a:p>
          <a:p/>
          <a:p>
            <a:r>
              <a:t>First, Chapter 14 examines how Stack4Things injects customized business logic directly into remote IoT nodes at the network edge. Next, Plugins are modular, extensible units orchestrated by the Lightning-Rod agent on each board.</a:t>
            </a:r>
          </a:p>
          <a:p/>
          <a:p>
            <a:r>
              <a:t>By contrast, The chapter distinguishes synchronous on-demand execution from asynchronous continuous background operation. We should also consider that Fleet management treats heterogeneous devices as coordinated logical groups for bulk operations.</a:t>
            </a:r>
          </a:p>
          <a:p/>
          <a:p>
            <a:r>
              <a:t>Another key point is that Web services integration exposes board HTTP endpoints over the public Web without manual port forwarding. Furthermore, Together these capabilities turn passive edge nodes into programmable, remotely managed cyber-physical assets.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Prerequisites, objectives &amp; deliverables.</a:t>
            </a:r>
          </a:p>
          <a:p/>
          <a:p>
            <a:r>
              <a:t>First, Requires Module A complete — board must show Active in Horizon before any plugin demo. Next, Create a synchronous HelloName plugin using the standard Python Worker class template.</a:t>
            </a:r>
          </a:p>
          <a:p/>
          <a:p>
            <a:r>
              <a:t>By contrast, Inject the plugin on the Active board and invoke it via Plugin Call from Horizon. We should also consider that Verify the greeting in the Horizon result panel and in Lightning-Rod oslo_log output.</a:t>
            </a:r>
          </a:p>
          <a:p/>
          <a:p>
            <a:r>
              <a:t>Another key point is that regarding optional deliverable, docker run alpine JSON result with container id and short_logs. Furthermore, regarding horizon login, admin / s4t · LR UI: http://{{VM_IP}}:1474 (me / arancino).</a:t>
            </a:r>
          </a:p>
          <a:p/>
          <a:p>
            <a:r>
              <a:t>If these objectives are clear, we can proceed.</a:t>
            </a:r>
          </a:p>
          <a:p/>
          <a:p>
            <a:r>
              <a:t>Session timing — Module B — 60-minute 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Plugin theory — motivation. Why edge logic matters in S4T.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Why plugins? — extending the edge (Ch.14 §14.1). This material is covered in Ch.14 §14.1 · Plugins in Stack4Things.</a:t>
            </a:r>
          </a:p>
          <a:p/>
          <a:p>
            <a:r>
              <a:t>First, Traditional firmware updates require physical access or costly over-the-air reflashing of each device. Next, Stack4Things plugins encapsulate sensing, actuation, local compute, or protocol forwarding as deployable Python modules.</a:t>
            </a:r>
          </a:p>
          <a:p/>
          <a:p>
            <a:r>
              <a:t>By contrast, Operators upload plugin source to the IoTronic repository and inject it onto one board or an entire fleet remotely. We should also consider that Plugin logic executes inside Lightning-Rod on the board, close to sensors and actuators where latency is lowest.</a:t>
            </a:r>
          </a:p>
          <a:p/>
          <a:p>
            <a:r>
              <a:t>Another key point is that The model bridges low-level hardware control on the edge and high-level cloud orchestration through IoTronic APIs. Furthermore, Domain-specific behavior — environmental monitoring, container management, K3s join — becomes software-defined infrastructure.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Plugin-based architecture — separation of concerns. This material is covered in Ch.14 · plugin management model · Ch.4 I/Ocloud.</a:t>
            </a:r>
          </a:p>
          <a:p/>
          <a:p>
            <a:r>
              <a:t>First, IoTronic holds the plugin repository, metadata, injection state, and REST/Horizon management APIs in the cloud. Next, Lightning-Rod loads the Worker class, passes runtime parameters, and supervises execution on the edge node.</a:t>
            </a:r>
          </a:p>
          <a:p/>
          <a:p>
            <a:r>
              <a:t>By contrast, regarding each plugin is an independent unit, deploy, update, interrupt, or remove without restarting the full LR agent. We should also consider that Callable flag in Horizon marks synchronous plugins; non-callable plugins run as long-lived background workers.</a:t>
            </a:r>
          </a:p>
          <a:p/>
          <a:p>
            <a:r>
              <a:t>Another key point is that Results flow back through q_result queues to IoTronic, where Horizon and REST consumers read them. Furthermore, This mirrors the I/Ocloud idea from Chapter 4 — physical capability exposed as a remotely invocable function.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Lightning-Rod Plugin Manager runtime. This material is covered in Ch.14 · lst:plugin-skeleton · Plugin Manager.</a:t>
            </a:r>
          </a:p>
          <a:p/>
          <a:p>
            <a:r>
              <a:t>First, The Plugin Manager on each board loads the Python Worker subclass into an isolated execution context. Next, regarding constructor signature is fixed, __init__(self, uuid, name, q_result, params=None) calling super on Plugin.Plugin.</a:t>
            </a:r>
          </a:p>
          <a:p/>
          <a:p>
            <a:r>
              <a:t>By contrast, Self.params carries the JSON dict from a Plugin Call in synchronous mode or startup configuration in async mode. We should also consider that Self.q_result is a queue where run() puts return values that IoTronic forwards to the cloud caller or dashboard.</a:t>
            </a:r>
          </a:p>
          <a:p/>
          <a:p>
            <a:r>
              <a:t>Another key point is that Execution modes include callable (sync on demand), onboot (start when LR starts), and periodic (scheduled intervals). Furthermore, The run() method is the single entry point — all plugin business logic lives inside it or methods it calls.</a:t>
            </a:r>
          </a:p>
          <a:p/>
          <a:p>
            <a:r>
              <a:t>In addition, LR 0.4.17 requires the Python class to be named Worker regardless of the display name shown in Horizon.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Asynchronous plugins. Continuous edge workloads · Ch.14 §14.1.1.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Asynchronous plugins — purpose and pipeline (Ch.14 §14.1.1). This material is covered in Ch.14 §14.1.1 · asynchronous plugins.</a:t>
            </a:r>
          </a:p>
          <a:p/>
          <a:p>
            <a:r>
              <a:t>First, Asynchronous plugins run continuously or at fixed intervals without an explicit cloud trigger for each iteration. Next, They remain active in the background until an operator sends Stop or Interrupt from IoTronic or Horizon.</a:t>
            </a:r>
          </a:p>
          <a:p/>
          <a:p>
            <a:r>
              <a:t>By contrast, regarding the canonical pipeline is, lightning-Rod, then Sensor Plugin, then Database, then Visualization dashboard. We should also consider that Environmental monitoring, weather stations, and air-quality streams are the primary motivating use cases.</a:t>
            </a:r>
          </a:p>
          <a:p/>
          <a:p>
            <a:r>
              <a:t>Another key point is that Module C (Chapter 15) deploys the environmental_data async publisher writing CSV rows to InfluxDB every 30 seconds. Furthermore, Async plugins use while self._is_running loops with time.sleep intervals between acquisition cycles.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Asynchronous plugins — weather station example. This material is covered in Ch.14 · weather station async listing.</a:t>
            </a:r>
          </a:p>
          <a:p/>
          <a:p>
            <a:r>
              <a:t>First, The book's weather station plugin reads temperature, humidity, and barometric pressure from board sensors every 60 seconds. Next, Each reading is timestamped, optionally enriched with device metadata, and written to a local or remote time-series store.</a:t>
            </a:r>
          </a:p>
          <a:p/>
          <a:p>
            <a:r>
              <a:t>By contrast, Grafana or CKAN portals consume the stored series for operator dashboards and open-data publication. We should also consider that Because the plugin runs autonomously, network interruptions can be handled with local buffering and resume logic.</a:t>
            </a:r>
          </a:p>
          <a:p/>
          <a:p>
            <a:r>
              <a:t>Another key point is that Horizon shows async plugins with Callable = OFF; activation uses Start rather than Plugin Call. Furthermore, Interrupt stops the _is_running loop cleanly so the board can accept updated plugin code on the next inject.</a:t>
            </a:r>
          </a:p>
          <a:p/>
          <a:p>
            <a:r>
              <a:t>In addition, regarding listing reference, lst:plugin-async and ch14/plugins/asynchronous/weather_station_plugin.py.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Asynchronous plugins — when to choose async mode. This material is covered in Ch.14 §14.1.1 · async vs sync decision guide.</a:t>
            </a:r>
          </a:p>
          <a:p/>
          <a:p>
            <a:r>
              <a:t>First, Choose async when data must be collected on a schedule independent of human or API-driven triggers. Next, Choose async when the workload is long-running and would exceed reasonable synchronous call timeouts.</a:t>
            </a:r>
          </a:p>
          <a:p/>
          <a:p>
            <a:r>
              <a:t>By contrast, Choose async when multiple samples must be aggregated before cloud upload to reduce bandwidth and cost. We should also consider that Do not use async for one-shot diagnostics, GPIO toggles, or Docker operations that need immediate JSON responses.</a:t>
            </a:r>
          </a:p>
          <a:p/>
          <a:p>
            <a:r>
              <a:t>Another key point is that Async plugins may still push interim results to q_result for live monitoring, but primary output is often direct DB writes. Furthermore, State persistence — e.g. last_index.state in Ch.15 — enables fault-tolerant resume after restart or crash.</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Synchronous plugins. On-demand edge microservices · Ch.14 §14.1.2.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Synchronous plugins — purpose and pipeline (Ch.14 §14.1.2). This material is covered in Ch.14 §14.1.2 · synchronous plugins.</a:t>
            </a:r>
          </a:p>
          <a:p/>
          <a:p>
            <a:r>
              <a:t>First, Synchronous plugins remain dormant on the board until explicitly invoked by a Plugin Call from IoTronic. Next, Each invocation runs run() exactly once, places the result on q_result, and returns control to the Plugin Manager.</a:t>
            </a:r>
          </a:p>
          <a:p/>
          <a:p>
            <a:r>
              <a:t>By contrast, regarding the pipeline is, cloud Request, then IoTronic Plugin Call, then Lightning-Rod executes Worker, then result returned to caller. We should also consider that They behave like callable microservices embedded on the IoT board, addressable via Horizon UI or REST API.</a:t>
            </a:r>
          </a:p>
          <a:p/>
          <a:p>
            <a:r>
              <a:t>Another key point is that Use cases include instant sensor reads, GPIO or LED control, Docker container lifecycle, and K3s cluster join/status. Furthermore, Horizon Create Plugin form sets Callable = ON to register the plugin in synchronous mode.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Synchronous plugins — HelloName as canonical example. This material is covered in Ch.14 · lst:plugin-sync · hello_name_plugin.</a:t>
            </a:r>
          </a:p>
          <a:p/>
          <a:p>
            <a:r>
              <a:t>First, HelloName reads a name parameter from self.params and returns a personalized greeting string. Next, If name is omitted, the plugin defaults to User — demonstrating defensive parameter handling on the edge.</a:t>
            </a:r>
          </a:p>
          <a:p/>
          <a:p>
            <a:r>
              <a:t>By contrast, LOG.info writes the same message through oslo_log for centralized traceability in production deployments. We should also consider that The entire request–response cycle typically completes in sub-second time over the WAMP control channel.</a:t>
            </a:r>
          </a:p>
          <a:p/>
          <a:p>
            <a:r>
              <a:t>Another key point is that regarding listing lst, plugin-sync is the reference implementation used in today's hands-on lab block. Furthermore, Once HelloName works, the same inject-and-call pattern applies to LED control and Docker lifecycle plugins.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Orchestrator agent lifecycle plugin (Ch.14 §14.1.3). This material is covered in Ch.14 §14.1.3 · orchestrator agent lifecycle listing.</a:t>
            </a:r>
          </a:p>
          <a:p/>
          <a:p>
            <a:r>
              <a:t>First, Separate from application Workers — manages board-side orchestrator agent state. Next, regarding listing lst, plugin-orchestrator documents join/status/leave operations for edge agents.</a:t>
            </a:r>
          </a:p>
          <a:p/>
          <a:p>
            <a:r>
              <a:t>By contrast, Used when LR must coordinate with external orchestration platforms beyond IoTronic alone. We should also consider that Distinct from K3s lifecycle plugin — different privilege and API surface.</a:t>
            </a:r>
          </a:p>
          <a:p/>
          <a:p>
            <a:r>
              <a:t>Another key point is that Not exercised in core lab — documented for completeness against book §14.1.3. Furthermore, regarding shows plugin model generality, any board-side Python logic can become a Worker.</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GPIO and LED control plugin (Ch.14). This material is covered in Ch.14 §14.3 · GPIO weather server · demos/weather_web_server.py.</a:t>
            </a:r>
          </a:p>
          <a:p/>
          <a:p>
            <a:r>
              <a:t>First, Book web-services example reads /sys/class/gpio and toggles LED via POST /led. Next, regarding hardware-facing wot, REST endpoint maps to physical actuator on Raspberry Pi board.</a:t>
            </a:r>
          </a:p>
          <a:p/>
          <a:p>
            <a:r>
              <a:t>By contrast, Contrasts with HelloName (pure software) and environmental (database publisher) plugins. We should also consider that Requires LR with GPIO access — Docker lab simulates HTTP; hardware pilots use real pins.</a:t>
            </a:r>
          </a:p>
          <a:p/>
          <a:p>
            <a:r>
              <a:t>Another key point is that Same inject + ServiceEnable path as weather_web_server.py for public WoT exposure. Furthermore, Connects Module B plugin model to Module F GPIO/LED endpoints in ch14 demos.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Synchronous plugins — parameter contracts and REST. This material is covered in Ch.14 §14.1.2 · Plugin Call semantics.</a:t>
            </a:r>
          </a:p>
          <a:p/>
          <a:p>
            <a:r>
              <a:t>First, Plugin Call accepts a JSON object whose keys map directly to self.params inside Worker.run(). Next, Horizon provides a Call dialog; equivalent automation uses IoTronic REST endpoints on the Conductor API.</a:t>
            </a:r>
          </a:p>
          <a:p/>
          <a:p>
            <a:r>
              <a:t>By contrast, Input parameter JSON schemas can be declared at plugin creation time to document expected Call payloads. We should also consider that Errors inside run() should be logged with LOG.error and returned as structured JSON on q_result when possible.</a:t>
            </a:r>
          </a:p>
          <a:p/>
          <a:p>
            <a:r>
              <a:t>Another key point is that Synchronous plugins do not use self._is_running loops unless the operation itself is intentionally long. Furthermore, Callable plugins can be injected on multiple boards and invoked independently with different params per board.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Plugin pipelines — sync vs async. Describe the main boxes and arrows. Relate each element to a Docker service or API you have already seen. In particular, note the following: Theory diagram — pairs HelloName (sync) with Ch.15 environmental publisher (async).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Plugin lifecycle. Seven steps from development to removal.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Plugin lifecycle — steps 1–2: develop and register. This material is covered in Ch.14 · plugin lifecycle · steps 1–2.</a:t>
            </a:r>
          </a:p>
          <a:p/>
          <a:p>
            <a:r>
              <a:t>First, regarding step 1 — develop, write Python source following the S4T skeleton with Worker class, oslo_log, and run() method. Next, Test logic locally where possible using a mock q_result queue before uploading to IoTronic.</a:t>
            </a:r>
          </a:p>
          <a:p/>
          <a:p>
            <a:r>
              <a:t>By contrast, regarding step 2 — create, upload the plugin to the IoTronic repository via Horizon Create Plugin or Conductor REST API. We should also consider that Provide display name, description, full source code, and Callable flag (ON = sync, OFF = async).</a:t>
            </a:r>
          </a:p>
          <a:p/>
          <a:p>
            <a:r>
              <a:t>Another key point is that Optional input-parameter JSON schema documents Plugin Call fields for synchronous plugins. Furthermore, The plugin receives a repository UUID; it is not yet running on any board until injection.</a:t>
            </a:r>
          </a:p>
          <a:p/>
          <a:p>
            <a:r>
              <a:t>In addition, regarding book listings, lst:plugin-skeleton (template), lst:plugin-sync, lst:plugin-docker, lst:plugin-k3s-lifecycle.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Plugin lifecycle — steps 3–4: inject and execute. This material is covered in Ch.14 · plugin lifecycle · steps 3–4.</a:t>
            </a:r>
          </a:p>
          <a:p/>
          <a:p>
            <a:r>
              <a:t>First, regarding step 3 — inject, associate the repository plugin with a target board (or fleet) from Horizon Boards, then Actions. Next, Injection copies plugin metadata and source to the edge; Lightning-Rod acknowledges via WAMP messaging.</a:t>
            </a:r>
          </a:p>
          <a:p/>
          <a:p>
            <a:r>
              <a:t>By contrast, regarding step 4 — execute, for sync plugins, use Plugin Call with JSON params; for async, use Start from Horizon or API. We should also consider that Sync execution is single-shot; async execution enters the background loop until Stop or Interrupt.</a:t>
            </a:r>
          </a:p>
          <a:p/>
          <a:p>
            <a:r>
              <a:t>Another key point is that IoTronic tracks injection state per board so operators see which plugins are attached and running. Furthermore, Fleet-level inject deploys the same plugin to every member board in one coordinated operation (Ch.14 §14.2).</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Plugin lifecycle — steps 5–7: update, interrupt, remove. This material is covered in Ch.14 · plugin lifecycle · steps 5–7.</a:t>
            </a:r>
          </a:p>
          <a:p/>
          <a:p>
            <a:r>
              <a:t>First, regarding step 5 — update, push revised Python source to the repository and re-inject or hot-update on connected boards. Next, Remote update avoids truck rolls — critical for large urban deployments like TOO(L)SMART in Chapter 15.</a:t>
            </a:r>
          </a:p>
          <a:p/>
          <a:p>
            <a:r>
              <a:t>By contrast, regarding step 6 — interrupt, for async plugins, signal _is_running = False to stop the loop without removing the injection. We should also consider that Interrupt is preferred over kill when the plugin maintains state files or open database connections.</a:t>
            </a:r>
          </a:p>
          <a:p/>
          <a:p>
            <a:r>
              <a:t>Another key point is that regarding step 7 — remove, detach the plugin from the board; Lightning-Rod cleans up execution context and resources. Furthermore, Full lifecycle control — create, inject, execute, update, interrupt, delete — is available from Horizon and REST.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Structured logging. oslo_log and centralized observability.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oslo_log in plugins — pattern and purpose (Ch.14–15). This material is covered in Ch.14–15 · oslo_log pattern · lst:plugin-sync.</a:t>
            </a:r>
          </a:p>
          <a:p/>
          <a:p>
            <a:r>
              <a:t>First, regarding every production plugin imports from oslo_log, from oslo_log import log as logging; LOG = logging.getLogger(__name__). Next, LOG.info, LOG.debug, LOG.warning, and LOG.error provide structured, level-filtered messages from edge execution.</a:t>
            </a:r>
          </a:p>
          <a:p/>
          <a:p>
            <a:r>
              <a:t>By contrast, Using the OpenStack logging stack ensures consistent formatting across IoTronic cloud services and Lightning-Rod. We should also consider that Plugin authors should log entry parameters, major state transitions, and errors — never silent failure on the edge.</a:t>
            </a:r>
          </a:p>
          <a:p/>
          <a:p>
            <a:r>
              <a:t>Another key point is that HelloName demonstrates the minimum viable pattern: LOG.info(message) alongside self.q_result.put(message). Furthermore, Docker and environmental plugins extend this with operation names, container ids, and InfluxDB write confirmations.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Centralized logging — production vs lab (Ch.14–15). This material is covered in Ch.15 § logging infrastructure · Ch.14 Docker plugin traceability.</a:t>
            </a:r>
          </a:p>
          <a:p/>
          <a:p>
            <a:r>
              <a:t>First, In production Stack4Things deployments, Lightning-Rod log streams forward to IoTronic centralized logging service. Next, Operators query logs across all boards from the cloud without SSH access to individual edge nodes.</a:t>
            </a:r>
          </a:p>
          <a:p/>
          <a:p>
            <a:r>
              <a:t>By contrast, Multi-tenant deployments isolate log streams per tenant/project following OpenStack Keystone boundaries. We should also consider that regarding in the training lab, logs are visible via, docker compose logs lightning-rod | grep Hello (or environmental).</a:t>
            </a:r>
          </a:p>
          <a:p/>
          <a:p>
            <a:r>
              <a:t>Another key point is that Centralized logging is infrastructure observability — distinct from HTTP services exposed via WSTUN or Designate DNS. Furthermore, Chapter 15 environmental plugin uses the same oslo_log pattern for each CSV row sent to InfluxDB.</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Logging vs web-exposed services — do not conflate. This material is covered in Ch.14 §14.3 vs logging · Module F handoff.</a:t>
            </a:r>
          </a:p>
          <a:p/>
          <a:p>
            <a:r>
              <a:t>First, regarding plugin logs answer, did the edge logic run, with what parameters, and did it succeed or throw? Next, regarding web services answer, can an external HTTP client reach a board-local port through DNS or WSTUN tunnels?</a:t>
            </a:r>
          </a:p>
          <a:p/>
          <a:p>
            <a:r>
              <a:t>By contrast, The weather_web_server.py demo (Ch.14 §14.3) exposes GET /sensors — that is a web service, not a log stream. We should also consider that Docker plugin returns JSON on q_result; LOG.info captures the same facts for audit trails.</a:t>
            </a:r>
          </a:p>
          <a:p/>
          <a:p>
            <a:r>
              <a:t>Another key point is that When debugging Plugin Call failures, check both Horizon result panel and LR container logs in parallel. Furthermore, Module F extends web services with WSTUN port forwarding; today's focus is plugin execution and logging.</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HelloName sync plugin. Listing lst:plugin-sync · Callable = ON. In the next slides, listen for whether we are in theory mode or hands-on mode, and open your terminal when the slides turn to lab work.</a:t>
            </a:r>
          </a:p>
          <a:p/>
          <a:p>
            <a:r>
              <a:t>Instructor timing (title): Hands-on — HelloName sync plugin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HelloName — learning outcomes.</a:t>
            </a:r>
          </a:p>
          <a:p/>
          <a:p>
            <a:r>
              <a:t>First, Prove that the cloud can invoke customized edge logic on demand with sub-second turnaround over WAMP. Next, Prove that Plugin Call JSON parameters reach Worker.run() as self.params and drive business logic.</a:t>
            </a:r>
          </a:p>
          <a:p/>
          <a:p>
            <a:r>
              <a:t>By contrast, Prove that results return through q_result and appear in the Horizon Plugin Call result panel. We should also consider that Prove that oslo_log emits the same message inside the Lightning-Rod container for operator verification.</a:t>
            </a:r>
          </a:p>
          <a:p/>
          <a:p>
            <a:r>
              <a:t>Another key point is that Establish the inject-and-call workflow reused by Docker lifecycle, LED control, and fleet bulk deploy in later modules.</a:t>
            </a:r>
          </a:p>
          <a:p/>
          <a:p>
            <a:r>
              <a:t>Check that your screen matches what we showed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sequence diagram on screen: UML sequence — Sync Plugin Call (Module B). Trace the diagram from left to right. Name each actor, the protocol used, and the message that crosses the cloud–edge boundary. In particular, note the following: Inject → Plugin Call → Conductor → Crossbar → Worker.run() → result.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Plugin skeleton — FIXED section (do not change).</a:t>
            </a:r>
          </a:p>
          <a:p/>
          <a:p>
            <a:r>
              <a:t>First, From iotronic_lightningrod.modules.plugins import Plugin. Next, From oslo_log import log as logging.</a:t>
            </a:r>
          </a:p>
          <a:p/>
          <a:p>
            <a:r>
              <a:t>By contrast, LOG = logging.getLogger(__name__). We should also consider that regarding class worker(plugin.plugin), # name MUST be Worker in LR 0.4.17.</a:t>
            </a:r>
          </a:p>
          <a:p/>
          <a:p>
            <a:r>
              <a:t>Another key point is that Def __init__(self, uuid, name, q_result, params=None):. Furthermore, Super(Worker, self).__init__(uuid, name, q_result, params).</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Plugin skeleton — USER section (your logic in run).</a:t>
            </a:r>
          </a:p>
          <a:p/>
          <a:p>
            <a:r>
              <a:t>First, Def run(self):. Next, Person_name = self.params.get('name', 'User').</a:t>
            </a:r>
          </a:p>
          <a:p/>
          <a:p>
            <a:r>
              <a:t>By contrast, Message = f'Hello {person_name}'. We should also consider that LOG.info(message).</a:t>
            </a:r>
          </a:p>
          <a:p/>
          <a:p>
            <a:r>
              <a:t>Another key point is that Self.q_result.put(message). Furthermore, Only the run() body and helper methods belong in the USER section — keep FIXED imports and class name.</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continue, an important note about Worker class name + ch14 repository fix.</a:t>
            </a:r>
          </a:p>
          <a:p/>
          <a:p>
            <a:r>
              <a:t>First, regarding lightning-rod 0.4.17, the Python class MUST be named Worker — not HelloNamePlugin or any display alias. Next, The dashboard plugin display name (HelloName) is independent of the Python class identifier.</a:t>
            </a:r>
          </a:p>
          <a:p/>
          <a:p>
            <a:r>
              <a:t>By contrast, regarding bug, upstream ch14 hello_name_plugin.py uses HelloNamePlugin — injection will fail silently or error. We should also consider that regarding use the corrected file, training/ch14-fixed/plugins/synchronous/hello_name_plugin.py.</a:t>
            </a:r>
          </a:p>
          <a:p/>
          <a:p>
            <a:r>
              <a:t>Another key point is that If Plugin Call returns empty, verify class name, injection status, and board Active state in that order.</a:t>
            </a:r>
          </a:p>
          <a:p/>
          <a:p>
            <a:r>
              <a:t>Keep this difference in mind for the rest of the lab.</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we walk through the code for HelloNamePlugin — listing lst:plugin-sync.</a:t>
            </a:r>
          </a:p>
          <a:p/>
          <a:p>
            <a:r>
              <a:t>Scroll slowly through the listing on screen while I explain each part.</a:t>
            </a:r>
          </a:p>
          <a:p/>
          <a:p>
            <a:r>
              <a:t>This is the standard Stack4Things plugin skeleton. The Worker class extends the Plugin base type. The run method is what IoTronic invokes when you call the plugin from Horizon. Parameters arrive as a dictionary from the Plugin Call JSON. Results go back through the queue, and oslo_log records what happened on the board.</a:t>
            </a:r>
          </a:p>
          <a:p/>
          <a:p>
            <a:r>
              <a:t>After reviewing the code, we'll apply it in the practical exercise.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Create Plugin form — field by field.</a:t>
            </a:r>
          </a:p>
          <a:p/>
          <a:p>
            <a:r>
              <a:t>First, Horizon, then IoT, then Plugins, then + Create Plugin. Next, regarding plugin name, helloName — display label in repository and Call dialog.</a:t>
            </a:r>
          </a:p>
          <a:p/>
          <a:p>
            <a:r>
              <a:t>By contrast, regarding description, optional — e.g. synchronous greeting demo for Module B. We should also consider that regarding source, paste full Python Worker code from the listing slide.</a:t>
            </a:r>
          </a:p>
          <a:p/>
          <a:p>
            <a:r>
              <a:t>Another key point is that regarding callable, ✓ ON — marks plugin as synchronous and enables Plugin Call button. Furthermore, regarding input parameters, optional JSON schema documenting the name field for callers.</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Plugins panel (live). Walk the class through what they see in the interface. Connect each panel and button to a component we already deployed in the stack. In particular, note the following: http://{{VM_IP}}/horizon/iot/plugins/.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Create HelloName plugin. Open your lab VM and follow along.</a:t>
            </a:r>
          </a:p>
          <a:p/>
          <a:p>
            <a:r>
              <a:t>First, regarding open http, //{{VM_IP}}/horizon — login admin / s4t. Next, Navigate IoT, then Plugins, then + Create Plugin.</a:t>
            </a:r>
          </a:p>
          <a:p/>
          <a:p>
            <a:r>
              <a:t>By contrast, regarding paste from, training/ch14-fixed/plugins/synchronous/hello_name_plugin.py (NOT upstream ch14). We should also consider that regarding repo, github.com/AssemblingSmartCPS/ch14 · set Callable = ON · class must be Worker.</a:t>
            </a:r>
          </a:p>
          <a:p/>
          <a:p>
            <a:r>
              <a:t>Another key point is that regarding verify, ./validate/validate-demo-ch14.sh.</a:t>
            </a:r>
          </a:p>
          <a:p/>
          <a:p>
            <a:r>
              <a:t>Raise your hand if you're stuck — we'll wait until most of you are done.</a:t>
            </a:r>
          </a:p>
          <a:p/>
          <a:p>
            <a:r>
              <a:t>Instructor timing (title): Step 1 — Create HelloName plugin (10 min)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Boards panel (inject target). Walk the class through what they see in the interface. Connect each panel and button to a component we already deployed in the stack. In particular, note the following: http://{{VM_IP}}/horizon/iot/ — select Active board → Actions → Inject Plugin.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Inject plugin on board. Open your lab VM and follow along.</a:t>
            </a:r>
          </a:p>
          <a:p/>
          <a:p>
            <a:r>
              <a:t>First, Horizon, then IoT, then Boards, then select your Active board from Module A. Next, Actions, then Inject Plugin, then choose HelloName from repository.</a:t>
            </a:r>
          </a:p>
          <a:p/>
          <a:p>
            <a:r>
              <a:t>By contrast, Confirm injection — plugin is now attached to the board edge agent. We should also consider that Board must remain Active; re-check LR Status at http://{{VM_IP}}:1474 if inject fails.</a:t>
            </a:r>
          </a:p>
          <a:p/>
          <a:p>
            <a:r>
              <a:t>Raise your hand if you're stuck — we'll wait until most of you are done.</a:t>
            </a:r>
          </a:p>
          <a:p/>
          <a:p>
            <a:r>
              <a:t>Instructor timing (title): Step 2 — Inject plugin on board (5 min)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we walk through the code for Plugin Call JSON.</a:t>
            </a:r>
          </a:p>
          <a:p/>
          <a:p>
            <a:r>
              <a:t>Scroll slowly through the listing on screen while I explain each part.</a:t>
            </a:r>
          </a:p>
          <a:p/>
          <a:p>
            <a:r>
              <a:t>Point out the imports, the class definition, and the run method. Students will adapt this template in the lab rather than writing from scratch.</a:t>
            </a:r>
          </a:p>
          <a:p/>
          <a:p>
            <a:r>
              <a:t>After reviewing the code, we'll apply it in the practical exercise.</a:t>
            </a:r>
          </a:p>
          <a:p/>
          <a:p>
            <a:r>
              <a:t>Instructor timing (title): Step 3 — Plugin Call 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Plugin Call and verify. Open your lab VM and follow along.</a:t>
            </a:r>
          </a:p>
          <a:p/>
          <a:p>
            <a:r>
              <a:t>First, Horizon, then Plugins, then HelloName, then Call (or board Actions, then Call Plugin). Next, regarding paste json, {"name": "Messina"} — replace with your own name to personalize.</a:t>
            </a:r>
          </a:p>
          <a:p/>
          <a:p>
            <a:r>
              <a:t>By contrast, regarding check horizon result panel — expect, hello Messina (or Hello YourName). We should also consider that regarding verify lr logs, docker compose logs lightning-rod 2&gt;&amp;1 | grep Hello.</a:t>
            </a:r>
          </a:p>
          <a:p/>
          <a:p>
            <a:r>
              <a:t>Raise your hand if you're stuck — we'll wait until most of you are done.</a:t>
            </a:r>
          </a:p>
          <a:p/>
          <a:p>
            <a:r>
              <a:t>Instructor timing (title): Step 3 — Plugin Call and verify (10 min)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Lightning-Rod — Status (plugin runtime). Walk the class through what they see in the interface. Connect each panel and button to a component we already deployed in the stack. In particular, note the following: http://{{VM_IP}}:1474 — Connected board + plugin activity in LR logs.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Sync pipeline — operational flow step by step. This material is covered in Ch.14 §14.1.2 · sync operational flow.</a:t>
            </a:r>
          </a:p>
          <a:p/>
          <a:p>
            <a:r>
              <a:t>First, regarding step a, operator triggers Plugin Call in Horizon with JSON payload. Next, regarding step b, IoTronic Conductor validates the request and sends a WAMP command to Lightning-Rod.</a:t>
            </a:r>
          </a:p>
          <a:p/>
          <a:p>
            <a:r>
              <a:t>By contrast, regarding step c, LR Plugin Manager loads the injected Worker class and binds self.params from the Call JSON. We should also consider that regarding step d, worker.run() executes once, writes LOG.info, and puts the greeting string on q_result.</a:t>
            </a:r>
          </a:p>
          <a:p/>
          <a:p>
            <a:r>
              <a:t>Another key point is that regarding step e, IoTronic receives the result and displays it in Horizon; REST API exposes the same payload. Furthermore, Any failure in steps B–D surfaces as empty result, LR error log, or WAMP disconnect on Status page.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Expected HelloName output and troubleshooting.</a:t>
            </a:r>
          </a:p>
          <a:p/>
          <a:p>
            <a:r>
              <a:t>First, regarding horizon plugin call result panel, hello Messina (or your chosen name). Next, regarding lr container log line, INFO Hello Messina — confirms oslo_log path works.</a:t>
            </a:r>
          </a:p>
          <a:p/>
          <a:p>
            <a:r>
              <a:t>By contrast, Empty result, then check Worker class name is exactly Worker, not HelloNamePlugin. We should also consider that No log line, then plugin not injected or board not Active; re-run Module A onboarding.</a:t>
            </a:r>
          </a:p>
          <a:p/>
          <a:p>
            <a:r>
              <a:t>Another key point is that regarding wamp error → confirm lr configuration uses wss, //crossbar:8181 inside Docker network.</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Optional — Docker plugin at edge. Ch.14 §14.1.4 · container lifecycle.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Docker management plugin — design (Ch.14 §14.1.4). This material is covered in Ch.14 §14.1.4 · Docker plugin listing.</a:t>
            </a:r>
          </a:p>
          <a:p/>
          <a:p>
            <a:r>
              <a:t>First, The Docker lifecycle plugin uses docker.from_env() — the official Python SDK talking to the host Docker daemon. Next, regarding plugin call json drives operations, run, stop, remove, and inspect on named containers.</a:t>
            </a:r>
          </a:p>
          <a:p/>
          <a:p>
            <a:r>
              <a:t>By contrast, Run pulls the image if missing, optionally removes an existing same-name container, starts detached, and returns status. We should also consider that This enables deploying containerized microservices on edge boards without SSH to each device.</a:t>
            </a:r>
          </a:p>
          <a:p/>
          <a:p>
            <a:r>
              <a:t>Another key point is that Fleet-wide inject can launch the same monitoring sidecar on every board in a coordinated batch. Furthermore, regarding listing reference, lst:plugin-docker · ch14/plugins/synchronous/docker_lifecycle_plugin.py.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Docker plugin — lab prerequisites and security. This material is covered in Ch.14 · Docker plugin · lab overlay docker-compose.lab.yml.</a:t>
            </a:r>
          </a:p>
          <a:p/>
          <a:p>
            <a:r>
              <a:t>First, Lightning-Rod must reach /var/run/docker.sock on the host — enabled by training lab overlay mount. Next, regarding verify, docker exec lightning-rod ls /var/run/docker.sock — file must exist inside LR container.</a:t>
            </a:r>
          </a:p>
          <a:p/>
          <a:p>
            <a:r>
              <a:t>By contrast, regarding install sdk if missing, docker exec lightning-rod pip install docker. We should also consider that Granting Docker socket access is powerful — production deployments must sandbox and audit plugin code.</a:t>
            </a:r>
          </a:p>
          <a:p/>
          <a:p>
            <a:r>
              <a:t>Another key point is that Returned JSON includes status, container id, name, and short_logs tail for immediate verification. Furthermore, Stop and remove operations use container_name from params — same field as run for consistency.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Docker plugin — learning outcomes.</a:t>
            </a:r>
          </a:p>
          <a:p/>
          <a:p>
            <a:r>
              <a:t>First, Prove that synchronous plugins can orchestrate host Docker daemon operations from a Plugin Call JSON payload. Next, Prove that alpine container starts on the board host and returns id, status, and log tail without SSH.</a:t>
            </a:r>
          </a:p>
          <a:p/>
          <a:p>
            <a:r>
              <a:t>By contrast, Prove that edge containerization complements plugin model — microservices beside Python Worker logic. We should also consider that Optional only — skip if time is short; HelloName deliverable is sufficient for Module B completion.</a:t>
            </a:r>
          </a:p>
          <a:p/>
          <a:p>
            <a:r>
              <a:t>Check that your screen matches what we showed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we walk through the code for Docker PluginCall — run alpine container.</a:t>
            </a:r>
          </a:p>
          <a:p/>
          <a:p>
            <a:r>
              <a:t>Scroll slowly through the listing on screen while I explain each part.</a:t>
            </a:r>
          </a:p>
          <a:p/>
          <a:p>
            <a:r>
              <a:t>This JSON is what you paste into the Plugin Call panel. Each field is part of the contract between Horizon and the Docker lifecycle plugin: the operation to perform, the image to run, the container name, and the command to execute inside the container.</a:t>
            </a:r>
          </a:p>
          <a:p/>
          <a:p>
            <a:r>
              <a:t>After reviewing the code, we'll apply it in the practical exercise.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Docker plugin demo — optional steps. Open your lab VM and follow along.</a:t>
            </a:r>
          </a:p>
          <a:p/>
          <a:p>
            <a:r>
              <a:t>docker exec lightning-rod ls /var/run/docker.sock — confirm socket mount. docker exec lightning-rod pip install docker (if ImportError on first call).</a:t>
            </a:r>
          </a:p>
          <a:p/>
          <a:p>
            <a:r>
              <a:t>Create and inject Docker lifecycle plugin from ch14 listing; Callable = ON. Plugin Call with JSON above, then verify status running, container id, short_logs echo line.</a:t>
            </a:r>
          </a:p>
          <a:p/>
          <a:p>
            <a:r>
              <a:t>Raise your hand if you're stuck — we'll wait until most of you are done.</a:t>
            </a:r>
          </a:p>
          <a:p/>
          <a:p>
            <a:r>
              <a:t>Instructor timing (title): Docker plugin demo — optional steps (15 min)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Fleet, K3s &amp; web services preview. Theory for Modules D, F, and H.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Fleet abstraction — coordinated edge groups (Ch.14 §14.2). This material is covered in Ch.14 §14.2 · fig:fleetpanel · FLEET_MANAGEMENT.md.</a:t>
            </a:r>
          </a:p>
          <a:p/>
          <a:p>
            <a:r>
              <a:t>First, A fleet is a tenant-aware logical collection of boards — not merely a UI label or tag. Next, Devices grouped by operational intent act in unison: same plugin, same config, same data collection schedule.</a:t>
            </a:r>
          </a:p>
          <a:p/>
          <a:p>
            <a:r>
              <a:t>By contrast, Horizon Fleets panel lists fleets; each fleet has a Plugins tab for bulk inject and lifecycle operations. We should also consider that Coordinated ops reduce administrative overhead when managing dozens or hundreds of urban sensor stations.</a:t>
            </a:r>
          </a:p>
          <a:p/>
          <a:p>
            <a:r>
              <a:t>Another key point is that Fleet health metrics include device availability percentage, error rates, and data quality across members. Furthermore, Full hands-on with three boards and fleet Hello inject: Module D (ModuleD_MultiBoard deck).</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Fleet operations — bulk deploy pattern. This material is covered in Ch.14 §14.2 · fleet-level plugin deployment.</a:t>
            </a:r>
          </a:p>
          <a:p/>
          <a:p>
            <a:r>
              <a:t>First, Create fleet in Horizon with name and description tied to your OpenStack tenant/project. Next, Associate Active boards as fleet members — heterogeneous device types can share one fleet.</a:t>
            </a:r>
          </a:p>
          <a:p/>
          <a:p>
            <a:r>
              <a:t>By contrast, Inject Plugin on fleet deploys the repository plugin to every member in one action. We should also consider that Sync plugins still require per-board or API-driven Plugin Call unless a orchestration layer batches calls.</a:t>
            </a:r>
          </a:p>
          <a:p/>
          <a:p>
            <a:r>
              <a:t>Another key point is that Async plugins are started fleet-wide — environmental monitoring on all stations simultaneously. Furthermore, regarding book example, weather-monitoring-fleet with shared alert thresholds for temperature and humidity.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Fleets panel. Walk the class through what they see in the interface. Connect each panel and button to a component we already deployed in the stack. In particular, note the following: http://{{VM_IP}}/horizon/iot/fleets/.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K3s lifecycle plugin — theory only (Ch.14 §14.1.5). This material is covered in Ch.14 §14.1.5 · lst:plugin-k3s-lifecycle.</a:t>
            </a:r>
          </a:p>
          <a:p/>
          <a:p>
            <a:r>
              <a:t>First, regarding the k3s plugin is synchronous, operations join, status, and leave against a Kubernetes edge cluster. Next, Join installs a K3s agent on the board pointing at server endpoint URL and cluster join token.</a:t>
            </a:r>
          </a:p>
          <a:p/>
          <a:p>
            <a:r>
              <a:t>By contrast, Status reports whether the node is registered and ready in the cluster control plane. We should also consider that Leave removes the agent cleanly — enabling dynamic scale-out and scale-in of IoT nodes as K8s workers.</a:t>
            </a:r>
          </a:p>
          <a:p/>
          <a:p>
            <a:r>
              <a:t>Another key point is that Requires root privileges, working K3s server, and network reachability — not part of the 3-hour core lab. Furthermore, Hands-on deferred to Module H (Blueprint + K3s) · listing lst:plugin-k3s-lifecycle.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K3s at the edge — why it matters for smart CPS. This material is covered in Ch.14 §14.1.5 · Module H preview.</a:t>
            </a:r>
          </a:p>
          <a:p/>
          <a:p>
            <a:r>
              <a:t>First, Kubernetes at the edge standardizes packaging, scheduling, and health checks for containerized edge apps. Next, S4T plugins bridge IoTronic fleet orchestration with K3s node lifecycle without manual SSH provisioning.</a:t>
            </a:r>
          </a:p>
          <a:p/>
          <a:p>
            <a:r>
              <a:t>By contrast, Blueprint (Chapter 11) and Crossplane provider patterns extend this to declarative GitOps in advanced modules. We should also consider that Join token and server URL arrive as Plugin Call JSON params — same contract as HelloName and Docker plugins.</a:t>
            </a:r>
          </a:p>
          <a:p/>
          <a:p>
            <a:r>
              <a:t>Another key point is that Production smart-city stacks combine LR plugins for sensors with K3s for heavier analytics containers. Furthermore, Do not attempt K3s join in today's lab VM — theory only to connect Ch.14 listings to Module H roadmap.</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Web services preview — exposing board HTTP (Ch.14 §14.3). This material is covered in Ch.14 §14.3 · WEB_SERVICES_INTEGRATION.md.</a:t>
            </a:r>
          </a:p>
          <a:p/>
          <a:p>
            <a:r>
              <a:t>First, Stack4Things Web Services expose IoT HTTP endpoints on the public Web without manual router port forwarding. Next, Designate DNS-as-a-Service assigns a subdomain per board — e.g. weather.board-1.example.com.</a:t>
            </a:r>
          </a:p>
          <a:p/>
          <a:p>
            <a:r>
              <a:t>By contrast, NGINX reverse proxy and WebSocket tunnels route HTTPS requests to the board local service port. We should also consider that regarding book demo, weather_web_server.py serves GET /sensors, GET /led/status, POST /led/toggle on port 8080.</a:t>
            </a:r>
          </a:p>
          <a:p/>
          <a:p>
            <a:r>
              <a:t>Another key point is that Connects to Web of Things theory in Chapter 6 — physical sensors as REST resources on the global Web. Furthermore, regarding full wstun lab demo without designate dns, module F (ModuleF_WebServices_WoT deck).</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Web services — weather station WoT endpoints. This material is covered in Ch.14 · demos/weather_web_server.py · Ch.6 WoT.</a:t>
            </a:r>
          </a:p>
          <a:p/>
          <a:p>
            <a:r>
              <a:t>First, GET /sensors returns JSON with timestamp, temperature, humidity, and pressure readings. Next, GET /led/status reports actuator state; POST /led/toggle flips GPIO-driven LED for remote actuation.</a:t>
            </a:r>
          </a:p>
          <a:p/>
          <a:p>
            <a:r>
              <a:t>By contrast, Horizon Web Services Manager registers service name and local port per board for tunnel establishment. We should also consider that WSTUN lab alternative maps cloud public_port (50001–50100) to board local port without DNS registration.</a:t>
            </a:r>
          </a:p>
          <a:p/>
          <a:p>
            <a:r>
              <a:t>Another key point is that Web-exposed services are long-lived HTTP servers — distinct from one-shot synchronous plugin calls. Furthermore, Service catalog + ServiceEnable workflow documented in Module F with nginx demo on LR port 50000.</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Boards with services (preview). Walk the class through what they see in the interface. Connect each panel and button to a component we already deployed in the stack. In particular, note the following: http://{{VM_IP}}/horizon/iot/ — web services attach to Active boards · Module F hands-on.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B checklist and handoff to Module C.</a:t>
            </a:r>
          </a:p>
          <a:p/>
          <a:p>
            <a:r>
              <a:t>First, □ HelloName Plugin Call returns Hello &lt;name&gt; in Horizon and LR logs. Next, □ (Optional) Docker run alpine succeeded with container id in JSON result.</a:t>
            </a:r>
          </a:p>
          <a:p/>
          <a:p>
            <a:r>
              <a:t>By contrast, regarding deliverable, plugin Call screenshot or docker compose logs lightning-rod | grep Hello snippet. We should also consider that regarding next, module C — async environmental publisher + InfluxDB time-series (Ch.15).</a:t>
            </a:r>
          </a:p>
          <a:p/>
          <a:p>
            <a:r>
              <a:t>Another key point is that regarding run validation, cd training &amp;&amp; ./validate-lab.sh before starting Module C.</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02920"/>
            <a:ext cx="2011680" cy="347472"/>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S4T TRAINING</a:t>
            </a:r>
          </a:p>
        </p:txBody>
      </p:sp>
      <p:sp>
        <p:nvSpPr>
          <p:cNvPr id="5" name="TextBox 4"/>
          <p:cNvSpPr txBox="1"/>
          <p:nvPr/>
        </p:nvSpPr>
        <p:spPr>
          <a:xfrm>
            <a:off x="685800" y="1828800"/>
            <a:ext cx="10789920" cy="1645920"/>
          </a:xfrm>
          <a:prstGeom prst="rect">
            <a:avLst/>
          </a:prstGeom>
          <a:noFill/>
        </p:spPr>
        <p:txBody>
          <a:bodyPr wrap="none">
            <a:spAutoFit/>
          </a:bodyPr>
          <a:lstStyle/>
          <a:p>
            <a:pPr>
              <a:defRPr sz="4000" b="1">
                <a:solidFill>
                  <a:srgbClr val="FFFFFF"/>
                </a:solidFill>
                <a:latin typeface="Calibri"/>
              </a:defRPr>
            </a:pPr>
            <a:r>
              <a:t>Stack4Things Plugins &amp; Edge Services</a:t>
            </a:r>
          </a:p>
        </p:txBody>
      </p:sp>
      <p:sp>
        <p:nvSpPr>
          <p:cNvPr id="6" name="TextBox 5"/>
          <p:cNvSpPr txBox="1"/>
          <p:nvPr/>
        </p:nvSpPr>
        <p:spPr>
          <a:xfrm>
            <a:off x="685800" y="3520440"/>
            <a:ext cx="10515600" cy="1280160"/>
          </a:xfrm>
          <a:prstGeom prst="rect">
            <a:avLst/>
          </a:prstGeom>
          <a:noFill/>
        </p:spPr>
        <p:txBody>
          <a:bodyPr wrap="none">
            <a:spAutoFit/>
          </a:bodyPr>
          <a:lstStyle/>
          <a:p>
            <a:pPr>
              <a:spcAft>
                <a:spcPts val="400"/>
              </a:spcAft>
              <a:defRPr sz="2200" b="0">
                <a:solidFill>
                  <a:srgbClr val="B2EBF2"/>
                </a:solidFill>
                <a:latin typeface="Calibri"/>
              </a:defRPr>
            </a:pPr>
            <a:r>
              <a:t>Module B — IoTronic Plugins &amp; Services · Ch.14</a:t>
            </a:r>
          </a:p>
          <a:p>
            <a:pPr>
              <a:spcAft>
                <a:spcPts val="400"/>
              </a:spcAft>
              <a:defRPr sz="2200" b="0">
                <a:solidFill>
                  <a:srgbClr val="B2EBF2"/>
                </a:solidFill>
                <a:latin typeface="Calibri"/>
              </a:defRPr>
            </a:pPr>
            <a:r>
              <a:t>Lab VM: {{VM_IP}}</a:t>
            </a:r>
          </a:p>
        </p:txBody>
      </p:sp>
      <p:sp>
        <p:nvSpPr>
          <p:cNvPr id="7" name="TextBox 6"/>
          <p:cNvSpPr txBox="1"/>
          <p:nvPr/>
        </p:nvSpPr>
        <p:spPr>
          <a:xfrm>
            <a:off x="685800" y="5623560"/>
            <a:ext cx="10515600" cy="548640"/>
          </a:xfrm>
          <a:prstGeom prst="rect">
            <a:avLst/>
          </a:prstGeom>
          <a:noFill/>
        </p:spPr>
        <p:txBody>
          <a:bodyPr wrap="none">
            <a:spAutoFit/>
          </a:bodyPr>
          <a:lstStyle/>
          <a:p>
            <a:pPr>
              <a:defRPr sz="1400" b="0">
                <a:solidFill>
                  <a:srgbClr val="90A4AE"/>
                </a:solidFill>
                <a:latin typeface="Calibri"/>
              </a:defRPr>
            </a:pPr>
            <a:r>
              <a:t>Assembling Smart CPS · Part II</a:t>
            </a:r>
          </a:p>
        </p:txBody>
      </p:sp>
      <p:sp>
        <p:nvSpPr>
          <p:cNvPr id="8" name="Rectangle 7"/>
          <p:cNvSpPr/>
          <p:nvPr/>
        </p:nvSpPr>
        <p:spPr>
          <a:xfrm>
            <a:off x="685800" y="5394960"/>
            <a:ext cx="3200400" cy="36576"/>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Chapter 14 overview</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Plugins · Fleet · Web services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abstract · Stack4Things Services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What Chapter 14 covers (abstract)</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Chapter 14 examines how Stack4Things injects customized business logic directly into remote IoT nodes at the network edge.</a:t>
            </a:r>
          </a:p>
          <a:p>
            <a:pPr>
              <a:lnSpc>
                <a:spcPct val="115000"/>
              </a:lnSpc>
              <a:spcAft>
                <a:spcPts val="500"/>
              </a:spcAft>
              <a:defRPr sz="1600" b="0">
                <a:solidFill>
                  <a:srgbClr val="37474F"/>
                </a:solidFill>
                <a:latin typeface="Calibri"/>
              </a:defRPr>
            </a:pPr>
            <a:r>
              <a:t>▸  Plugins are modular, extensible units orchestrated by the Lightning-Rod agent on each board.</a:t>
            </a:r>
          </a:p>
          <a:p>
            <a:pPr>
              <a:lnSpc>
                <a:spcPct val="115000"/>
              </a:lnSpc>
              <a:spcAft>
                <a:spcPts val="500"/>
              </a:spcAft>
              <a:defRPr sz="1600" b="0">
                <a:solidFill>
                  <a:srgbClr val="37474F"/>
                </a:solidFill>
                <a:latin typeface="Calibri"/>
              </a:defRPr>
            </a:pPr>
            <a:r>
              <a:t>▸  The chapter distinguishes synchronous on-demand execution from asynchronous continuous background operation.</a:t>
            </a:r>
          </a:p>
          <a:p>
            <a:pPr>
              <a:lnSpc>
                <a:spcPct val="115000"/>
              </a:lnSpc>
              <a:spcAft>
                <a:spcPts val="500"/>
              </a:spcAft>
              <a:defRPr sz="1600" b="0">
                <a:solidFill>
                  <a:srgbClr val="37474F"/>
                </a:solidFill>
                <a:latin typeface="Calibri"/>
              </a:defRPr>
            </a:pPr>
            <a:r>
              <a:t>▸  Fleet management treats heterogeneous devices as coordinated logical groups for bulk operations.</a:t>
            </a:r>
          </a:p>
          <a:p>
            <a:pPr>
              <a:lnSpc>
                <a:spcPct val="115000"/>
              </a:lnSpc>
              <a:spcAft>
                <a:spcPts val="500"/>
              </a:spcAft>
              <a:defRPr sz="1600" b="0">
                <a:solidFill>
                  <a:srgbClr val="37474F"/>
                </a:solidFill>
                <a:latin typeface="Calibri"/>
              </a:defRPr>
            </a:pPr>
            <a:r>
              <a:t>▸  Web services integration exposes board HTTP endpoints over the public Web without manual port forwarding.</a:t>
            </a:r>
          </a:p>
          <a:p>
            <a:pPr>
              <a:lnSpc>
                <a:spcPct val="115000"/>
              </a:lnSpc>
              <a:spcAft>
                <a:spcPts val="500"/>
              </a:spcAft>
              <a:defRPr sz="1600" b="0">
                <a:solidFill>
                  <a:srgbClr val="37474F"/>
                </a:solidFill>
                <a:latin typeface="Calibri"/>
              </a:defRPr>
            </a:pPr>
            <a:r>
              <a:t>▸  Together these capabilities turn passive edge nodes into programmable, remotely managed cyber-physical assets.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Prerequisites, objectives &amp; deliverables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700" b="0">
                <a:solidFill>
                  <a:srgbClr val="37474F"/>
                </a:solidFill>
                <a:latin typeface="Calibri"/>
              </a:defRPr>
            </a:pPr>
            <a:r>
              <a:t>▸  Requires Module A complete — board must show Active in Horizon before any plugin demo.</a:t>
            </a:r>
          </a:p>
          <a:p>
            <a:pPr>
              <a:lnSpc>
                <a:spcPct val="115000"/>
              </a:lnSpc>
              <a:spcAft>
                <a:spcPts val="800"/>
              </a:spcAft>
              <a:defRPr sz="1700" b="0">
                <a:solidFill>
                  <a:srgbClr val="37474F"/>
                </a:solidFill>
                <a:latin typeface="Calibri"/>
              </a:defRPr>
            </a:pPr>
            <a:r>
              <a:t>▸  Create a synchronous HelloName plugin using the standard Python Worker class template.</a:t>
            </a:r>
          </a:p>
          <a:p>
            <a:pPr>
              <a:lnSpc>
                <a:spcPct val="115000"/>
              </a:lnSpc>
              <a:spcAft>
                <a:spcPts val="800"/>
              </a:spcAft>
              <a:defRPr sz="1700" b="0">
                <a:solidFill>
                  <a:srgbClr val="37474F"/>
                </a:solidFill>
                <a:latin typeface="Calibri"/>
              </a:defRPr>
            </a:pPr>
            <a:r>
              <a:t>▸  Inject the plugin on the Active board and invoke it via Plugin Call from Horizon.</a:t>
            </a:r>
          </a:p>
          <a:p>
            <a:pPr>
              <a:lnSpc>
                <a:spcPct val="115000"/>
              </a:lnSpc>
              <a:spcAft>
                <a:spcPts val="800"/>
              </a:spcAft>
              <a:defRPr sz="1700" b="0">
                <a:solidFill>
                  <a:srgbClr val="37474F"/>
                </a:solidFill>
                <a:latin typeface="Calibri"/>
              </a:defRPr>
            </a:pPr>
            <a:r>
              <a:t>▸  Verify the greeting in the Horizon result panel and in Lightning-Rod oslo_log output.</a:t>
            </a:r>
          </a:p>
          <a:p>
            <a:pPr>
              <a:lnSpc>
                <a:spcPct val="115000"/>
              </a:lnSpc>
              <a:spcAft>
                <a:spcPts val="800"/>
              </a:spcAft>
              <a:defRPr sz="1700" b="0">
                <a:solidFill>
                  <a:srgbClr val="37474F"/>
                </a:solidFill>
                <a:latin typeface="Calibri"/>
              </a:defRPr>
            </a:pPr>
            <a:r>
              <a:t>▸  Optional deliverable: Docker run alpine JSON result with container id and short_logs.</a:t>
            </a:r>
          </a:p>
          <a:p>
            <a:pPr>
              <a:lnSpc>
                <a:spcPct val="115000"/>
              </a:lnSpc>
              <a:spcAft>
                <a:spcPts val="800"/>
              </a:spcAft>
              <a:defRPr sz="1700" b="0">
                <a:solidFill>
                  <a:srgbClr val="37474F"/>
                </a:solidFill>
                <a:latin typeface="Calibri"/>
              </a:defRPr>
            </a:pPr>
            <a:r>
              <a:t>▸  Horizon login: admin / s4t · LR UI: http://{{VM_IP}}:1474 (me / arancino).</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Plugin theory — motivation</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Why edge logic matters in S4T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 · Plugins in Stack4Things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Why plugins? — extending the edge (Ch.14 §14.1)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Traditional firmware updates require physical access or costly over-the-air reflashing of each device.</a:t>
            </a:r>
          </a:p>
          <a:p>
            <a:pPr>
              <a:lnSpc>
                <a:spcPct val="115000"/>
              </a:lnSpc>
              <a:spcAft>
                <a:spcPts val="500"/>
              </a:spcAft>
              <a:defRPr sz="1600" b="0">
                <a:solidFill>
                  <a:srgbClr val="37474F"/>
                </a:solidFill>
                <a:latin typeface="Calibri"/>
              </a:defRPr>
            </a:pPr>
            <a:r>
              <a:t>▸  Stack4Things plugins encapsulate sensing, actuation, local compute, or protocol forwarding as deployable Python modules.</a:t>
            </a:r>
          </a:p>
          <a:p>
            <a:pPr>
              <a:lnSpc>
                <a:spcPct val="115000"/>
              </a:lnSpc>
              <a:spcAft>
                <a:spcPts val="500"/>
              </a:spcAft>
              <a:defRPr sz="1600" b="0">
                <a:solidFill>
                  <a:srgbClr val="37474F"/>
                </a:solidFill>
                <a:latin typeface="Calibri"/>
              </a:defRPr>
            </a:pPr>
            <a:r>
              <a:t>▸  Operators upload plugin source to the IoTronic repository and inject it onto one board or an entire fleet remotely.</a:t>
            </a:r>
          </a:p>
          <a:p>
            <a:pPr>
              <a:lnSpc>
                <a:spcPct val="115000"/>
              </a:lnSpc>
              <a:spcAft>
                <a:spcPts val="500"/>
              </a:spcAft>
              <a:defRPr sz="1600" b="0">
                <a:solidFill>
                  <a:srgbClr val="37474F"/>
                </a:solidFill>
                <a:latin typeface="Calibri"/>
              </a:defRPr>
            </a:pPr>
            <a:r>
              <a:t>▸  Plugin logic executes inside Lightning-Rod on the board, close to sensors and actuators where latency is lowest.</a:t>
            </a:r>
          </a:p>
          <a:p>
            <a:pPr>
              <a:lnSpc>
                <a:spcPct val="115000"/>
              </a:lnSpc>
              <a:spcAft>
                <a:spcPts val="500"/>
              </a:spcAft>
              <a:defRPr sz="1600" b="0">
                <a:solidFill>
                  <a:srgbClr val="37474F"/>
                </a:solidFill>
                <a:latin typeface="Calibri"/>
              </a:defRPr>
            </a:pPr>
            <a:r>
              <a:t>▸  The model bridges low-level hardware control on the edge and high-level cloud orchestration through IoTronic APIs.</a:t>
            </a:r>
          </a:p>
          <a:p>
            <a:pPr>
              <a:lnSpc>
                <a:spcPct val="115000"/>
              </a:lnSpc>
              <a:spcAft>
                <a:spcPts val="500"/>
              </a:spcAft>
              <a:defRPr sz="1600" b="0">
                <a:solidFill>
                  <a:srgbClr val="37474F"/>
                </a:solidFill>
                <a:latin typeface="Calibri"/>
              </a:defRPr>
            </a:pPr>
            <a:r>
              <a:t>▸  Domain-specific behavior — environmental monitoring, container management, K3s join — becomes software-defined infrastructure.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plugin management model · Ch.4 I/Ocloud</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Plugin-based architecture — separation of concerns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IoTronic holds the plugin repository, metadata, injection state, and REST/Horizon management APIs in the cloud.</a:t>
            </a:r>
          </a:p>
          <a:p>
            <a:pPr>
              <a:lnSpc>
                <a:spcPct val="115000"/>
              </a:lnSpc>
              <a:spcAft>
                <a:spcPts val="500"/>
              </a:spcAft>
              <a:defRPr sz="1600" b="0">
                <a:solidFill>
                  <a:srgbClr val="37474F"/>
                </a:solidFill>
                <a:latin typeface="Calibri"/>
              </a:defRPr>
            </a:pPr>
            <a:r>
              <a:t>▸  Lightning-Rod loads the Worker class, passes runtime parameters, and supervises execution on the edge node.</a:t>
            </a:r>
          </a:p>
          <a:p>
            <a:pPr>
              <a:lnSpc>
                <a:spcPct val="115000"/>
              </a:lnSpc>
              <a:spcAft>
                <a:spcPts val="500"/>
              </a:spcAft>
              <a:defRPr sz="1600" b="0">
                <a:solidFill>
                  <a:srgbClr val="37474F"/>
                </a:solidFill>
                <a:latin typeface="Calibri"/>
              </a:defRPr>
            </a:pPr>
            <a:r>
              <a:t>▸  Each plugin is an independent unit: deploy, update, interrupt, or remove without restarting the full LR agent.</a:t>
            </a:r>
          </a:p>
          <a:p>
            <a:pPr>
              <a:lnSpc>
                <a:spcPct val="115000"/>
              </a:lnSpc>
              <a:spcAft>
                <a:spcPts val="500"/>
              </a:spcAft>
              <a:defRPr sz="1600" b="0">
                <a:solidFill>
                  <a:srgbClr val="37474F"/>
                </a:solidFill>
                <a:latin typeface="Calibri"/>
              </a:defRPr>
            </a:pPr>
            <a:r>
              <a:t>▸  Callable flag in Horizon marks synchronous plugins; non-callable plugins run as long-lived background workers.</a:t>
            </a:r>
          </a:p>
          <a:p>
            <a:pPr>
              <a:lnSpc>
                <a:spcPct val="115000"/>
              </a:lnSpc>
              <a:spcAft>
                <a:spcPts val="500"/>
              </a:spcAft>
              <a:defRPr sz="1600" b="0">
                <a:solidFill>
                  <a:srgbClr val="37474F"/>
                </a:solidFill>
                <a:latin typeface="Calibri"/>
              </a:defRPr>
            </a:pPr>
            <a:r>
              <a:t>▸  Results flow back through q_result queues to IoTronic, where Horizon and REST consumers read them.</a:t>
            </a:r>
          </a:p>
          <a:p>
            <a:pPr>
              <a:lnSpc>
                <a:spcPct val="115000"/>
              </a:lnSpc>
              <a:spcAft>
                <a:spcPts val="500"/>
              </a:spcAft>
              <a:defRPr sz="1600" b="0">
                <a:solidFill>
                  <a:srgbClr val="37474F"/>
                </a:solidFill>
                <a:latin typeface="Calibri"/>
              </a:defRPr>
            </a:pPr>
            <a:r>
              <a:t>▸  This mirrors the I/Ocloud idea from Chapter 4 — physical capability exposed as a remotely invocable function.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lst:plugin-skeleton · Plugin Manager</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Lightning-Rod Plugin Manager runtime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Plugin Manager on each board loads the Python Worker subclass into an isolated execution context.</a:t>
            </a:r>
          </a:p>
          <a:p>
            <a:pPr>
              <a:lnSpc>
                <a:spcPct val="115000"/>
              </a:lnSpc>
              <a:spcAft>
                <a:spcPts val="500"/>
              </a:spcAft>
              <a:defRPr sz="1600" b="0">
                <a:solidFill>
                  <a:srgbClr val="37474F"/>
                </a:solidFill>
                <a:latin typeface="Calibri"/>
              </a:defRPr>
            </a:pPr>
            <a:r>
              <a:t>▸  Constructor signature is fixed: __init__(self, uuid, name, q_result, params=None) calling super on Plugin.Plugin.</a:t>
            </a:r>
          </a:p>
          <a:p>
            <a:pPr>
              <a:lnSpc>
                <a:spcPct val="115000"/>
              </a:lnSpc>
              <a:spcAft>
                <a:spcPts val="500"/>
              </a:spcAft>
              <a:defRPr sz="1600" b="0">
                <a:solidFill>
                  <a:srgbClr val="37474F"/>
                </a:solidFill>
                <a:latin typeface="Calibri"/>
              </a:defRPr>
            </a:pPr>
            <a:r>
              <a:t>▸  self.params carries the JSON dict from a Plugin Call in synchronous mode or startup configuration in async mode.</a:t>
            </a:r>
          </a:p>
          <a:p>
            <a:pPr>
              <a:lnSpc>
                <a:spcPct val="115000"/>
              </a:lnSpc>
              <a:spcAft>
                <a:spcPts val="500"/>
              </a:spcAft>
              <a:defRPr sz="1600" b="0">
                <a:solidFill>
                  <a:srgbClr val="37474F"/>
                </a:solidFill>
                <a:latin typeface="Calibri"/>
              </a:defRPr>
            </a:pPr>
            <a:r>
              <a:t>▸  self.q_result is a queue where run() puts return values that IoTronic forwards to the cloud caller or dashboard.</a:t>
            </a:r>
          </a:p>
          <a:p>
            <a:pPr>
              <a:lnSpc>
                <a:spcPct val="115000"/>
              </a:lnSpc>
              <a:spcAft>
                <a:spcPts val="500"/>
              </a:spcAft>
              <a:defRPr sz="1600" b="0">
                <a:solidFill>
                  <a:srgbClr val="37474F"/>
                </a:solidFill>
                <a:latin typeface="Calibri"/>
              </a:defRPr>
            </a:pPr>
            <a:r>
              <a:t>▸  Execution modes include callable (sync on demand), onboot (start when LR starts), and periodic (scheduled intervals).</a:t>
            </a:r>
          </a:p>
          <a:p>
            <a:pPr>
              <a:lnSpc>
                <a:spcPct val="115000"/>
              </a:lnSpc>
              <a:spcAft>
                <a:spcPts val="500"/>
              </a:spcAft>
              <a:defRPr sz="1600" b="0">
                <a:solidFill>
                  <a:srgbClr val="37474F"/>
                </a:solidFill>
                <a:latin typeface="Calibri"/>
              </a:defRPr>
            </a:pPr>
            <a:r>
              <a:t>▸  The run() method is the single entry point — all plugin business logic lives inside it or methods it calls.</a:t>
            </a:r>
          </a:p>
          <a:p>
            <a:pPr>
              <a:lnSpc>
                <a:spcPct val="115000"/>
              </a:lnSpc>
              <a:spcAft>
                <a:spcPts val="500"/>
              </a:spcAft>
              <a:defRPr sz="1600" b="0">
                <a:solidFill>
                  <a:srgbClr val="37474F"/>
                </a:solidFill>
                <a:latin typeface="Calibri"/>
              </a:defRPr>
            </a:pPr>
            <a:r>
              <a:t>▸  LR 0.4.17 requires the Python class to be named Worker regardless of the display name shown in Horizon.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Asynchronous plugins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Continuous edge workloads · Ch.14 §14.1.1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§14.1.1 · asynchronous plugins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Asynchronous plugins — purpose and pipeline (Ch.14 §14.1.1)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Asynchronous plugins run continuously or at fixed intervals without an explicit cloud trigger for each iteration.</a:t>
            </a:r>
          </a:p>
          <a:p>
            <a:pPr>
              <a:lnSpc>
                <a:spcPct val="115000"/>
              </a:lnSpc>
              <a:spcAft>
                <a:spcPts val="500"/>
              </a:spcAft>
              <a:defRPr sz="1600" b="0">
                <a:solidFill>
                  <a:srgbClr val="37474F"/>
                </a:solidFill>
                <a:latin typeface="Calibri"/>
              </a:defRPr>
            </a:pPr>
            <a:r>
              <a:t>▸  They remain active in the background until an operator sends Stop or Interrupt from IoTronic or Horizon.</a:t>
            </a:r>
          </a:p>
          <a:p>
            <a:pPr>
              <a:lnSpc>
                <a:spcPct val="115000"/>
              </a:lnSpc>
              <a:spcAft>
                <a:spcPts val="500"/>
              </a:spcAft>
              <a:defRPr sz="1600" b="0">
                <a:solidFill>
                  <a:srgbClr val="37474F"/>
                </a:solidFill>
                <a:latin typeface="Calibri"/>
              </a:defRPr>
            </a:pPr>
            <a:r>
              <a:t>▸  The canonical pipeline is: Lightning-Rod → Sensor Plugin → Database → Visualization dashboard.</a:t>
            </a:r>
          </a:p>
          <a:p>
            <a:pPr>
              <a:lnSpc>
                <a:spcPct val="115000"/>
              </a:lnSpc>
              <a:spcAft>
                <a:spcPts val="500"/>
              </a:spcAft>
              <a:defRPr sz="1600" b="0">
                <a:solidFill>
                  <a:srgbClr val="37474F"/>
                </a:solidFill>
                <a:latin typeface="Calibri"/>
              </a:defRPr>
            </a:pPr>
            <a:r>
              <a:t>▸  Environmental monitoring, weather stations, and air-quality streams are the primary motivating use cases.</a:t>
            </a:r>
          </a:p>
          <a:p>
            <a:pPr>
              <a:lnSpc>
                <a:spcPct val="115000"/>
              </a:lnSpc>
              <a:spcAft>
                <a:spcPts val="500"/>
              </a:spcAft>
              <a:defRPr sz="1600" b="0">
                <a:solidFill>
                  <a:srgbClr val="37474F"/>
                </a:solidFill>
                <a:latin typeface="Calibri"/>
              </a:defRPr>
            </a:pPr>
            <a:r>
              <a:t>▸  Module C (Chapter 15) deploys the environmental_data async publisher writing CSV rows to InfluxDB every 30 seconds.</a:t>
            </a:r>
          </a:p>
          <a:p>
            <a:pPr>
              <a:lnSpc>
                <a:spcPct val="115000"/>
              </a:lnSpc>
              <a:spcAft>
                <a:spcPts val="500"/>
              </a:spcAft>
              <a:defRPr sz="1600" b="0">
                <a:solidFill>
                  <a:srgbClr val="37474F"/>
                </a:solidFill>
                <a:latin typeface="Calibri"/>
              </a:defRPr>
            </a:pPr>
            <a:r>
              <a:t>▸  Async plugins use while self._is_running loops with time.sleep intervals between acquisition cycles.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weather station async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Asynchronous plugins — weather station example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book's weather station plugin reads temperature, humidity, and barometric pressure from board sensors every 60 seconds.</a:t>
            </a:r>
          </a:p>
          <a:p>
            <a:pPr>
              <a:lnSpc>
                <a:spcPct val="115000"/>
              </a:lnSpc>
              <a:spcAft>
                <a:spcPts val="500"/>
              </a:spcAft>
              <a:defRPr sz="1600" b="0">
                <a:solidFill>
                  <a:srgbClr val="37474F"/>
                </a:solidFill>
                <a:latin typeface="Calibri"/>
              </a:defRPr>
            </a:pPr>
            <a:r>
              <a:t>▸  Each reading is timestamped, optionally enriched with device metadata, and written to a local or remote time-series store.</a:t>
            </a:r>
          </a:p>
          <a:p>
            <a:pPr>
              <a:lnSpc>
                <a:spcPct val="115000"/>
              </a:lnSpc>
              <a:spcAft>
                <a:spcPts val="500"/>
              </a:spcAft>
              <a:defRPr sz="1600" b="0">
                <a:solidFill>
                  <a:srgbClr val="37474F"/>
                </a:solidFill>
                <a:latin typeface="Calibri"/>
              </a:defRPr>
            </a:pPr>
            <a:r>
              <a:t>▸  Grafana or CKAN portals consume the stored series for operator dashboards and open-data publication.</a:t>
            </a:r>
          </a:p>
          <a:p>
            <a:pPr>
              <a:lnSpc>
                <a:spcPct val="115000"/>
              </a:lnSpc>
              <a:spcAft>
                <a:spcPts val="500"/>
              </a:spcAft>
              <a:defRPr sz="1600" b="0">
                <a:solidFill>
                  <a:srgbClr val="37474F"/>
                </a:solidFill>
                <a:latin typeface="Calibri"/>
              </a:defRPr>
            </a:pPr>
            <a:r>
              <a:t>▸  Because the plugin runs autonomously, network interruptions can be handled with local buffering and resume logic.</a:t>
            </a:r>
          </a:p>
          <a:p>
            <a:pPr>
              <a:lnSpc>
                <a:spcPct val="115000"/>
              </a:lnSpc>
              <a:spcAft>
                <a:spcPts val="500"/>
              </a:spcAft>
              <a:defRPr sz="1600" b="0">
                <a:solidFill>
                  <a:srgbClr val="37474F"/>
                </a:solidFill>
                <a:latin typeface="Calibri"/>
              </a:defRPr>
            </a:pPr>
            <a:r>
              <a:t>▸  Horizon shows async plugins with Callable = OFF; activation uses Start rather than Plugin Call.</a:t>
            </a:r>
          </a:p>
          <a:p>
            <a:pPr>
              <a:lnSpc>
                <a:spcPct val="115000"/>
              </a:lnSpc>
              <a:spcAft>
                <a:spcPts val="500"/>
              </a:spcAft>
              <a:defRPr sz="1600" b="0">
                <a:solidFill>
                  <a:srgbClr val="37474F"/>
                </a:solidFill>
                <a:latin typeface="Calibri"/>
              </a:defRPr>
            </a:pPr>
            <a:r>
              <a:t>▸  Interrupt stops the _is_running loop cleanly so the board can accept updated plugin code on the next inject.</a:t>
            </a:r>
          </a:p>
          <a:p>
            <a:pPr>
              <a:lnSpc>
                <a:spcPct val="115000"/>
              </a:lnSpc>
              <a:spcAft>
                <a:spcPts val="500"/>
              </a:spcAft>
              <a:defRPr sz="1600" b="0">
                <a:solidFill>
                  <a:srgbClr val="37474F"/>
                </a:solidFill>
                <a:latin typeface="Calibri"/>
              </a:defRPr>
            </a:pPr>
            <a:r>
              <a:t>▸  Listing reference: lst:plugin-async and ch14/plugins/asynchronous/weather_station_plugin.py.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§14.1.1 · async vs sync decision guide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Asynchronous plugins — when to choose async mode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Choose async when data must be collected on a schedule independent of human or API-driven triggers.</a:t>
            </a:r>
          </a:p>
          <a:p>
            <a:pPr>
              <a:lnSpc>
                <a:spcPct val="115000"/>
              </a:lnSpc>
              <a:spcAft>
                <a:spcPts val="500"/>
              </a:spcAft>
              <a:defRPr sz="1600" b="0">
                <a:solidFill>
                  <a:srgbClr val="37474F"/>
                </a:solidFill>
                <a:latin typeface="Calibri"/>
              </a:defRPr>
            </a:pPr>
            <a:r>
              <a:t>▸  Choose async when the workload is long-running and would exceed reasonable synchronous call timeouts.</a:t>
            </a:r>
          </a:p>
          <a:p>
            <a:pPr>
              <a:lnSpc>
                <a:spcPct val="115000"/>
              </a:lnSpc>
              <a:spcAft>
                <a:spcPts val="500"/>
              </a:spcAft>
              <a:defRPr sz="1600" b="0">
                <a:solidFill>
                  <a:srgbClr val="37474F"/>
                </a:solidFill>
                <a:latin typeface="Calibri"/>
              </a:defRPr>
            </a:pPr>
            <a:r>
              <a:t>▸  Choose async when multiple samples must be aggregated before cloud upload to reduce bandwidth and cost.</a:t>
            </a:r>
          </a:p>
          <a:p>
            <a:pPr>
              <a:lnSpc>
                <a:spcPct val="115000"/>
              </a:lnSpc>
              <a:spcAft>
                <a:spcPts val="500"/>
              </a:spcAft>
              <a:defRPr sz="1600" b="0">
                <a:solidFill>
                  <a:srgbClr val="37474F"/>
                </a:solidFill>
                <a:latin typeface="Calibri"/>
              </a:defRPr>
            </a:pPr>
            <a:r>
              <a:t>▸  Do not use async for one-shot diagnostics, GPIO toggles, or Docker operations that need immediate JSON responses.</a:t>
            </a:r>
          </a:p>
          <a:p>
            <a:pPr>
              <a:lnSpc>
                <a:spcPct val="115000"/>
              </a:lnSpc>
              <a:spcAft>
                <a:spcPts val="500"/>
              </a:spcAft>
              <a:defRPr sz="1600" b="0">
                <a:solidFill>
                  <a:srgbClr val="37474F"/>
                </a:solidFill>
                <a:latin typeface="Calibri"/>
              </a:defRPr>
            </a:pPr>
            <a:r>
              <a:t>▸  Async plugins may still push interim results to q_result for live monitoring, but primary output is often direct DB writes.</a:t>
            </a:r>
          </a:p>
          <a:p>
            <a:pPr>
              <a:lnSpc>
                <a:spcPct val="115000"/>
              </a:lnSpc>
              <a:spcAft>
                <a:spcPts val="500"/>
              </a:spcAft>
              <a:defRPr sz="1600" b="0">
                <a:solidFill>
                  <a:srgbClr val="37474F"/>
                </a:solidFill>
                <a:latin typeface="Calibri"/>
              </a:defRPr>
            </a:pPr>
            <a:r>
              <a:t>▸  State persistence — e.g. last_index.state in Ch.15 — enables fault-tolerant resume after restart or crash.</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Synchronous plugins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On-demand edge microservices · Ch.14 §14.1.2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§14.1.2 · synchronous plugins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Synchronous plugins — purpose and pipeline (Ch.14 §14.1.2)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Synchronous plugins remain dormant on the board until explicitly invoked by a Plugin Call from IoTronic.</a:t>
            </a:r>
          </a:p>
          <a:p>
            <a:pPr>
              <a:lnSpc>
                <a:spcPct val="115000"/>
              </a:lnSpc>
              <a:spcAft>
                <a:spcPts val="500"/>
              </a:spcAft>
              <a:defRPr sz="1600" b="0">
                <a:solidFill>
                  <a:srgbClr val="37474F"/>
                </a:solidFill>
                <a:latin typeface="Calibri"/>
              </a:defRPr>
            </a:pPr>
            <a:r>
              <a:t>▸  Each invocation runs run() exactly once, places the result on q_result, and returns control to the Plugin Manager.</a:t>
            </a:r>
          </a:p>
          <a:p>
            <a:pPr>
              <a:lnSpc>
                <a:spcPct val="115000"/>
              </a:lnSpc>
              <a:spcAft>
                <a:spcPts val="500"/>
              </a:spcAft>
              <a:defRPr sz="1600" b="0">
                <a:solidFill>
                  <a:srgbClr val="37474F"/>
                </a:solidFill>
                <a:latin typeface="Calibri"/>
              </a:defRPr>
            </a:pPr>
            <a:r>
              <a:t>▸  The pipeline is: Cloud Request → IoTronic Plugin Call → Lightning-Rod executes Worker → result returned to caller.</a:t>
            </a:r>
          </a:p>
          <a:p>
            <a:pPr>
              <a:lnSpc>
                <a:spcPct val="115000"/>
              </a:lnSpc>
              <a:spcAft>
                <a:spcPts val="500"/>
              </a:spcAft>
              <a:defRPr sz="1600" b="0">
                <a:solidFill>
                  <a:srgbClr val="37474F"/>
                </a:solidFill>
                <a:latin typeface="Calibri"/>
              </a:defRPr>
            </a:pPr>
            <a:r>
              <a:t>▸  They behave like callable microservices embedded on the IoT board, addressable via Horizon UI or REST API.</a:t>
            </a:r>
          </a:p>
          <a:p>
            <a:pPr>
              <a:lnSpc>
                <a:spcPct val="115000"/>
              </a:lnSpc>
              <a:spcAft>
                <a:spcPts val="500"/>
              </a:spcAft>
              <a:defRPr sz="1600" b="0">
                <a:solidFill>
                  <a:srgbClr val="37474F"/>
                </a:solidFill>
                <a:latin typeface="Calibri"/>
              </a:defRPr>
            </a:pPr>
            <a:r>
              <a:t>▸  Use cases include instant sensor reads, GPIO or LED control, Docker container lifecycle, and K3s cluster join/status.</a:t>
            </a:r>
          </a:p>
          <a:p>
            <a:pPr>
              <a:lnSpc>
                <a:spcPct val="115000"/>
              </a:lnSpc>
              <a:spcAft>
                <a:spcPts val="500"/>
              </a:spcAft>
              <a:defRPr sz="1600" b="0">
                <a:solidFill>
                  <a:srgbClr val="37474F"/>
                </a:solidFill>
                <a:latin typeface="Calibri"/>
              </a:defRPr>
            </a:pPr>
            <a:r>
              <a:t>▸  Horizon Create Plugin form sets Callable = ON to register the plugin in synchronous mode.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lst:plugin-sync · hello_name_plugin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Synchronous plugins — HelloName as canonical example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HelloName reads a name parameter from self.params and returns a personalized greeting string.</a:t>
            </a:r>
          </a:p>
          <a:p>
            <a:pPr>
              <a:lnSpc>
                <a:spcPct val="115000"/>
              </a:lnSpc>
              <a:spcAft>
                <a:spcPts val="500"/>
              </a:spcAft>
              <a:defRPr sz="1600" b="0">
                <a:solidFill>
                  <a:srgbClr val="37474F"/>
                </a:solidFill>
                <a:latin typeface="Calibri"/>
              </a:defRPr>
            </a:pPr>
            <a:r>
              <a:t>▸  If name is omitted, the plugin defaults to User — demonstrating defensive parameter handling on the edge.</a:t>
            </a:r>
          </a:p>
          <a:p>
            <a:pPr>
              <a:lnSpc>
                <a:spcPct val="115000"/>
              </a:lnSpc>
              <a:spcAft>
                <a:spcPts val="500"/>
              </a:spcAft>
              <a:defRPr sz="1600" b="0">
                <a:solidFill>
                  <a:srgbClr val="37474F"/>
                </a:solidFill>
                <a:latin typeface="Calibri"/>
              </a:defRPr>
            </a:pPr>
            <a:r>
              <a:t>▸  LOG.info writes the same message through oslo_log for centralized traceability in production deployments.</a:t>
            </a:r>
          </a:p>
          <a:p>
            <a:pPr>
              <a:lnSpc>
                <a:spcPct val="115000"/>
              </a:lnSpc>
              <a:spcAft>
                <a:spcPts val="500"/>
              </a:spcAft>
              <a:defRPr sz="1600" b="0">
                <a:solidFill>
                  <a:srgbClr val="37474F"/>
                </a:solidFill>
                <a:latin typeface="Calibri"/>
              </a:defRPr>
            </a:pPr>
            <a:r>
              <a:t>▸  The entire request–response cycle typically completes in sub-second time over the WAMP control channel.</a:t>
            </a:r>
          </a:p>
          <a:p>
            <a:pPr>
              <a:lnSpc>
                <a:spcPct val="115000"/>
              </a:lnSpc>
              <a:spcAft>
                <a:spcPts val="500"/>
              </a:spcAft>
              <a:defRPr sz="1600" b="0">
                <a:solidFill>
                  <a:srgbClr val="37474F"/>
                </a:solidFill>
                <a:latin typeface="Calibri"/>
              </a:defRPr>
            </a:pPr>
            <a:r>
              <a:t>▸  Listing lst:plugin-sync is the reference implementation used in today's hands-on lab block.</a:t>
            </a:r>
          </a:p>
          <a:p>
            <a:pPr>
              <a:lnSpc>
                <a:spcPct val="115000"/>
              </a:lnSpc>
              <a:spcAft>
                <a:spcPts val="500"/>
              </a:spcAft>
              <a:defRPr sz="1600" b="0">
                <a:solidFill>
                  <a:srgbClr val="37474F"/>
                </a:solidFill>
                <a:latin typeface="Calibri"/>
              </a:defRPr>
            </a:pPr>
            <a:r>
              <a:t>▸  Once HelloName works, the same inject-and-call pattern applies to LED control and Docker lifecycle plugins.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§14.1.3 · orchestrator agent lifecycle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Orchestrator agent lifecycle plugin (Ch.14 §14.1.3)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Separate from application Workers — manages board-side orchestrator agent state.</a:t>
            </a:r>
          </a:p>
          <a:p>
            <a:pPr>
              <a:lnSpc>
                <a:spcPct val="115000"/>
              </a:lnSpc>
              <a:spcAft>
                <a:spcPts val="500"/>
              </a:spcAft>
              <a:defRPr sz="1600" b="0">
                <a:solidFill>
                  <a:srgbClr val="37474F"/>
                </a:solidFill>
                <a:latin typeface="Calibri"/>
              </a:defRPr>
            </a:pPr>
            <a:r>
              <a:t>▸  Listing lst:plugin-orchestrator documents join/status/leave operations for edge agents.</a:t>
            </a:r>
          </a:p>
          <a:p>
            <a:pPr>
              <a:lnSpc>
                <a:spcPct val="115000"/>
              </a:lnSpc>
              <a:spcAft>
                <a:spcPts val="500"/>
              </a:spcAft>
              <a:defRPr sz="1600" b="0">
                <a:solidFill>
                  <a:srgbClr val="37474F"/>
                </a:solidFill>
                <a:latin typeface="Calibri"/>
              </a:defRPr>
            </a:pPr>
            <a:r>
              <a:t>▸  Used when LR must coordinate with external orchestration platforms beyond IoTronic alone.</a:t>
            </a:r>
          </a:p>
          <a:p>
            <a:pPr>
              <a:lnSpc>
                <a:spcPct val="115000"/>
              </a:lnSpc>
              <a:spcAft>
                <a:spcPts val="500"/>
              </a:spcAft>
              <a:defRPr sz="1600" b="0">
                <a:solidFill>
                  <a:srgbClr val="37474F"/>
                </a:solidFill>
                <a:latin typeface="Calibri"/>
              </a:defRPr>
            </a:pPr>
            <a:r>
              <a:t>▸  Distinct from K3s lifecycle plugin — different privilege and API surface.</a:t>
            </a:r>
          </a:p>
          <a:p>
            <a:pPr>
              <a:lnSpc>
                <a:spcPct val="115000"/>
              </a:lnSpc>
              <a:spcAft>
                <a:spcPts val="500"/>
              </a:spcAft>
              <a:defRPr sz="1600" b="0">
                <a:solidFill>
                  <a:srgbClr val="37474F"/>
                </a:solidFill>
                <a:latin typeface="Calibri"/>
              </a:defRPr>
            </a:pPr>
            <a:r>
              <a:t>▸  Not exercised in core lab — documented for completeness against book §14.1.3.</a:t>
            </a:r>
          </a:p>
          <a:p>
            <a:pPr>
              <a:lnSpc>
                <a:spcPct val="115000"/>
              </a:lnSpc>
              <a:spcAft>
                <a:spcPts val="500"/>
              </a:spcAft>
              <a:defRPr sz="1600" b="0">
                <a:solidFill>
                  <a:srgbClr val="37474F"/>
                </a:solidFill>
                <a:latin typeface="Calibri"/>
              </a:defRPr>
            </a:pPr>
            <a:r>
              <a:t>▸  Shows plugin model generality: any board-side Python logic can become a Worker.</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§14.3 · GPIO weather server · demos/weather_web_server.py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GPIO and LED control plugin (Ch.14)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Book web-services example reads /sys/class/gpio and toggles LED via POST /led.</a:t>
            </a:r>
          </a:p>
          <a:p>
            <a:pPr>
              <a:lnSpc>
                <a:spcPct val="115000"/>
              </a:lnSpc>
              <a:spcAft>
                <a:spcPts val="500"/>
              </a:spcAft>
              <a:defRPr sz="1600" b="0">
                <a:solidFill>
                  <a:srgbClr val="37474F"/>
                </a:solidFill>
                <a:latin typeface="Calibri"/>
              </a:defRPr>
            </a:pPr>
            <a:r>
              <a:t>▸  Hardware-facing WoT: REST endpoint maps to physical actuator on Raspberry Pi board.</a:t>
            </a:r>
          </a:p>
          <a:p>
            <a:pPr>
              <a:lnSpc>
                <a:spcPct val="115000"/>
              </a:lnSpc>
              <a:spcAft>
                <a:spcPts val="500"/>
              </a:spcAft>
              <a:defRPr sz="1600" b="0">
                <a:solidFill>
                  <a:srgbClr val="37474F"/>
                </a:solidFill>
                <a:latin typeface="Calibri"/>
              </a:defRPr>
            </a:pPr>
            <a:r>
              <a:t>▸  Contrasts with HelloName (pure software) and environmental (database publisher) plugins.</a:t>
            </a:r>
          </a:p>
          <a:p>
            <a:pPr>
              <a:lnSpc>
                <a:spcPct val="115000"/>
              </a:lnSpc>
              <a:spcAft>
                <a:spcPts val="500"/>
              </a:spcAft>
              <a:defRPr sz="1600" b="0">
                <a:solidFill>
                  <a:srgbClr val="37474F"/>
                </a:solidFill>
                <a:latin typeface="Calibri"/>
              </a:defRPr>
            </a:pPr>
            <a:r>
              <a:t>▸  Requires LR with GPIO access — Docker lab simulates HTTP; hardware pilots use real pins.</a:t>
            </a:r>
          </a:p>
          <a:p>
            <a:pPr>
              <a:lnSpc>
                <a:spcPct val="115000"/>
              </a:lnSpc>
              <a:spcAft>
                <a:spcPts val="500"/>
              </a:spcAft>
              <a:defRPr sz="1600" b="0">
                <a:solidFill>
                  <a:srgbClr val="37474F"/>
                </a:solidFill>
                <a:latin typeface="Calibri"/>
              </a:defRPr>
            </a:pPr>
            <a:r>
              <a:t>▸  Same inject + ServiceEnable path as weather_web_server.py for public WoT exposure.</a:t>
            </a:r>
          </a:p>
          <a:p>
            <a:pPr>
              <a:lnSpc>
                <a:spcPct val="115000"/>
              </a:lnSpc>
              <a:spcAft>
                <a:spcPts val="500"/>
              </a:spcAft>
              <a:defRPr sz="1600" b="0">
                <a:solidFill>
                  <a:srgbClr val="37474F"/>
                </a:solidFill>
                <a:latin typeface="Calibri"/>
              </a:defRPr>
            </a:pPr>
            <a:r>
              <a:t>▸  Connects Module B plugin model to Module F GPIO/LED endpoints in ch14 demos.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§14.1.2 · Plugin Call semantics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Synchronous plugins — parameter contracts and REST</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Plugin Call accepts a JSON object whose keys map directly to self.params inside Worker.run().</a:t>
            </a:r>
          </a:p>
          <a:p>
            <a:pPr>
              <a:lnSpc>
                <a:spcPct val="115000"/>
              </a:lnSpc>
              <a:spcAft>
                <a:spcPts val="500"/>
              </a:spcAft>
              <a:defRPr sz="1600" b="0">
                <a:solidFill>
                  <a:srgbClr val="37474F"/>
                </a:solidFill>
                <a:latin typeface="Calibri"/>
              </a:defRPr>
            </a:pPr>
            <a:r>
              <a:t>▸  Horizon provides a Call dialog; equivalent automation uses IoTronic REST endpoints on the Conductor API.</a:t>
            </a:r>
          </a:p>
          <a:p>
            <a:pPr>
              <a:lnSpc>
                <a:spcPct val="115000"/>
              </a:lnSpc>
              <a:spcAft>
                <a:spcPts val="500"/>
              </a:spcAft>
              <a:defRPr sz="1600" b="0">
                <a:solidFill>
                  <a:srgbClr val="37474F"/>
                </a:solidFill>
                <a:latin typeface="Calibri"/>
              </a:defRPr>
            </a:pPr>
            <a:r>
              <a:t>▸  Input parameter JSON schemas can be declared at plugin creation time to document expected Call payloads.</a:t>
            </a:r>
          </a:p>
          <a:p>
            <a:pPr>
              <a:lnSpc>
                <a:spcPct val="115000"/>
              </a:lnSpc>
              <a:spcAft>
                <a:spcPts val="500"/>
              </a:spcAft>
              <a:defRPr sz="1600" b="0">
                <a:solidFill>
                  <a:srgbClr val="37474F"/>
                </a:solidFill>
                <a:latin typeface="Calibri"/>
              </a:defRPr>
            </a:pPr>
            <a:r>
              <a:t>▸  Errors inside run() should be logged with LOG.error and returned as structured JSON on q_result when possible.</a:t>
            </a:r>
          </a:p>
          <a:p>
            <a:pPr>
              <a:lnSpc>
                <a:spcPct val="115000"/>
              </a:lnSpc>
              <a:spcAft>
                <a:spcPts val="500"/>
              </a:spcAft>
              <a:defRPr sz="1600" b="0">
                <a:solidFill>
                  <a:srgbClr val="37474F"/>
                </a:solidFill>
                <a:latin typeface="Calibri"/>
              </a:defRPr>
            </a:pPr>
            <a:r>
              <a:t>▸  Synchronous plugins do not use self._is_running loops unless the operation itself is intentionally long.</a:t>
            </a:r>
          </a:p>
          <a:p>
            <a:pPr>
              <a:lnSpc>
                <a:spcPct val="115000"/>
              </a:lnSpc>
              <a:spcAft>
                <a:spcPts val="500"/>
              </a:spcAft>
              <a:defRPr sz="1600" b="0">
                <a:solidFill>
                  <a:srgbClr val="37474F"/>
                </a:solidFill>
                <a:latin typeface="Calibri"/>
              </a:defRPr>
            </a:pPr>
            <a:r>
              <a:t>▸  Callable plugins can be injected on multiple boards and invoked independently with different params per board.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Plugin pipelines — sync vs async</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lugin-sync-async.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Theory diagram — pairs HelloName (sync) with Ch.15 environmental publisher (async)</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Plugin lifecycle</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Seven steps from development to removal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plugin lifecycle · steps 1–2</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Plugin lifecycle — steps 1–2: develop and register</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Step 1 — Develop: write Python source following the S4T skeleton with Worker class, oslo_log, and run() method.</a:t>
            </a:r>
          </a:p>
          <a:p>
            <a:pPr>
              <a:lnSpc>
                <a:spcPct val="115000"/>
              </a:lnSpc>
              <a:spcAft>
                <a:spcPts val="500"/>
              </a:spcAft>
              <a:defRPr sz="1600" b="0">
                <a:solidFill>
                  <a:srgbClr val="37474F"/>
                </a:solidFill>
                <a:latin typeface="Calibri"/>
              </a:defRPr>
            </a:pPr>
            <a:r>
              <a:t>▸  Test logic locally where possible using a mock q_result queue before uploading to IoTronic.</a:t>
            </a:r>
          </a:p>
          <a:p>
            <a:pPr>
              <a:lnSpc>
                <a:spcPct val="115000"/>
              </a:lnSpc>
              <a:spcAft>
                <a:spcPts val="500"/>
              </a:spcAft>
              <a:defRPr sz="1600" b="0">
                <a:solidFill>
                  <a:srgbClr val="37474F"/>
                </a:solidFill>
                <a:latin typeface="Calibri"/>
              </a:defRPr>
            </a:pPr>
            <a:r>
              <a:t>▸  Step 2 — Create: upload the plugin to the IoTronic repository via Horizon Create Plugin or Conductor REST API.</a:t>
            </a:r>
          </a:p>
          <a:p>
            <a:pPr>
              <a:lnSpc>
                <a:spcPct val="115000"/>
              </a:lnSpc>
              <a:spcAft>
                <a:spcPts val="500"/>
              </a:spcAft>
              <a:defRPr sz="1600" b="0">
                <a:solidFill>
                  <a:srgbClr val="37474F"/>
                </a:solidFill>
                <a:latin typeface="Calibri"/>
              </a:defRPr>
            </a:pPr>
            <a:r>
              <a:t>▸  Provide display name, description, full source code, and Callable flag (ON = sync, OFF = async).</a:t>
            </a:r>
          </a:p>
          <a:p>
            <a:pPr>
              <a:lnSpc>
                <a:spcPct val="115000"/>
              </a:lnSpc>
              <a:spcAft>
                <a:spcPts val="500"/>
              </a:spcAft>
              <a:defRPr sz="1600" b="0">
                <a:solidFill>
                  <a:srgbClr val="37474F"/>
                </a:solidFill>
                <a:latin typeface="Calibri"/>
              </a:defRPr>
            </a:pPr>
            <a:r>
              <a:t>▸  Optional input-parameter JSON schema documents Plugin Call fields for synchronous plugins.</a:t>
            </a:r>
          </a:p>
          <a:p>
            <a:pPr>
              <a:lnSpc>
                <a:spcPct val="115000"/>
              </a:lnSpc>
              <a:spcAft>
                <a:spcPts val="500"/>
              </a:spcAft>
              <a:defRPr sz="1600" b="0">
                <a:solidFill>
                  <a:srgbClr val="37474F"/>
                </a:solidFill>
                <a:latin typeface="Calibri"/>
              </a:defRPr>
            </a:pPr>
            <a:r>
              <a:t>▸  The plugin receives a repository UUID; it is not yet running on any board until injection.</a:t>
            </a:r>
          </a:p>
          <a:p>
            <a:pPr>
              <a:lnSpc>
                <a:spcPct val="115000"/>
              </a:lnSpc>
              <a:spcAft>
                <a:spcPts val="500"/>
              </a:spcAft>
              <a:defRPr sz="1600" b="0">
                <a:solidFill>
                  <a:srgbClr val="37474F"/>
                </a:solidFill>
                <a:latin typeface="Calibri"/>
              </a:defRPr>
            </a:pPr>
            <a:r>
              <a:t>▸  Book listings: lst:plugin-skeleton (template), lst:plugin-sync, lst:plugin-docker, lst:plugin-k3s-lifecycle.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plugin lifecycle · steps 3–4</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Plugin lifecycle — steps 3–4: inject and execute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Step 3 — Inject: associate the repository plugin with a target board (or fleet) from Horizon Boards → Actions.</a:t>
            </a:r>
          </a:p>
          <a:p>
            <a:pPr>
              <a:lnSpc>
                <a:spcPct val="115000"/>
              </a:lnSpc>
              <a:spcAft>
                <a:spcPts val="500"/>
              </a:spcAft>
              <a:defRPr sz="1600" b="0">
                <a:solidFill>
                  <a:srgbClr val="37474F"/>
                </a:solidFill>
                <a:latin typeface="Calibri"/>
              </a:defRPr>
            </a:pPr>
            <a:r>
              <a:t>▸  Injection copies plugin metadata and source to the edge; Lightning-Rod acknowledges via WAMP messaging.</a:t>
            </a:r>
          </a:p>
          <a:p>
            <a:pPr>
              <a:lnSpc>
                <a:spcPct val="115000"/>
              </a:lnSpc>
              <a:spcAft>
                <a:spcPts val="500"/>
              </a:spcAft>
              <a:defRPr sz="1600" b="0">
                <a:solidFill>
                  <a:srgbClr val="37474F"/>
                </a:solidFill>
                <a:latin typeface="Calibri"/>
              </a:defRPr>
            </a:pPr>
            <a:r>
              <a:t>▸  Step 4 — Execute: for sync plugins, use Plugin Call with JSON params; for async, use Start from Horizon or API.</a:t>
            </a:r>
          </a:p>
          <a:p>
            <a:pPr>
              <a:lnSpc>
                <a:spcPct val="115000"/>
              </a:lnSpc>
              <a:spcAft>
                <a:spcPts val="500"/>
              </a:spcAft>
              <a:defRPr sz="1600" b="0">
                <a:solidFill>
                  <a:srgbClr val="37474F"/>
                </a:solidFill>
                <a:latin typeface="Calibri"/>
              </a:defRPr>
            </a:pPr>
            <a:r>
              <a:t>▸  Sync execution is single-shot; async execution enters the background loop until Stop or Interrupt.</a:t>
            </a:r>
          </a:p>
          <a:p>
            <a:pPr>
              <a:lnSpc>
                <a:spcPct val="115000"/>
              </a:lnSpc>
              <a:spcAft>
                <a:spcPts val="500"/>
              </a:spcAft>
              <a:defRPr sz="1600" b="0">
                <a:solidFill>
                  <a:srgbClr val="37474F"/>
                </a:solidFill>
                <a:latin typeface="Calibri"/>
              </a:defRPr>
            </a:pPr>
            <a:r>
              <a:t>▸  IoTronic tracks injection state per board so operators see which plugins are attached and running.</a:t>
            </a:r>
          </a:p>
          <a:p>
            <a:pPr>
              <a:lnSpc>
                <a:spcPct val="115000"/>
              </a:lnSpc>
              <a:spcAft>
                <a:spcPts val="500"/>
              </a:spcAft>
              <a:defRPr sz="1600" b="0">
                <a:solidFill>
                  <a:srgbClr val="37474F"/>
                </a:solidFill>
                <a:latin typeface="Calibri"/>
              </a:defRPr>
            </a:pPr>
            <a:r>
              <a:t>▸  Fleet-level inject deploys the same plugin to every member board in one coordinated operation (Ch.14 §14.2).</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plugin lifecycle · steps 5–7</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Plugin lifecycle — steps 5–7: update, interrupt, remove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Step 5 — Update: push revised Python source to the repository and re-inject or hot-update on connected boards.</a:t>
            </a:r>
          </a:p>
          <a:p>
            <a:pPr>
              <a:lnSpc>
                <a:spcPct val="115000"/>
              </a:lnSpc>
              <a:spcAft>
                <a:spcPts val="500"/>
              </a:spcAft>
              <a:defRPr sz="1600" b="0">
                <a:solidFill>
                  <a:srgbClr val="37474F"/>
                </a:solidFill>
                <a:latin typeface="Calibri"/>
              </a:defRPr>
            </a:pPr>
            <a:r>
              <a:t>▸  Remote update avoids truck rolls — critical for large urban deployments like TOO(L)SMART in Chapter 15.</a:t>
            </a:r>
          </a:p>
          <a:p>
            <a:pPr>
              <a:lnSpc>
                <a:spcPct val="115000"/>
              </a:lnSpc>
              <a:spcAft>
                <a:spcPts val="500"/>
              </a:spcAft>
              <a:defRPr sz="1600" b="0">
                <a:solidFill>
                  <a:srgbClr val="37474F"/>
                </a:solidFill>
                <a:latin typeface="Calibri"/>
              </a:defRPr>
            </a:pPr>
            <a:r>
              <a:t>▸  Step 6 — Interrupt: for async plugins, signal _is_running = False to stop the loop without removing the injection.</a:t>
            </a:r>
          </a:p>
          <a:p>
            <a:pPr>
              <a:lnSpc>
                <a:spcPct val="115000"/>
              </a:lnSpc>
              <a:spcAft>
                <a:spcPts val="500"/>
              </a:spcAft>
              <a:defRPr sz="1600" b="0">
                <a:solidFill>
                  <a:srgbClr val="37474F"/>
                </a:solidFill>
                <a:latin typeface="Calibri"/>
              </a:defRPr>
            </a:pPr>
            <a:r>
              <a:t>▸  Interrupt is preferred over kill when the plugin maintains state files or open database connections.</a:t>
            </a:r>
          </a:p>
          <a:p>
            <a:pPr>
              <a:lnSpc>
                <a:spcPct val="115000"/>
              </a:lnSpc>
              <a:spcAft>
                <a:spcPts val="500"/>
              </a:spcAft>
              <a:defRPr sz="1600" b="0">
                <a:solidFill>
                  <a:srgbClr val="37474F"/>
                </a:solidFill>
                <a:latin typeface="Calibri"/>
              </a:defRPr>
            </a:pPr>
            <a:r>
              <a:t>▸  Step 7 — Remove: detach the plugin from the board; Lightning-Rod cleans up execution context and resources.</a:t>
            </a:r>
          </a:p>
          <a:p>
            <a:pPr>
              <a:lnSpc>
                <a:spcPct val="115000"/>
              </a:lnSpc>
              <a:spcAft>
                <a:spcPts val="500"/>
              </a:spcAft>
              <a:defRPr sz="1600" b="0">
                <a:solidFill>
                  <a:srgbClr val="37474F"/>
                </a:solidFill>
                <a:latin typeface="Calibri"/>
              </a:defRPr>
            </a:pPr>
            <a:r>
              <a:t>▸  Full lifecycle control — create, inject, execute, update, interrupt, delete — is available from Horizon and REST.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Structured logging</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oslo_log and centralized observability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Ch.14–15 · oslo_log pattern · lst:plugin-sync</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oslo_log in plugins — pattern and purpose (Ch.14–15)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Every production plugin imports from oslo_log: from oslo_log import log as logging; LOG = logging.getLogger(__name__).</a:t>
            </a:r>
          </a:p>
          <a:p>
            <a:pPr>
              <a:lnSpc>
                <a:spcPct val="115000"/>
              </a:lnSpc>
              <a:spcAft>
                <a:spcPts val="500"/>
              </a:spcAft>
              <a:defRPr sz="1600" b="0">
                <a:solidFill>
                  <a:srgbClr val="37474F"/>
                </a:solidFill>
                <a:latin typeface="Calibri"/>
              </a:defRPr>
            </a:pPr>
            <a:r>
              <a:t>▸  LOG.info, LOG.debug, LOG.warning, and LOG.error provide structured, level-filtered messages from edge execution.</a:t>
            </a:r>
          </a:p>
          <a:p>
            <a:pPr>
              <a:lnSpc>
                <a:spcPct val="115000"/>
              </a:lnSpc>
              <a:spcAft>
                <a:spcPts val="500"/>
              </a:spcAft>
              <a:defRPr sz="1600" b="0">
                <a:solidFill>
                  <a:srgbClr val="37474F"/>
                </a:solidFill>
                <a:latin typeface="Calibri"/>
              </a:defRPr>
            </a:pPr>
            <a:r>
              <a:t>▸  Using the OpenStack logging stack ensures consistent formatting across IoTronic cloud services and Lightning-Rod.</a:t>
            </a:r>
          </a:p>
          <a:p>
            <a:pPr>
              <a:lnSpc>
                <a:spcPct val="115000"/>
              </a:lnSpc>
              <a:spcAft>
                <a:spcPts val="500"/>
              </a:spcAft>
              <a:defRPr sz="1600" b="0">
                <a:solidFill>
                  <a:srgbClr val="37474F"/>
                </a:solidFill>
                <a:latin typeface="Calibri"/>
              </a:defRPr>
            </a:pPr>
            <a:r>
              <a:t>▸  Plugin authors should log entry parameters, major state transitions, and errors — never silent failure on the edge.</a:t>
            </a:r>
          </a:p>
          <a:p>
            <a:pPr>
              <a:lnSpc>
                <a:spcPct val="115000"/>
              </a:lnSpc>
              <a:spcAft>
                <a:spcPts val="500"/>
              </a:spcAft>
              <a:defRPr sz="1600" b="0">
                <a:solidFill>
                  <a:srgbClr val="37474F"/>
                </a:solidFill>
                <a:latin typeface="Calibri"/>
              </a:defRPr>
            </a:pPr>
            <a:r>
              <a:t>▸  HelloName demonstrates the minimum viable pattern: LOG.info(message) alongside self.q_result.put(message).</a:t>
            </a:r>
          </a:p>
          <a:p>
            <a:pPr>
              <a:lnSpc>
                <a:spcPct val="115000"/>
              </a:lnSpc>
              <a:spcAft>
                <a:spcPts val="500"/>
              </a:spcAft>
              <a:defRPr sz="1600" b="0">
                <a:solidFill>
                  <a:srgbClr val="37474F"/>
                </a:solidFill>
                <a:latin typeface="Calibri"/>
              </a:defRPr>
            </a:pPr>
            <a:r>
              <a:t>▸  Docker and environmental plugins extend this with operation names, container ids, and InfluxDB write confirmations.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logging infrastructure · Ch.14 Docker plugin traceability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Centralized logging — production vs lab (Ch.14–15)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In production Stack4Things deployments, Lightning-Rod log streams forward to IoTronic centralized logging service.</a:t>
            </a:r>
          </a:p>
          <a:p>
            <a:pPr>
              <a:lnSpc>
                <a:spcPct val="115000"/>
              </a:lnSpc>
              <a:spcAft>
                <a:spcPts val="500"/>
              </a:spcAft>
              <a:defRPr sz="1600" b="0">
                <a:solidFill>
                  <a:srgbClr val="37474F"/>
                </a:solidFill>
                <a:latin typeface="Calibri"/>
              </a:defRPr>
            </a:pPr>
            <a:r>
              <a:t>▸  Operators query logs across all boards from the cloud without SSH access to individual edge nodes.</a:t>
            </a:r>
          </a:p>
          <a:p>
            <a:pPr>
              <a:lnSpc>
                <a:spcPct val="115000"/>
              </a:lnSpc>
              <a:spcAft>
                <a:spcPts val="500"/>
              </a:spcAft>
              <a:defRPr sz="1600" b="0">
                <a:solidFill>
                  <a:srgbClr val="37474F"/>
                </a:solidFill>
                <a:latin typeface="Calibri"/>
              </a:defRPr>
            </a:pPr>
            <a:r>
              <a:t>▸  Multi-tenant deployments isolate log streams per tenant/project following OpenStack Keystone boundaries.</a:t>
            </a:r>
          </a:p>
          <a:p>
            <a:pPr>
              <a:lnSpc>
                <a:spcPct val="115000"/>
              </a:lnSpc>
              <a:spcAft>
                <a:spcPts val="500"/>
              </a:spcAft>
              <a:defRPr sz="1600" b="0">
                <a:solidFill>
                  <a:srgbClr val="37474F"/>
                </a:solidFill>
                <a:latin typeface="Calibri"/>
              </a:defRPr>
            </a:pPr>
            <a:r>
              <a:t>▸  In the training lab, logs are visible via: docker compose logs lightning-rod | grep Hello (or environmental).</a:t>
            </a:r>
          </a:p>
          <a:p>
            <a:pPr>
              <a:lnSpc>
                <a:spcPct val="115000"/>
              </a:lnSpc>
              <a:spcAft>
                <a:spcPts val="500"/>
              </a:spcAft>
              <a:defRPr sz="1600" b="0">
                <a:solidFill>
                  <a:srgbClr val="37474F"/>
                </a:solidFill>
                <a:latin typeface="Calibri"/>
              </a:defRPr>
            </a:pPr>
            <a:r>
              <a:t>▸  Centralized logging is infrastructure observability — distinct from HTTP services exposed via WSTUN or Designate DNS.</a:t>
            </a:r>
          </a:p>
          <a:p>
            <a:pPr>
              <a:lnSpc>
                <a:spcPct val="115000"/>
              </a:lnSpc>
              <a:spcAft>
                <a:spcPts val="500"/>
              </a:spcAft>
              <a:defRPr sz="1600" b="0">
                <a:solidFill>
                  <a:srgbClr val="37474F"/>
                </a:solidFill>
                <a:latin typeface="Calibri"/>
              </a:defRPr>
            </a:pPr>
            <a:r>
              <a:t>▸  Chapter 15 environmental plugin uses the same oslo_log pattern for each CSV row sent to InfluxDB.</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§14.3 vs logging · Module F handoff</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Logging vs web-exposed services — do not conflate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Plugin logs answer: did the edge logic run, with what parameters, and did it succeed or throw?</a:t>
            </a:r>
          </a:p>
          <a:p>
            <a:pPr>
              <a:lnSpc>
                <a:spcPct val="115000"/>
              </a:lnSpc>
              <a:spcAft>
                <a:spcPts val="500"/>
              </a:spcAft>
              <a:defRPr sz="1600" b="0">
                <a:solidFill>
                  <a:srgbClr val="37474F"/>
                </a:solidFill>
                <a:latin typeface="Calibri"/>
              </a:defRPr>
            </a:pPr>
            <a:r>
              <a:t>▸  Web services answer: can an external HTTP client reach a board-local port through DNS or WSTUN tunnels?</a:t>
            </a:r>
          </a:p>
          <a:p>
            <a:pPr>
              <a:lnSpc>
                <a:spcPct val="115000"/>
              </a:lnSpc>
              <a:spcAft>
                <a:spcPts val="500"/>
              </a:spcAft>
              <a:defRPr sz="1600" b="0">
                <a:solidFill>
                  <a:srgbClr val="37474F"/>
                </a:solidFill>
                <a:latin typeface="Calibri"/>
              </a:defRPr>
            </a:pPr>
            <a:r>
              <a:t>▸  The weather_web_server.py demo (Ch.14 §14.3) exposes GET /sensors — that is a web service, not a log stream.</a:t>
            </a:r>
          </a:p>
          <a:p>
            <a:pPr>
              <a:lnSpc>
                <a:spcPct val="115000"/>
              </a:lnSpc>
              <a:spcAft>
                <a:spcPts val="500"/>
              </a:spcAft>
              <a:defRPr sz="1600" b="0">
                <a:solidFill>
                  <a:srgbClr val="37474F"/>
                </a:solidFill>
                <a:latin typeface="Calibri"/>
              </a:defRPr>
            </a:pPr>
            <a:r>
              <a:t>▸  Docker plugin returns JSON on q_result; LOG.info captures the same facts for audit trails.</a:t>
            </a:r>
          </a:p>
          <a:p>
            <a:pPr>
              <a:lnSpc>
                <a:spcPct val="115000"/>
              </a:lnSpc>
              <a:spcAft>
                <a:spcPts val="500"/>
              </a:spcAft>
              <a:defRPr sz="1600" b="0">
                <a:solidFill>
                  <a:srgbClr val="37474F"/>
                </a:solidFill>
                <a:latin typeface="Calibri"/>
              </a:defRPr>
            </a:pPr>
            <a:r>
              <a:t>▸  When debugging Plugin Call failures, check both Horizon result panel and LR container logs in parallel.</a:t>
            </a:r>
          </a:p>
          <a:p>
            <a:pPr>
              <a:lnSpc>
                <a:spcPct val="115000"/>
              </a:lnSpc>
              <a:spcAft>
                <a:spcPts val="500"/>
              </a:spcAft>
              <a:defRPr sz="1600" b="0">
                <a:solidFill>
                  <a:srgbClr val="37474F"/>
                </a:solidFill>
                <a:latin typeface="Calibri"/>
              </a:defRPr>
            </a:pPr>
            <a:r>
              <a:t>▸  Module F extends web services with WSTUN port forwarding; today's focus is plugin execution and logging.</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HelloName sync plugin</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Listing lst:plugin-sync · Callable =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HelloName — learning outcomes</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700" b="0">
                <a:solidFill>
                  <a:srgbClr val="37474F"/>
                </a:solidFill>
                <a:latin typeface="Calibri"/>
              </a:defRPr>
            </a:pPr>
            <a:r>
              <a:t>▸  Prove that the cloud can invoke customized edge logic on demand with sub-second turnaround over WAMP.</a:t>
            </a:r>
          </a:p>
          <a:p>
            <a:pPr>
              <a:lnSpc>
                <a:spcPct val="115000"/>
              </a:lnSpc>
              <a:spcAft>
                <a:spcPts val="500"/>
              </a:spcAft>
              <a:defRPr sz="1700" b="0">
                <a:solidFill>
                  <a:srgbClr val="37474F"/>
                </a:solidFill>
                <a:latin typeface="Calibri"/>
              </a:defRPr>
            </a:pPr>
            <a:r>
              <a:t>▸  Prove that Plugin Call JSON parameters reach Worker.run() as self.params and drive business logic.</a:t>
            </a:r>
          </a:p>
          <a:p>
            <a:pPr>
              <a:lnSpc>
                <a:spcPct val="115000"/>
              </a:lnSpc>
              <a:spcAft>
                <a:spcPts val="500"/>
              </a:spcAft>
              <a:defRPr sz="1700" b="0">
                <a:solidFill>
                  <a:srgbClr val="37474F"/>
                </a:solidFill>
                <a:latin typeface="Calibri"/>
              </a:defRPr>
            </a:pPr>
            <a:r>
              <a:t>▸  Prove that results return through q_result and appear in the Horizon Plugin Call result panel.</a:t>
            </a:r>
          </a:p>
          <a:p>
            <a:pPr>
              <a:lnSpc>
                <a:spcPct val="115000"/>
              </a:lnSpc>
              <a:spcAft>
                <a:spcPts val="500"/>
              </a:spcAft>
              <a:defRPr sz="1700" b="0">
                <a:solidFill>
                  <a:srgbClr val="37474F"/>
                </a:solidFill>
                <a:latin typeface="Calibri"/>
              </a:defRPr>
            </a:pPr>
            <a:r>
              <a:t>▸  Prove that oslo_log emits the same message inside the Lightning-Rod container for operator verification.</a:t>
            </a:r>
          </a:p>
          <a:p>
            <a:pPr>
              <a:lnSpc>
                <a:spcPct val="115000"/>
              </a:lnSpc>
              <a:spcAft>
                <a:spcPts val="500"/>
              </a:spcAft>
              <a:defRPr sz="1700" b="0">
                <a:solidFill>
                  <a:srgbClr val="37474F"/>
                </a:solidFill>
                <a:latin typeface="Calibri"/>
              </a:defRPr>
            </a:pPr>
            <a:r>
              <a:t>▸  Establish the inject-and-call workflow reused by Docker lifecycle, LED control, and fleet bulk deploy in later modules.</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UML sequence — Sync Plugin Call (Module B)</a:t>
            </a:r>
          </a:p>
        </p:txBody>
      </p:sp>
      <p:sp>
        <p:nvSpPr>
          <p:cNvPr id="4" name="Rounded Rectangle 3"/>
          <p:cNvSpPr/>
          <p:nvPr/>
        </p:nvSpPr>
        <p:spPr>
          <a:xfrm>
            <a:off x="1240383" y="1298448"/>
            <a:ext cx="971092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q-plugin-sync.png"/>
          <p:cNvPicPr>
            <a:picLocks noChangeAspect="1"/>
          </p:cNvPicPr>
          <p:nvPr/>
        </p:nvPicPr>
        <p:blipFill>
          <a:blip r:embed="rId2"/>
          <a:stretch>
            <a:fillRect/>
          </a:stretch>
        </p:blipFill>
        <p:spPr>
          <a:xfrm>
            <a:off x="1295247" y="1353312"/>
            <a:ext cx="960120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Inject → Plugin Call → Conductor → Crossbar → Worker.run() → result</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Plugin skeleton — FIXED section (do not change)</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700" b="0">
                <a:solidFill>
                  <a:srgbClr val="37474F"/>
                </a:solidFill>
                <a:latin typeface="Calibri"/>
              </a:defRPr>
            </a:pPr>
            <a:r>
              <a:t>▸  from iotronic_lightningrod.modules.plugins import Plugin</a:t>
            </a:r>
          </a:p>
          <a:p>
            <a:pPr>
              <a:lnSpc>
                <a:spcPct val="115000"/>
              </a:lnSpc>
              <a:spcAft>
                <a:spcPts val="800"/>
              </a:spcAft>
              <a:defRPr sz="1700" b="0">
                <a:solidFill>
                  <a:srgbClr val="37474F"/>
                </a:solidFill>
                <a:latin typeface="Calibri"/>
              </a:defRPr>
            </a:pPr>
            <a:r>
              <a:t>▸  from oslo_log import log as logging</a:t>
            </a:r>
          </a:p>
          <a:p>
            <a:pPr>
              <a:lnSpc>
                <a:spcPct val="115000"/>
              </a:lnSpc>
              <a:spcAft>
                <a:spcPts val="800"/>
              </a:spcAft>
              <a:defRPr sz="1700" b="0">
                <a:solidFill>
                  <a:srgbClr val="37474F"/>
                </a:solidFill>
                <a:latin typeface="Calibri"/>
              </a:defRPr>
            </a:pPr>
            <a:r>
              <a:t>▸  LOG = logging.getLogger(__name__)</a:t>
            </a:r>
          </a:p>
          <a:p>
            <a:pPr>
              <a:lnSpc>
                <a:spcPct val="115000"/>
              </a:lnSpc>
              <a:spcAft>
                <a:spcPts val="800"/>
              </a:spcAft>
              <a:defRPr sz="1700" b="0">
                <a:solidFill>
                  <a:srgbClr val="37474F"/>
                </a:solidFill>
                <a:latin typeface="Calibri"/>
              </a:defRPr>
            </a:pPr>
            <a:r>
              <a:t>▸  class Worker(Plugin.Plugin): # name MUST be Worker in LR 0.4.17</a:t>
            </a:r>
          </a:p>
          <a:p>
            <a:pPr>
              <a:lnSpc>
                <a:spcPct val="115000"/>
              </a:lnSpc>
              <a:spcAft>
                <a:spcPts val="800"/>
              </a:spcAft>
              <a:defRPr sz="1700" b="0">
                <a:solidFill>
                  <a:srgbClr val="37474F"/>
                </a:solidFill>
                <a:latin typeface="Calibri"/>
              </a:defRPr>
            </a:pPr>
            <a:r>
              <a:t>▸  def __init__(self, uuid, name, q_result, params=None):</a:t>
            </a:r>
          </a:p>
          <a:p>
            <a:pPr>
              <a:lnSpc>
                <a:spcPct val="115000"/>
              </a:lnSpc>
              <a:spcAft>
                <a:spcPts val="800"/>
              </a:spcAft>
              <a:defRPr sz="1700" b="0">
                <a:solidFill>
                  <a:srgbClr val="37474F"/>
                </a:solidFill>
                <a:latin typeface="Calibri"/>
              </a:defRPr>
            </a:pPr>
            <a:r>
              <a:t>▸  super(Worker, self).__init__(uuid, name, q_result, params)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Plugin skeleton — USER section (your logic in run)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700" b="0">
                <a:solidFill>
                  <a:srgbClr val="37474F"/>
                </a:solidFill>
                <a:latin typeface="Calibri"/>
              </a:defRPr>
            </a:pPr>
            <a:r>
              <a:t>▸  def run(self):</a:t>
            </a:r>
          </a:p>
          <a:p>
            <a:pPr>
              <a:lnSpc>
                <a:spcPct val="115000"/>
              </a:lnSpc>
              <a:spcAft>
                <a:spcPts val="800"/>
              </a:spcAft>
              <a:defRPr sz="1700" b="0">
                <a:solidFill>
                  <a:srgbClr val="37474F"/>
                </a:solidFill>
                <a:latin typeface="Calibri"/>
              </a:defRPr>
            </a:pPr>
            <a:r>
              <a:t>▸  person_name = self.params.get('name', 'User')</a:t>
            </a:r>
          </a:p>
          <a:p>
            <a:pPr>
              <a:lnSpc>
                <a:spcPct val="115000"/>
              </a:lnSpc>
              <a:spcAft>
                <a:spcPts val="800"/>
              </a:spcAft>
              <a:defRPr sz="1700" b="0">
                <a:solidFill>
                  <a:srgbClr val="37474F"/>
                </a:solidFill>
                <a:latin typeface="Calibri"/>
              </a:defRPr>
            </a:pPr>
            <a:r>
              <a:t>▸  message = f'Hello {person_name}'</a:t>
            </a:r>
          </a:p>
          <a:p>
            <a:pPr>
              <a:lnSpc>
                <a:spcPct val="115000"/>
              </a:lnSpc>
              <a:spcAft>
                <a:spcPts val="800"/>
              </a:spcAft>
              <a:defRPr sz="1700" b="0">
                <a:solidFill>
                  <a:srgbClr val="37474F"/>
                </a:solidFill>
                <a:latin typeface="Calibri"/>
              </a:defRPr>
            </a:pPr>
            <a:r>
              <a:t>▸  LOG.info(message)</a:t>
            </a:r>
          </a:p>
          <a:p>
            <a:pPr>
              <a:lnSpc>
                <a:spcPct val="115000"/>
              </a:lnSpc>
              <a:spcAft>
                <a:spcPts val="800"/>
              </a:spcAft>
              <a:defRPr sz="1700" b="0">
                <a:solidFill>
                  <a:srgbClr val="37474F"/>
                </a:solidFill>
                <a:latin typeface="Calibri"/>
              </a:defRPr>
            </a:pPr>
            <a:r>
              <a:t>▸  self.q_result.put(message)</a:t>
            </a:r>
          </a:p>
          <a:p>
            <a:pPr>
              <a:lnSpc>
                <a:spcPct val="115000"/>
              </a:lnSpc>
              <a:spcAft>
                <a:spcPts val="800"/>
              </a:spcAft>
              <a:defRPr sz="1700" b="0">
                <a:solidFill>
                  <a:srgbClr val="37474F"/>
                </a:solidFill>
                <a:latin typeface="Calibri"/>
              </a:defRPr>
            </a:pPr>
            <a:r>
              <a:t>▸  Only the run() body and helper methods belong in the USER section — keep FIXED imports and class name.</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3E0"/>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1417320" cy="329184"/>
          </a:xfrm>
          <a:prstGeom prst="round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  BOOK ↔ LAB</a:t>
            </a:r>
          </a:p>
        </p:txBody>
      </p:sp>
      <p:sp>
        <p:nvSpPr>
          <p:cNvPr id="4" name="TextBox 3"/>
          <p:cNvSpPr txBox="1"/>
          <p:nvPr/>
        </p:nvSpPr>
        <p:spPr>
          <a:xfrm>
            <a:off x="594360" y="713232"/>
            <a:ext cx="10972800" cy="868680"/>
          </a:xfrm>
          <a:prstGeom prst="rect">
            <a:avLst/>
          </a:prstGeom>
          <a:noFill/>
        </p:spPr>
        <p:txBody>
          <a:bodyPr wrap="none">
            <a:spAutoFit/>
          </a:bodyPr>
          <a:lstStyle/>
          <a:p>
            <a:pPr>
              <a:defRPr sz="2800" b="1">
                <a:solidFill>
                  <a:srgbClr val="BF360C"/>
                </a:solidFill>
                <a:latin typeface="Calibri"/>
              </a:defRPr>
            </a:pPr>
            <a:r>
              <a:t>Worker class name + ch14 repository fix</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Lightning-Rod 0.4.17: the Python class MUST be named Worker — not HelloNamePlugin or any display alias.</a:t>
            </a:r>
          </a:p>
          <a:p>
            <a:pPr>
              <a:lnSpc>
                <a:spcPct val="115000"/>
              </a:lnSpc>
              <a:spcAft>
                <a:spcPts val="800"/>
              </a:spcAft>
              <a:defRPr sz="1900" b="0">
                <a:solidFill>
                  <a:srgbClr val="37474F"/>
                </a:solidFill>
                <a:latin typeface="Calibri"/>
              </a:defRPr>
            </a:pPr>
            <a:r>
              <a:t>▸  The dashboard plugin display name (HelloName) is independent of the Python class identifier.</a:t>
            </a:r>
          </a:p>
          <a:p>
            <a:pPr>
              <a:lnSpc>
                <a:spcPct val="115000"/>
              </a:lnSpc>
              <a:spcAft>
                <a:spcPts val="800"/>
              </a:spcAft>
              <a:defRPr sz="1900" b="0">
                <a:solidFill>
                  <a:srgbClr val="37474F"/>
                </a:solidFill>
                <a:latin typeface="Calibri"/>
              </a:defRPr>
            </a:pPr>
            <a:r>
              <a:t>▸  BUG: upstream ch14 hello_name_plugin.py uses HelloNamePlugin — injection will fail silently or error.</a:t>
            </a:r>
          </a:p>
          <a:p>
            <a:pPr>
              <a:lnSpc>
                <a:spcPct val="115000"/>
              </a:lnSpc>
              <a:spcAft>
                <a:spcPts val="800"/>
              </a:spcAft>
              <a:defRPr sz="1900" b="0">
                <a:solidFill>
                  <a:srgbClr val="37474F"/>
                </a:solidFill>
                <a:latin typeface="Calibri"/>
              </a:defRPr>
            </a:pPr>
            <a:r>
              <a:t>▸  Use the corrected file: training/ch14-fixed/plugins/synchronous/hello_name_plugin.py</a:t>
            </a:r>
          </a:p>
          <a:p>
            <a:pPr>
              <a:lnSpc>
                <a:spcPct val="115000"/>
              </a:lnSpc>
              <a:spcAft>
                <a:spcPts val="800"/>
              </a:spcAft>
              <a:defRPr sz="1900" b="0">
                <a:solidFill>
                  <a:srgbClr val="37474F"/>
                </a:solidFill>
                <a:latin typeface="Calibri"/>
              </a:defRPr>
            </a:pPr>
            <a:r>
              <a:t>▸  If Plugin Call returns empty, verify class name, injection status, and board Active state in that order.</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2800" b="1">
                <a:solidFill>
                  <a:srgbClr val="0D2B45"/>
                </a:solidFill>
                <a:latin typeface="Calibri"/>
              </a:defRPr>
            </a:pPr>
            <a:r>
              <a:t>HelloNamePlugin — listing lst:plugin-sync</a:t>
            </a:r>
          </a:p>
        </p:txBody>
      </p:sp>
      <p:sp>
        <p:nvSpPr>
          <p:cNvPr id="4" name="Rounded Rectangle 3"/>
          <p:cNvSpPr/>
          <p:nvPr/>
        </p:nvSpPr>
        <p:spPr>
          <a:xfrm>
            <a:off x="502920" y="1508760"/>
            <a:ext cx="11155680" cy="4892040"/>
          </a:xfrm>
          <a:prstGeom prst="roundRect">
            <a:avLst/>
          </a:prstGeom>
          <a:solidFill>
            <a:srgbClr val="1E293B"/>
          </a:solidFill>
          <a:ln w="12700">
            <a:solidFill>
              <a:srgbClr val="1A4A6E"/>
            </a:solidFill>
          </a:ln>
        </p:spPr>
        <p:style>
          <a:lnRef idx="1">
            <a:schemeClr val="accent1"/>
          </a:lnRef>
          <a:fillRef idx="3">
            <a:schemeClr val="accent1"/>
          </a:fillRef>
          <a:effectRef idx="2">
            <a:schemeClr val="accent1"/>
          </a:effectRef>
          <a:fontRef idx="minor">
            <a:schemeClr val="lt1"/>
          </a:fontRef>
        </p:style>
        <p:txBody>
          <a:bodyPr rtlCol="0" anchor="t" wrap="square" lIns="182880" tIns="411480"/>
          <a:lstStyle/>
          <a:p>
            <a:pPr algn="ctr">
              <a:spcAft>
                <a:spcPts val="200"/>
              </a:spcAft>
              <a:defRPr sz="1200" b="0">
                <a:solidFill>
                  <a:srgbClr val="E2E8F0"/>
                </a:solidFill>
                <a:latin typeface="Consolas"/>
              </a:defRPr>
            </a:pPr>
            <a:r>
              <a:t>from iotronic_lightningrod.modules.plugins import Plugin</a:t>
            </a:r>
          </a:p>
          <a:p>
            <a:pPr>
              <a:spcAft>
                <a:spcPts val="200"/>
              </a:spcAft>
              <a:defRPr sz="1200" b="0">
                <a:solidFill>
                  <a:srgbClr val="E2E8F0"/>
                </a:solidFill>
                <a:latin typeface="Consolas"/>
              </a:defRPr>
            </a:pPr>
            <a:r>
              <a:t>from oslo_log import log as logging</a:t>
            </a:r>
          </a:p>
          <a:p>
            <a:pPr>
              <a:spcAft>
                <a:spcPts val="200"/>
              </a:spcAft>
              <a:defRPr sz="1200" b="0">
                <a:solidFill>
                  <a:srgbClr val="E2E8F0"/>
                </a:solidFill>
                <a:latin typeface="Consolas"/>
              </a:defRPr>
            </a:pPr>
            <a:r>
              <a:t>LOG = logging.getLogger(__name__)</a:t>
            </a:r>
          </a:p>
          <a:p>
            <a:pPr>
              <a:spcAft>
                <a:spcPts val="200"/>
              </a:spcAft>
              <a:defRPr sz="1200" b="0">
                <a:solidFill>
                  <a:srgbClr val="E2E8F0"/>
                </a:solidFill>
                <a:latin typeface="Consolas"/>
              </a:defRPr>
            </a:pPr>
          </a:p>
          <a:p>
            <a:pPr>
              <a:spcAft>
                <a:spcPts val="200"/>
              </a:spcAft>
              <a:defRPr sz="1200" b="0">
                <a:solidFill>
                  <a:srgbClr val="E2E8F0"/>
                </a:solidFill>
                <a:latin typeface="Consolas"/>
              </a:defRPr>
            </a:pPr>
            <a:r>
              <a:t>class Worker(Plugin.Plugin):</a:t>
            </a:r>
          </a:p>
          <a:p>
            <a:pPr>
              <a:spcAft>
                <a:spcPts val="200"/>
              </a:spcAft>
              <a:defRPr sz="1200" b="0">
                <a:solidFill>
                  <a:srgbClr val="E2E8F0"/>
                </a:solidFill>
                <a:latin typeface="Consolas"/>
              </a:defRPr>
            </a:pPr>
            <a:r>
              <a:t>    def __init__(self, uuid, name, q_result, params=None):</a:t>
            </a:r>
          </a:p>
          <a:p>
            <a:pPr>
              <a:spcAft>
                <a:spcPts val="200"/>
              </a:spcAft>
              <a:defRPr sz="1200" b="0">
                <a:solidFill>
                  <a:srgbClr val="E2E8F0"/>
                </a:solidFill>
                <a:latin typeface="Consolas"/>
              </a:defRPr>
            </a:pPr>
            <a:r>
              <a:t>        super(Worker, self).__init__(uuid, name, q_result, params)</a:t>
            </a:r>
          </a:p>
          <a:p>
            <a:pPr>
              <a:spcAft>
                <a:spcPts val="200"/>
              </a:spcAft>
              <a:defRPr sz="1200" b="0">
                <a:solidFill>
                  <a:srgbClr val="E2E8F0"/>
                </a:solidFill>
                <a:latin typeface="Consolas"/>
              </a:defRPr>
            </a:pPr>
            <a:r>
              <a:t>    def run(self):</a:t>
            </a:r>
          </a:p>
          <a:p>
            <a:pPr>
              <a:spcAft>
                <a:spcPts val="200"/>
              </a:spcAft>
              <a:defRPr sz="1200" b="0">
                <a:solidFill>
                  <a:srgbClr val="E2E8F0"/>
                </a:solidFill>
                <a:latin typeface="Consolas"/>
              </a:defRPr>
            </a:pPr>
            <a:r>
              <a:t>        person_name = self.params.get('name', 'User')</a:t>
            </a:r>
          </a:p>
          <a:p>
            <a:pPr>
              <a:spcAft>
                <a:spcPts val="200"/>
              </a:spcAft>
              <a:defRPr sz="1200" b="0">
                <a:solidFill>
                  <a:srgbClr val="E2E8F0"/>
                </a:solidFill>
                <a:latin typeface="Consolas"/>
              </a:defRPr>
            </a:pPr>
            <a:r>
              <a:t>        message = f"Hello {person_name}"</a:t>
            </a:r>
          </a:p>
          <a:p>
            <a:pPr>
              <a:spcAft>
                <a:spcPts val="200"/>
              </a:spcAft>
              <a:defRPr sz="1200" b="0">
                <a:solidFill>
                  <a:srgbClr val="E2E8F0"/>
                </a:solidFill>
                <a:latin typeface="Consolas"/>
              </a:defRPr>
            </a:pPr>
            <a:r>
              <a:t>        LOG.info(message)</a:t>
            </a:r>
          </a:p>
          <a:p>
            <a:pPr>
              <a:spcAft>
                <a:spcPts val="200"/>
              </a:spcAft>
              <a:defRPr sz="1200" b="0">
                <a:solidFill>
                  <a:srgbClr val="E2E8F0"/>
                </a:solidFill>
                <a:latin typeface="Consolas"/>
              </a:defRPr>
            </a:pPr>
            <a:r>
              <a:t>        self.q_result.put(message)</a:t>
            </a:r>
          </a:p>
        </p:txBody>
      </p:sp>
      <p:sp>
        <p:nvSpPr>
          <p:cNvPr id="5" name="Rounded Rectangle 4"/>
          <p:cNvSpPr/>
          <p:nvPr/>
        </p:nvSpPr>
        <p:spPr>
          <a:xfrm>
            <a:off x="502920" y="1508760"/>
            <a:ext cx="11155680" cy="292608"/>
          </a:xfrm>
          <a:prstGeom prst="round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85800" y="1581912"/>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86968" y="1581912"/>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1581912"/>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1" name="TextBox 10"/>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Code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Create Plugin form — field by field</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700" b="0">
                <a:solidFill>
                  <a:srgbClr val="37474F"/>
                </a:solidFill>
                <a:latin typeface="Calibri"/>
              </a:defRPr>
            </a:pPr>
            <a:r>
              <a:t>▸  Horizon → IoT → Plugins → + Create Plugin.</a:t>
            </a:r>
          </a:p>
          <a:p>
            <a:pPr>
              <a:lnSpc>
                <a:spcPct val="115000"/>
              </a:lnSpc>
              <a:spcAft>
                <a:spcPts val="800"/>
              </a:spcAft>
              <a:defRPr sz="1700" b="0">
                <a:solidFill>
                  <a:srgbClr val="37474F"/>
                </a:solidFill>
                <a:latin typeface="Calibri"/>
              </a:defRPr>
            </a:pPr>
            <a:r>
              <a:t>▸  Plugin Name: HelloName — display label in repository and Call dialog.</a:t>
            </a:r>
          </a:p>
          <a:p>
            <a:pPr>
              <a:lnSpc>
                <a:spcPct val="115000"/>
              </a:lnSpc>
              <a:spcAft>
                <a:spcPts val="800"/>
              </a:spcAft>
              <a:defRPr sz="1700" b="0">
                <a:solidFill>
                  <a:srgbClr val="37474F"/>
                </a:solidFill>
                <a:latin typeface="Calibri"/>
              </a:defRPr>
            </a:pPr>
            <a:r>
              <a:t>▸  Description: optional — e.g. synchronous greeting demo for Module B.</a:t>
            </a:r>
          </a:p>
          <a:p>
            <a:pPr>
              <a:lnSpc>
                <a:spcPct val="115000"/>
              </a:lnSpc>
              <a:spcAft>
                <a:spcPts val="800"/>
              </a:spcAft>
              <a:defRPr sz="1700" b="0">
                <a:solidFill>
                  <a:srgbClr val="37474F"/>
                </a:solidFill>
                <a:latin typeface="Calibri"/>
              </a:defRPr>
            </a:pPr>
            <a:r>
              <a:t>▸  Source: paste full Python Worker code from the listing slide.</a:t>
            </a:r>
          </a:p>
          <a:p>
            <a:pPr>
              <a:lnSpc>
                <a:spcPct val="115000"/>
              </a:lnSpc>
              <a:spcAft>
                <a:spcPts val="800"/>
              </a:spcAft>
              <a:defRPr sz="1700" b="0">
                <a:solidFill>
                  <a:srgbClr val="37474F"/>
                </a:solidFill>
                <a:latin typeface="Calibri"/>
              </a:defRPr>
            </a:pPr>
            <a:r>
              <a:t>▸  Callable: ✓ ON — marks plugin as synchronous and enables Plugin Call button.</a:t>
            </a:r>
          </a:p>
          <a:p>
            <a:pPr>
              <a:lnSpc>
                <a:spcPct val="115000"/>
              </a:lnSpc>
              <a:spcAft>
                <a:spcPts val="800"/>
              </a:spcAft>
              <a:defRPr sz="1700" b="0">
                <a:solidFill>
                  <a:srgbClr val="37474F"/>
                </a:solidFill>
                <a:latin typeface="Calibri"/>
              </a:defRPr>
            </a:pPr>
            <a:r>
              <a:t>▸  Input parameters: optional JSON schema documenting the name field for callers.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Plugins panel (live)</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plugin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http://{{VM_IP}}/horizon/iot/plugins/</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Create HelloName plugin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Open http://{{VM_IP}}/horizon — login admin / s4t.</a:t>
            </a:r>
          </a:p>
          <a:p>
            <a:pPr>
              <a:lnSpc>
                <a:spcPct val="115000"/>
              </a:lnSpc>
              <a:spcAft>
                <a:spcPts val="800"/>
              </a:spcAft>
              <a:defRPr sz="1900" b="0">
                <a:solidFill>
                  <a:srgbClr val="37474F"/>
                </a:solidFill>
                <a:latin typeface="Calibri"/>
              </a:defRPr>
            </a:pPr>
            <a:r>
              <a:t>▸  Navigate IoT → Plugins → + Create Plugin.</a:t>
            </a:r>
          </a:p>
          <a:p>
            <a:pPr>
              <a:lnSpc>
                <a:spcPct val="115000"/>
              </a:lnSpc>
              <a:spcAft>
                <a:spcPts val="800"/>
              </a:spcAft>
              <a:defRPr sz="1900" b="0">
                <a:solidFill>
                  <a:srgbClr val="37474F"/>
                </a:solidFill>
                <a:latin typeface="Calibri"/>
              </a:defRPr>
            </a:pPr>
            <a:r>
              <a:t>▸  Paste from: training/ch14-fixed/plugins/synchronous/hello_name_plugin.py (NOT upstream ch14).</a:t>
            </a:r>
          </a:p>
          <a:p>
            <a:pPr>
              <a:lnSpc>
                <a:spcPct val="115000"/>
              </a:lnSpc>
              <a:spcAft>
                <a:spcPts val="800"/>
              </a:spcAft>
              <a:defRPr sz="1900" b="0">
                <a:solidFill>
                  <a:srgbClr val="37474F"/>
                </a:solidFill>
                <a:latin typeface="Calibri"/>
              </a:defRPr>
            </a:pPr>
            <a:r>
              <a:t>▸  Repo: github.com/AssemblingSmartCPS/ch14 · set Callable = ON · class must be Worker.</a:t>
            </a:r>
          </a:p>
          <a:p>
            <a:pPr>
              <a:lnSpc>
                <a:spcPct val="115000"/>
              </a:lnSpc>
              <a:spcAft>
                <a:spcPts val="800"/>
              </a:spcAft>
              <a:defRPr sz="1900" b="0">
                <a:solidFill>
                  <a:srgbClr val="37474F"/>
                </a:solidFill>
                <a:latin typeface="Calibri"/>
              </a:defRPr>
            </a:pPr>
            <a:r>
              <a:t>▸  Verify: ./validate/validate-demo-ch14.sh</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Boards panel (inject target)</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board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http://{{VM_IP}}/horizon/iot/ — select Active board → Actions → Inject Plugin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Inject plugin on board</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Horizon → IoT → Boards → select your Active board from Module A.</a:t>
            </a:r>
          </a:p>
          <a:p>
            <a:pPr>
              <a:lnSpc>
                <a:spcPct val="115000"/>
              </a:lnSpc>
              <a:spcAft>
                <a:spcPts val="800"/>
              </a:spcAft>
              <a:defRPr sz="1900" b="0">
                <a:solidFill>
                  <a:srgbClr val="37474F"/>
                </a:solidFill>
                <a:latin typeface="Calibri"/>
              </a:defRPr>
            </a:pPr>
            <a:r>
              <a:t>▸  Actions → Inject Plugin → choose HelloName from repository.</a:t>
            </a:r>
          </a:p>
          <a:p>
            <a:pPr>
              <a:lnSpc>
                <a:spcPct val="115000"/>
              </a:lnSpc>
              <a:spcAft>
                <a:spcPts val="800"/>
              </a:spcAft>
              <a:defRPr sz="1900" b="0">
                <a:solidFill>
                  <a:srgbClr val="37474F"/>
                </a:solidFill>
                <a:latin typeface="Calibri"/>
              </a:defRPr>
            </a:pPr>
            <a:r>
              <a:t>▸  Confirm injection — plugin is now attached to the board edge agent.</a:t>
            </a:r>
          </a:p>
          <a:p>
            <a:pPr>
              <a:lnSpc>
                <a:spcPct val="115000"/>
              </a:lnSpc>
              <a:spcAft>
                <a:spcPts val="800"/>
              </a:spcAft>
              <a:defRPr sz="1900" b="0">
                <a:solidFill>
                  <a:srgbClr val="37474F"/>
                </a:solidFill>
                <a:latin typeface="Calibri"/>
              </a:defRPr>
            </a:pPr>
            <a:r>
              <a:t>▸  Board must remain Active; re-check LR Status at http://{{VM_IP}}:1474 if inject fails.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2800" b="1">
                <a:solidFill>
                  <a:srgbClr val="0D2B45"/>
                </a:solidFill>
                <a:latin typeface="Calibri"/>
              </a:defRPr>
            </a:pPr>
            <a:r>
              <a:t>Plugin Call JSON</a:t>
            </a:r>
          </a:p>
        </p:txBody>
      </p:sp>
      <p:sp>
        <p:nvSpPr>
          <p:cNvPr id="4" name="Rounded Rectangle 3"/>
          <p:cNvSpPr/>
          <p:nvPr/>
        </p:nvSpPr>
        <p:spPr>
          <a:xfrm>
            <a:off x="502920" y="1508760"/>
            <a:ext cx="11155680" cy="4892040"/>
          </a:xfrm>
          <a:prstGeom prst="roundRect">
            <a:avLst/>
          </a:prstGeom>
          <a:solidFill>
            <a:srgbClr val="1E293B"/>
          </a:solidFill>
          <a:ln w="12700">
            <a:solidFill>
              <a:srgbClr val="1A4A6E"/>
            </a:solidFill>
          </a:ln>
        </p:spPr>
        <p:style>
          <a:lnRef idx="1">
            <a:schemeClr val="accent1"/>
          </a:lnRef>
          <a:fillRef idx="3">
            <a:schemeClr val="accent1"/>
          </a:fillRef>
          <a:effectRef idx="2">
            <a:schemeClr val="accent1"/>
          </a:effectRef>
          <a:fontRef idx="minor">
            <a:schemeClr val="lt1"/>
          </a:fontRef>
        </p:style>
        <p:txBody>
          <a:bodyPr rtlCol="0" anchor="t" wrap="square" lIns="182880" tIns="411480"/>
          <a:lstStyle/>
          <a:p>
            <a:pPr algn="ctr">
              <a:spcAft>
                <a:spcPts val="200"/>
              </a:spcAft>
              <a:defRPr sz="1200" b="0">
                <a:solidFill>
                  <a:srgbClr val="E2E8F0"/>
                </a:solidFill>
                <a:latin typeface="Consolas"/>
              </a:defRPr>
            </a:pPr>
            <a:r>
              <a:t>{"name": "YourName"}</a:t>
            </a:r>
          </a:p>
        </p:txBody>
      </p:sp>
      <p:sp>
        <p:nvSpPr>
          <p:cNvPr id="5" name="Rounded Rectangle 4"/>
          <p:cNvSpPr/>
          <p:nvPr/>
        </p:nvSpPr>
        <p:spPr>
          <a:xfrm>
            <a:off x="502920" y="1508760"/>
            <a:ext cx="11155680" cy="292608"/>
          </a:xfrm>
          <a:prstGeom prst="round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85800" y="1581912"/>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86968" y="1581912"/>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1581912"/>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1" name="TextBox 10"/>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Code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Plugin Call and verify</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Horizon → Plugins → HelloName → Call (or board Actions → Call Plugin).</a:t>
            </a:r>
          </a:p>
          <a:p>
            <a:pPr>
              <a:lnSpc>
                <a:spcPct val="115000"/>
              </a:lnSpc>
              <a:spcAft>
                <a:spcPts val="800"/>
              </a:spcAft>
              <a:defRPr sz="1900" b="0">
                <a:solidFill>
                  <a:srgbClr val="37474F"/>
                </a:solidFill>
                <a:latin typeface="Calibri"/>
              </a:defRPr>
            </a:pPr>
            <a:r>
              <a:t>▸  Paste JSON: {"name": "Messina"} — replace with your own name to personalize.</a:t>
            </a:r>
          </a:p>
          <a:p>
            <a:pPr>
              <a:lnSpc>
                <a:spcPct val="115000"/>
              </a:lnSpc>
              <a:spcAft>
                <a:spcPts val="800"/>
              </a:spcAft>
              <a:defRPr sz="1900" b="0">
                <a:solidFill>
                  <a:srgbClr val="37474F"/>
                </a:solidFill>
                <a:latin typeface="Calibri"/>
              </a:defRPr>
            </a:pPr>
            <a:r>
              <a:t>▸  Check Horizon result panel — expect: Hello Messina (or Hello YourName).</a:t>
            </a:r>
          </a:p>
          <a:p>
            <a:pPr>
              <a:lnSpc>
                <a:spcPct val="115000"/>
              </a:lnSpc>
              <a:spcAft>
                <a:spcPts val="800"/>
              </a:spcAft>
              <a:defRPr sz="1900" b="0">
                <a:solidFill>
                  <a:srgbClr val="37474F"/>
                </a:solidFill>
                <a:latin typeface="Calibri"/>
              </a:defRPr>
            </a:pPr>
            <a:r>
              <a:t>▸  Verify LR logs: docker compose logs lightning-rod 2&gt;&amp;1 | grep Hello</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Lightning-Rod — Status (plugin runtime)</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dashboard-status.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http://{{VM_IP}}:1474 — Connected board + plugin activity in LR logs</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§14.1.2 · sync operational flow</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Sync pipeline — operational flow step by step</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Step A: operator triggers Plugin Call in Horizon with JSON payload.</a:t>
            </a:r>
          </a:p>
          <a:p>
            <a:pPr>
              <a:lnSpc>
                <a:spcPct val="115000"/>
              </a:lnSpc>
              <a:spcAft>
                <a:spcPts val="500"/>
              </a:spcAft>
              <a:defRPr sz="1600" b="0">
                <a:solidFill>
                  <a:srgbClr val="37474F"/>
                </a:solidFill>
                <a:latin typeface="Calibri"/>
              </a:defRPr>
            </a:pPr>
            <a:r>
              <a:t>▸  Step B: IoTronic Conductor validates the request and sends a WAMP command to Lightning-Rod.</a:t>
            </a:r>
          </a:p>
          <a:p>
            <a:pPr>
              <a:lnSpc>
                <a:spcPct val="115000"/>
              </a:lnSpc>
              <a:spcAft>
                <a:spcPts val="500"/>
              </a:spcAft>
              <a:defRPr sz="1600" b="0">
                <a:solidFill>
                  <a:srgbClr val="37474F"/>
                </a:solidFill>
                <a:latin typeface="Calibri"/>
              </a:defRPr>
            </a:pPr>
            <a:r>
              <a:t>▸  Step C: LR Plugin Manager loads the injected Worker class and binds self.params from the Call JSON.</a:t>
            </a:r>
          </a:p>
          <a:p>
            <a:pPr>
              <a:lnSpc>
                <a:spcPct val="115000"/>
              </a:lnSpc>
              <a:spcAft>
                <a:spcPts val="500"/>
              </a:spcAft>
              <a:defRPr sz="1600" b="0">
                <a:solidFill>
                  <a:srgbClr val="37474F"/>
                </a:solidFill>
                <a:latin typeface="Calibri"/>
              </a:defRPr>
            </a:pPr>
            <a:r>
              <a:t>▸  Step D: Worker.run() executes once, writes LOG.info, and puts the greeting string on q_result.</a:t>
            </a:r>
          </a:p>
          <a:p>
            <a:pPr>
              <a:lnSpc>
                <a:spcPct val="115000"/>
              </a:lnSpc>
              <a:spcAft>
                <a:spcPts val="500"/>
              </a:spcAft>
              <a:defRPr sz="1600" b="0">
                <a:solidFill>
                  <a:srgbClr val="37474F"/>
                </a:solidFill>
                <a:latin typeface="Calibri"/>
              </a:defRPr>
            </a:pPr>
            <a:r>
              <a:t>▸  Step E: IoTronic receives the result and displays it in Horizon; REST API exposes the same payload.</a:t>
            </a:r>
          </a:p>
          <a:p>
            <a:pPr>
              <a:lnSpc>
                <a:spcPct val="115000"/>
              </a:lnSpc>
              <a:spcAft>
                <a:spcPts val="500"/>
              </a:spcAft>
              <a:defRPr sz="1600" b="0">
                <a:solidFill>
                  <a:srgbClr val="37474F"/>
                </a:solidFill>
                <a:latin typeface="Calibri"/>
              </a:defRPr>
            </a:pPr>
            <a:r>
              <a:t>▸  Any failure in steps B–D surfaces as empty result, LR error log, or WAMP disconnect on Status page.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Expected HelloName output and troubleshooting</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Horizon Plugin Call result panel: Hello Messina (or your chosen name).</a:t>
            </a:r>
          </a:p>
          <a:p>
            <a:pPr>
              <a:lnSpc>
                <a:spcPct val="115000"/>
              </a:lnSpc>
              <a:spcAft>
                <a:spcPts val="800"/>
              </a:spcAft>
              <a:defRPr sz="1900" b="0">
                <a:solidFill>
                  <a:srgbClr val="37474F"/>
                </a:solidFill>
                <a:latin typeface="Calibri"/>
              </a:defRPr>
            </a:pPr>
            <a:r>
              <a:t>▸  LR container log line: INFO Hello Messina — confirms oslo_log path works.</a:t>
            </a:r>
          </a:p>
          <a:p>
            <a:pPr>
              <a:lnSpc>
                <a:spcPct val="115000"/>
              </a:lnSpc>
              <a:spcAft>
                <a:spcPts val="800"/>
              </a:spcAft>
              <a:defRPr sz="1900" b="0">
                <a:solidFill>
                  <a:srgbClr val="37474F"/>
                </a:solidFill>
                <a:latin typeface="Calibri"/>
              </a:defRPr>
            </a:pPr>
            <a:r>
              <a:t>▸  Empty result → check Worker class name is exactly Worker, not HelloNamePlugin.</a:t>
            </a:r>
          </a:p>
          <a:p>
            <a:pPr>
              <a:lnSpc>
                <a:spcPct val="115000"/>
              </a:lnSpc>
              <a:spcAft>
                <a:spcPts val="800"/>
              </a:spcAft>
              <a:defRPr sz="1900" b="0">
                <a:solidFill>
                  <a:srgbClr val="37474F"/>
                </a:solidFill>
                <a:latin typeface="Calibri"/>
              </a:defRPr>
            </a:pPr>
            <a:r>
              <a:t>▸  No log line → plugin not injected or board not Active; re-run Module A onboarding.</a:t>
            </a:r>
          </a:p>
          <a:p>
            <a:pPr>
              <a:lnSpc>
                <a:spcPct val="115000"/>
              </a:lnSpc>
              <a:spcAft>
                <a:spcPts val="800"/>
              </a:spcAft>
              <a:defRPr sz="1900" b="0">
                <a:solidFill>
                  <a:srgbClr val="37474F"/>
                </a:solidFill>
                <a:latin typeface="Calibri"/>
              </a:defRPr>
            </a:pPr>
            <a:r>
              <a:t>▸  WAMP error → confirm LR Configuration uses wss://crossbar:8181 inside Docker network.</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Optional — Docker plugin at edge</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Ch.14 §14.1.4 · container lifecycle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§14.1.4 · Docker plugin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Docker management plugin — design (Ch.14 §14.1.4)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Docker lifecycle plugin uses docker.from_env() — the official Python SDK talking to the host Docker daemon.</a:t>
            </a:r>
          </a:p>
          <a:p>
            <a:pPr>
              <a:lnSpc>
                <a:spcPct val="115000"/>
              </a:lnSpc>
              <a:spcAft>
                <a:spcPts val="500"/>
              </a:spcAft>
              <a:defRPr sz="1600" b="0">
                <a:solidFill>
                  <a:srgbClr val="37474F"/>
                </a:solidFill>
                <a:latin typeface="Calibri"/>
              </a:defRPr>
            </a:pPr>
            <a:r>
              <a:t>▸  Plugin Call JSON drives operations: run, stop, remove, and inspect on named containers.</a:t>
            </a:r>
          </a:p>
          <a:p>
            <a:pPr>
              <a:lnSpc>
                <a:spcPct val="115000"/>
              </a:lnSpc>
              <a:spcAft>
                <a:spcPts val="500"/>
              </a:spcAft>
              <a:defRPr sz="1600" b="0">
                <a:solidFill>
                  <a:srgbClr val="37474F"/>
                </a:solidFill>
                <a:latin typeface="Calibri"/>
              </a:defRPr>
            </a:pPr>
            <a:r>
              <a:t>▸  run pulls the image if missing, optionally removes an existing same-name container, starts detached, and returns status.</a:t>
            </a:r>
          </a:p>
          <a:p>
            <a:pPr>
              <a:lnSpc>
                <a:spcPct val="115000"/>
              </a:lnSpc>
              <a:spcAft>
                <a:spcPts val="500"/>
              </a:spcAft>
              <a:defRPr sz="1600" b="0">
                <a:solidFill>
                  <a:srgbClr val="37474F"/>
                </a:solidFill>
                <a:latin typeface="Calibri"/>
              </a:defRPr>
            </a:pPr>
            <a:r>
              <a:t>▸  This enables deploying containerized microservices on edge boards without SSH to each device.</a:t>
            </a:r>
          </a:p>
          <a:p>
            <a:pPr>
              <a:lnSpc>
                <a:spcPct val="115000"/>
              </a:lnSpc>
              <a:spcAft>
                <a:spcPts val="500"/>
              </a:spcAft>
              <a:defRPr sz="1600" b="0">
                <a:solidFill>
                  <a:srgbClr val="37474F"/>
                </a:solidFill>
                <a:latin typeface="Calibri"/>
              </a:defRPr>
            </a:pPr>
            <a:r>
              <a:t>▸  Fleet-wide inject can launch the same monitoring sidecar on every board in a coordinated batch.</a:t>
            </a:r>
          </a:p>
          <a:p>
            <a:pPr>
              <a:lnSpc>
                <a:spcPct val="115000"/>
              </a:lnSpc>
              <a:spcAft>
                <a:spcPts val="500"/>
              </a:spcAft>
              <a:defRPr sz="1600" b="0">
                <a:solidFill>
                  <a:srgbClr val="37474F"/>
                </a:solidFill>
                <a:latin typeface="Calibri"/>
              </a:defRPr>
            </a:pPr>
            <a:r>
              <a:t>▸  Listing reference: lst:plugin-docker · ch14/plugins/synchronous/docker_lifecycle_plugin.py.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Docker plugin · lab overlay docker-compose.lab.yml</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Docker plugin — lab prerequisites and security</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Lightning-Rod must reach /var/run/docker.sock on the host — enabled by training lab overlay mount.</a:t>
            </a:r>
          </a:p>
          <a:p>
            <a:pPr>
              <a:lnSpc>
                <a:spcPct val="115000"/>
              </a:lnSpc>
              <a:spcAft>
                <a:spcPts val="500"/>
              </a:spcAft>
              <a:defRPr sz="1600" b="0">
                <a:solidFill>
                  <a:srgbClr val="37474F"/>
                </a:solidFill>
                <a:latin typeface="Calibri"/>
              </a:defRPr>
            </a:pPr>
            <a:r>
              <a:t>▸  Verify: docker exec lightning-rod ls /var/run/docker.sock — file must exist inside LR container.</a:t>
            </a:r>
          </a:p>
          <a:p>
            <a:pPr>
              <a:lnSpc>
                <a:spcPct val="115000"/>
              </a:lnSpc>
              <a:spcAft>
                <a:spcPts val="500"/>
              </a:spcAft>
              <a:defRPr sz="1600" b="0">
                <a:solidFill>
                  <a:srgbClr val="37474F"/>
                </a:solidFill>
                <a:latin typeface="Calibri"/>
              </a:defRPr>
            </a:pPr>
            <a:r>
              <a:t>▸  Install SDK if missing: docker exec lightning-rod pip install docker</a:t>
            </a:r>
          </a:p>
          <a:p>
            <a:pPr>
              <a:lnSpc>
                <a:spcPct val="115000"/>
              </a:lnSpc>
              <a:spcAft>
                <a:spcPts val="500"/>
              </a:spcAft>
              <a:defRPr sz="1600" b="0">
                <a:solidFill>
                  <a:srgbClr val="37474F"/>
                </a:solidFill>
                <a:latin typeface="Calibri"/>
              </a:defRPr>
            </a:pPr>
            <a:r>
              <a:t>▸  Granting Docker socket access is powerful — production deployments must sandbox and audit plugin code.</a:t>
            </a:r>
          </a:p>
          <a:p>
            <a:pPr>
              <a:lnSpc>
                <a:spcPct val="115000"/>
              </a:lnSpc>
              <a:spcAft>
                <a:spcPts val="500"/>
              </a:spcAft>
              <a:defRPr sz="1600" b="0">
                <a:solidFill>
                  <a:srgbClr val="37474F"/>
                </a:solidFill>
                <a:latin typeface="Calibri"/>
              </a:defRPr>
            </a:pPr>
            <a:r>
              <a:t>▸  Returned JSON includes status, container id, name, and short_logs tail for immediate verification.</a:t>
            </a:r>
          </a:p>
          <a:p>
            <a:pPr>
              <a:lnSpc>
                <a:spcPct val="115000"/>
              </a:lnSpc>
              <a:spcAft>
                <a:spcPts val="500"/>
              </a:spcAft>
              <a:defRPr sz="1600" b="0">
                <a:solidFill>
                  <a:srgbClr val="37474F"/>
                </a:solidFill>
                <a:latin typeface="Calibri"/>
              </a:defRPr>
            </a:pPr>
            <a:r>
              <a:t>▸  stop and remove operations use container_name from params — same field as run for consistency.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Docker plugin — learning outcomes</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700" b="0">
                <a:solidFill>
                  <a:srgbClr val="37474F"/>
                </a:solidFill>
                <a:latin typeface="Calibri"/>
              </a:defRPr>
            </a:pPr>
            <a:r>
              <a:t>▸  Prove that synchronous plugins can orchestrate host Docker daemon operations from a Plugin Call JSON payload.</a:t>
            </a:r>
          </a:p>
          <a:p>
            <a:pPr>
              <a:lnSpc>
                <a:spcPct val="115000"/>
              </a:lnSpc>
              <a:spcAft>
                <a:spcPts val="500"/>
              </a:spcAft>
              <a:defRPr sz="1700" b="0">
                <a:solidFill>
                  <a:srgbClr val="37474F"/>
                </a:solidFill>
                <a:latin typeface="Calibri"/>
              </a:defRPr>
            </a:pPr>
            <a:r>
              <a:t>▸  Prove that alpine container starts on the board host and returns id, status, and log tail without SSH.</a:t>
            </a:r>
          </a:p>
          <a:p>
            <a:pPr>
              <a:lnSpc>
                <a:spcPct val="115000"/>
              </a:lnSpc>
              <a:spcAft>
                <a:spcPts val="500"/>
              </a:spcAft>
              <a:defRPr sz="1700" b="0">
                <a:solidFill>
                  <a:srgbClr val="37474F"/>
                </a:solidFill>
                <a:latin typeface="Calibri"/>
              </a:defRPr>
            </a:pPr>
            <a:r>
              <a:t>▸  Prove that edge containerization complements plugin model — microservices beside Python Worker logic.</a:t>
            </a:r>
          </a:p>
          <a:p>
            <a:pPr>
              <a:lnSpc>
                <a:spcPct val="115000"/>
              </a:lnSpc>
              <a:spcAft>
                <a:spcPts val="500"/>
              </a:spcAft>
              <a:defRPr sz="1700" b="0">
                <a:solidFill>
                  <a:srgbClr val="37474F"/>
                </a:solidFill>
                <a:latin typeface="Calibri"/>
              </a:defRPr>
            </a:pPr>
            <a:r>
              <a:t>▸  Optional only — skip if time is short; HelloName deliverable is sufficient for Module B completion.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2800" b="1">
                <a:solidFill>
                  <a:srgbClr val="0D2B45"/>
                </a:solidFill>
                <a:latin typeface="Calibri"/>
              </a:defRPr>
            </a:pPr>
            <a:r>
              <a:t>Docker PluginCall — run alpine container</a:t>
            </a:r>
          </a:p>
        </p:txBody>
      </p:sp>
      <p:sp>
        <p:nvSpPr>
          <p:cNvPr id="4" name="Rounded Rectangle 3"/>
          <p:cNvSpPr/>
          <p:nvPr/>
        </p:nvSpPr>
        <p:spPr>
          <a:xfrm>
            <a:off x="502920" y="1508760"/>
            <a:ext cx="11155680" cy="4892040"/>
          </a:xfrm>
          <a:prstGeom prst="roundRect">
            <a:avLst/>
          </a:prstGeom>
          <a:solidFill>
            <a:srgbClr val="1E293B"/>
          </a:solidFill>
          <a:ln w="12700">
            <a:solidFill>
              <a:srgbClr val="1A4A6E"/>
            </a:solidFill>
          </a:ln>
        </p:spPr>
        <p:style>
          <a:lnRef idx="1">
            <a:schemeClr val="accent1"/>
          </a:lnRef>
          <a:fillRef idx="3">
            <a:schemeClr val="accent1"/>
          </a:fillRef>
          <a:effectRef idx="2">
            <a:schemeClr val="accent1"/>
          </a:effectRef>
          <a:fontRef idx="minor">
            <a:schemeClr val="lt1"/>
          </a:fontRef>
        </p:style>
        <p:txBody>
          <a:bodyPr rtlCol="0" anchor="t" wrap="square" lIns="182880" tIns="411480"/>
          <a:lstStyle/>
          <a:p>
            <a:pPr algn="ctr">
              <a:spcAft>
                <a:spcPts val="200"/>
              </a:spcAft>
              <a:defRPr sz="1200" b="0">
                <a:solidFill>
                  <a:srgbClr val="E2E8F0"/>
                </a:solidFill>
                <a:latin typeface="Consolas"/>
              </a:defRPr>
            </a:pPr>
            <a:r>
              <a:t>{</a:t>
            </a:r>
          </a:p>
          <a:p>
            <a:pPr>
              <a:spcAft>
                <a:spcPts val="200"/>
              </a:spcAft>
              <a:defRPr sz="1200" b="0">
                <a:solidFill>
                  <a:srgbClr val="E2E8F0"/>
                </a:solidFill>
                <a:latin typeface="Consolas"/>
              </a:defRPr>
            </a:pPr>
            <a:r>
              <a:t>  "operation": "run",</a:t>
            </a:r>
          </a:p>
          <a:p>
            <a:pPr>
              <a:spcAft>
                <a:spcPts val="200"/>
              </a:spcAft>
              <a:defRPr sz="1200" b="0">
                <a:solidFill>
                  <a:srgbClr val="E2E8F0"/>
                </a:solidFill>
                <a:latin typeface="Consolas"/>
              </a:defRPr>
            </a:pPr>
            <a:r>
              <a:t>  "image": "alpine",</a:t>
            </a:r>
          </a:p>
          <a:p>
            <a:pPr>
              <a:spcAft>
                <a:spcPts val="200"/>
              </a:spcAft>
              <a:defRPr sz="1200" b="0">
                <a:solidFill>
                  <a:srgbClr val="E2E8F0"/>
                </a:solidFill>
                <a:latin typeface="Consolas"/>
              </a:defRPr>
            </a:pPr>
            <a:r>
              <a:t>  "container_name": "test_alpine",</a:t>
            </a:r>
          </a:p>
          <a:p>
            <a:pPr>
              <a:spcAft>
                <a:spcPts val="200"/>
              </a:spcAft>
              <a:defRPr sz="1200" b="0">
                <a:solidFill>
                  <a:srgbClr val="E2E8F0"/>
                </a:solidFill>
                <a:latin typeface="Consolas"/>
              </a:defRPr>
            </a:pPr>
            <a:r>
              <a:t>  "command": "echo Hello from plugin!",</a:t>
            </a:r>
          </a:p>
          <a:p>
            <a:pPr>
              <a:spcAft>
                <a:spcPts val="200"/>
              </a:spcAft>
              <a:defRPr sz="1200" b="0">
                <a:solidFill>
                  <a:srgbClr val="E2E8F0"/>
                </a:solidFill>
                <a:latin typeface="Consolas"/>
              </a:defRPr>
            </a:pPr>
            <a:r>
              <a:t>  "auto_remove": false</a:t>
            </a:r>
          </a:p>
          <a:p>
            <a:pPr>
              <a:spcAft>
                <a:spcPts val="200"/>
              </a:spcAft>
              <a:defRPr sz="1200" b="0">
                <a:solidFill>
                  <a:srgbClr val="E2E8F0"/>
                </a:solidFill>
                <a:latin typeface="Consolas"/>
              </a:defRPr>
            </a:pPr>
            <a:r>
              <a:t>}</a:t>
            </a:r>
          </a:p>
        </p:txBody>
      </p:sp>
      <p:sp>
        <p:nvSpPr>
          <p:cNvPr id="5" name="Rounded Rectangle 4"/>
          <p:cNvSpPr/>
          <p:nvPr/>
        </p:nvSpPr>
        <p:spPr>
          <a:xfrm>
            <a:off x="502920" y="1508760"/>
            <a:ext cx="11155680" cy="292608"/>
          </a:xfrm>
          <a:prstGeom prst="round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85800" y="1581912"/>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86968" y="1581912"/>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1581912"/>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1" name="TextBox 10"/>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Code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Docker plugin demo — optional steps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1. docker exec lightning-rod ls /var/run/docker.sock — confirm socket mount.</a:t>
            </a:r>
          </a:p>
          <a:p>
            <a:pPr>
              <a:lnSpc>
                <a:spcPct val="115000"/>
              </a:lnSpc>
              <a:spcAft>
                <a:spcPts val="800"/>
              </a:spcAft>
              <a:defRPr sz="1900" b="0">
                <a:solidFill>
                  <a:srgbClr val="37474F"/>
                </a:solidFill>
                <a:latin typeface="Calibri"/>
              </a:defRPr>
            </a:pPr>
            <a:r>
              <a:t>▸  2. docker exec lightning-rod pip install docker (if ImportError on first call).</a:t>
            </a:r>
          </a:p>
          <a:p>
            <a:pPr>
              <a:lnSpc>
                <a:spcPct val="115000"/>
              </a:lnSpc>
              <a:spcAft>
                <a:spcPts val="800"/>
              </a:spcAft>
              <a:defRPr sz="1900" b="0">
                <a:solidFill>
                  <a:srgbClr val="37474F"/>
                </a:solidFill>
                <a:latin typeface="Calibri"/>
              </a:defRPr>
            </a:pPr>
            <a:r>
              <a:t>▸  3. Create and inject Docker lifecycle plugin from ch14 listing; Callable = ON.</a:t>
            </a:r>
          </a:p>
          <a:p>
            <a:pPr>
              <a:lnSpc>
                <a:spcPct val="115000"/>
              </a:lnSpc>
              <a:spcAft>
                <a:spcPts val="800"/>
              </a:spcAft>
              <a:defRPr sz="1900" b="0">
                <a:solidFill>
                  <a:srgbClr val="37474F"/>
                </a:solidFill>
                <a:latin typeface="Calibri"/>
              </a:defRPr>
            </a:pPr>
            <a:r>
              <a:t>▸  4. Plugin Call with JSON above → verify status running, container id, short_logs echo line.</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Fleet, K3s &amp; web services preview</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Theory for Modules D, F, and 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§14.2 · fig:fleetpanel · FLEET_MANAGEMENT.md</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Fleet abstraction — coordinated edge groups (Ch.14 §14.2)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A fleet is a tenant-aware logical collection of boards — not merely a UI label or tag.</a:t>
            </a:r>
          </a:p>
          <a:p>
            <a:pPr>
              <a:lnSpc>
                <a:spcPct val="115000"/>
              </a:lnSpc>
              <a:spcAft>
                <a:spcPts val="500"/>
              </a:spcAft>
              <a:defRPr sz="1600" b="0">
                <a:solidFill>
                  <a:srgbClr val="37474F"/>
                </a:solidFill>
                <a:latin typeface="Calibri"/>
              </a:defRPr>
            </a:pPr>
            <a:r>
              <a:t>▸  Devices grouped by operational intent act in unison: same plugin, same config, same data collection schedule.</a:t>
            </a:r>
          </a:p>
          <a:p>
            <a:pPr>
              <a:lnSpc>
                <a:spcPct val="115000"/>
              </a:lnSpc>
              <a:spcAft>
                <a:spcPts val="500"/>
              </a:spcAft>
              <a:defRPr sz="1600" b="0">
                <a:solidFill>
                  <a:srgbClr val="37474F"/>
                </a:solidFill>
                <a:latin typeface="Calibri"/>
              </a:defRPr>
            </a:pPr>
            <a:r>
              <a:t>▸  Horizon Fleets panel lists fleets; each fleet has a Plugins tab for bulk inject and lifecycle operations.</a:t>
            </a:r>
          </a:p>
          <a:p>
            <a:pPr>
              <a:lnSpc>
                <a:spcPct val="115000"/>
              </a:lnSpc>
              <a:spcAft>
                <a:spcPts val="500"/>
              </a:spcAft>
              <a:defRPr sz="1600" b="0">
                <a:solidFill>
                  <a:srgbClr val="37474F"/>
                </a:solidFill>
                <a:latin typeface="Calibri"/>
              </a:defRPr>
            </a:pPr>
            <a:r>
              <a:t>▸  Coordinated ops reduce administrative overhead when managing dozens or hundreds of urban sensor stations.</a:t>
            </a:r>
          </a:p>
          <a:p>
            <a:pPr>
              <a:lnSpc>
                <a:spcPct val="115000"/>
              </a:lnSpc>
              <a:spcAft>
                <a:spcPts val="500"/>
              </a:spcAft>
              <a:defRPr sz="1600" b="0">
                <a:solidFill>
                  <a:srgbClr val="37474F"/>
                </a:solidFill>
                <a:latin typeface="Calibri"/>
              </a:defRPr>
            </a:pPr>
            <a:r>
              <a:t>▸  Fleet health metrics include device availability percentage, error rates, and data quality across members.</a:t>
            </a:r>
          </a:p>
          <a:p>
            <a:pPr>
              <a:lnSpc>
                <a:spcPct val="115000"/>
              </a:lnSpc>
              <a:spcAft>
                <a:spcPts val="500"/>
              </a:spcAft>
              <a:defRPr sz="1600" b="0">
                <a:solidFill>
                  <a:srgbClr val="37474F"/>
                </a:solidFill>
                <a:latin typeface="Calibri"/>
              </a:defRPr>
            </a:pPr>
            <a:r>
              <a:t>▸  Full hands-on with three boards and fleet Hello inject: Module D (ModuleD_MultiBoard deck).</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§14.2 · fleet-level plugin deployment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Fleet operations — bulk deploy pattern</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Create fleet in Horizon with name and description tied to your OpenStack tenant/project.</a:t>
            </a:r>
          </a:p>
          <a:p>
            <a:pPr>
              <a:lnSpc>
                <a:spcPct val="115000"/>
              </a:lnSpc>
              <a:spcAft>
                <a:spcPts val="500"/>
              </a:spcAft>
              <a:defRPr sz="1600" b="0">
                <a:solidFill>
                  <a:srgbClr val="37474F"/>
                </a:solidFill>
                <a:latin typeface="Calibri"/>
              </a:defRPr>
            </a:pPr>
            <a:r>
              <a:t>▸  Associate Active boards as fleet members — heterogeneous device types can share one fleet.</a:t>
            </a:r>
          </a:p>
          <a:p>
            <a:pPr>
              <a:lnSpc>
                <a:spcPct val="115000"/>
              </a:lnSpc>
              <a:spcAft>
                <a:spcPts val="500"/>
              </a:spcAft>
              <a:defRPr sz="1600" b="0">
                <a:solidFill>
                  <a:srgbClr val="37474F"/>
                </a:solidFill>
                <a:latin typeface="Calibri"/>
              </a:defRPr>
            </a:pPr>
            <a:r>
              <a:t>▸  Inject Plugin on fleet deploys the repository plugin to every member in one action.</a:t>
            </a:r>
          </a:p>
          <a:p>
            <a:pPr>
              <a:lnSpc>
                <a:spcPct val="115000"/>
              </a:lnSpc>
              <a:spcAft>
                <a:spcPts val="500"/>
              </a:spcAft>
              <a:defRPr sz="1600" b="0">
                <a:solidFill>
                  <a:srgbClr val="37474F"/>
                </a:solidFill>
                <a:latin typeface="Calibri"/>
              </a:defRPr>
            </a:pPr>
            <a:r>
              <a:t>▸  Sync plugins still require per-board or API-driven Plugin Call unless a orchestration layer batches calls.</a:t>
            </a:r>
          </a:p>
          <a:p>
            <a:pPr>
              <a:lnSpc>
                <a:spcPct val="115000"/>
              </a:lnSpc>
              <a:spcAft>
                <a:spcPts val="500"/>
              </a:spcAft>
              <a:defRPr sz="1600" b="0">
                <a:solidFill>
                  <a:srgbClr val="37474F"/>
                </a:solidFill>
                <a:latin typeface="Calibri"/>
              </a:defRPr>
            </a:pPr>
            <a:r>
              <a:t>▸  Async plugins are started fleet-wide — environmental monitoring on all stations simultaneously.</a:t>
            </a:r>
          </a:p>
          <a:p>
            <a:pPr>
              <a:lnSpc>
                <a:spcPct val="115000"/>
              </a:lnSpc>
              <a:spcAft>
                <a:spcPts val="500"/>
              </a:spcAft>
              <a:defRPr sz="1600" b="0">
                <a:solidFill>
                  <a:srgbClr val="37474F"/>
                </a:solidFill>
                <a:latin typeface="Calibri"/>
              </a:defRPr>
            </a:pPr>
            <a:r>
              <a:t>▸  Book example: weather-monitoring-fleet with shared alert thresholds for temperature and humidity.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Fleets panel</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fleet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http://{{VM_IP}}/horizon/iot/fleets/</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§14.1.5 · lst:plugin-k3s-lifecycle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K3s lifecycle plugin — theory only (Ch.14 §14.1.5)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K3s plugin is synchronous: operations join, status, and leave against a Kubernetes edge cluster.</a:t>
            </a:r>
          </a:p>
          <a:p>
            <a:pPr>
              <a:lnSpc>
                <a:spcPct val="115000"/>
              </a:lnSpc>
              <a:spcAft>
                <a:spcPts val="500"/>
              </a:spcAft>
              <a:defRPr sz="1600" b="0">
                <a:solidFill>
                  <a:srgbClr val="37474F"/>
                </a:solidFill>
                <a:latin typeface="Calibri"/>
              </a:defRPr>
            </a:pPr>
            <a:r>
              <a:t>▸  join installs a K3s agent on the board pointing at server endpoint URL and cluster join token.</a:t>
            </a:r>
          </a:p>
          <a:p>
            <a:pPr>
              <a:lnSpc>
                <a:spcPct val="115000"/>
              </a:lnSpc>
              <a:spcAft>
                <a:spcPts val="500"/>
              </a:spcAft>
              <a:defRPr sz="1600" b="0">
                <a:solidFill>
                  <a:srgbClr val="37474F"/>
                </a:solidFill>
                <a:latin typeface="Calibri"/>
              </a:defRPr>
            </a:pPr>
            <a:r>
              <a:t>▸  status reports whether the node is registered and ready in the cluster control plane.</a:t>
            </a:r>
          </a:p>
          <a:p>
            <a:pPr>
              <a:lnSpc>
                <a:spcPct val="115000"/>
              </a:lnSpc>
              <a:spcAft>
                <a:spcPts val="500"/>
              </a:spcAft>
              <a:defRPr sz="1600" b="0">
                <a:solidFill>
                  <a:srgbClr val="37474F"/>
                </a:solidFill>
                <a:latin typeface="Calibri"/>
              </a:defRPr>
            </a:pPr>
            <a:r>
              <a:t>▸  leave removes the agent cleanly — enabling dynamic scale-out and scale-in of IoT nodes as K8s workers.</a:t>
            </a:r>
          </a:p>
          <a:p>
            <a:pPr>
              <a:lnSpc>
                <a:spcPct val="115000"/>
              </a:lnSpc>
              <a:spcAft>
                <a:spcPts val="500"/>
              </a:spcAft>
              <a:defRPr sz="1600" b="0">
                <a:solidFill>
                  <a:srgbClr val="37474F"/>
                </a:solidFill>
                <a:latin typeface="Calibri"/>
              </a:defRPr>
            </a:pPr>
            <a:r>
              <a:t>▸  Requires root privileges, working K3s server, and network reachability — not part of the 3-hour core lab.</a:t>
            </a:r>
          </a:p>
          <a:p>
            <a:pPr>
              <a:lnSpc>
                <a:spcPct val="115000"/>
              </a:lnSpc>
              <a:spcAft>
                <a:spcPts val="500"/>
              </a:spcAft>
              <a:defRPr sz="1600" b="0">
                <a:solidFill>
                  <a:srgbClr val="37474F"/>
                </a:solidFill>
                <a:latin typeface="Calibri"/>
              </a:defRPr>
            </a:pPr>
            <a:r>
              <a:t>▸  Hands-on deferred to Module H (Blueprint + K3s) · listing lst:plugin-k3s-lifecycle.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§14.1.5 · Module H preview</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K3s at the edge — why it matters for smart CPS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Kubernetes at the edge standardizes packaging, scheduling, and health checks for containerized edge apps.</a:t>
            </a:r>
          </a:p>
          <a:p>
            <a:pPr>
              <a:lnSpc>
                <a:spcPct val="115000"/>
              </a:lnSpc>
              <a:spcAft>
                <a:spcPts val="500"/>
              </a:spcAft>
              <a:defRPr sz="1600" b="0">
                <a:solidFill>
                  <a:srgbClr val="37474F"/>
                </a:solidFill>
                <a:latin typeface="Calibri"/>
              </a:defRPr>
            </a:pPr>
            <a:r>
              <a:t>▸  S4T plugins bridge IoTronic fleet orchestration with K3s node lifecycle without manual SSH provisioning.</a:t>
            </a:r>
          </a:p>
          <a:p>
            <a:pPr>
              <a:lnSpc>
                <a:spcPct val="115000"/>
              </a:lnSpc>
              <a:spcAft>
                <a:spcPts val="500"/>
              </a:spcAft>
              <a:defRPr sz="1600" b="0">
                <a:solidFill>
                  <a:srgbClr val="37474F"/>
                </a:solidFill>
                <a:latin typeface="Calibri"/>
              </a:defRPr>
            </a:pPr>
            <a:r>
              <a:t>▸  Blueprint (Chapter 11) and Crossplane provider patterns extend this to declarative GitOps in advanced modules.</a:t>
            </a:r>
          </a:p>
          <a:p>
            <a:pPr>
              <a:lnSpc>
                <a:spcPct val="115000"/>
              </a:lnSpc>
              <a:spcAft>
                <a:spcPts val="500"/>
              </a:spcAft>
              <a:defRPr sz="1600" b="0">
                <a:solidFill>
                  <a:srgbClr val="37474F"/>
                </a:solidFill>
                <a:latin typeface="Calibri"/>
              </a:defRPr>
            </a:pPr>
            <a:r>
              <a:t>▸  Join token and server URL arrive as Plugin Call JSON params — same contract as HelloName and Docker plugins.</a:t>
            </a:r>
          </a:p>
          <a:p>
            <a:pPr>
              <a:lnSpc>
                <a:spcPct val="115000"/>
              </a:lnSpc>
              <a:spcAft>
                <a:spcPts val="500"/>
              </a:spcAft>
              <a:defRPr sz="1600" b="0">
                <a:solidFill>
                  <a:srgbClr val="37474F"/>
                </a:solidFill>
                <a:latin typeface="Calibri"/>
              </a:defRPr>
            </a:pPr>
            <a:r>
              <a:t>▸  Production smart-city stacks combine LR plugins for sensors with K3s for heavier analytics containers.</a:t>
            </a:r>
          </a:p>
          <a:p>
            <a:pPr>
              <a:lnSpc>
                <a:spcPct val="115000"/>
              </a:lnSpc>
              <a:spcAft>
                <a:spcPts val="500"/>
              </a:spcAft>
              <a:defRPr sz="1600" b="0">
                <a:solidFill>
                  <a:srgbClr val="37474F"/>
                </a:solidFill>
                <a:latin typeface="Calibri"/>
              </a:defRPr>
            </a:pPr>
            <a:r>
              <a:t>▸  Do not attempt K3s join in today's lab VM — theory only to connect Ch.14 listings to Module H roadmap.</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§14.3 · WEB_SERVICES_INTEGRATION.md</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Web services preview — exposing board HTTP (Ch.14 §14.3)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Stack4Things Web Services expose IoT HTTP endpoints on the public Web without manual router port forwarding.</a:t>
            </a:r>
          </a:p>
          <a:p>
            <a:pPr>
              <a:lnSpc>
                <a:spcPct val="115000"/>
              </a:lnSpc>
              <a:spcAft>
                <a:spcPts val="500"/>
              </a:spcAft>
              <a:defRPr sz="1600" b="0">
                <a:solidFill>
                  <a:srgbClr val="37474F"/>
                </a:solidFill>
                <a:latin typeface="Calibri"/>
              </a:defRPr>
            </a:pPr>
            <a:r>
              <a:t>▸  Designate DNS-as-a-Service assigns a subdomain per board — e.g. weather.board-1.example.com.</a:t>
            </a:r>
          </a:p>
          <a:p>
            <a:pPr>
              <a:lnSpc>
                <a:spcPct val="115000"/>
              </a:lnSpc>
              <a:spcAft>
                <a:spcPts val="500"/>
              </a:spcAft>
              <a:defRPr sz="1600" b="0">
                <a:solidFill>
                  <a:srgbClr val="37474F"/>
                </a:solidFill>
                <a:latin typeface="Calibri"/>
              </a:defRPr>
            </a:pPr>
            <a:r>
              <a:t>▸  NGINX reverse proxy and WebSocket tunnels route HTTPS requests to the board local service port.</a:t>
            </a:r>
          </a:p>
          <a:p>
            <a:pPr>
              <a:lnSpc>
                <a:spcPct val="115000"/>
              </a:lnSpc>
              <a:spcAft>
                <a:spcPts val="500"/>
              </a:spcAft>
              <a:defRPr sz="1600" b="0">
                <a:solidFill>
                  <a:srgbClr val="37474F"/>
                </a:solidFill>
                <a:latin typeface="Calibri"/>
              </a:defRPr>
            </a:pPr>
            <a:r>
              <a:t>▸  Book demo: weather_web_server.py serves GET /sensors, GET /led/status, POST /led/toggle on port 8080.</a:t>
            </a:r>
          </a:p>
          <a:p>
            <a:pPr>
              <a:lnSpc>
                <a:spcPct val="115000"/>
              </a:lnSpc>
              <a:spcAft>
                <a:spcPts val="500"/>
              </a:spcAft>
              <a:defRPr sz="1600" b="0">
                <a:solidFill>
                  <a:srgbClr val="37474F"/>
                </a:solidFill>
                <a:latin typeface="Calibri"/>
              </a:defRPr>
            </a:pPr>
            <a:r>
              <a:t>▸  Connects to Web of Things theory in Chapter 6 — physical sensors as REST resources on the global Web.</a:t>
            </a:r>
          </a:p>
          <a:p>
            <a:pPr>
              <a:lnSpc>
                <a:spcPct val="115000"/>
              </a:lnSpc>
              <a:spcAft>
                <a:spcPts val="500"/>
              </a:spcAft>
              <a:defRPr sz="1600" b="0">
                <a:solidFill>
                  <a:srgbClr val="37474F"/>
                </a:solidFill>
                <a:latin typeface="Calibri"/>
              </a:defRPr>
            </a:pPr>
            <a:r>
              <a:t>▸  Full WSTUN lab demo without Designate DNS: Module F (ModuleF_WebServices_WoT deck).</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demos/weather_web_server.py · Ch.6 WoT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Web services — weather station WoT endpoints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GET /sensors returns JSON with timestamp, temperature, humidity, and pressure readings.</a:t>
            </a:r>
          </a:p>
          <a:p>
            <a:pPr>
              <a:lnSpc>
                <a:spcPct val="115000"/>
              </a:lnSpc>
              <a:spcAft>
                <a:spcPts val="500"/>
              </a:spcAft>
              <a:defRPr sz="1600" b="0">
                <a:solidFill>
                  <a:srgbClr val="37474F"/>
                </a:solidFill>
                <a:latin typeface="Calibri"/>
              </a:defRPr>
            </a:pPr>
            <a:r>
              <a:t>▸  GET /led/status reports actuator state; POST /led/toggle flips GPIO-driven LED for remote actuation.</a:t>
            </a:r>
          </a:p>
          <a:p>
            <a:pPr>
              <a:lnSpc>
                <a:spcPct val="115000"/>
              </a:lnSpc>
              <a:spcAft>
                <a:spcPts val="500"/>
              </a:spcAft>
              <a:defRPr sz="1600" b="0">
                <a:solidFill>
                  <a:srgbClr val="37474F"/>
                </a:solidFill>
                <a:latin typeface="Calibri"/>
              </a:defRPr>
            </a:pPr>
            <a:r>
              <a:t>▸  Horizon Web Services Manager registers service name and local port per board for tunnel establishment.</a:t>
            </a:r>
          </a:p>
          <a:p>
            <a:pPr>
              <a:lnSpc>
                <a:spcPct val="115000"/>
              </a:lnSpc>
              <a:spcAft>
                <a:spcPts val="500"/>
              </a:spcAft>
              <a:defRPr sz="1600" b="0">
                <a:solidFill>
                  <a:srgbClr val="37474F"/>
                </a:solidFill>
                <a:latin typeface="Calibri"/>
              </a:defRPr>
            </a:pPr>
            <a:r>
              <a:t>▸  WSTUN lab alternative maps cloud public_port (50001–50100) to board local port without DNS registration.</a:t>
            </a:r>
          </a:p>
          <a:p>
            <a:pPr>
              <a:lnSpc>
                <a:spcPct val="115000"/>
              </a:lnSpc>
              <a:spcAft>
                <a:spcPts val="500"/>
              </a:spcAft>
              <a:defRPr sz="1600" b="0">
                <a:solidFill>
                  <a:srgbClr val="37474F"/>
                </a:solidFill>
                <a:latin typeface="Calibri"/>
              </a:defRPr>
            </a:pPr>
            <a:r>
              <a:t>▸  Web-exposed services are long-lived HTTP servers — distinct from one-shot synchronous plugin calls.</a:t>
            </a:r>
          </a:p>
          <a:p>
            <a:pPr>
              <a:lnSpc>
                <a:spcPct val="115000"/>
              </a:lnSpc>
              <a:spcAft>
                <a:spcPts val="500"/>
              </a:spcAft>
              <a:defRPr sz="1600" b="0">
                <a:solidFill>
                  <a:srgbClr val="37474F"/>
                </a:solidFill>
                <a:latin typeface="Calibri"/>
              </a:defRPr>
            </a:pPr>
            <a:r>
              <a:t>▸  Service catalog + ServiceEnable workflow documented in Module F with nginx demo on LR port 50000.</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Boards with services (preview)</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board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http://{{VM_IP}}/horizon/iot/ — web services attach to Active boards · Module F hands-on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B checklist and handoff to Module C</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 HelloName Plugin Call returns Hello &lt;name&gt; in Horizon and LR logs.</a:t>
            </a:r>
          </a:p>
          <a:p>
            <a:pPr>
              <a:lnSpc>
                <a:spcPct val="115000"/>
              </a:lnSpc>
              <a:spcAft>
                <a:spcPts val="800"/>
              </a:spcAft>
              <a:defRPr sz="1900" b="0">
                <a:solidFill>
                  <a:srgbClr val="37474F"/>
                </a:solidFill>
                <a:latin typeface="Calibri"/>
              </a:defRPr>
            </a:pPr>
            <a:r>
              <a:t>▸  □ (Optional) Docker run alpine succeeded with container id in JSON result.</a:t>
            </a:r>
          </a:p>
          <a:p>
            <a:pPr>
              <a:lnSpc>
                <a:spcPct val="115000"/>
              </a:lnSpc>
              <a:spcAft>
                <a:spcPts val="800"/>
              </a:spcAft>
              <a:defRPr sz="1900" b="0">
                <a:solidFill>
                  <a:srgbClr val="37474F"/>
                </a:solidFill>
                <a:latin typeface="Calibri"/>
              </a:defRPr>
            </a:pPr>
            <a:r>
              <a:t>▸  Deliverable: Plugin Call screenshot or docker compose logs lightning-rod | grep Hello snippet.</a:t>
            </a:r>
          </a:p>
          <a:p>
            <a:pPr>
              <a:lnSpc>
                <a:spcPct val="115000"/>
              </a:lnSpc>
              <a:spcAft>
                <a:spcPts val="800"/>
              </a:spcAft>
              <a:defRPr sz="1900" b="0">
                <a:solidFill>
                  <a:srgbClr val="37474F"/>
                </a:solidFill>
                <a:latin typeface="Calibri"/>
              </a:defRPr>
            </a:pPr>
            <a:r>
              <a:t>▸  Next: Module C — async environmental publisher + InfluxDB time-series (Ch.15).</a:t>
            </a:r>
          </a:p>
          <a:p>
            <a:pPr>
              <a:lnSpc>
                <a:spcPct val="115000"/>
              </a:lnSpc>
              <a:spcAft>
                <a:spcPts val="800"/>
              </a:spcAft>
              <a:defRPr sz="1900" b="0">
                <a:solidFill>
                  <a:srgbClr val="37474F"/>
                </a:solidFill>
                <a:latin typeface="Calibri"/>
              </a:defRPr>
            </a:pPr>
            <a:r>
              <a:t>▸  Run validation: cd training &amp;&amp; ./validate-lab.sh before starting Module C.</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