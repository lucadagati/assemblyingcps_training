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60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02920"/>
            <a:ext cx="2011680" cy="347472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S4T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Calibri"/>
              </a:defRPr>
            </a:pPr>
            <a:r>
              <a:t>IoT-hosted Computation &amp; Smart-City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B2EBF2"/>
                </a:solidFill>
                <a:latin typeface="Calibri"/>
              </a:defRPr>
            </a:pPr>
            <a:r>
              <a:t>Module C — IoT-hosted Computation · Ch.15 · 60 min</a:t>
            </a:r>
          </a:p>
          <a:p>
            <a:pPr>
              <a:spcAft>
                <a:spcPts val="400"/>
              </a:spcAft>
              <a:defRPr sz="2000" b="0">
                <a:solidFill>
                  <a:srgbClr val="B2EBF2"/>
                </a:solidFill>
                <a:latin typeface="Calibri"/>
              </a:defRPr>
            </a:pPr>
            <a:r>
              <a:t>Lab VM: {{VM_IP}}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0A4AE"/>
                </a:solidFill>
                <a:latin typeface="Calibri"/>
              </a:defRPr>
            </a:pPr>
            <a:r>
              <a:t>Assembling Smart CPS · Part II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394960"/>
            <a:ext cx="3200400" cy="36576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Chapter 15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From middleware to urban observability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abstract · IoT-hosted computation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Chapter 15 scope — abstract and positioning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Chapter 15 moves from platform deployment (Ch.13) and edge plugins (Ch.14) to an observable urban service.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Environmental monitoring demonstrates an end-to-end workflow: edge acquisition → time-series storage → dashboards.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chapter frames IoT nodes as software-defined infrastructure — programmable and remotely managed assets.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Chapter 15 emphasizes design principles, three-layer architecture, and real smart-city replication.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TOO(L)SMART national project provides two deployment models validated across five Italian pilot cities.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Today's lab reproduces the core data path with CSV replay instead of physical sensors on Raspberry Pi hardware.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Learning objectives and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Understand the three-layer architecture: orchestration, execution, and application/storage.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Deploy the async environmental_data plugin writing CSV rows to InfluxDB every 30 seconds.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Query time-series data with Influx CLI — deliverable: rows visible in environmental_data.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Relate the lab demo to TOO(L)SMART smart-city deployment models in Turin and plug-and-play cities.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Horizon login: admin / s4t · InfluxDB ping: http://{{VM_IP}}:8086/ping · LR UI: me / arancino at :1474.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Firmware vs plugins · modular edge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introduction · firmware vs plugin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Firmware vs plugin paradigm — why plugins win (Ch.15 intro)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Traditional firmware embeds logic in flash — updates require physical access, truck rolls, or risky OTA reflashing.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Firmware changes are slow, expensive, and tightly coupled to specific hardware board revisions and pin maps.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Stack4Things plugins deploy at runtime — IoTronic orchestrates upload, inject, start, update, and removal remotely.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Edge logic can iterate daily during a smart-city pilot without touching device flash or rebooting the OS.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plugin model aligns with I/Ocloud virtualization from Chapter 4 — sensors become callable software functions.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Chapter 15 environmental publisher is the canonical async plugin proving continuous urban data acquisition.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· software-defined edge nodes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Firmware vs plugin — operational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Firmware rollback requires backup partitions or JTAG recovery — plugins rollback by re-injecting prior repository version.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Firmware testing cycles span hardware QA labs; plugin testing uses the same Horizon inject flow as production.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Multiple plugins coexist on one board — environmental, Docker, HelloName — without reflashing monolithic firmware.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Plugin interrupt and remove cleanly stop background loops and release Python resources on Lightning-Rod.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Production Raspberry Pi stations run the same Worker class as today's LR container — only the data source changes.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Physical sensors replace CSV rows; InfluxDB host, measurement name, and 30-second interval stay identical.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§ design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Design principles — modular plugin architecture (Ch.15)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Modular plugin-based architecture enforces clear separation of concerns across cloud, edge, and storage tiers.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Orchestration (IoTronic) owns lifecycle, multi-tenancy, REST APIs, and Horizon dashboard operations.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Execution (Lightning-Rod) owns Worker loading, WAMP messaging, oslo_log emission, and local I/O access.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Application logic lives inside the plugin — CSV parsing, timestamp assignment, InfluxDB write_points calls.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External time-series storage (InfluxDB) keeps the edge lightweight — no heavy database on constrained boards.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Security sandboxing limits plugin access to declared resources; extensibility adds new Workers without platform forks.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§ design principles · fault tolerance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Design principles — state, fault tolerance, observability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State management uses last_index.state on disk so the plugin resumes CSV replay after restart or crash.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Fault tolerance: failed InfluxDB writes log errors via oslo_log but the loop continues to next row when possible.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Structured logging spans execution layer → centralized IoTronic logs in production deployments.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Lightweight edge plus external DB mirrors smart-city reality — Pi acquisition, cloud-scale storage and Grafana.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Open standards throughout: JSON data points, WAMP control, Docker Compose lab stack, CKAN open-data portals.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These principles directly enabled TOO(L)SMART replication from Turin reference to four plug-and-play cities.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§ design principles · security sandboxing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Security and sandboxing (Ch.15)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Running arbitrary plugin code requires sandboxing, access control, and signature verification.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Tenant isolation in IoTronic prevents one operator from injecting plugins on another's boards.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LR executes Python Workers with OS-level boundaries — production adds resource limits and auditing.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Digital signatures on uploaded plugins ensure integrity before fleet-wide rollout.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Security-by-design aligns with GDPR and smart-city procurement requirements in TOO(L)SMART.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Lab scope: trusted training environment — production deployments enforce stricter policies.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abstract · PluginExec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PluginExec — local plugin testing (Ch.15)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PluginExec is a command-line tool that simulates plugin execution on the board before cloud inject.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Developers debug Worker.run() locally with mock params and q_result — faster iteration cycle.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Reduces failed inject cycles during smart-city pilot deployments with hundreds of boards.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Same Worker class used in PluginExec and IoTronic inject — behaviour matches production.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Workflow: write → PluginExec test → upload repository → inject → Start on Active board.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Book abstract positions PluginExec as accelerator for plugin-based urban services.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· tab:meteorological · tab:airquality · plugin_demo listing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Book vs lab environmental JSON schema (Ch.15)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Book measurement environmental_data includes full air-quality set: CO, CO2, O3, NO2, VOC.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Lab CSV subset focuses on Temperature, Humidity, PM2.5, PM10 — sufficient for InfluxDB demo.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Tags: host, source · timestamp: ISO format assigned per row in plugin_demo run loop.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Same InfluxDB line protocol and database name secco — only field cardinality differs.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Production Raspberry Pi stations use identical schema with live sensor drivers instead of CSV.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Tables tab:meteorological and tab:airquality in book define full pilot-city parameter lists.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§ Environmental monitoring · LoRaWAN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LoRaWAN edge-collector-cloud path (Ch.15)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TOO(L)SMART stations often use LoRaWAN: many end nodes → few gateway collectors → cloud.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Gateway placement at urban zone edges mitigates path loss — uniform coverage in dense cities.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S4T LR on collector node runs environmental async plugin — same architecture as today's lab.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LoRaWAN handles low-power wide-area links; InfluxDB and Grafana remain in application tier.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Lab CSV replay simulates collector-acquired rows — swap CSV for LoRa decoder output in production.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Book cites empirical LoRaWAN deployment studies for Turin and other pilot municipalities.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Three-layer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Orchestration · execution · application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· fig:chap15 architecture · orchestration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Orchestration layer — IoTronic cloud control plane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IoTronic Conductor exposes REST API on port 8812 and Horizon IoT panels for operators and tenants.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It maintains the plugin repository, board registry, injection mappings, and fleet group definitions.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Start, Stop, Interrupt, and Plugin Call commands traverse RabbitMQ and Crossbar WAMP to reach Lightning-Rod.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Multi-tenant isolation follows OpenStack Keystone — each city project sees only its boards and plugins.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Centralized logging aggregation receives LR log streams for cross-fleet troubleshooting without SSH.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Chapter 13 deployed this layer in Module A; Chapter 15 adds async plugin activation on top of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· execution layer · Lightning-Rod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Execution layer — Lightning-Rod edge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Lightning-Rod connects the board to IoTronic via WAMP over wss://crossbar:8181 inside the Docker s4t network.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Plugin Manager loads the Worker class, sets self._is_running for async loops, and routes self.params.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oslo_log LOG.info and LOG.error emit structured messages consumed locally and forwarded centrally in production.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LR container in the lab simulates a physical board — same agent binary used on Raspberry Pi edge nodes.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pip-installed dependencies (influxdb, pandas, requests) must exist inside LR before environmental plugin starts.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Network hostname influxdb resolves on s4t bridge — localhost inside LR does not reach the InfluxDB container.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· application layer · InfluxDB · Grafana · CKAN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Application layer — plugin, storage, visualization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environmental Worker reads CSV rows, assigns UTC timestamps, and writes InfluxDB points every 30 seconds.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InfluxDB 1.8 stores measurement environmental_data in database secco with admin credentials in the lab overlay.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Grafana dashboards (grafana.json in ch15 repo) visualize air-quality and meteorological fields for operators.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CKAN data portals publish open datasets to citizens — the TOO(L)SMART public-facing tier above raw time-series.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Node-RED flows in full Turin deployment orchestrate alerts and integrations beyond simple storage.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Lab validates the plugin → InfluxDB path; Grafana and CKAN are previewed as production application tier.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Environmental dataflow (diagram)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42260" y="1426464"/>
            <a:ext cx="7107173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vironmental-data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412" y="1499616"/>
            <a:ext cx="6960869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CSV → async Worker → InfluxDB (host=influxdb) → optional Grafana · Ch.15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Diagram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Environmental data publisher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Async plugin · Ch.15 listing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· environmental data publisher listing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Environmental publisher — purpose and data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environmental data publisher simulates a continuous real-time sensor stream by replaying CSV rows.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Each row receives a fresh UTC timestamp at publish time — decoupling historical data from wall-clock acquisition.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In production, Raspberry Pi boards with I2C, SPI, or GPIO sensors replace CSV iloc iteration with live reads.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 plugin is asynchronous: Callable = OFF, activated with Start, runs until Stop or dataset exhaustion.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Repository: github.com/AssemblingSmartCPS/ch15 · lab file: training/ch15-lab/plugin_demo_lab.py.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Measurement name written to InfluxDB: environmental_data — the validation target for today's deliverable.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· plugin __init__ · CSV download from Google Drive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Environmental publisher — initialization and CSV handling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On __init__, the Worker ensures /opt/data exists and downloads structured_time_series_v2.csv if missing.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pandas reads the CSV, parses the time column, and fills NaN with zero for safe float conversion.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InfluxDBClient connects with host, port 8086, username admin, password admin, database secco.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create_database ensures secco exists before the run loop begins publishing points.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load_last_index reads last_index.state to resume from the last successfully written row after restart.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Dependencies: influxdb, pandas, requests — install inside LR container before plugin Start.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· generate_data_point · listing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Environmental publisher — generate_data_point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Each InfluxDB point has measurement environmental_data, tags host and source, UTC time, and numeric fields.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Tags identify the station name and source file — enabling multi-station queries in Grafana and CKAN.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Fields include meteorological and air-quality metrics parsed via safe_float from CSV columns.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safe_float strips quotes and returns 0.0 on parse failure — preventing one bad cell from crashing the loop.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write_points sends a single-element list; success logs Row N sent via oslo_log for traceability.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After each write, last_index increments and persists to last_index.state for fault-tolerant resume.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InfluxDB and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Lab overlay · LR container connectivity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· InfluxDB Docker deployment · lab overlay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InfluxDB in the lab stack — deployment and access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Training overlay docker-compose.lab.yml adds influxdb:1.8 on Docker network s4t alongside S4T services.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Host port 8086 maps to InfluxDB HTTP API — curl http://{{VM_IP}}:8086/ping returns 204 when healthy.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Default credentials: admin / admin — enabled via INFLUXDB_HTTP_AUTH_ENABLED in compose environment.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Database secco stores environmental time-series; _internal is InfluxDB system metadata.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Interactive shell: docker exec -it influxdb influx -username admin -password admin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Book also documents standalone docker run influxdb:1.8 for non-compose deployments.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· container networking · critical lab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LR → InfluxDB networking — why localhost fails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Default ch15 plugin_demo uses host localhost:8086 — this FAILS inside the Lightning-Rod container.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localhost inside LR refers to the LR container itself, where no InfluxDB process listens on 8086.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Fix: self.host = 'influxdb' — Docker embedded DNS on network s4t resolves the InfluxDB service name.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Lab file training/ch15-lab/plugin_demo_lab.py already applies this fix — use it, not raw repo plugin_demo.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Do NOT use host gateway IP (172.17.0.1) — fragile across Docker restarts and compose network changes.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Same hostname pattern as wss://crossbar:8181 from Module A — always use s4t service names inside containers.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· InfluxDB time-series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InfluxDB data model — measurements, tags, fields,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InfluxDB 1.x line protocol: measurement, tag set, field set, and timestamp define each point.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Tags (host, source) are indexed strings — use for GROUP BY station in queries and Grafana templates.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Fields (Temperature, PM25, Humidity, …) hold numeric values — the actual sensor readings.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Timestamps are UTC ISO format assigned at publish time in the lab CSV replay scenario.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Retention policies and continuous queries can downsample raw 30-second data for long-term storage.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SHOW MEASUREMENTS and SELECT * FROM environmental_data LIMIT 5 validate successful plugin writes.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JSON schema and execution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Data model · async run() method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Table · meteorological JSON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JSON data model — meteorological fields (Ch.15)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Temperature records ambient air temperature in degrees Celsius from the CSV replay or live sensor.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Humidity captures relative humidity percentage — critical for comfort and mold-risk urban indicators.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Wind_speed and Wind_direction describe horizontal flow magnitude and compass bearing.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Pressure reports barometric pressure — useful for weather trend analysis across station networks.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Precipitation accumulates rainfall depth — key hydrological input for smart-city flood early warning.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Gust, Light, and UVI extend the meteorological profile for comprehensive station dashboards.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Table · air quality JSON · lines 633–664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JSON data model — air quality and particulate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PM25, PM10, and PM100 measure particulate matter at 2.5, 10, and 100 micrometer thresholds.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Part03 through Part100 provide size-binned particle count distributions for detailed air-quality studies.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These fields map directly to EU air-quality index reporting used in TOO(L)SMART open-data portals.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CO, CO2, O3, NO2, and VOC appear in the book schema for full stations — lab CSV includes PM and meteo subset.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lat, lon, and alt tags geolocate each reading for map overlays in Grafana and CKAN.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Consistent field naming across cities enabled TOO(L)SMART Model 2 plug-and-play VM replication.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· JSON structure listing · open-data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JSON data model — tags, timestamps, and open-data alignment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Tag host identifies the station name from CSV name column — e.g. distinct Turin district stations.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Tag source_file traces provenance to the original CSV segment for audit and debugging.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UTC timestamps on each point align Grafana time axes across time zones in multi-city deployments.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JSON structure in the book listing is the contract CKAN harvesters and Grafana datasources expect.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Lab plugin assigns datetime.utcnow().isoformat() per row — simulating live acquisition cadence.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Production stations use sensor read time or NTP-synchronized board clock for the time field.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· async run() listing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Execution loop — run() method step by step (Ch.15)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run() logs plugin start, InfluxDB target host:port, database name, and resume index.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while self._is_running and self.last_index &lt; len(self.df): fetches the current CSV row by iloc.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generate_data_point(row) builds the InfluxDB dict with measurement, tags, time, and fields.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client.write_points([data_point]) sends the point; success logs Row N sent, failure logs exception.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last_index increments; save_last_index persists progress to /opt/data/last_index.state.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time.sleep(30) waits 30 seconds between publications — matching book cadence and lab timing.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Loop exits when dataset complete or plugin stopped; logs Dataset complete or plugin stopped.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· plugin activation · Ch.14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Execution loop — timing, Start vs Plugin Call, lifecycle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Async plugins never use Plugin Call for each row — Start launches the entire loop until Stop or Interrupt.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Thirty-second interval means ~2 rows per minute — plan query validation accordingly after 5+ minutes running.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Interrupt sets _is_running False — preferred graceful stop before plugin code update or board maintenance.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Remove injection only after Stop — avoids orphaned write loops holding InfluxDB client connections.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Same seven-step lifecycle from Ch.14 applies: create, inject, start, monitor, update, interrupt, remove.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Lab: InfluxDB and async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Lab overlay · plugin_demo_lab.py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868680" cy="310896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Environmental publisher — learning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11556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10424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Prove async plugins run autonomously without a Plugin Call per data point — validating Module B async theory.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Prove edge LR container publishes time-series to InfluxDB reachable on Docker network s4t at hostname influxdb.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Prove the data model matches TOO(L)SMART air-quality and meteorological schema with environmental_data measurement.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Prove state file resume and oslo_log traceability for production-style fault-tolerant urban monitoring.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Deliverable: at least one SELECT * FROM environmental_data row with Temperature and PM25 fields populated.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UML sequence — Async environmental publisher (Module 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53018" y="1426464"/>
            <a:ext cx="7285657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q-environmental-a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170" y="1499616"/>
            <a:ext cx="7139353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Start plugin → loop CSV → InfluxDB secco.environmental_data every 30s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Diagram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Verify InfluxDB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Confirm container influxdb running: docker compose ps | grep influxdb (lab overlay).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curl http://{{VM_IP}}:8086/ping — expect HTTP 204 No Content.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docker exec influxdb influx -username admin -password admin \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-execute 'CREATE DATABASE IF NOT EXISTS secco'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SHOW DATABASES should list secco alongside _internal.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InfluxDB — debug / metrics 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50142" y="1426464"/>
            <a:ext cx="2291410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fluxdb-deb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294" y="1499616"/>
            <a:ext cx="2145106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http://{{VM_IP}}:8086/debug/vars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417320" cy="329184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⚠  BOOK ↔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BF360C"/>
                </a:solidFill>
                <a:latin typeface="Calibri"/>
              </a:defRPr>
            </a:pPr>
            <a:r>
              <a:t>LR → InfluxDB networking fix (critical)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11556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Default ch15 plugin uses localhost:8086 — FAILS inside LR container with connection refused.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Fix: self.host = 'influxdb' (Docker DNS on network s4t) — already applied in plugin_demo_lab.py.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Use lab file: training/ch15-lab/plugin_demo_lab.py — not raw training/repos/ch15/plugin_demo.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Do NOT use host IP gateway — fragile across restarts; use s4t service names consistently.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Install dependencies in LR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docker exec -it lightning-rod pip install influxdb pandas requests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docker exec -it lightning-rod mkdir -p /opt/data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CSV downloads automatically on first plugin start from Google Drive URL in plugin code.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Verify LR on s4t network: docker inspect lightning-rod | grep -A5 Networks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Lightning-Rod — Configuration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8975" y="1426464"/>
            <a:ext cx="6333744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r-dashboard-co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127" y="1499616"/>
            <a:ext cx="6187440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http://{{VM_IP}}:1474 — async plugin executes inside LR on network s4t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Create and start async plugin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Horizon → Plugins → Create — paste training/ch15-lab/plugin_demo_lab.py source.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Callable = OFF (async) → Submit to repository.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Inject on Active board from Module A → use Start (NOT Plugin Call).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Watch logs: docker compose logs -f lightning-rod — expect Row N sent every 30 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Horizon IoT — Plugins (async Start)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8975" y="1426464"/>
            <a:ext cx="6333744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orizon-plugin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127" y="1499616"/>
            <a:ext cx="6187440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http://{{VM_IP}}/horizon/iot/plugins/ — Callable=OFF → Inject → 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Query InfluxDB and validate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docker exec influxdb influx -username admin -password admin -database secco \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-execute 'SELECT * FROM environmental_data ORDER BY time DESC LIMIT 5'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Expected: rows with temperature, humidity fields — verified 4+ points in lab.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 b="0">
                <a:solidFill>
                  <a:srgbClr val="0D2B45"/>
                </a:solidFill>
                <a:latin typeface="Consolas"/>
              </a:defRPr>
            </a:pPr>
            <a:r>
              <a:t>$ ./validate/validate-demo-ch15.sh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InfluxDB — environmental_data query 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8975" y="1426464"/>
            <a:ext cx="6333744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flux-query-environme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127" y="1499616"/>
            <a:ext cx="6187440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Verified query output from Module C demo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Lab: troubleshooting — environmental plugin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No rows after 2 min → check plugin Started (not just injected) and LR logs for connection errors.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Connection refused to InfluxDB → confirm self.host = 'influxdb' not localhost in plugin source.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CSV download failed → verify VM has outbound HTTPS to Google Drive; check /opt/data inside LR.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ImportError influxdb → re-run pip install inside lightning-rod container before Start.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Empty measurement → wrong database; confirm USE secco and SHOW MEASUREMENTS output.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TOO(L)SMART smart-city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Ch.15 §15.5 · national replication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§15.5 · TOO(L)SMART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TOO(L)SMART — national smart station network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TOO(L)SMART builds a replicable national network of environmental smart stations across Italian cities.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Pilot cities: Turin, Padua, Lecce, Siracusa, and Messina — each with distinct deployment maturity.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Goal: democratize air-quality and meteorological monitoring with open data and standardized edge software.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Stack4Things and IoTronic orchestrate edge nodes; cloud stores time-series and serves CKAN open-data APIs.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Grafana dashboards and Node-RED flows provide operator visualization and alert automation.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Today's lab CSV plugin implements the same Worker pattern deployed on physical Pi stations in the field.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· Deployment Model 1 · Turin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Deployment Model 1 — Turin full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Turin deployed seven monitoring stations as the reference architecture for the entire national program.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Full stack: S4T, IoTronic, Lightning-Rod, InfluxDB, Grafana, CKAN, Node-RED, and WebSocket tunnels.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Custom integration tied each station to municipal IT, university research networks, and public portals.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Approximately eight months from design to deployment plus one year of operational validation.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Lessons from Turin informed standardized VM bundles used in Model 2 cities.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Turin remains the template for cities willing to invest in deep OpenStack and S4T integration.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· Model 1 · Turin operational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Deployment Model 1 — Turin operational 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Continuous environmental_data streams feed municipal air-quality compliance reporting.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Open CKAN datasets enable citizen science apps and academic research on urban pollution.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Centralized IoTronic logging lets operators diagnose station faults without visiting rooftop enclosures.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Plugin remote update deployed new CSV field mappings without hardware changes during pilot extensions.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WebSocket tunnels exposed station maintenance APIs securely through municipal firewalls.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Model 1 proves the three-layer architecture at production scale — not only lab Docker Compose.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· Deployment Model 2 · VM bundle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Deployment Model 2 — plug-and-play VM bundles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Padua, Lecce, Siracusa, and Messina received pre-configured VM images for rapid city onboarding.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Each bundle ships Controller Node plus Data Portal — minimal custom integration per municipality.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Modularity and virtualization accelerated city-to-city replication from months toward weeks.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Open standards throughout: CKAN for data, WAMP for control, JSON for payloads, Docker for packaging.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Cities with limited OpenStack expertise still join the network without Turin-scale custom engineering.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Environmental Worker and InfluxDB measurement schema are identical across Model 1 and Model 2.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· Model 2 · replication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Deployment Model 2 — when cities choose plug-and-play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Smaller municipalities lack dedicated cloud engineers — VM bundles reduce operational skill requirements.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Pre-tested images include Grafana dashboards and CKAN harvesters matching TOO(L)SMART field naming.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Controller Node VM runs IoTronic-facing services; edge Pi boards still run Lightning-Rod and plugins.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Data Portal VM hosts InfluxDB, Grafana, and public APIs — separating acquisition from publication tier.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Upgrade path: cities can migrate from Model 2 bundle toward Model 1 full integration as maturity grows.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Lab Docker Compose is a minimal Model 2 slice — one VM, one LR board, one InfluxDB, one async plugin.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Ch.15 conclusion · TOO(L)SMART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Lessons learned — TOO(L)SMART and Chapter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Plugin model enables remote logic updates without physical access — essential for rooftop station maintenance.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Time-series storage plus Grafana dashboards give operators observability missing from raw CSV exports.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Cloud-native OpenStack with IoTronic scales multi-city orchestration under Keystone multi-tenancy.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Lab CSV demo maps one-to-one to Raspberry Pi sensor acquisition — swap data source, keep architecture.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Open-data publication via CKAN closes the loop from edge sensing to citizen-facing urban intelligence.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Software-defined infrastructure turns each station into a remotely programmable cyber-physical asset.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3-hour core course wrap-up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Module A (Ch.13): deploy I/Ocloud S4T stack, onboard board to Active state.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Module B (Ch.14): sync HelloName plugin, async theory, optional Docker at edge.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Module C (Ch.15): environmental async publisher → InfluxDB time-series validation.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Extended path (6–9h): Modules D–I — multiboard fleet, VN, web services, FL, Blueprint, FaaS.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See 00_Course_Map_EN.pptx · validate: cd training &amp;&amp; ./validate-lab.sh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Final deliverables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□ Board Active screenshot (Module A).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□ HelloName Plugin Call output in Horizon or LR log (Module B).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□ InfluxDB SELECT * FROM environmental_data LIMIT 5 output (Module C).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Material: training/GUIDA_SETUP_CORSISTI.md · training/HANDS_ON_COMMANDS.md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