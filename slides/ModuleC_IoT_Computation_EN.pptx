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IoT-hosted Computation &amp; Smart-City Services.</a:t>
            </a:r>
          </a:p>
          <a:p/>
          <a:p>
            <a:r>
              <a:t>Module C — IoT-hosted Computation · Ch.15 Lab VM: {{VM_IP}}</a:t>
            </a:r>
          </a:p>
          <a:p/>
          <a:p>
            <a:r>
              <a:t>The session alternates theory from the book with live exercises on the Stack4Things lab VM. Replace the placeholder IP with the address of the machine you are using.</a:t>
            </a:r>
          </a:p>
          <a:p/>
          <a:p>
            <a:r>
              <a:t>Assembling Smart CPS · Part II.</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Chapter 15 overview. From middleware to urban observability.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Chapter 15 scope — abstract and positioning. This material is covered in Ch.15 abstract · IoT-hosted computation.</a:t>
            </a:r>
          </a:p>
          <a:p/>
          <a:p>
            <a:r>
              <a:t>First, Chapter 15 moves from platform deployment (Ch.13) and edge plugins (Ch.14) to an observable urban service. Next, Environmental monitoring demonstrates an end-to-end workflow: edge acquisition, then time-series storage, then dashboards.</a:t>
            </a:r>
          </a:p>
          <a:p/>
          <a:p>
            <a:r>
              <a:t>By contrast, The chapter frames IoT nodes as software-defined infrastructure — programmable and remotely managed assets. We should also consider that Chapter 15 emphasizes design principles, three-layer architecture, and real smart-city replication.</a:t>
            </a:r>
          </a:p>
          <a:p/>
          <a:p>
            <a:r>
              <a:t>Another key point is that The TOO(L)SMART national project provides two deployment models validated across five Italian pilot cities. Furthermore, Today's lab reproduces the core data path with CSV replay instead of physical sensors on Raspberry Pi hardware.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Learning objectives and deliverables.</a:t>
            </a:r>
          </a:p>
          <a:p/>
          <a:p>
            <a:r>
              <a:t>First, regarding understand the three-layer architecture, orchestration, execution, and application/storage. Next, Deploy the async environmental_data plugin writing CSV rows to InfluxDB every 30 seconds.</a:t>
            </a:r>
          </a:p>
          <a:p/>
          <a:p>
            <a:r>
              <a:t>By contrast, Query time-series data with Influx CLI — deliverable: rows visible in environmental_data. We should also consider that Relate the lab demo to TOO(L)SMART smart-city deployment models in Turin and plug-and-play cities.</a:t>
            </a:r>
          </a:p>
          <a:p/>
          <a:p>
            <a:r>
              <a:t>Another key point is that regarding horizon login, admin / s4t · InfluxDB ping: http://{{VM_IP}}:8086/ping · LR UI: me / arancino at :1474.</a:t>
            </a:r>
          </a:p>
          <a:p/>
          <a:p>
            <a:r>
              <a:t>If these objectives are clear, we can proceed.</a:t>
            </a:r>
          </a:p>
          <a:p/>
          <a:p>
            <a:r>
              <a:t>Session timing — Module C — 60-minute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Design principles. Firmware vs plugins · modular edge architecture.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Firmware vs plugin paradigm — why plugins win (Ch.15 intro). This material is covered in Ch.15 introduction · firmware vs plugin.</a:t>
            </a:r>
          </a:p>
          <a:p/>
          <a:p>
            <a:r>
              <a:t>First, Traditional firmware embeds logic in flash — updates require physical access, truck rolls, or risky OTA reflashing. Next, Firmware changes are slow, expensive, and tightly coupled to specific hardware board revisions and pin maps.</a:t>
            </a:r>
          </a:p>
          <a:p/>
          <a:p>
            <a:r>
              <a:t>By contrast, Stack4Things plugins deploy at runtime — IoTronic orchestrates upload, inject, start, update, and removal remotely. We should also consider that Edge logic can iterate daily during a smart-city pilot without touching device flash or rebooting the OS.</a:t>
            </a:r>
          </a:p>
          <a:p/>
          <a:p>
            <a:r>
              <a:t>Another key point is that The plugin model aligns with I/Ocloud virtualization from Chapter 4 — sensors become callable software functions. Furthermore, Chapter 15 environmental publisher is the canonical async plugin proving continuous urban data acquisition.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Firmware vs plugin — operational comparison. This material is covered in Ch.15 · software-defined edge nodes.</a:t>
            </a:r>
          </a:p>
          <a:p/>
          <a:p>
            <a:r>
              <a:t>First, Firmware rollback requires backup partitions or JTAG recovery — plugins rollback by re-injecting prior repository version. Next, Firmware testing cycles span hardware QA labs; plugin testing uses the same Horizon inject flow as production.</a:t>
            </a:r>
          </a:p>
          <a:p/>
          <a:p>
            <a:r>
              <a:t>By contrast, Multiple plugins coexist on one board — environmental, Docker, HelloName — without reflashing monolithic firmware. We should also consider that Plugin interrupt and remove cleanly stop background loops and release Python resources on Lightning-Rod.</a:t>
            </a:r>
          </a:p>
          <a:p/>
          <a:p>
            <a:r>
              <a:t>Another key point is that Production Raspberry Pi stations run the same Worker class as today's LR container — only the data source changes. Furthermore, Physical sensors replace CSV rows; InfluxDB host, measurement name, and 30-second interval stay identical.</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Design principles — modular plugin architecture (Ch.15). This material is covered in Ch.15 § design principles.</a:t>
            </a:r>
          </a:p>
          <a:p/>
          <a:p>
            <a:r>
              <a:t>First, Modular plugin-based architecture enforces clear separation of concerns across cloud, edge, and storage tiers. Next, Orchestration (IoTronic) owns lifecycle, multi-tenancy, REST APIs, and Horizon dashboard operations.</a:t>
            </a:r>
          </a:p>
          <a:p/>
          <a:p>
            <a:r>
              <a:t>By contrast, Execution (Lightning-Rod) owns Worker loading, WAMP messaging, oslo_log emission, and local I/O access. We should also consider that Application logic lives inside the plugin — CSV parsing, timestamp assignment, InfluxDB write_points calls.</a:t>
            </a:r>
          </a:p>
          <a:p/>
          <a:p>
            <a:r>
              <a:t>Another key point is that External time-series storage (InfluxDB) keeps the edge lightweight — no heavy database on constrained boards. Furthermore, Security sandboxing limits plugin access to declared resources; extensibility adds new Workers without platform forks.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Design principles — state, fault tolerance, observability. This material is covered in Ch.15 § design principles · fault tolerance.</a:t>
            </a:r>
          </a:p>
          <a:p/>
          <a:p>
            <a:r>
              <a:t>First, State management uses last_index.state on disk so the plugin resumes CSV replay after restart or crash. Next, regarding fault tolerance, failed InfluxDB writes log errors via oslo_log but the loop continues to next row when possible.</a:t>
            </a:r>
          </a:p>
          <a:p/>
          <a:p>
            <a:r>
              <a:t>By contrast, Structured logging spans execution layer, then centralized IoTronic logs in production deployments. We should also consider that Lightweight edge plus external DB mirrors smart-city reality — Pi acquisition, cloud-scale storage and Grafana.</a:t>
            </a:r>
          </a:p>
          <a:p/>
          <a:p>
            <a:r>
              <a:t>Another key point is that regarding open standards throughout, JSON data points, WAMP control, Docker Compose lab stack, CKAN open-data portals. Furthermore, These principles directly enabled TOO(L)SMART replication from Turin reference to four plug-and-play cities.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Security and sandboxing (Ch.15). This material is covered in Ch.15 § design principles · security sandboxing.</a:t>
            </a:r>
          </a:p>
          <a:p/>
          <a:p>
            <a:r>
              <a:t>First, Running arbitrary plugin code requires sandboxing, access control, and signature verification. Next, Tenant isolation in IoTronic prevents one operator from injecting plugins on another's boards.</a:t>
            </a:r>
          </a:p>
          <a:p/>
          <a:p>
            <a:r>
              <a:t>By contrast, LR executes Python Workers with OS-level boundaries — production adds resource limits and auditing. We should also consider that Digital signatures on uploaded plugins ensure integrity before fleet-wide rollout.</a:t>
            </a:r>
          </a:p>
          <a:p/>
          <a:p>
            <a:r>
              <a:t>Another key point is that Security-by-design aligns with GDPR and smart-city procurement requirements in TOO(L)SMART. Furthermore, regarding lab scope, trusted training environment — production deployments enforce stricter policies.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PluginExec — local plugin testing (Ch.15). This material is covered in Ch.15 abstract · PluginExec tool.</a:t>
            </a:r>
          </a:p>
          <a:p/>
          <a:p>
            <a:r>
              <a:t>First, PluginExec is a command-line tool that simulates plugin execution on the board before cloud inject. Next, Developers debug Worker.run() locally with mock params and q_result — faster iteration cycle.</a:t>
            </a:r>
          </a:p>
          <a:p/>
          <a:p>
            <a:r>
              <a:t>By contrast, Reduces failed inject cycles during smart-city pilot deployments with hundreds of boards. We should also consider that Same Worker class used in PluginExec and IoTronic inject — behaviour matches production.</a:t>
            </a:r>
          </a:p>
          <a:p/>
          <a:p>
            <a:r>
              <a:t>Another key point is that regarding workflow, write, then PluginExec test, then upload repository, then inject, then Start on Active board. Furthermore, Book abstract positions PluginExec as accelerator for plugin-based urban services.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Book vs lab environmental JSON schema (Ch.15). This material is covered in Ch.15 · tab:meteorological · tab:airquality · plugin_demo listing.</a:t>
            </a:r>
          </a:p>
          <a:p/>
          <a:p>
            <a:r>
              <a:t>First, Book measurement environmental_data includes full air-quality set: CO, CO2, O3, NO2, VOC. Next, Lab CSV subset focuses on Temperature, Humidity, PM2.5, PM10 — sufficient for InfluxDB demo.</a:t>
            </a:r>
          </a:p>
          <a:p/>
          <a:p>
            <a:r>
              <a:t>By contrast, regarding tags, host, source · timestamp: ISO format assigned per row in plugin_demo run loop. We should also consider that Same InfluxDB line protocol and database name secco — only field cardinality differs.</a:t>
            </a:r>
          </a:p>
          <a:p/>
          <a:p>
            <a:r>
              <a:t>Another key point is that Production Raspberry Pi stations use identical schema with live sensor drivers instead of CSV. Furthermore, regarding tables tab, meteorological and tab:airquality in book define full pilot-city parameter lists.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LoRaWAN edge-collector-cloud path (Ch.15). This material is covered in Ch.15 § Environmental monitoring · LoRaWAN architecture.</a:t>
            </a:r>
          </a:p>
          <a:p/>
          <a:p>
            <a:r>
              <a:t>First, regarding too(l)smart stations often use lorawan, many end nodes, then few gateway collectors, then cloud. Next, Gateway placement at urban zone edges mitigates path loss — uniform coverage in dense cities.</a:t>
            </a:r>
          </a:p>
          <a:p/>
          <a:p>
            <a:r>
              <a:t>By contrast, S4T LR on collector node runs environmental async plugin — same architecture as today's lab. We should also consider that LoRaWAN handles low-power wide-area links; InfluxDB and Grafana remain in application tier.</a:t>
            </a:r>
          </a:p>
          <a:p/>
          <a:p>
            <a:r>
              <a:t>Another key point is that Lab CSV replay simulates collector-acquired rows — swap CSV for LoRa decoder output in production. Furthermore, Book cites empirical LoRaWAN deployment studies for Turin and other pilot municipalities.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Three-layer architecture. Orchestration · execution · application.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Orchestration layer — IoTronic cloud control plane. This material is covered in Ch.15 · fig:chap15 architecture · orchestration layer.</a:t>
            </a:r>
          </a:p>
          <a:p/>
          <a:p>
            <a:r>
              <a:t>First, IoTronic Conductor exposes REST API on port 8812 and Horizon IoT panels for operators and tenants. Next, It maintains the plugin repository, board registry, injection mappings, and fleet group definitions.</a:t>
            </a:r>
          </a:p>
          <a:p/>
          <a:p>
            <a:r>
              <a:t>By contrast, Start, Stop, Interrupt, and Plugin Call commands traverse RabbitMQ and Crossbar WAMP to reach Lightning-Rod. We should also consider that Multi-tenant isolation follows OpenStack Keystone — each city project sees only its boards and plugins.</a:t>
            </a:r>
          </a:p>
          <a:p/>
          <a:p>
            <a:r>
              <a:t>Another key point is that Centralized logging aggregation receives LR log streams for cross-fleet troubleshooting without SSH. Furthermore, Chapter 13 deployed this layer in Module A; Chapter 15 adds async plugin activation on top of it.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Execution layer — Lightning-Rod edge agent. This material is covered in Ch.15 · execution layer · Lightning-Rod.</a:t>
            </a:r>
          </a:p>
          <a:p/>
          <a:p>
            <a:r>
              <a:t>First, Lightning-Rod connects the board to IoTronic via WAMP over wss://crossbar:8181 inside the Docker s4t network. Next, Plugin Manager loads the Worker class, sets self._is_running for async loops, and routes self.params.</a:t>
            </a:r>
          </a:p>
          <a:p/>
          <a:p>
            <a:r>
              <a:t>By contrast, Oslo_log LOG.info and LOG.error emit structured messages consumed locally and forwarded centrally in production. We should also consider that LR container in the lab simulates a physical board — same agent binary used on Raspberry Pi edge nodes.</a:t>
            </a:r>
          </a:p>
          <a:p/>
          <a:p>
            <a:r>
              <a:t>Another key point is that Pip-installed dependencies (influxdb, pandas, requests) must exist inside LR before environmental plugin starts. Furthermore, Network hostname influxdb resolves on s4t bridge — localhost inside LR does not reach the InfluxDB container.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Application layer — plugin, storage, visualization. This material is covered in Ch.15 · application layer · InfluxDB · Grafana · CKAN.</a:t>
            </a:r>
          </a:p>
          <a:p/>
          <a:p>
            <a:r>
              <a:t>First, The environmental Worker reads CSV rows, assigns UTC timestamps, and writes InfluxDB points every 30 seconds. Next, InfluxDB 1.8 stores measurement environmental_data in database secco with admin credentials in the lab overlay.</a:t>
            </a:r>
          </a:p>
          <a:p/>
          <a:p>
            <a:r>
              <a:t>By contrast, Grafana dashboards (grafana.json in ch15 repo) visualize air-quality and meteorological fields for operators. We should also consider that CKAN data portals publish open datasets to citizens — the TOO(L)SMART public-facing tier above raw time-series.</a:t>
            </a:r>
          </a:p>
          <a:p/>
          <a:p>
            <a:r>
              <a:t>Another key point is that Node-RED flows in full Turin deployment orchestrate alerts and integrations beyond simple storage. Furthermore, Lab validates the plugin, then InfluxDB path; Grafana and CKAN are previewed as production application tier.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Environmental dataflow (diagram). Describe the main boxes and arrows. Relate each element to a Docker service or API you have already seen. In particular, note the following: CSV → async Worker → InfluxDB (host=influxdb) → optional Grafana · Ch.15 pipeline.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Environmental data publisher. Async plugin · Ch.15 listing.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Environmental publisher — purpose and data source. This material is covered in Ch.15 · environmental data publisher listing.</a:t>
            </a:r>
          </a:p>
          <a:p/>
          <a:p>
            <a:r>
              <a:t>First, The environmental data publisher simulates a continuous real-time sensor stream by replaying CSV rows. Next, Each row receives a fresh UTC timestamp at publish time — decoupling historical data from wall-clock acquisition.</a:t>
            </a:r>
          </a:p>
          <a:p/>
          <a:p>
            <a:r>
              <a:t>By contrast, In production, Raspberry Pi boards with I2C, SPI, or GPIO sensors replace CSV iloc iteration with live reads. We should also consider that regarding the plugin is asynchronous, callable = OFF, activated with Start, runs until Stop or dataset exhaustion.</a:t>
            </a:r>
          </a:p>
          <a:p/>
          <a:p>
            <a:r>
              <a:t>Another key point is that regarding repository, github.com/AssemblingSmartCPS/ch15 · lab file: training/ch15-lab/plugin_demo_lab.py. Furthermore, regarding measurement name written to influxdb, environmental_data — the validation target for today's deliverable.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Environmental publisher — initialization and CSV handling. This material is covered in Ch.15 · plugin __init__ · CSV download from Google Drive.</a:t>
            </a:r>
          </a:p>
          <a:p/>
          <a:p>
            <a:r>
              <a:t>First, On __init__, the Worker ensures /opt/data exists and downloads structured_time_series_v2.csv if missing. Next, Pandas reads the CSV, parses the time column, and fills NaN with zero for safe float conversion.</a:t>
            </a:r>
          </a:p>
          <a:p/>
          <a:p>
            <a:r>
              <a:t>By contrast, InfluxDBClient connects with host, port 8086, username admin, password admin, database secco. We should also consider that Create_database ensures secco exists before the run loop begins publishing points.</a:t>
            </a:r>
          </a:p>
          <a:p/>
          <a:p>
            <a:r>
              <a:t>Another key point is that Load_last_index reads last_index.state to resume from the last successfully written row after restart. Furthermore, regarding dependencies, influxdb, pandas, requests — install inside LR container before plugin Start.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Environmental publisher — generate_data_point structure. This material is covered in Ch.15 · generate_data_point · listing.</a:t>
            </a:r>
          </a:p>
          <a:p/>
          <a:p>
            <a:r>
              <a:t>First, Each InfluxDB point has measurement environmental_data, tags host and source, UTC time, and numeric fields. Next, Tags identify the station name and source file — enabling multi-station queries in Grafana and CKAN.</a:t>
            </a:r>
          </a:p>
          <a:p/>
          <a:p>
            <a:r>
              <a:t>By contrast, Fields include meteorological and air-quality metrics parsed via safe_float from CSV columns. We should also consider that Safe_float strips quotes and returns 0.0 on parse failure — preventing one bad cell from crashing the loop.</a:t>
            </a:r>
          </a:p>
          <a:p/>
          <a:p>
            <a:r>
              <a:t>Another key point is that Write_points sends a single-element list; success logs Row N sent via oslo_log for traceability. Furthermore, After each write, last_index increments and persists to last_index.state for fault-tolerant resume.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InfluxDB and networking. Lab overlay · LR container connectivity.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InfluxDB in the lab stack — deployment and access. This material is covered in Ch.15 · InfluxDB Docker deployment · lab overlay.</a:t>
            </a:r>
          </a:p>
          <a:p/>
          <a:p>
            <a:r>
              <a:t>First, Training overlay docker-compose.lab.yml adds influxdb:1.8 on Docker network s4t alongside S4T services. Next, Host port 8086 maps to InfluxDB HTTP API — curl http://{{VM_IP}}:8086/ping returns 204 when healthy.</a:t>
            </a:r>
          </a:p>
          <a:p/>
          <a:p>
            <a:r>
              <a:t>By contrast, regarding default credentials, admin / admin — enabled via INFLUXDB_HTTP_AUTH_ENABLED in compose environment. We should also consider that Database secco stores environmental time-series; _internal is InfluxDB system metadata.</a:t>
            </a:r>
          </a:p>
          <a:p/>
          <a:p>
            <a:r>
              <a:t>Another key point is that regarding interactive shell, docker exec -it influxdb influx -username admin -password admin. Furthermore, Book also documents standalone docker run influxdb:1.8 for non-compose deployments.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LR → InfluxDB networking — why localhost fails. This material is covered in Ch.15 · container networking · critical lab fix.</a:t>
            </a:r>
          </a:p>
          <a:p/>
          <a:p>
            <a:r>
              <a:t>First, regarding default ch15 plugin_demo uses host localhost, 8086 — this FAILS inside the Lightning-Rod container. Next, Localhost inside LR refers to the LR container itself, where no InfluxDB process listens on 8086.</a:t>
            </a:r>
          </a:p>
          <a:p/>
          <a:p>
            <a:r>
              <a:t>By contrast, regarding fix, self.host = 'influxdb' — Docker embedded DNS on network s4t resolves the InfluxDB service name. We should also consider that Lab file training/ch15-lab/plugin_demo_lab.py already applies this fix — use it, not raw repo plugin_demo.</a:t>
            </a:r>
          </a:p>
          <a:p/>
          <a:p>
            <a:r>
              <a:t>Another key point is that Do NOT use host gateway IP (172.17.0.1) — fragile across Docker restarts and compose network changes. Furthermore, regarding same hostname pattern as wss, //crossbar:8181 from Module A — always use s4t service names inside containers.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InfluxDB data model — measurements, tags, fields, time. This material is covered in Ch.15 · InfluxDB time-series concepts.</a:t>
            </a:r>
          </a:p>
          <a:p/>
          <a:p>
            <a:r>
              <a:t>First, regarding influxdb 1.x line protocol, measurement, tag set, field set, and timestamp define each point. Next, Tags (host, source) are indexed strings — use for GROUP BY station in queries and Grafana templates.</a:t>
            </a:r>
          </a:p>
          <a:p/>
          <a:p>
            <a:r>
              <a:t>By contrast, Fields (Temperature, PM25, Humidity, …) hold numeric values — the actual sensor readings. We should also consider that Timestamps are UTC ISO format assigned at publish time in the lab CSV replay scenario.</a:t>
            </a:r>
          </a:p>
          <a:p/>
          <a:p>
            <a:r>
              <a:t>Another key point is that Retention policies and continuous queries can downsample raw 30-second data for long-term storage. Furthermore, SHOW MEASUREMENTS and SELECT * FROM environmental_data LIMIT 5 validate successful plugin writes.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JSON schema and execution loop. Data model · async run() method.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JSON data model — meteorological fields (Ch.15). This material is covered in Ch.15 Table · meteorological JSON fields.</a:t>
            </a:r>
          </a:p>
          <a:p/>
          <a:p>
            <a:r>
              <a:t>First, Temperature records ambient air temperature in degrees Celsius from the CSV replay or live sensor. Next, Humidity captures relative humidity percentage — critical for comfort and mold-risk urban indicators.</a:t>
            </a:r>
          </a:p>
          <a:p/>
          <a:p>
            <a:r>
              <a:t>By contrast, Wind_speed and Wind_direction describe horizontal flow magnitude and compass bearing. We should also consider that Pressure reports barometric pressure — useful for weather trend analysis across station networks.</a:t>
            </a:r>
          </a:p>
          <a:p/>
          <a:p>
            <a:r>
              <a:t>Another key point is that Precipitation accumulates rainfall depth — key hydrological input for smart-city flood early warning. Furthermore, Gust, Light, and UVI extend the meteorological profile for comprehensive station dashboards.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JSON data model — air quality and particulate fields. This material is covered in Ch.15 Table · air quality JSON · lines 633–664.</a:t>
            </a:r>
          </a:p>
          <a:p/>
          <a:p>
            <a:r>
              <a:t>First, PM25, PM10, and PM100 measure particulate matter at 2.5, 10, and 100 micrometer thresholds. Next, Part03 through Part100 provide size-binned particle count distributions for detailed air-quality studies.</a:t>
            </a:r>
          </a:p>
          <a:p/>
          <a:p>
            <a:r>
              <a:t>By contrast, These fields map directly to EU air-quality index reporting used in TOO(L)SMART open-data portals. We should also consider that CO, CO2, O3, NO2, and VOC appear in the book schema for full stations — lab CSV includes PM and meteo subset.</a:t>
            </a:r>
          </a:p>
          <a:p/>
          <a:p>
            <a:r>
              <a:t>Another key point is that Lat, lon, and alt tags geolocate each reading for map overlays in Grafana and CKAN. Furthermore, Consistent field naming across cities enabled TOO(L)SMART Model 2 plug-and-play VM replication.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JSON data model — tags, timestamps, and open-data alignment. This material is covered in Ch.15 · JSON structure listing · open-data contract.</a:t>
            </a:r>
          </a:p>
          <a:p/>
          <a:p>
            <a:r>
              <a:t>First, Tag host identifies the station name from CSV name column — e.g. distinct Turin district stations. Next, Tag source_file traces provenance to the original CSV segment for audit and debugging.</a:t>
            </a:r>
          </a:p>
          <a:p/>
          <a:p>
            <a:r>
              <a:t>By contrast, UTC timestamps on each point align Grafana time axes across time zones in multi-city deployments. We should also consider that JSON structure in the book listing is the contract CKAN harvesters and Grafana datasources expect.</a:t>
            </a:r>
          </a:p>
          <a:p/>
          <a:p>
            <a:r>
              <a:t>Another key point is that Lab plugin assigns datetime.utcnow().isoformat() per row — simulating live acquisition cadence. Furthermore, Production stations use sensor read time or NTP-synchronized board clock for the time field.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Execution loop — run() method step by step (Ch.15). This material is covered in Ch.15 · async run() listing.</a:t>
            </a:r>
          </a:p>
          <a:p/>
          <a:p>
            <a:r>
              <a:t>First, regarding run() logs plugin start, influxdb target host, port, database name, and resume index. Next, While self._is_running and self.last_index &lt; len(self.df): fetches the current CSV row by iloc.</a:t>
            </a:r>
          </a:p>
          <a:p/>
          <a:p>
            <a:r>
              <a:t>By contrast, Generate_data_point(row) builds the InfluxDB dict with measurement, tags, time, and fields. We should also consider that Client.write_points([data_point]) sends the point; success logs Row N sent, failure logs exception.</a:t>
            </a:r>
          </a:p>
          <a:p/>
          <a:p>
            <a:r>
              <a:t>Another key point is that Last_index increments; save_last_index persists progress to /opt/data/last_index.state. Furthermore, Time.sleep(30) waits 30 seconds between publications — matching book cadence and lab timing.</a:t>
            </a:r>
          </a:p>
          <a:p/>
          <a:p>
            <a:r>
              <a:t>In addition, Loop exits when dataset complete or plugin stopped; logs Dataset complete or plugin stopped.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Execution loop — timing, Start vs Plugin Call, lifecycle. This material is covered in Ch.15 · plugin activation · Ch.14 lifecycle.</a:t>
            </a:r>
          </a:p>
          <a:p/>
          <a:p>
            <a:r>
              <a:t>First, Async plugins never use Plugin Call for each row — Start launches the entire loop until Stop or Interrupt. Next, Thirty-second interval means ~2 rows per minute — plan query validation accordingly after 5+ minutes running.</a:t>
            </a:r>
          </a:p>
          <a:p/>
          <a:p>
            <a:r>
              <a:t>By contrast, Interrupt sets _is_running False — preferred graceful stop before plugin code update or board maintenance. We should also consider that Remove injection only after Stop — avoids orphaned write loops holding InfluxDB client connections.</a:t>
            </a:r>
          </a:p>
          <a:p/>
          <a:p>
            <a:r>
              <a:t>Another key point is that regarding same seven-step lifecycle from ch.14 applies, create, inject, start, monitor, update, interrupt, remove.</a:t>
            </a:r>
          </a:p>
          <a:p/>
          <a:p>
            <a:r>
              <a:t>I'll pause here for questions, then we'll continue.</a:t>
            </a:r>
          </a:p>
          <a:p/>
          <a:p>
            <a:r>
              <a:t>Instructor cues:</a:t>
            </a:r>
          </a:p>
          <a:p>
            <a:r>
              <a:t>• Start the plugin by minute 18 of the hands-on block to accumulate rows before Module C wrap-up at minute 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InfluxDB and async plugin. Lab overlay · plugin_demo_lab.py. In the next slides, listen for whether we are in theory mode or hands-on mode, and open your terminal when the slides turn to lab work.</a:t>
            </a:r>
          </a:p>
          <a:p/>
          <a:p>
            <a:r>
              <a:t>Instructor timing (title): Hands-on — InfluxDB and async plugin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Environmental publisher — learning outcomes.</a:t>
            </a:r>
          </a:p>
          <a:p/>
          <a:p>
            <a:r>
              <a:t>First, Prove async plugins run autonomously without a Plugin Call per data point — validating Module B async theory. Next, Prove edge LR container publishes time-series to InfluxDB reachable on Docker network s4t at hostname influxdb.</a:t>
            </a:r>
          </a:p>
          <a:p/>
          <a:p>
            <a:r>
              <a:t>By contrast, Prove the data model matches TOO(L)SMART air-quality and meteorological schema with environmental_data measurement. We should also consider that Prove state file resume and oslo_log traceability for production-style fault-tolerant urban monitoring.</a:t>
            </a:r>
          </a:p>
          <a:p/>
          <a:p>
            <a:r>
              <a:t>Another key point is that regarding deliverable, at least one SELECT * FROM environmental_data row with Temperature and PM25 fields populated.</a:t>
            </a:r>
          </a:p>
          <a:p/>
          <a:p>
            <a:r>
              <a:t>Check that your screen matches what we showed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sequence diagram on screen: UML sequence — Async environmental publisher (Module C). Trace the diagram from left to right. Name each actor, the protocol used, and the message that crosses the cloud–edge boundary. In particular, note the following: Start plugin → loop CSV → InfluxDB secco.environmental_data every 30s.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Verify InfluxDB. Open your lab VM and follow along.</a:t>
            </a:r>
          </a:p>
          <a:p/>
          <a:p>
            <a:r>
              <a:t>First, regarding confirm container influxdb running, docker compose ps | grep influxdb (lab overlay). Next, regarding curl http, //{{VM_IP}}:8086/ping — expect HTTP 204 No Content.</a:t>
            </a:r>
          </a:p>
          <a:p/>
          <a:p>
            <a:r>
              <a:t>By contrast, Docker exec influxdb influx -username admin -password admin \. We should also consider that -execute 'CREATE DATABASE IF NOT EXISTS secco'.</a:t>
            </a:r>
          </a:p>
          <a:p/>
          <a:p>
            <a:r>
              <a:t>Another key point is that SHOW DATABASES should list secco alongside _internal.</a:t>
            </a:r>
          </a:p>
          <a:p/>
          <a:p>
            <a:r>
              <a:t>Raise your hand if you're stuck — we'll wait until most of you are done.</a:t>
            </a:r>
          </a:p>
          <a:p/>
          <a:p>
            <a:r>
              <a:t>Instructor timing (title): Step 1 — Verify InfluxDB (5 min)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InfluxDB — debug / metrics page. Walk the class through what they see in the interface. Connect each panel and button to a component we already deployed in the stack. In particular, note the following: http://{{VM_IP}}:8086/debug/vars.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continue, an important note about LR → InfluxDB networking fix (critical).</a:t>
            </a:r>
          </a:p>
          <a:p/>
          <a:p>
            <a:r>
              <a:t>First, regarding default ch15 plugin uses localhost, 8086 — FAILS inside LR container with connection refused. Next, regarding fix, self.host = 'influxdb' (Docker DNS on network s4t) — already applied in plugin_demo_lab.py.</a:t>
            </a:r>
          </a:p>
          <a:p/>
          <a:p>
            <a:r>
              <a:t>By contrast, regarding use lab file, training/ch15-lab/plugin_demo_lab.py — not raw training/repos/ch15/plugin_demo. We should also consider that Do NOT use host IP gateway — fragile across restarts; use s4t service names consistently.</a:t>
            </a:r>
          </a:p>
          <a:p/>
          <a:p>
            <a:r>
              <a:t>Keep this difference in mind for the rest of the lab.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Install dependencies in LR. Open your lab VM and follow along.</a:t>
            </a:r>
          </a:p>
          <a:p/>
          <a:p>
            <a:r>
              <a:t>First, Docker exec -it lightning-rod pip install influxdb pandas requests. Next, Docker exec -it lightning-rod mkdir -p /opt/data.</a:t>
            </a:r>
          </a:p>
          <a:p/>
          <a:p>
            <a:r>
              <a:t>By contrast, CSV downloads automatically on first plugin start from Google Drive URL in plugin code. We should also consider that regarding verify lr on s4t network, docker inspect lightning-rod | grep -A5 Networks.</a:t>
            </a:r>
          </a:p>
          <a:p/>
          <a:p>
            <a:r>
              <a:t>Raise your hand if you're stuck — we'll wait until most of you are done.</a:t>
            </a:r>
          </a:p>
          <a:p/>
          <a:p>
            <a:r>
              <a:t>Instructor timing (title): Step 2 — Install dependencies in LR (5 min)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Lightning-Rod — Configuration. Walk the class through what they see in the interface. Connect each panel and button to a component we already deployed in the stack. In particular, note the following: http://{{VM_IP}}:1474 — async plugin executes inside LR on network s4t.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Create and start async plugin. Open your lab VM and follow along.</a:t>
            </a:r>
          </a:p>
          <a:p/>
          <a:p>
            <a:r>
              <a:t>First, Horizon, then Plugins, then Create — paste training/ch15-lab/plugin_demo_lab.py source. Next, Callable = OFF (async), then Submit to repository.</a:t>
            </a:r>
          </a:p>
          <a:p/>
          <a:p>
            <a:r>
              <a:t>By contrast, Inject on Active board from Module A, then use Start (NOT Plugin Call). We should also consider that regarding watch logs, docker compose logs -f lightning-rod — expect Row N sent every 30 seconds.</a:t>
            </a:r>
          </a:p>
          <a:p/>
          <a:p>
            <a:r>
              <a:t>Raise your hand if you're stuck — we'll wait until most of you are done.</a:t>
            </a:r>
          </a:p>
          <a:p/>
          <a:p>
            <a:r>
              <a:t>Instructor timing (title): Step 3 — Create and start async plugin (15 min)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Plugins (async Start). Walk the class through what they see in the interface. Connect each panel and button to a component we already deployed in the stack. In particular, note the following: http://{{VM_IP}}/horizon/iot/plugins/ — Callable=OFF → Inject → Start.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Query InfluxDB and validate. Open your lab VM and follow along.</a:t>
            </a:r>
          </a:p>
          <a:p/>
          <a:p>
            <a:r>
              <a:t>First, Docker exec influxdb influx -username admin -password admin -database secco \. Next, -execute 'SELECT * FROM environmental_data ORDER BY time DESC LIMIT 5'.</a:t>
            </a:r>
          </a:p>
          <a:p/>
          <a:p>
            <a:r>
              <a:t>By contrast, regarding expected, rows with temperature, humidity fields — verified 4+ points in lab. Please run the following command on your VM: ./validate/validate-demo-ch15.sh. Wait until you see a sensible result before continuing.</a:t>
            </a:r>
          </a:p>
          <a:p/>
          <a:p>
            <a:r>
              <a:t>Raise your hand if you're stuck — we'll wait until most of you are done.</a:t>
            </a:r>
          </a:p>
          <a:p/>
          <a:p>
            <a:r>
              <a:t>Instructor timing (title): Step 4 — Query InfluxDB and validate (10 min)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InfluxDB — environmental_data query result. Walk the class through what they see in the interface. Connect each panel and button to a component we already deployed in the stack. In particular, note the following: Verified query output from Module C demo.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Lab: troubleshooting — environmental plugin.</a:t>
            </a:r>
          </a:p>
          <a:p/>
          <a:p>
            <a:r>
              <a:t>First, No rows after 2 min, then check plugin Started (not just injected) and LR logs for connection errors. Next, Connection refused to InfluxDB, then confirm self.host = 'influxdb' not localhost in plugin source.</a:t>
            </a:r>
          </a:p>
          <a:p/>
          <a:p>
            <a:r>
              <a:t>By contrast, CSV download failed, then verify VM has outbound HTTPS to Google Drive; check /opt/data inside LR. We should also consider that ImportError influxdb, then re-run pip install inside lightning-rod container before Start.</a:t>
            </a:r>
          </a:p>
          <a:p/>
          <a:p>
            <a:r>
              <a:t>Another key point is that Empty measurement, then wrong database; confirm USE secco and SHOW MEASUREMENTS output.</a:t>
            </a:r>
          </a:p>
          <a:p/>
          <a:p>
            <a:r>
              <a:t>If these objectives are clear, we can proceed.</a:t>
            </a:r>
          </a:p>
          <a:p/>
          <a:p>
            <a:r>
              <a:t>Instructor timing (title): Hands-on troubleshooting — environmental plugin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TOO(L)SMART smart-city case. Ch.15 §15.5 · national replication.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TOO(L)SMART — national smart station network overview. This material is covered in Ch.15 §15.5 · TOO(L)SMART.</a:t>
            </a:r>
          </a:p>
          <a:p/>
          <a:p>
            <a:r>
              <a:t>First, TOO(L)SMART builds a replicable national network of environmental smart stations across Italian cities. Next, regarding pilot cities, turin, Padua, Lecce, Siracusa, and Messina — each with distinct deployment maturity.</a:t>
            </a:r>
          </a:p>
          <a:p/>
          <a:p>
            <a:r>
              <a:t>By contrast, regarding goal, democratize air-quality and meteorological monitoring with open data and standardized edge software. We should also consider that Stack4Things and IoTronic orchestrate edge nodes; cloud stores time-series and serves CKAN open-data APIs.</a:t>
            </a:r>
          </a:p>
          <a:p/>
          <a:p>
            <a:r>
              <a:t>Another key point is that Grafana dashboards and Node-RED flows provide operator visualization and alert automation. Furthermore, Today's lab CSV plugin implements the same Worker pattern deployed on physical Pi stations in the field.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Deployment Model 1 — Turin full integration. This material is covered in Ch.15 · Deployment Model 1 · Turin.</a:t>
            </a:r>
          </a:p>
          <a:p/>
          <a:p>
            <a:r>
              <a:t>First, Turin deployed seven monitoring stations as the reference architecture for the entire national program. Next, regarding full stack, S4T, IoTronic, Lightning-Rod, InfluxDB, Grafana, CKAN, Node-RED, and WebSocket tunnels.</a:t>
            </a:r>
          </a:p>
          <a:p/>
          <a:p>
            <a:r>
              <a:t>By contrast, Custom integration tied each station to municipal IT, university research networks, and public portals. We should also consider that Approximately eight months from design to deployment plus one year of operational validation.</a:t>
            </a:r>
          </a:p>
          <a:p/>
          <a:p>
            <a:r>
              <a:t>Another key point is that Lessons from Turin informed standardized VM bundles used in Model 2 cities. Furthermore, Turin remains the template for cities willing to invest in deep OpenStack and S4T integration.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Deployment Model 1 — Turin operational outcomes. This material is covered in Ch.15 · Model 1 · Turin operational validation.</a:t>
            </a:r>
          </a:p>
          <a:p/>
          <a:p>
            <a:r>
              <a:t>First, Continuous environmental_data streams feed municipal air-quality compliance reporting. Next, Open CKAN datasets enable citizen science apps and academic research on urban pollution.</a:t>
            </a:r>
          </a:p>
          <a:p/>
          <a:p>
            <a:r>
              <a:t>By contrast, Centralized IoTronic logging lets operators diagnose station faults without visiting rooftop enclosures. We should also consider that Plugin remote update deployed new CSV field mappings without hardware changes during pilot extensions.</a:t>
            </a:r>
          </a:p>
          <a:p/>
          <a:p>
            <a:r>
              <a:t>Another key point is that WebSocket tunnels exposed station maintenance APIs securely through municipal firewalls. Furthermore, Model 1 proves the three-layer architecture at production scale — not only lab Docker Compose.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Deployment Model 2 — plug-and-play VM bundles. This material is covered in Ch.15 · Deployment Model 2 · VM bundle.</a:t>
            </a:r>
          </a:p>
          <a:p/>
          <a:p>
            <a:r>
              <a:t>First, Padua, Lecce, Siracusa, and Messina received pre-configured VM images for rapid city onboarding. Next, Each bundle ships Controller Node plus Data Portal — minimal custom integration per municipality.</a:t>
            </a:r>
          </a:p>
          <a:p/>
          <a:p>
            <a:r>
              <a:t>By contrast, Modularity and virtualization accelerated city-to-city replication from months toward weeks. We should also consider that regarding open standards throughout, CKAN for data, WAMP for control, JSON for payloads, Docker for packaging.</a:t>
            </a:r>
          </a:p>
          <a:p/>
          <a:p>
            <a:r>
              <a:t>Another key point is that Cities with limited OpenStack expertise still join the network without Turin-scale custom engineering. Furthermore, Environmental Worker and InfluxDB measurement schema are identical across Model 1 and Model 2.</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Deployment Model 2 — when cities choose plug-and-play. This material is covered in Ch.15 · Model 2 · replication economics.</a:t>
            </a:r>
          </a:p>
          <a:p/>
          <a:p>
            <a:r>
              <a:t>First, Smaller municipalities lack dedicated cloud engineers — VM bundles reduce operational skill requirements. Next, Pre-tested images include Grafana dashboards and CKAN harvesters matching TOO(L)SMART field naming.</a:t>
            </a:r>
          </a:p>
          <a:p/>
          <a:p>
            <a:r>
              <a:t>By contrast, Controller Node VM runs IoTronic-facing services; edge Pi boards still run Lightning-Rod and plugins. We should also consider that Data Portal VM hosts InfluxDB, Grafana, and public APIs — separating acquisition from publication tier.</a:t>
            </a:r>
          </a:p>
          <a:p/>
          <a:p>
            <a:r>
              <a:t>Another key point is that regarding upgrade path, cities can migrate from Model 2 bundle toward Model 1 full integration as maturity grows. Furthermore, Lab Docker Compose is a minimal Model 2 slice — one VM, one LR board, one InfluxDB, one async plugin.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Lessons learned — TOO(L)SMART and Chapter 15. This material is covered in Ch.15 conclusion · TOO(L)SMART lessons.</a:t>
            </a:r>
          </a:p>
          <a:p/>
          <a:p>
            <a:r>
              <a:t>First, Plugin model enables remote logic updates without physical access — essential for rooftop station maintenance. Next, Time-series storage plus Grafana dashboards give operators observability missing from raw CSV exports.</a:t>
            </a:r>
          </a:p>
          <a:p/>
          <a:p>
            <a:r>
              <a:t>By contrast, Cloud-native OpenStack with IoTronic scales multi-city orchestration under Keystone multi-tenancy. We should also consider that Lab CSV demo maps one-to-one to Raspberry Pi sensor acquisition — swap data source, keep architecture.</a:t>
            </a:r>
          </a:p>
          <a:p/>
          <a:p>
            <a:r>
              <a:t>Another key point is that Open-data publication via CKAN closes the loop from edge sensing to citizen-facing urban intelligence. Furthermore, Software-defined infrastructure turns each station into a remotely programmable cyber-physical asset.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3-hour core course wrap-up.</a:t>
            </a:r>
          </a:p>
          <a:p/>
          <a:p>
            <a:r>
              <a:t>First, regarding module a (ch.13), deploy I/Ocloud S4T stack, onboard board to Active state. Next, regarding module b (ch.14), sync HelloName plugin, async theory, optional Docker at edge.</a:t>
            </a:r>
          </a:p>
          <a:p/>
          <a:p>
            <a:r>
              <a:t>By contrast, regarding module c (ch.15), environmental async publisher, then InfluxDB time-series validation. We should also consider that regarding extended path (6–9h), modules D–I — multiboard fleet, VN, web services, FL, Blueprint, FaaS.</a:t>
            </a:r>
          </a:p>
          <a:p/>
          <a:p>
            <a:r>
              <a:t>Another key point is that regarding see 00_course_map_en.pptx · validate, cd training &amp;&amp; ./validate-lab.sh.</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Final deliverables checklist.</a:t>
            </a:r>
          </a:p>
          <a:p/>
          <a:p>
            <a:r>
              <a:t>First, □ Board Active screenshot (Module A). Next, □ HelloName Plugin Call output in Horizon or LR log (Module B).</a:t>
            </a:r>
          </a:p>
          <a:p/>
          <a:p>
            <a:r>
              <a:t>By contrast, □ InfluxDB SELECT * FROM environmental_data LIMIT 5 output (Module C). We should also consider that regarding material, training/GUIDA_SETUP_CORSISTI.md · training/HANDS_ON_COMMANDS.md.</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IoT-hosted Computation &amp; Smart-City Services</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Module C — IoT-hosted Computation · Ch.15</a:t>
            </a:r>
          </a:p>
          <a:p>
            <a:pPr>
              <a:spcAft>
                <a:spcPts val="400"/>
              </a:spcAft>
              <a:defRPr sz="2200" b="0">
                <a:solidFill>
                  <a:srgbClr val="B2EBF2"/>
                </a:solidFill>
                <a:latin typeface="Calibri"/>
              </a:defRPr>
            </a:pPr>
            <a:r>
              <a:t>Lab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Assembling Smart CPS · Part II</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Chapter 15 overview</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From middleware to urban observability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abstract · IoT-hosted computation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Chapter 15 scope — abstract and positioning</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Chapter 15 moves from platform deployment (Ch.13) and edge plugins (Ch.14) to an observable urban service.</a:t>
            </a:r>
          </a:p>
          <a:p>
            <a:pPr>
              <a:lnSpc>
                <a:spcPct val="115000"/>
              </a:lnSpc>
              <a:spcAft>
                <a:spcPts val="500"/>
              </a:spcAft>
              <a:defRPr sz="1600" b="0">
                <a:solidFill>
                  <a:srgbClr val="37474F"/>
                </a:solidFill>
                <a:latin typeface="Calibri"/>
              </a:defRPr>
            </a:pPr>
            <a:r>
              <a:t>▸  Environmental monitoring demonstrates an end-to-end workflow: edge acquisition → time-series storage → dashboards.</a:t>
            </a:r>
          </a:p>
          <a:p>
            <a:pPr>
              <a:lnSpc>
                <a:spcPct val="115000"/>
              </a:lnSpc>
              <a:spcAft>
                <a:spcPts val="500"/>
              </a:spcAft>
              <a:defRPr sz="1600" b="0">
                <a:solidFill>
                  <a:srgbClr val="37474F"/>
                </a:solidFill>
                <a:latin typeface="Calibri"/>
              </a:defRPr>
            </a:pPr>
            <a:r>
              <a:t>▸  The chapter frames IoT nodes as software-defined infrastructure — programmable and remotely managed assets.</a:t>
            </a:r>
          </a:p>
          <a:p>
            <a:pPr>
              <a:lnSpc>
                <a:spcPct val="115000"/>
              </a:lnSpc>
              <a:spcAft>
                <a:spcPts val="500"/>
              </a:spcAft>
              <a:defRPr sz="1600" b="0">
                <a:solidFill>
                  <a:srgbClr val="37474F"/>
                </a:solidFill>
                <a:latin typeface="Calibri"/>
              </a:defRPr>
            </a:pPr>
            <a:r>
              <a:t>▸  Chapter 15 emphasizes design principles, three-layer architecture, and real smart-city replication.</a:t>
            </a:r>
          </a:p>
          <a:p>
            <a:pPr>
              <a:lnSpc>
                <a:spcPct val="115000"/>
              </a:lnSpc>
              <a:spcAft>
                <a:spcPts val="500"/>
              </a:spcAft>
              <a:defRPr sz="1600" b="0">
                <a:solidFill>
                  <a:srgbClr val="37474F"/>
                </a:solidFill>
                <a:latin typeface="Calibri"/>
              </a:defRPr>
            </a:pPr>
            <a:r>
              <a:t>▸  The TOO(L)SMART national project provides two deployment models validated across five Italian pilot cities.</a:t>
            </a:r>
          </a:p>
          <a:p>
            <a:pPr>
              <a:lnSpc>
                <a:spcPct val="115000"/>
              </a:lnSpc>
              <a:spcAft>
                <a:spcPts val="500"/>
              </a:spcAft>
              <a:defRPr sz="1600" b="0">
                <a:solidFill>
                  <a:srgbClr val="37474F"/>
                </a:solidFill>
                <a:latin typeface="Calibri"/>
              </a:defRPr>
            </a:pPr>
            <a:r>
              <a:t>▸  Today's lab reproduces the core data path with CSV replay instead of physical sensors on Raspberry Pi hardware.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Learning objectives and deliverables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Understand the three-layer architecture: orchestration, execution, and application/storage.</a:t>
            </a:r>
          </a:p>
          <a:p>
            <a:pPr>
              <a:lnSpc>
                <a:spcPct val="115000"/>
              </a:lnSpc>
              <a:spcAft>
                <a:spcPts val="800"/>
              </a:spcAft>
              <a:defRPr sz="1900" b="0">
                <a:solidFill>
                  <a:srgbClr val="37474F"/>
                </a:solidFill>
                <a:latin typeface="Calibri"/>
              </a:defRPr>
            </a:pPr>
            <a:r>
              <a:t>▸  Deploy the async environmental_data plugin writing CSV rows to InfluxDB every 30 seconds.</a:t>
            </a:r>
          </a:p>
          <a:p>
            <a:pPr>
              <a:lnSpc>
                <a:spcPct val="115000"/>
              </a:lnSpc>
              <a:spcAft>
                <a:spcPts val="800"/>
              </a:spcAft>
              <a:defRPr sz="1900" b="0">
                <a:solidFill>
                  <a:srgbClr val="37474F"/>
                </a:solidFill>
                <a:latin typeface="Calibri"/>
              </a:defRPr>
            </a:pPr>
            <a:r>
              <a:t>▸  Query time-series data with Influx CLI — deliverable: rows visible in environmental_data.</a:t>
            </a:r>
          </a:p>
          <a:p>
            <a:pPr>
              <a:lnSpc>
                <a:spcPct val="115000"/>
              </a:lnSpc>
              <a:spcAft>
                <a:spcPts val="800"/>
              </a:spcAft>
              <a:defRPr sz="1900" b="0">
                <a:solidFill>
                  <a:srgbClr val="37474F"/>
                </a:solidFill>
                <a:latin typeface="Calibri"/>
              </a:defRPr>
            </a:pPr>
            <a:r>
              <a:t>▸  Relate the lab demo to TOO(L)SMART smart-city deployment models in Turin and plug-and-play cities.</a:t>
            </a:r>
          </a:p>
          <a:p>
            <a:pPr>
              <a:lnSpc>
                <a:spcPct val="115000"/>
              </a:lnSpc>
              <a:spcAft>
                <a:spcPts val="800"/>
              </a:spcAft>
              <a:defRPr sz="1900" b="0">
                <a:solidFill>
                  <a:srgbClr val="37474F"/>
                </a:solidFill>
                <a:latin typeface="Calibri"/>
              </a:defRPr>
            </a:pPr>
            <a:r>
              <a:t>▸  Horizon login: admin / s4t · InfluxDB ping: http://{{VM_IP}}:8086/ping · LR UI: me / arancino at :1474.</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Design principles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Firmware vs plugins · modular edge architecture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introduction · firmware vs plugin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Firmware vs plugin paradigm — why plugins win (Ch.15 intro)</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Traditional firmware embeds logic in flash — updates require physical access, truck rolls, or risky OTA reflashing.</a:t>
            </a:r>
          </a:p>
          <a:p>
            <a:pPr>
              <a:lnSpc>
                <a:spcPct val="115000"/>
              </a:lnSpc>
              <a:spcAft>
                <a:spcPts val="500"/>
              </a:spcAft>
              <a:defRPr sz="1600" b="0">
                <a:solidFill>
                  <a:srgbClr val="37474F"/>
                </a:solidFill>
                <a:latin typeface="Calibri"/>
              </a:defRPr>
            </a:pPr>
            <a:r>
              <a:t>▸  Firmware changes are slow, expensive, and tightly coupled to specific hardware board revisions and pin maps.</a:t>
            </a:r>
          </a:p>
          <a:p>
            <a:pPr>
              <a:lnSpc>
                <a:spcPct val="115000"/>
              </a:lnSpc>
              <a:spcAft>
                <a:spcPts val="500"/>
              </a:spcAft>
              <a:defRPr sz="1600" b="0">
                <a:solidFill>
                  <a:srgbClr val="37474F"/>
                </a:solidFill>
                <a:latin typeface="Calibri"/>
              </a:defRPr>
            </a:pPr>
            <a:r>
              <a:t>▸  Stack4Things plugins deploy at runtime — IoTronic orchestrates upload, inject, start, update, and removal remotely.</a:t>
            </a:r>
          </a:p>
          <a:p>
            <a:pPr>
              <a:lnSpc>
                <a:spcPct val="115000"/>
              </a:lnSpc>
              <a:spcAft>
                <a:spcPts val="500"/>
              </a:spcAft>
              <a:defRPr sz="1600" b="0">
                <a:solidFill>
                  <a:srgbClr val="37474F"/>
                </a:solidFill>
                <a:latin typeface="Calibri"/>
              </a:defRPr>
            </a:pPr>
            <a:r>
              <a:t>▸  Edge logic can iterate daily during a smart-city pilot without touching device flash or rebooting the OS.</a:t>
            </a:r>
          </a:p>
          <a:p>
            <a:pPr>
              <a:lnSpc>
                <a:spcPct val="115000"/>
              </a:lnSpc>
              <a:spcAft>
                <a:spcPts val="500"/>
              </a:spcAft>
              <a:defRPr sz="1600" b="0">
                <a:solidFill>
                  <a:srgbClr val="37474F"/>
                </a:solidFill>
                <a:latin typeface="Calibri"/>
              </a:defRPr>
            </a:pPr>
            <a:r>
              <a:t>▸  The plugin model aligns with I/Ocloud virtualization from Chapter 4 — sensors become callable software functions.</a:t>
            </a:r>
          </a:p>
          <a:p>
            <a:pPr>
              <a:lnSpc>
                <a:spcPct val="115000"/>
              </a:lnSpc>
              <a:spcAft>
                <a:spcPts val="500"/>
              </a:spcAft>
              <a:defRPr sz="1600" b="0">
                <a:solidFill>
                  <a:srgbClr val="37474F"/>
                </a:solidFill>
                <a:latin typeface="Calibri"/>
              </a:defRPr>
            </a:pPr>
            <a:r>
              <a:t>▸  Chapter 15 environmental publisher is the canonical async plugin proving continuous urban data acquisition.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software-defined edge nodes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Firmware vs plugin — operational comparison</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Firmware rollback requires backup partitions or JTAG recovery — plugins rollback by re-injecting prior repository version.</a:t>
            </a:r>
          </a:p>
          <a:p>
            <a:pPr>
              <a:lnSpc>
                <a:spcPct val="115000"/>
              </a:lnSpc>
              <a:spcAft>
                <a:spcPts val="500"/>
              </a:spcAft>
              <a:defRPr sz="1600" b="0">
                <a:solidFill>
                  <a:srgbClr val="37474F"/>
                </a:solidFill>
                <a:latin typeface="Calibri"/>
              </a:defRPr>
            </a:pPr>
            <a:r>
              <a:t>▸  Firmware testing cycles span hardware QA labs; plugin testing uses the same Horizon inject flow as production.</a:t>
            </a:r>
          </a:p>
          <a:p>
            <a:pPr>
              <a:lnSpc>
                <a:spcPct val="115000"/>
              </a:lnSpc>
              <a:spcAft>
                <a:spcPts val="500"/>
              </a:spcAft>
              <a:defRPr sz="1600" b="0">
                <a:solidFill>
                  <a:srgbClr val="37474F"/>
                </a:solidFill>
                <a:latin typeface="Calibri"/>
              </a:defRPr>
            </a:pPr>
            <a:r>
              <a:t>▸  Multiple plugins coexist on one board — environmental, Docker, HelloName — without reflashing monolithic firmware.</a:t>
            </a:r>
          </a:p>
          <a:p>
            <a:pPr>
              <a:lnSpc>
                <a:spcPct val="115000"/>
              </a:lnSpc>
              <a:spcAft>
                <a:spcPts val="500"/>
              </a:spcAft>
              <a:defRPr sz="1600" b="0">
                <a:solidFill>
                  <a:srgbClr val="37474F"/>
                </a:solidFill>
                <a:latin typeface="Calibri"/>
              </a:defRPr>
            </a:pPr>
            <a:r>
              <a:t>▸  Plugin interrupt and remove cleanly stop background loops and release Python resources on Lightning-Rod.</a:t>
            </a:r>
          </a:p>
          <a:p>
            <a:pPr>
              <a:lnSpc>
                <a:spcPct val="115000"/>
              </a:lnSpc>
              <a:spcAft>
                <a:spcPts val="500"/>
              </a:spcAft>
              <a:defRPr sz="1600" b="0">
                <a:solidFill>
                  <a:srgbClr val="37474F"/>
                </a:solidFill>
                <a:latin typeface="Calibri"/>
              </a:defRPr>
            </a:pPr>
            <a:r>
              <a:t>▸  Production Raspberry Pi stations run the same Worker class as today's LR container — only the data source changes.</a:t>
            </a:r>
          </a:p>
          <a:p>
            <a:pPr>
              <a:lnSpc>
                <a:spcPct val="115000"/>
              </a:lnSpc>
              <a:spcAft>
                <a:spcPts val="500"/>
              </a:spcAft>
              <a:defRPr sz="1600" b="0">
                <a:solidFill>
                  <a:srgbClr val="37474F"/>
                </a:solidFill>
                <a:latin typeface="Calibri"/>
              </a:defRPr>
            </a:pPr>
            <a:r>
              <a:t>▸  Physical sensors replace CSV rows; InfluxDB host, measurement name, and 30-second interval stay identical.</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design principles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Design principles — modular plugin architecture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Modular plugin-based architecture enforces clear separation of concerns across cloud, edge, and storage tiers.</a:t>
            </a:r>
          </a:p>
          <a:p>
            <a:pPr>
              <a:lnSpc>
                <a:spcPct val="115000"/>
              </a:lnSpc>
              <a:spcAft>
                <a:spcPts val="500"/>
              </a:spcAft>
              <a:defRPr sz="1600" b="0">
                <a:solidFill>
                  <a:srgbClr val="37474F"/>
                </a:solidFill>
                <a:latin typeface="Calibri"/>
              </a:defRPr>
            </a:pPr>
            <a:r>
              <a:t>▸  Orchestration (IoTronic) owns lifecycle, multi-tenancy, REST APIs, and Horizon dashboard operations.</a:t>
            </a:r>
          </a:p>
          <a:p>
            <a:pPr>
              <a:lnSpc>
                <a:spcPct val="115000"/>
              </a:lnSpc>
              <a:spcAft>
                <a:spcPts val="500"/>
              </a:spcAft>
              <a:defRPr sz="1600" b="0">
                <a:solidFill>
                  <a:srgbClr val="37474F"/>
                </a:solidFill>
                <a:latin typeface="Calibri"/>
              </a:defRPr>
            </a:pPr>
            <a:r>
              <a:t>▸  Execution (Lightning-Rod) owns Worker loading, WAMP messaging, oslo_log emission, and local I/O access.</a:t>
            </a:r>
          </a:p>
          <a:p>
            <a:pPr>
              <a:lnSpc>
                <a:spcPct val="115000"/>
              </a:lnSpc>
              <a:spcAft>
                <a:spcPts val="500"/>
              </a:spcAft>
              <a:defRPr sz="1600" b="0">
                <a:solidFill>
                  <a:srgbClr val="37474F"/>
                </a:solidFill>
                <a:latin typeface="Calibri"/>
              </a:defRPr>
            </a:pPr>
            <a:r>
              <a:t>▸  Application logic lives inside the plugin — CSV parsing, timestamp assignment, InfluxDB write_points calls.</a:t>
            </a:r>
          </a:p>
          <a:p>
            <a:pPr>
              <a:lnSpc>
                <a:spcPct val="115000"/>
              </a:lnSpc>
              <a:spcAft>
                <a:spcPts val="500"/>
              </a:spcAft>
              <a:defRPr sz="1600" b="0">
                <a:solidFill>
                  <a:srgbClr val="37474F"/>
                </a:solidFill>
                <a:latin typeface="Calibri"/>
              </a:defRPr>
            </a:pPr>
            <a:r>
              <a:t>▸  External time-series storage (InfluxDB) keeps the edge lightweight — no heavy database on constrained boards.</a:t>
            </a:r>
          </a:p>
          <a:p>
            <a:pPr>
              <a:lnSpc>
                <a:spcPct val="115000"/>
              </a:lnSpc>
              <a:spcAft>
                <a:spcPts val="500"/>
              </a:spcAft>
              <a:defRPr sz="1600" b="0">
                <a:solidFill>
                  <a:srgbClr val="37474F"/>
                </a:solidFill>
                <a:latin typeface="Calibri"/>
              </a:defRPr>
            </a:pPr>
            <a:r>
              <a:t>▸  Security sandboxing limits plugin access to declared resources; extensibility adds new Workers without platform forks.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design principles · fault tolerance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Design principles — state, fault tolerance, observability</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State management uses last_index.state on disk so the plugin resumes CSV replay after restart or crash.</a:t>
            </a:r>
          </a:p>
          <a:p>
            <a:pPr>
              <a:lnSpc>
                <a:spcPct val="115000"/>
              </a:lnSpc>
              <a:spcAft>
                <a:spcPts val="500"/>
              </a:spcAft>
              <a:defRPr sz="1600" b="0">
                <a:solidFill>
                  <a:srgbClr val="37474F"/>
                </a:solidFill>
                <a:latin typeface="Calibri"/>
              </a:defRPr>
            </a:pPr>
            <a:r>
              <a:t>▸  Fault tolerance: failed InfluxDB writes log errors via oslo_log but the loop continues to next row when possible.</a:t>
            </a:r>
          </a:p>
          <a:p>
            <a:pPr>
              <a:lnSpc>
                <a:spcPct val="115000"/>
              </a:lnSpc>
              <a:spcAft>
                <a:spcPts val="500"/>
              </a:spcAft>
              <a:defRPr sz="1600" b="0">
                <a:solidFill>
                  <a:srgbClr val="37474F"/>
                </a:solidFill>
                <a:latin typeface="Calibri"/>
              </a:defRPr>
            </a:pPr>
            <a:r>
              <a:t>▸  Structured logging spans execution layer → centralized IoTronic logs in production deployments.</a:t>
            </a:r>
          </a:p>
          <a:p>
            <a:pPr>
              <a:lnSpc>
                <a:spcPct val="115000"/>
              </a:lnSpc>
              <a:spcAft>
                <a:spcPts val="500"/>
              </a:spcAft>
              <a:defRPr sz="1600" b="0">
                <a:solidFill>
                  <a:srgbClr val="37474F"/>
                </a:solidFill>
                <a:latin typeface="Calibri"/>
              </a:defRPr>
            </a:pPr>
            <a:r>
              <a:t>▸  Lightweight edge plus external DB mirrors smart-city reality — Pi acquisition, cloud-scale storage and Grafana.</a:t>
            </a:r>
          </a:p>
          <a:p>
            <a:pPr>
              <a:lnSpc>
                <a:spcPct val="115000"/>
              </a:lnSpc>
              <a:spcAft>
                <a:spcPts val="500"/>
              </a:spcAft>
              <a:defRPr sz="1600" b="0">
                <a:solidFill>
                  <a:srgbClr val="37474F"/>
                </a:solidFill>
                <a:latin typeface="Calibri"/>
              </a:defRPr>
            </a:pPr>
            <a:r>
              <a:t>▸  Open standards throughout: JSON data points, WAMP control, Docker Compose lab stack, CKAN open-data portals.</a:t>
            </a:r>
          </a:p>
          <a:p>
            <a:pPr>
              <a:lnSpc>
                <a:spcPct val="115000"/>
              </a:lnSpc>
              <a:spcAft>
                <a:spcPts val="500"/>
              </a:spcAft>
              <a:defRPr sz="1600" b="0">
                <a:solidFill>
                  <a:srgbClr val="37474F"/>
                </a:solidFill>
                <a:latin typeface="Calibri"/>
              </a:defRPr>
            </a:pPr>
            <a:r>
              <a:t>▸  These principles directly enabled TOO(L)SMART replication from Turin reference to four plug-and-play cities.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design principles · security sandboxing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Security and sandboxing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Running arbitrary plugin code requires sandboxing, access control, and signature verification.</a:t>
            </a:r>
          </a:p>
          <a:p>
            <a:pPr>
              <a:lnSpc>
                <a:spcPct val="115000"/>
              </a:lnSpc>
              <a:spcAft>
                <a:spcPts val="500"/>
              </a:spcAft>
              <a:defRPr sz="1600" b="0">
                <a:solidFill>
                  <a:srgbClr val="37474F"/>
                </a:solidFill>
                <a:latin typeface="Calibri"/>
              </a:defRPr>
            </a:pPr>
            <a:r>
              <a:t>▸  Tenant isolation in IoTronic prevents one operator from injecting plugins on another's boards.</a:t>
            </a:r>
          </a:p>
          <a:p>
            <a:pPr>
              <a:lnSpc>
                <a:spcPct val="115000"/>
              </a:lnSpc>
              <a:spcAft>
                <a:spcPts val="500"/>
              </a:spcAft>
              <a:defRPr sz="1600" b="0">
                <a:solidFill>
                  <a:srgbClr val="37474F"/>
                </a:solidFill>
                <a:latin typeface="Calibri"/>
              </a:defRPr>
            </a:pPr>
            <a:r>
              <a:t>▸  LR executes Python Workers with OS-level boundaries — production adds resource limits and auditing.</a:t>
            </a:r>
          </a:p>
          <a:p>
            <a:pPr>
              <a:lnSpc>
                <a:spcPct val="115000"/>
              </a:lnSpc>
              <a:spcAft>
                <a:spcPts val="500"/>
              </a:spcAft>
              <a:defRPr sz="1600" b="0">
                <a:solidFill>
                  <a:srgbClr val="37474F"/>
                </a:solidFill>
                <a:latin typeface="Calibri"/>
              </a:defRPr>
            </a:pPr>
            <a:r>
              <a:t>▸  Digital signatures on uploaded plugins ensure integrity before fleet-wide rollout.</a:t>
            </a:r>
          </a:p>
          <a:p>
            <a:pPr>
              <a:lnSpc>
                <a:spcPct val="115000"/>
              </a:lnSpc>
              <a:spcAft>
                <a:spcPts val="500"/>
              </a:spcAft>
              <a:defRPr sz="1600" b="0">
                <a:solidFill>
                  <a:srgbClr val="37474F"/>
                </a:solidFill>
                <a:latin typeface="Calibri"/>
              </a:defRPr>
            </a:pPr>
            <a:r>
              <a:t>▸  Security-by-design aligns with GDPR and smart-city procurement requirements in TOO(L)SMART.</a:t>
            </a:r>
          </a:p>
          <a:p>
            <a:pPr>
              <a:lnSpc>
                <a:spcPct val="115000"/>
              </a:lnSpc>
              <a:spcAft>
                <a:spcPts val="500"/>
              </a:spcAft>
              <a:defRPr sz="1600" b="0">
                <a:solidFill>
                  <a:srgbClr val="37474F"/>
                </a:solidFill>
                <a:latin typeface="Calibri"/>
              </a:defRPr>
            </a:pPr>
            <a:r>
              <a:t>▸  Lab scope: trusted training environment — production deployments enforce stricter policies.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abstract · PluginExec tool</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PluginExec — local plugin testing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PluginExec is a command-line tool that simulates plugin execution on the board before cloud inject.</a:t>
            </a:r>
          </a:p>
          <a:p>
            <a:pPr>
              <a:lnSpc>
                <a:spcPct val="115000"/>
              </a:lnSpc>
              <a:spcAft>
                <a:spcPts val="500"/>
              </a:spcAft>
              <a:defRPr sz="1600" b="0">
                <a:solidFill>
                  <a:srgbClr val="37474F"/>
                </a:solidFill>
                <a:latin typeface="Calibri"/>
              </a:defRPr>
            </a:pPr>
            <a:r>
              <a:t>▸  Developers debug Worker.run() locally with mock params and q_result — faster iteration cycle.</a:t>
            </a:r>
          </a:p>
          <a:p>
            <a:pPr>
              <a:lnSpc>
                <a:spcPct val="115000"/>
              </a:lnSpc>
              <a:spcAft>
                <a:spcPts val="500"/>
              </a:spcAft>
              <a:defRPr sz="1600" b="0">
                <a:solidFill>
                  <a:srgbClr val="37474F"/>
                </a:solidFill>
                <a:latin typeface="Calibri"/>
              </a:defRPr>
            </a:pPr>
            <a:r>
              <a:t>▸  Reduces failed inject cycles during smart-city pilot deployments with hundreds of boards.</a:t>
            </a:r>
          </a:p>
          <a:p>
            <a:pPr>
              <a:lnSpc>
                <a:spcPct val="115000"/>
              </a:lnSpc>
              <a:spcAft>
                <a:spcPts val="500"/>
              </a:spcAft>
              <a:defRPr sz="1600" b="0">
                <a:solidFill>
                  <a:srgbClr val="37474F"/>
                </a:solidFill>
                <a:latin typeface="Calibri"/>
              </a:defRPr>
            </a:pPr>
            <a:r>
              <a:t>▸  Same Worker class used in PluginExec and IoTronic inject — behaviour matches production.</a:t>
            </a:r>
          </a:p>
          <a:p>
            <a:pPr>
              <a:lnSpc>
                <a:spcPct val="115000"/>
              </a:lnSpc>
              <a:spcAft>
                <a:spcPts val="500"/>
              </a:spcAft>
              <a:defRPr sz="1600" b="0">
                <a:solidFill>
                  <a:srgbClr val="37474F"/>
                </a:solidFill>
                <a:latin typeface="Calibri"/>
              </a:defRPr>
            </a:pPr>
            <a:r>
              <a:t>▸  Workflow: write → PluginExec test → upload repository → inject → Start on Active board.</a:t>
            </a:r>
          </a:p>
          <a:p>
            <a:pPr>
              <a:lnSpc>
                <a:spcPct val="115000"/>
              </a:lnSpc>
              <a:spcAft>
                <a:spcPts val="500"/>
              </a:spcAft>
              <a:defRPr sz="1600" b="0">
                <a:solidFill>
                  <a:srgbClr val="37474F"/>
                </a:solidFill>
                <a:latin typeface="Calibri"/>
              </a:defRPr>
            </a:pPr>
            <a:r>
              <a:t>▸  Book abstract positions PluginExec as accelerator for plugin-based urban services.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tab:meteorological · tab:airquality · plugin_demo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Book vs lab environmental JSON schema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Book measurement environmental_data includes full air-quality set: CO, CO2, O3, NO2, VOC.</a:t>
            </a:r>
          </a:p>
          <a:p>
            <a:pPr>
              <a:lnSpc>
                <a:spcPct val="115000"/>
              </a:lnSpc>
              <a:spcAft>
                <a:spcPts val="500"/>
              </a:spcAft>
              <a:defRPr sz="1600" b="0">
                <a:solidFill>
                  <a:srgbClr val="37474F"/>
                </a:solidFill>
                <a:latin typeface="Calibri"/>
              </a:defRPr>
            </a:pPr>
            <a:r>
              <a:t>▸  Lab CSV subset focuses on Temperature, Humidity, PM2.5, PM10 — sufficient for InfluxDB demo.</a:t>
            </a:r>
          </a:p>
          <a:p>
            <a:pPr>
              <a:lnSpc>
                <a:spcPct val="115000"/>
              </a:lnSpc>
              <a:spcAft>
                <a:spcPts val="500"/>
              </a:spcAft>
              <a:defRPr sz="1600" b="0">
                <a:solidFill>
                  <a:srgbClr val="37474F"/>
                </a:solidFill>
                <a:latin typeface="Calibri"/>
              </a:defRPr>
            </a:pPr>
            <a:r>
              <a:t>▸  Tags: host, source · timestamp: ISO format assigned per row in plugin_demo run loop.</a:t>
            </a:r>
          </a:p>
          <a:p>
            <a:pPr>
              <a:lnSpc>
                <a:spcPct val="115000"/>
              </a:lnSpc>
              <a:spcAft>
                <a:spcPts val="500"/>
              </a:spcAft>
              <a:defRPr sz="1600" b="0">
                <a:solidFill>
                  <a:srgbClr val="37474F"/>
                </a:solidFill>
                <a:latin typeface="Calibri"/>
              </a:defRPr>
            </a:pPr>
            <a:r>
              <a:t>▸  Same InfluxDB line protocol and database name secco — only field cardinality differs.</a:t>
            </a:r>
          </a:p>
          <a:p>
            <a:pPr>
              <a:lnSpc>
                <a:spcPct val="115000"/>
              </a:lnSpc>
              <a:spcAft>
                <a:spcPts val="500"/>
              </a:spcAft>
              <a:defRPr sz="1600" b="0">
                <a:solidFill>
                  <a:srgbClr val="37474F"/>
                </a:solidFill>
                <a:latin typeface="Calibri"/>
              </a:defRPr>
            </a:pPr>
            <a:r>
              <a:t>▸  Production Raspberry Pi stations use identical schema with live sensor drivers instead of CSV.</a:t>
            </a:r>
          </a:p>
          <a:p>
            <a:pPr>
              <a:lnSpc>
                <a:spcPct val="115000"/>
              </a:lnSpc>
              <a:spcAft>
                <a:spcPts val="500"/>
              </a:spcAft>
              <a:defRPr sz="1600" b="0">
                <a:solidFill>
                  <a:srgbClr val="37474F"/>
                </a:solidFill>
                <a:latin typeface="Calibri"/>
              </a:defRPr>
            </a:pPr>
            <a:r>
              <a:t>▸  Tables tab:meteorological and tab:airquality in book define full pilot-city parameter lists.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Environmental monitoring · LoRaWAN architecture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LoRaWAN edge-collector-cloud path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TOO(L)SMART stations often use LoRaWAN: many end nodes → few gateway collectors → cloud.</a:t>
            </a:r>
          </a:p>
          <a:p>
            <a:pPr>
              <a:lnSpc>
                <a:spcPct val="115000"/>
              </a:lnSpc>
              <a:spcAft>
                <a:spcPts val="500"/>
              </a:spcAft>
              <a:defRPr sz="1600" b="0">
                <a:solidFill>
                  <a:srgbClr val="37474F"/>
                </a:solidFill>
                <a:latin typeface="Calibri"/>
              </a:defRPr>
            </a:pPr>
            <a:r>
              <a:t>▸  Gateway placement at urban zone edges mitigates path loss — uniform coverage in dense cities.</a:t>
            </a:r>
          </a:p>
          <a:p>
            <a:pPr>
              <a:lnSpc>
                <a:spcPct val="115000"/>
              </a:lnSpc>
              <a:spcAft>
                <a:spcPts val="500"/>
              </a:spcAft>
              <a:defRPr sz="1600" b="0">
                <a:solidFill>
                  <a:srgbClr val="37474F"/>
                </a:solidFill>
                <a:latin typeface="Calibri"/>
              </a:defRPr>
            </a:pPr>
            <a:r>
              <a:t>▸  S4T LR on collector node runs environmental async plugin — same architecture as today's lab.</a:t>
            </a:r>
          </a:p>
          <a:p>
            <a:pPr>
              <a:lnSpc>
                <a:spcPct val="115000"/>
              </a:lnSpc>
              <a:spcAft>
                <a:spcPts val="500"/>
              </a:spcAft>
              <a:defRPr sz="1600" b="0">
                <a:solidFill>
                  <a:srgbClr val="37474F"/>
                </a:solidFill>
                <a:latin typeface="Calibri"/>
              </a:defRPr>
            </a:pPr>
            <a:r>
              <a:t>▸  LoRaWAN handles low-power wide-area links; InfluxDB and Grafana remain in application tier.</a:t>
            </a:r>
          </a:p>
          <a:p>
            <a:pPr>
              <a:lnSpc>
                <a:spcPct val="115000"/>
              </a:lnSpc>
              <a:spcAft>
                <a:spcPts val="500"/>
              </a:spcAft>
              <a:defRPr sz="1600" b="0">
                <a:solidFill>
                  <a:srgbClr val="37474F"/>
                </a:solidFill>
                <a:latin typeface="Calibri"/>
              </a:defRPr>
            </a:pPr>
            <a:r>
              <a:t>▸  Lab CSV replay simulates collector-acquired rows — swap CSV for LoRa decoder output in production.</a:t>
            </a:r>
          </a:p>
          <a:p>
            <a:pPr>
              <a:lnSpc>
                <a:spcPct val="115000"/>
              </a:lnSpc>
              <a:spcAft>
                <a:spcPts val="500"/>
              </a:spcAft>
              <a:defRPr sz="1600" b="0">
                <a:solidFill>
                  <a:srgbClr val="37474F"/>
                </a:solidFill>
                <a:latin typeface="Calibri"/>
              </a:defRPr>
            </a:pPr>
            <a:r>
              <a:t>▸  Book cites empirical LoRaWAN deployment studies for Turin and other pilot municipalities.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Three-layer architecture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Orchestration · execution ·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fig:chap15 architecture · orchestration layer</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Orchestration layer — IoTronic cloud control plane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IoTronic Conductor exposes REST API on port 8812 and Horizon IoT panels for operators and tenants.</a:t>
            </a:r>
          </a:p>
          <a:p>
            <a:pPr>
              <a:lnSpc>
                <a:spcPct val="115000"/>
              </a:lnSpc>
              <a:spcAft>
                <a:spcPts val="500"/>
              </a:spcAft>
              <a:defRPr sz="1600" b="0">
                <a:solidFill>
                  <a:srgbClr val="37474F"/>
                </a:solidFill>
                <a:latin typeface="Calibri"/>
              </a:defRPr>
            </a:pPr>
            <a:r>
              <a:t>▸  It maintains the plugin repository, board registry, injection mappings, and fleet group definitions.</a:t>
            </a:r>
          </a:p>
          <a:p>
            <a:pPr>
              <a:lnSpc>
                <a:spcPct val="115000"/>
              </a:lnSpc>
              <a:spcAft>
                <a:spcPts val="500"/>
              </a:spcAft>
              <a:defRPr sz="1600" b="0">
                <a:solidFill>
                  <a:srgbClr val="37474F"/>
                </a:solidFill>
                <a:latin typeface="Calibri"/>
              </a:defRPr>
            </a:pPr>
            <a:r>
              <a:t>▸  Start, Stop, Interrupt, and Plugin Call commands traverse RabbitMQ and Crossbar WAMP to reach Lightning-Rod.</a:t>
            </a:r>
          </a:p>
          <a:p>
            <a:pPr>
              <a:lnSpc>
                <a:spcPct val="115000"/>
              </a:lnSpc>
              <a:spcAft>
                <a:spcPts val="500"/>
              </a:spcAft>
              <a:defRPr sz="1600" b="0">
                <a:solidFill>
                  <a:srgbClr val="37474F"/>
                </a:solidFill>
                <a:latin typeface="Calibri"/>
              </a:defRPr>
            </a:pPr>
            <a:r>
              <a:t>▸  Multi-tenant isolation follows OpenStack Keystone — each city project sees only its boards and plugins.</a:t>
            </a:r>
          </a:p>
          <a:p>
            <a:pPr>
              <a:lnSpc>
                <a:spcPct val="115000"/>
              </a:lnSpc>
              <a:spcAft>
                <a:spcPts val="500"/>
              </a:spcAft>
              <a:defRPr sz="1600" b="0">
                <a:solidFill>
                  <a:srgbClr val="37474F"/>
                </a:solidFill>
                <a:latin typeface="Calibri"/>
              </a:defRPr>
            </a:pPr>
            <a:r>
              <a:t>▸  Centralized logging aggregation receives LR log streams for cross-fleet troubleshooting without SSH.</a:t>
            </a:r>
          </a:p>
          <a:p>
            <a:pPr>
              <a:lnSpc>
                <a:spcPct val="115000"/>
              </a:lnSpc>
              <a:spcAft>
                <a:spcPts val="500"/>
              </a:spcAft>
              <a:defRPr sz="1600" b="0">
                <a:solidFill>
                  <a:srgbClr val="37474F"/>
                </a:solidFill>
                <a:latin typeface="Calibri"/>
              </a:defRPr>
            </a:pPr>
            <a:r>
              <a:t>▸  Chapter 13 deployed this layer in Module A; Chapter 15 adds async plugin activation on top of it.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execution layer · Lightning-Rod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Execution layer — Lightning-Rod edge agent</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Lightning-Rod connects the board to IoTronic via WAMP over wss://crossbar:8181 inside the Docker s4t network.</a:t>
            </a:r>
          </a:p>
          <a:p>
            <a:pPr>
              <a:lnSpc>
                <a:spcPct val="115000"/>
              </a:lnSpc>
              <a:spcAft>
                <a:spcPts val="500"/>
              </a:spcAft>
              <a:defRPr sz="1600" b="0">
                <a:solidFill>
                  <a:srgbClr val="37474F"/>
                </a:solidFill>
                <a:latin typeface="Calibri"/>
              </a:defRPr>
            </a:pPr>
            <a:r>
              <a:t>▸  Plugin Manager loads the Worker class, sets self._is_running for async loops, and routes self.params.</a:t>
            </a:r>
          </a:p>
          <a:p>
            <a:pPr>
              <a:lnSpc>
                <a:spcPct val="115000"/>
              </a:lnSpc>
              <a:spcAft>
                <a:spcPts val="500"/>
              </a:spcAft>
              <a:defRPr sz="1600" b="0">
                <a:solidFill>
                  <a:srgbClr val="37474F"/>
                </a:solidFill>
                <a:latin typeface="Calibri"/>
              </a:defRPr>
            </a:pPr>
            <a:r>
              <a:t>▸  oslo_log LOG.info and LOG.error emit structured messages consumed locally and forwarded centrally in production.</a:t>
            </a:r>
          </a:p>
          <a:p>
            <a:pPr>
              <a:lnSpc>
                <a:spcPct val="115000"/>
              </a:lnSpc>
              <a:spcAft>
                <a:spcPts val="500"/>
              </a:spcAft>
              <a:defRPr sz="1600" b="0">
                <a:solidFill>
                  <a:srgbClr val="37474F"/>
                </a:solidFill>
                <a:latin typeface="Calibri"/>
              </a:defRPr>
            </a:pPr>
            <a:r>
              <a:t>▸  LR container in the lab simulates a physical board — same agent binary used on Raspberry Pi edge nodes.</a:t>
            </a:r>
          </a:p>
          <a:p>
            <a:pPr>
              <a:lnSpc>
                <a:spcPct val="115000"/>
              </a:lnSpc>
              <a:spcAft>
                <a:spcPts val="500"/>
              </a:spcAft>
              <a:defRPr sz="1600" b="0">
                <a:solidFill>
                  <a:srgbClr val="37474F"/>
                </a:solidFill>
                <a:latin typeface="Calibri"/>
              </a:defRPr>
            </a:pPr>
            <a:r>
              <a:t>▸  pip-installed dependencies (influxdb, pandas, requests) must exist inside LR before environmental plugin starts.</a:t>
            </a:r>
          </a:p>
          <a:p>
            <a:pPr>
              <a:lnSpc>
                <a:spcPct val="115000"/>
              </a:lnSpc>
              <a:spcAft>
                <a:spcPts val="500"/>
              </a:spcAft>
              <a:defRPr sz="1600" b="0">
                <a:solidFill>
                  <a:srgbClr val="37474F"/>
                </a:solidFill>
                <a:latin typeface="Calibri"/>
              </a:defRPr>
            </a:pPr>
            <a:r>
              <a:t>▸  Network hostname influxdb resolves on s4t bridge — localhost inside LR does not reach the InfluxDB container.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application layer · InfluxDB · Grafana · CKAN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Application layer — plugin, storage, visualization</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environmental Worker reads CSV rows, assigns UTC timestamps, and writes InfluxDB points every 30 seconds.</a:t>
            </a:r>
          </a:p>
          <a:p>
            <a:pPr>
              <a:lnSpc>
                <a:spcPct val="115000"/>
              </a:lnSpc>
              <a:spcAft>
                <a:spcPts val="500"/>
              </a:spcAft>
              <a:defRPr sz="1600" b="0">
                <a:solidFill>
                  <a:srgbClr val="37474F"/>
                </a:solidFill>
                <a:latin typeface="Calibri"/>
              </a:defRPr>
            </a:pPr>
            <a:r>
              <a:t>▸  InfluxDB 1.8 stores measurement environmental_data in database secco with admin credentials in the lab overlay.</a:t>
            </a:r>
          </a:p>
          <a:p>
            <a:pPr>
              <a:lnSpc>
                <a:spcPct val="115000"/>
              </a:lnSpc>
              <a:spcAft>
                <a:spcPts val="500"/>
              </a:spcAft>
              <a:defRPr sz="1600" b="0">
                <a:solidFill>
                  <a:srgbClr val="37474F"/>
                </a:solidFill>
                <a:latin typeface="Calibri"/>
              </a:defRPr>
            </a:pPr>
            <a:r>
              <a:t>▸  Grafana dashboards (grafana.json in ch15 repo) visualize air-quality and meteorological fields for operators.</a:t>
            </a:r>
          </a:p>
          <a:p>
            <a:pPr>
              <a:lnSpc>
                <a:spcPct val="115000"/>
              </a:lnSpc>
              <a:spcAft>
                <a:spcPts val="500"/>
              </a:spcAft>
              <a:defRPr sz="1600" b="0">
                <a:solidFill>
                  <a:srgbClr val="37474F"/>
                </a:solidFill>
                <a:latin typeface="Calibri"/>
              </a:defRPr>
            </a:pPr>
            <a:r>
              <a:t>▸  CKAN data portals publish open datasets to citizens — the TOO(L)SMART public-facing tier above raw time-series.</a:t>
            </a:r>
          </a:p>
          <a:p>
            <a:pPr>
              <a:lnSpc>
                <a:spcPct val="115000"/>
              </a:lnSpc>
              <a:spcAft>
                <a:spcPts val="500"/>
              </a:spcAft>
              <a:defRPr sz="1600" b="0">
                <a:solidFill>
                  <a:srgbClr val="37474F"/>
                </a:solidFill>
                <a:latin typeface="Calibri"/>
              </a:defRPr>
            </a:pPr>
            <a:r>
              <a:t>▸  Node-RED flows in full Turin deployment orchestrate alerts and integrations beyond simple storage.</a:t>
            </a:r>
          </a:p>
          <a:p>
            <a:pPr>
              <a:lnSpc>
                <a:spcPct val="115000"/>
              </a:lnSpc>
              <a:spcAft>
                <a:spcPts val="500"/>
              </a:spcAft>
              <a:defRPr sz="1600" b="0">
                <a:solidFill>
                  <a:srgbClr val="37474F"/>
                </a:solidFill>
                <a:latin typeface="Calibri"/>
              </a:defRPr>
            </a:pPr>
            <a:r>
              <a:t>▸  Lab validates the plugin → InfluxDB path; Grafana and CKAN are previewed as production application tier.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Environmental dataflow (diagram)</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nvironmental-dataflow.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CSV → async Worker → InfluxDB (host=influxdb) → optional Grafana · Ch.15 pipeline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Environmental data publisher</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Async plugin · Ch.15 listing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environmental data publisher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Environmental publisher — purpose and data source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The environmental data publisher simulates a continuous real-time sensor stream by replaying CSV rows.</a:t>
            </a:r>
          </a:p>
          <a:p>
            <a:pPr>
              <a:lnSpc>
                <a:spcPct val="115000"/>
              </a:lnSpc>
              <a:spcAft>
                <a:spcPts val="500"/>
              </a:spcAft>
              <a:defRPr sz="1600" b="0">
                <a:solidFill>
                  <a:srgbClr val="37474F"/>
                </a:solidFill>
                <a:latin typeface="Calibri"/>
              </a:defRPr>
            </a:pPr>
            <a:r>
              <a:t>▸  Each row receives a fresh UTC timestamp at publish time — decoupling historical data from wall-clock acquisition.</a:t>
            </a:r>
          </a:p>
          <a:p>
            <a:pPr>
              <a:lnSpc>
                <a:spcPct val="115000"/>
              </a:lnSpc>
              <a:spcAft>
                <a:spcPts val="500"/>
              </a:spcAft>
              <a:defRPr sz="1600" b="0">
                <a:solidFill>
                  <a:srgbClr val="37474F"/>
                </a:solidFill>
                <a:latin typeface="Calibri"/>
              </a:defRPr>
            </a:pPr>
            <a:r>
              <a:t>▸  In production, Raspberry Pi boards with I2C, SPI, or GPIO sensors replace CSV iloc iteration with live reads.</a:t>
            </a:r>
          </a:p>
          <a:p>
            <a:pPr>
              <a:lnSpc>
                <a:spcPct val="115000"/>
              </a:lnSpc>
              <a:spcAft>
                <a:spcPts val="500"/>
              </a:spcAft>
              <a:defRPr sz="1600" b="0">
                <a:solidFill>
                  <a:srgbClr val="37474F"/>
                </a:solidFill>
                <a:latin typeface="Calibri"/>
              </a:defRPr>
            </a:pPr>
            <a:r>
              <a:t>▸  The plugin is asynchronous: Callable = OFF, activated with Start, runs until Stop or dataset exhaustion.</a:t>
            </a:r>
          </a:p>
          <a:p>
            <a:pPr>
              <a:lnSpc>
                <a:spcPct val="115000"/>
              </a:lnSpc>
              <a:spcAft>
                <a:spcPts val="500"/>
              </a:spcAft>
              <a:defRPr sz="1600" b="0">
                <a:solidFill>
                  <a:srgbClr val="37474F"/>
                </a:solidFill>
                <a:latin typeface="Calibri"/>
              </a:defRPr>
            </a:pPr>
            <a:r>
              <a:t>▸  Repository: github.com/AssemblingSmartCPS/ch15 · lab file: training/ch15-lab/plugin_demo_lab.py.</a:t>
            </a:r>
          </a:p>
          <a:p>
            <a:pPr>
              <a:lnSpc>
                <a:spcPct val="115000"/>
              </a:lnSpc>
              <a:spcAft>
                <a:spcPts val="500"/>
              </a:spcAft>
              <a:defRPr sz="1600" b="0">
                <a:solidFill>
                  <a:srgbClr val="37474F"/>
                </a:solidFill>
                <a:latin typeface="Calibri"/>
              </a:defRPr>
            </a:pPr>
            <a:r>
              <a:t>▸  Measurement name written to InfluxDB: environmental_data — the validation target for today's deliverable.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plugin __init__ · CSV download from Google Drive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Environmental publisher — initialization and CSV handling</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On __init__, the Worker ensures /opt/data exists and downloads structured_time_series_v2.csv if missing.</a:t>
            </a:r>
          </a:p>
          <a:p>
            <a:pPr>
              <a:lnSpc>
                <a:spcPct val="115000"/>
              </a:lnSpc>
              <a:spcAft>
                <a:spcPts val="500"/>
              </a:spcAft>
              <a:defRPr sz="1600" b="0">
                <a:solidFill>
                  <a:srgbClr val="37474F"/>
                </a:solidFill>
                <a:latin typeface="Calibri"/>
              </a:defRPr>
            </a:pPr>
            <a:r>
              <a:t>▸  pandas reads the CSV, parses the time column, and fills NaN with zero for safe float conversion.</a:t>
            </a:r>
          </a:p>
          <a:p>
            <a:pPr>
              <a:lnSpc>
                <a:spcPct val="115000"/>
              </a:lnSpc>
              <a:spcAft>
                <a:spcPts val="500"/>
              </a:spcAft>
              <a:defRPr sz="1600" b="0">
                <a:solidFill>
                  <a:srgbClr val="37474F"/>
                </a:solidFill>
                <a:latin typeface="Calibri"/>
              </a:defRPr>
            </a:pPr>
            <a:r>
              <a:t>▸  InfluxDBClient connects with host, port 8086, username admin, password admin, database secco.</a:t>
            </a:r>
          </a:p>
          <a:p>
            <a:pPr>
              <a:lnSpc>
                <a:spcPct val="115000"/>
              </a:lnSpc>
              <a:spcAft>
                <a:spcPts val="500"/>
              </a:spcAft>
              <a:defRPr sz="1600" b="0">
                <a:solidFill>
                  <a:srgbClr val="37474F"/>
                </a:solidFill>
                <a:latin typeface="Calibri"/>
              </a:defRPr>
            </a:pPr>
            <a:r>
              <a:t>▸  create_database ensures secco exists before the run loop begins publishing points.</a:t>
            </a:r>
          </a:p>
          <a:p>
            <a:pPr>
              <a:lnSpc>
                <a:spcPct val="115000"/>
              </a:lnSpc>
              <a:spcAft>
                <a:spcPts val="500"/>
              </a:spcAft>
              <a:defRPr sz="1600" b="0">
                <a:solidFill>
                  <a:srgbClr val="37474F"/>
                </a:solidFill>
                <a:latin typeface="Calibri"/>
              </a:defRPr>
            </a:pPr>
            <a:r>
              <a:t>▸  load_last_index reads last_index.state to resume from the last successfully written row after restart.</a:t>
            </a:r>
          </a:p>
          <a:p>
            <a:pPr>
              <a:lnSpc>
                <a:spcPct val="115000"/>
              </a:lnSpc>
              <a:spcAft>
                <a:spcPts val="500"/>
              </a:spcAft>
              <a:defRPr sz="1600" b="0">
                <a:solidFill>
                  <a:srgbClr val="37474F"/>
                </a:solidFill>
                <a:latin typeface="Calibri"/>
              </a:defRPr>
            </a:pPr>
            <a:r>
              <a:t>▸  Dependencies: influxdb, pandas, requests — install inside LR container before plugin Start.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generate_data_point ·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Environmental publisher — generate_data_point structure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Each InfluxDB point has measurement environmental_data, tags host and source, UTC time, and numeric fields.</a:t>
            </a:r>
          </a:p>
          <a:p>
            <a:pPr>
              <a:lnSpc>
                <a:spcPct val="115000"/>
              </a:lnSpc>
              <a:spcAft>
                <a:spcPts val="500"/>
              </a:spcAft>
              <a:defRPr sz="1600" b="0">
                <a:solidFill>
                  <a:srgbClr val="37474F"/>
                </a:solidFill>
                <a:latin typeface="Calibri"/>
              </a:defRPr>
            </a:pPr>
            <a:r>
              <a:t>▸  Tags identify the station name and source file — enabling multi-station queries in Grafana and CKAN.</a:t>
            </a:r>
          </a:p>
          <a:p>
            <a:pPr>
              <a:lnSpc>
                <a:spcPct val="115000"/>
              </a:lnSpc>
              <a:spcAft>
                <a:spcPts val="500"/>
              </a:spcAft>
              <a:defRPr sz="1600" b="0">
                <a:solidFill>
                  <a:srgbClr val="37474F"/>
                </a:solidFill>
                <a:latin typeface="Calibri"/>
              </a:defRPr>
            </a:pPr>
            <a:r>
              <a:t>▸  Fields include meteorological and air-quality metrics parsed via safe_float from CSV columns.</a:t>
            </a:r>
          </a:p>
          <a:p>
            <a:pPr>
              <a:lnSpc>
                <a:spcPct val="115000"/>
              </a:lnSpc>
              <a:spcAft>
                <a:spcPts val="500"/>
              </a:spcAft>
              <a:defRPr sz="1600" b="0">
                <a:solidFill>
                  <a:srgbClr val="37474F"/>
                </a:solidFill>
                <a:latin typeface="Calibri"/>
              </a:defRPr>
            </a:pPr>
            <a:r>
              <a:t>▸  safe_float strips quotes and returns 0.0 on parse failure — preventing one bad cell from crashing the loop.</a:t>
            </a:r>
          </a:p>
          <a:p>
            <a:pPr>
              <a:lnSpc>
                <a:spcPct val="115000"/>
              </a:lnSpc>
              <a:spcAft>
                <a:spcPts val="500"/>
              </a:spcAft>
              <a:defRPr sz="1600" b="0">
                <a:solidFill>
                  <a:srgbClr val="37474F"/>
                </a:solidFill>
                <a:latin typeface="Calibri"/>
              </a:defRPr>
            </a:pPr>
            <a:r>
              <a:t>▸  write_points sends a single-element list; success logs Row N sent via oslo_log for traceability.</a:t>
            </a:r>
          </a:p>
          <a:p>
            <a:pPr>
              <a:lnSpc>
                <a:spcPct val="115000"/>
              </a:lnSpc>
              <a:spcAft>
                <a:spcPts val="500"/>
              </a:spcAft>
              <a:defRPr sz="1600" b="0">
                <a:solidFill>
                  <a:srgbClr val="37474F"/>
                </a:solidFill>
                <a:latin typeface="Calibri"/>
              </a:defRPr>
            </a:pPr>
            <a:r>
              <a:t>▸  After each write, last_index increments and persists to last_index.state for fault-tolerant resume.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InfluxDB and networking</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Lab overlay · LR container connectivity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InfluxDB Docker deployment · lab overlay</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InfluxDB in the lab stack — deployment and access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Training overlay docker-compose.lab.yml adds influxdb:1.8 on Docker network s4t alongside S4T services.</a:t>
            </a:r>
          </a:p>
          <a:p>
            <a:pPr>
              <a:lnSpc>
                <a:spcPct val="115000"/>
              </a:lnSpc>
              <a:spcAft>
                <a:spcPts val="500"/>
              </a:spcAft>
              <a:defRPr sz="1600" b="0">
                <a:solidFill>
                  <a:srgbClr val="37474F"/>
                </a:solidFill>
                <a:latin typeface="Calibri"/>
              </a:defRPr>
            </a:pPr>
            <a:r>
              <a:t>▸  Host port 8086 maps to InfluxDB HTTP API — curl http://{{VM_IP}}:8086/ping returns 204 when healthy.</a:t>
            </a:r>
          </a:p>
          <a:p>
            <a:pPr>
              <a:lnSpc>
                <a:spcPct val="115000"/>
              </a:lnSpc>
              <a:spcAft>
                <a:spcPts val="500"/>
              </a:spcAft>
              <a:defRPr sz="1600" b="0">
                <a:solidFill>
                  <a:srgbClr val="37474F"/>
                </a:solidFill>
                <a:latin typeface="Calibri"/>
              </a:defRPr>
            </a:pPr>
            <a:r>
              <a:t>▸  Default credentials: admin / admin — enabled via INFLUXDB_HTTP_AUTH_ENABLED in compose environment.</a:t>
            </a:r>
          </a:p>
          <a:p>
            <a:pPr>
              <a:lnSpc>
                <a:spcPct val="115000"/>
              </a:lnSpc>
              <a:spcAft>
                <a:spcPts val="500"/>
              </a:spcAft>
              <a:defRPr sz="1600" b="0">
                <a:solidFill>
                  <a:srgbClr val="37474F"/>
                </a:solidFill>
                <a:latin typeface="Calibri"/>
              </a:defRPr>
            </a:pPr>
            <a:r>
              <a:t>▸  Database secco stores environmental time-series; _internal is InfluxDB system metadata.</a:t>
            </a:r>
          </a:p>
          <a:p>
            <a:pPr>
              <a:lnSpc>
                <a:spcPct val="115000"/>
              </a:lnSpc>
              <a:spcAft>
                <a:spcPts val="500"/>
              </a:spcAft>
              <a:defRPr sz="1600" b="0">
                <a:solidFill>
                  <a:srgbClr val="37474F"/>
                </a:solidFill>
                <a:latin typeface="Calibri"/>
              </a:defRPr>
            </a:pPr>
            <a:r>
              <a:t>▸  Interactive shell: docker exec -it influxdb influx -username admin -password admin</a:t>
            </a:r>
          </a:p>
          <a:p>
            <a:pPr>
              <a:lnSpc>
                <a:spcPct val="115000"/>
              </a:lnSpc>
              <a:spcAft>
                <a:spcPts val="500"/>
              </a:spcAft>
              <a:defRPr sz="1600" b="0">
                <a:solidFill>
                  <a:srgbClr val="37474F"/>
                </a:solidFill>
                <a:latin typeface="Calibri"/>
              </a:defRPr>
            </a:pPr>
            <a:r>
              <a:t>▸  Book also documents standalone docker run influxdb:1.8 for non-compose deployments.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container networking · critical lab fix</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LR → InfluxDB networking — why localhost fails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Default ch15 plugin_demo uses host localhost:8086 — this FAILS inside the Lightning-Rod container.</a:t>
            </a:r>
          </a:p>
          <a:p>
            <a:pPr>
              <a:lnSpc>
                <a:spcPct val="115000"/>
              </a:lnSpc>
              <a:spcAft>
                <a:spcPts val="500"/>
              </a:spcAft>
              <a:defRPr sz="1600" b="0">
                <a:solidFill>
                  <a:srgbClr val="37474F"/>
                </a:solidFill>
                <a:latin typeface="Calibri"/>
              </a:defRPr>
            </a:pPr>
            <a:r>
              <a:t>▸  localhost inside LR refers to the LR container itself, where no InfluxDB process listens on 8086.</a:t>
            </a:r>
          </a:p>
          <a:p>
            <a:pPr>
              <a:lnSpc>
                <a:spcPct val="115000"/>
              </a:lnSpc>
              <a:spcAft>
                <a:spcPts val="500"/>
              </a:spcAft>
              <a:defRPr sz="1600" b="0">
                <a:solidFill>
                  <a:srgbClr val="37474F"/>
                </a:solidFill>
                <a:latin typeface="Calibri"/>
              </a:defRPr>
            </a:pPr>
            <a:r>
              <a:t>▸  Fix: self.host = 'influxdb' — Docker embedded DNS on network s4t resolves the InfluxDB service name.</a:t>
            </a:r>
          </a:p>
          <a:p>
            <a:pPr>
              <a:lnSpc>
                <a:spcPct val="115000"/>
              </a:lnSpc>
              <a:spcAft>
                <a:spcPts val="500"/>
              </a:spcAft>
              <a:defRPr sz="1600" b="0">
                <a:solidFill>
                  <a:srgbClr val="37474F"/>
                </a:solidFill>
                <a:latin typeface="Calibri"/>
              </a:defRPr>
            </a:pPr>
            <a:r>
              <a:t>▸  Lab file training/ch15-lab/plugin_demo_lab.py already applies this fix — use it, not raw repo plugin_demo.</a:t>
            </a:r>
          </a:p>
          <a:p>
            <a:pPr>
              <a:lnSpc>
                <a:spcPct val="115000"/>
              </a:lnSpc>
              <a:spcAft>
                <a:spcPts val="500"/>
              </a:spcAft>
              <a:defRPr sz="1600" b="0">
                <a:solidFill>
                  <a:srgbClr val="37474F"/>
                </a:solidFill>
                <a:latin typeface="Calibri"/>
              </a:defRPr>
            </a:pPr>
            <a:r>
              <a:t>▸  Do NOT use host gateway IP (172.17.0.1) — fragile across Docker restarts and compose network changes.</a:t>
            </a:r>
          </a:p>
          <a:p>
            <a:pPr>
              <a:lnSpc>
                <a:spcPct val="115000"/>
              </a:lnSpc>
              <a:spcAft>
                <a:spcPts val="500"/>
              </a:spcAft>
              <a:defRPr sz="1600" b="0">
                <a:solidFill>
                  <a:srgbClr val="37474F"/>
                </a:solidFill>
                <a:latin typeface="Calibri"/>
              </a:defRPr>
            </a:pPr>
            <a:r>
              <a:t>▸  Same hostname pattern as wss://crossbar:8181 from Module A — always use s4t service names inside containers.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InfluxDB time-series concepts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InfluxDB data model — measurements, tags, fields, time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InfluxDB 1.x line protocol: measurement, tag set, field set, and timestamp define each point.</a:t>
            </a:r>
          </a:p>
          <a:p>
            <a:pPr>
              <a:lnSpc>
                <a:spcPct val="115000"/>
              </a:lnSpc>
              <a:spcAft>
                <a:spcPts val="500"/>
              </a:spcAft>
              <a:defRPr sz="1600" b="0">
                <a:solidFill>
                  <a:srgbClr val="37474F"/>
                </a:solidFill>
                <a:latin typeface="Calibri"/>
              </a:defRPr>
            </a:pPr>
            <a:r>
              <a:t>▸  Tags (host, source) are indexed strings — use for GROUP BY station in queries and Grafana templates.</a:t>
            </a:r>
          </a:p>
          <a:p>
            <a:pPr>
              <a:lnSpc>
                <a:spcPct val="115000"/>
              </a:lnSpc>
              <a:spcAft>
                <a:spcPts val="500"/>
              </a:spcAft>
              <a:defRPr sz="1600" b="0">
                <a:solidFill>
                  <a:srgbClr val="37474F"/>
                </a:solidFill>
                <a:latin typeface="Calibri"/>
              </a:defRPr>
            </a:pPr>
            <a:r>
              <a:t>▸  Fields (Temperature, PM25, Humidity, …) hold numeric values — the actual sensor readings.</a:t>
            </a:r>
          </a:p>
          <a:p>
            <a:pPr>
              <a:lnSpc>
                <a:spcPct val="115000"/>
              </a:lnSpc>
              <a:spcAft>
                <a:spcPts val="500"/>
              </a:spcAft>
              <a:defRPr sz="1600" b="0">
                <a:solidFill>
                  <a:srgbClr val="37474F"/>
                </a:solidFill>
                <a:latin typeface="Calibri"/>
              </a:defRPr>
            </a:pPr>
            <a:r>
              <a:t>▸  Timestamps are UTC ISO format assigned at publish time in the lab CSV replay scenario.</a:t>
            </a:r>
          </a:p>
          <a:p>
            <a:pPr>
              <a:lnSpc>
                <a:spcPct val="115000"/>
              </a:lnSpc>
              <a:spcAft>
                <a:spcPts val="500"/>
              </a:spcAft>
              <a:defRPr sz="1600" b="0">
                <a:solidFill>
                  <a:srgbClr val="37474F"/>
                </a:solidFill>
                <a:latin typeface="Calibri"/>
              </a:defRPr>
            </a:pPr>
            <a:r>
              <a:t>▸  Retention policies and continuous queries can downsample raw 30-second data for long-term storage.</a:t>
            </a:r>
          </a:p>
          <a:p>
            <a:pPr>
              <a:lnSpc>
                <a:spcPct val="115000"/>
              </a:lnSpc>
              <a:spcAft>
                <a:spcPts val="500"/>
              </a:spcAft>
              <a:defRPr sz="1600" b="0">
                <a:solidFill>
                  <a:srgbClr val="37474F"/>
                </a:solidFill>
                <a:latin typeface="Calibri"/>
              </a:defRPr>
            </a:pPr>
            <a:r>
              <a:t>▸  SHOW MEASUREMENTS and SELECT * FROM environmental_data LIMIT 5 validate successful plugin writes.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JSON schema and execution loop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Data model · async run() method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Table · meteorological JSON fields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JSON data model — meteorological fields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Temperature records ambient air temperature in degrees Celsius from the CSV replay or live sensor.</a:t>
            </a:r>
          </a:p>
          <a:p>
            <a:pPr>
              <a:lnSpc>
                <a:spcPct val="115000"/>
              </a:lnSpc>
              <a:spcAft>
                <a:spcPts val="500"/>
              </a:spcAft>
              <a:defRPr sz="1600" b="0">
                <a:solidFill>
                  <a:srgbClr val="37474F"/>
                </a:solidFill>
                <a:latin typeface="Calibri"/>
              </a:defRPr>
            </a:pPr>
            <a:r>
              <a:t>▸  Humidity captures relative humidity percentage — critical for comfort and mold-risk urban indicators.</a:t>
            </a:r>
          </a:p>
          <a:p>
            <a:pPr>
              <a:lnSpc>
                <a:spcPct val="115000"/>
              </a:lnSpc>
              <a:spcAft>
                <a:spcPts val="500"/>
              </a:spcAft>
              <a:defRPr sz="1600" b="0">
                <a:solidFill>
                  <a:srgbClr val="37474F"/>
                </a:solidFill>
                <a:latin typeface="Calibri"/>
              </a:defRPr>
            </a:pPr>
            <a:r>
              <a:t>▸  Wind_speed and Wind_direction describe horizontal flow magnitude and compass bearing.</a:t>
            </a:r>
          </a:p>
          <a:p>
            <a:pPr>
              <a:lnSpc>
                <a:spcPct val="115000"/>
              </a:lnSpc>
              <a:spcAft>
                <a:spcPts val="500"/>
              </a:spcAft>
              <a:defRPr sz="1600" b="0">
                <a:solidFill>
                  <a:srgbClr val="37474F"/>
                </a:solidFill>
                <a:latin typeface="Calibri"/>
              </a:defRPr>
            </a:pPr>
            <a:r>
              <a:t>▸  Pressure reports barometric pressure — useful for weather trend analysis across station networks.</a:t>
            </a:r>
          </a:p>
          <a:p>
            <a:pPr>
              <a:lnSpc>
                <a:spcPct val="115000"/>
              </a:lnSpc>
              <a:spcAft>
                <a:spcPts val="500"/>
              </a:spcAft>
              <a:defRPr sz="1600" b="0">
                <a:solidFill>
                  <a:srgbClr val="37474F"/>
                </a:solidFill>
                <a:latin typeface="Calibri"/>
              </a:defRPr>
            </a:pPr>
            <a:r>
              <a:t>▸  Precipitation accumulates rainfall depth — key hydrological input for smart-city flood early warning.</a:t>
            </a:r>
          </a:p>
          <a:p>
            <a:pPr>
              <a:lnSpc>
                <a:spcPct val="115000"/>
              </a:lnSpc>
              <a:spcAft>
                <a:spcPts val="500"/>
              </a:spcAft>
              <a:defRPr sz="1600" b="0">
                <a:solidFill>
                  <a:srgbClr val="37474F"/>
                </a:solidFill>
                <a:latin typeface="Calibri"/>
              </a:defRPr>
            </a:pPr>
            <a:r>
              <a:t>▸  Gust, Light, and UVI extend the meteorological profile for comprehensive station dashboards.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Table · air quality JSON · lines 633–664</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JSON data model — air quality and particulate fields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PM25, PM10, and PM100 measure particulate matter at 2.5, 10, and 100 micrometer thresholds.</a:t>
            </a:r>
          </a:p>
          <a:p>
            <a:pPr>
              <a:lnSpc>
                <a:spcPct val="115000"/>
              </a:lnSpc>
              <a:spcAft>
                <a:spcPts val="500"/>
              </a:spcAft>
              <a:defRPr sz="1600" b="0">
                <a:solidFill>
                  <a:srgbClr val="37474F"/>
                </a:solidFill>
                <a:latin typeface="Calibri"/>
              </a:defRPr>
            </a:pPr>
            <a:r>
              <a:t>▸  Part03 through Part100 provide size-binned particle count distributions for detailed air-quality studies.</a:t>
            </a:r>
          </a:p>
          <a:p>
            <a:pPr>
              <a:lnSpc>
                <a:spcPct val="115000"/>
              </a:lnSpc>
              <a:spcAft>
                <a:spcPts val="500"/>
              </a:spcAft>
              <a:defRPr sz="1600" b="0">
                <a:solidFill>
                  <a:srgbClr val="37474F"/>
                </a:solidFill>
                <a:latin typeface="Calibri"/>
              </a:defRPr>
            </a:pPr>
            <a:r>
              <a:t>▸  These fields map directly to EU air-quality index reporting used in TOO(L)SMART open-data portals.</a:t>
            </a:r>
          </a:p>
          <a:p>
            <a:pPr>
              <a:lnSpc>
                <a:spcPct val="115000"/>
              </a:lnSpc>
              <a:spcAft>
                <a:spcPts val="500"/>
              </a:spcAft>
              <a:defRPr sz="1600" b="0">
                <a:solidFill>
                  <a:srgbClr val="37474F"/>
                </a:solidFill>
                <a:latin typeface="Calibri"/>
              </a:defRPr>
            </a:pPr>
            <a:r>
              <a:t>▸  CO, CO2, O3, NO2, and VOC appear in the book schema for full stations — lab CSV includes PM and meteo subset.</a:t>
            </a:r>
          </a:p>
          <a:p>
            <a:pPr>
              <a:lnSpc>
                <a:spcPct val="115000"/>
              </a:lnSpc>
              <a:spcAft>
                <a:spcPts val="500"/>
              </a:spcAft>
              <a:defRPr sz="1600" b="0">
                <a:solidFill>
                  <a:srgbClr val="37474F"/>
                </a:solidFill>
                <a:latin typeface="Calibri"/>
              </a:defRPr>
            </a:pPr>
            <a:r>
              <a:t>▸  lat, lon, and alt tags geolocate each reading for map overlays in Grafana and CKAN.</a:t>
            </a:r>
          </a:p>
          <a:p>
            <a:pPr>
              <a:lnSpc>
                <a:spcPct val="115000"/>
              </a:lnSpc>
              <a:spcAft>
                <a:spcPts val="500"/>
              </a:spcAft>
              <a:defRPr sz="1600" b="0">
                <a:solidFill>
                  <a:srgbClr val="37474F"/>
                </a:solidFill>
                <a:latin typeface="Calibri"/>
              </a:defRPr>
            </a:pPr>
            <a:r>
              <a:t>▸  Consistent field naming across cities enabled TOO(L)SMART Model 2 plug-and-play VM replication.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JSON structure listing · open-data contract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JSON data model — tags, timestamps, and open-data alignment</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Tag host identifies the station name from CSV name column — e.g. distinct Turin district stations.</a:t>
            </a:r>
          </a:p>
          <a:p>
            <a:pPr>
              <a:lnSpc>
                <a:spcPct val="115000"/>
              </a:lnSpc>
              <a:spcAft>
                <a:spcPts val="500"/>
              </a:spcAft>
              <a:defRPr sz="1600" b="0">
                <a:solidFill>
                  <a:srgbClr val="37474F"/>
                </a:solidFill>
                <a:latin typeface="Calibri"/>
              </a:defRPr>
            </a:pPr>
            <a:r>
              <a:t>▸  Tag source_file traces provenance to the original CSV segment for audit and debugging.</a:t>
            </a:r>
          </a:p>
          <a:p>
            <a:pPr>
              <a:lnSpc>
                <a:spcPct val="115000"/>
              </a:lnSpc>
              <a:spcAft>
                <a:spcPts val="500"/>
              </a:spcAft>
              <a:defRPr sz="1600" b="0">
                <a:solidFill>
                  <a:srgbClr val="37474F"/>
                </a:solidFill>
                <a:latin typeface="Calibri"/>
              </a:defRPr>
            </a:pPr>
            <a:r>
              <a:t>▸  UTC timestamps on each point align Grafana time axes across time zones in multi-city deployments.</a:t>
            </a:r>
          </a:p>
          <a:p>
            <a:pPr>
              <a:lnSpc>
                <a:spcPct val="115000"/>
              </a:lnSpc>
              <a:spcAft>
                <a:spcPts val="500"/>
              </a:spcAft>
              <a:defRPr sz="1600" b="0">
                <a:solidFill>
                  <a:srgbClr val="37474F"/>
                </a:solidFill>
                <a:latin typeface="Calibri"/>
              </a:defRPr>
            </a:pPr>
            <a:r>
              <a:t>▸  JSON structure in the book listing is the contract CKAN harvesters and Grafana datasources expect.</a:t>
            </a:r>
          </a:p>
          <a:p>
            <a:pPr>
              <a:lnSpc>
                <a:spcPct val="115000"/>
              </a:lnSpc>
              <a:spcAft>
                <a:spcPts val="500"/>
              </a:spcAft>
              <a:defRPr sz="1600" b="0">
                <a:solidFill>
                  <a:srgbClr val="37474F"/>
                </a:solidFill>
                <a:latin typeface="Calibri"/>
              </a:defRPr>
            </a:pPr>
            <a:r>
              <a:t>▸  Lab plugin assigns datetime.utcnow().isoformat() per row — simulating live acquisition cadence.</a:t>
            </a:r>
          </a:p>
          <a:p>
            <a:pPr>
              <a:lnSpc>
                <a:spcPct val="115000"/>
              </a:lnSpc>
              <a:spcAft>
                <a:spcPts val="500"/>
              </a:spcAft>
              <a:defRPr sz="1600" b="0">
                <a:solidFill>
                  <a:srgbClr val="37474F"/>
                </a:solidFill>
                <a:latin typeface="Calibri"/>
              </a:defRPr>
            </a:pPr>
            <a:r>
              <a:t>▸  Production stations use sensor read time or NTP-synchronized board clock for the time field.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async run()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Execution loop — run() method step by step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run() logs plugin start, InfluxDB target host:port, database name, and resume index.</a:t>
            </a:r>
          </a:p>
          <a:p>
            <a:pPr>
              <a:lnSpc>
                <a:spcPct val="115000"/>
              </a:lnSpc>
              <a:spcAft>
                <a:spcPts val="500"/>
              </a:spcAft>
              <a:defRPr sz="1600" b="0">
                <a:solidFill>
                  <a:srgbClr val="37474F"/>
                </a:solidFill>
                <a:latin typeface="Calibri"/>
              </a:defRPr>
            </a:pPr>
            <a:r>
              <a:t>▸  while self._is_running and self.last_index &lt; len(self.df): fetches the current CSV row by iloc.</a:t>
            </a:r>
          </a:p>
          <a:p>
            <a:pPr>
              <a:lnSpc>
                <a:spcPct val="115000"/>
              </a:lnSpc>
              <a:spcAft>
                <a:spcPts val="500"/>
              </a:spcAft>
              <a:defRPr sz="1600" b="0">
                <a:solidFill>
                  <a:srgbClr val="37474F"/>
                </a:solidFill>
                <a:latin typeface="Calibri"/>
              </a:defRPr>
            </a:pPr>
            <a:r>
              <a:t>▸  generate_data_point(row) builds the InfluxDB dict with measurement, tags, time, and fields.</a:t>
            </a:r>
          </a:p>
          <a:p>
            <a:pPr>
              <a:lnSpc>
                <a:spcPct val="115000"/>
              </a:lnSpc>
              <a:spcAft>
                <a:spcPts val="500"/>
              </a:spcAft>
              <a:defRPr sz="1600" b="0">
                <a:solidFill>
                  <a:srgbClr val="37474F"/>
                </a:solidFill>
                <a:latin typeface="Calibri"/>
              </a:defRPr>
            </a:pPr>
            <a:r>
              <a:t>▸  client.write_points([data_point]) sends the point; success logs Row N sent, failure logs exception.</a:t>
            </a:r>
          </a:p>
          <a:p>
            <a:pPr>
              <a:lnSpc>
                <a:spcPct val="115000"/>
              </a:lnSpc>
              <a:spcAft>
                <a:spcPts val="500"/>
              </a:spcAft>
              <a:defRPr sz="1600" b="0">
                <a:solidFill>
                  <a:srgbClr val="37474F"/>
                </a:solidFill>
                <a:latin typeface="Calibri"/>
              </a:defRPr>
            </a:pPr>
            <a:r>
              <a:t>▸  last_index increments; save_last_index persists progress to /opt/data/last_index.state.</a:t>
            </a:r>
          </a:p>
          <a:p>
            <a:pPr>
              <a:lnSpc>
                <a:spcPct val="115000"/>
              </a:lnSpc>
              <a:spcAft>
                <a:spcPts val="500"/>
              </a:spcAft>
              <a:defRPr sz="1600" b="0">
                <a:solidFill>
                  <a:srgbClr val="37474F"/>
                </a:solidFill>
                <a:latin typeface="Calibri"/>
              </a:defRPr>
            </a:pPr>
            <a:r>
              <a:t>▸  time.sleep(30) waits 30 seconds between publications — matching book cadence and lab timing.</a:t>
            </a:r>
          </a:p>
          <a:p>
            <a:pPr>
              <a:lnSpc>
                <a:spcPct val="115000"/>
              </a:lnSpc>
              <a:spcAft>
                <a:spcPts val="500"/>
              </a:spcAft>
              <a:defRPr sz="1600" b="0">
                <a:solidFill>
                  <a:srgbClr val="37474F"/>
                </a:solidFill>
                <a:latin typeface="Calibri"/>
              </a:defRPr>
            </a:pPr>
            <a:r>
              <a:t>▸  Loop exits when dataset complete or plugin stopped; logs Dataset complete or plugin stopped.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plugin activation · Ch.14 lifecycle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Execution loop — timing, Start vs Plugin Call, lifecycle</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700" b="0">
                <a:solidFill>
                  <a:srgbClr val="37474F"/>
                </a:solidFill>
                <a:latin typeface="Calibri"/>
              </a:defRPr>
            </a:pPr>
            <a:r>
              <a:t>▸  Async plugins never use Plugin Call for each row — Start launches the entire loop until Stop or Interrupt.</a:t>
            </a:r>
          </a:p>
          <a:p>
            <a:pPr>
              <a:lnSpc>
                <a:spcPct val="115000"/>
              </a:lnSpc>
              <a:spcAft>
                <a:spcPts val="500"/>
              </a:spcAft>
              <a:defRPr sz="1700" b="0">
                <a:solidFill>
                  <a:srgbClr val="37474F"/>
                </a:solidFill>
                <a:latin typeface="Calibri"/>
              </a:defRPr>
            </a:pPr>
            <a:r>
              <a:t>▸  Thirty-second interval means ~2 rows per minute — plan query validation accordingly after 5+ minutes running.</a:t>
            </a:r>
          </a:p>
          <a:p>
            <a:pPr>
              <a:lnSpc>
                <a:spcPct val="115000"/>
              </a:lnSpc>
              <a:spcAft>
                <a:spcPts val="500"/>
              </a:spcAft>
              <a:defRPr sz="1700" b="0">
                <a:solidFill>
                  <a:srgbClr val="37474F"/>
                </a:solidFill>
                <a:latin typeface="Calibri"/>
              </a:defRPr>
            </a:pPr>
            <a:r>
              <a:t>▸  Interrupt sets _is_running False — preferred graceful stop before plugin code update or board maintenance.</a:t>
            </a:r>
          </a:p>
          <a:p>
            <a:pPr>
              <a:lnSpc>
                <a:spcPct val="115000"/>
              </a:lnSpc>
              <a:spcAft>
                <a:spcPts val="500"/>
              </a:spcAft>
              <a:defRPr sz="1700" b="0">
                <a:solidFill>
                  <a:srgbClr val="37474F"/>
                </a:solidFill>
                <a:latin typeface="Calibri"/>
              </a:defRPr>
            </a:pPr>
            <a:r>
              <a:t>▸  Remove injection only after Stop — avoids orphaned write loops holding InfluxDB client connections.</a:t>
            </a:r>
          </a:p>
          <a:p>
            <a:pPr>
              <a:lnSpc>
                <a:spcPct val="115000"/>
              </a:lnSpc>
              <a:spcAft>
                <a:spcPts val="500"/>
              </a:spcAft>
              <a:defRPr sz="1700" b="0">
                <a:solidFill>
                  <a:srgbClr val="37474F"/>
                </a:solidFill>
                <a:latin typeface="Calibri"/>
              </a:defRPr>
            </a:pPr>
            <a:r>
              <a:t>▸  Same seven-step lifecycle from Ch.14 applies: create, inject, start, monitor, update, interrupt, remove.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InfluxDB and async plugin</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Lab overlay · plugin_demo_lab.py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Environmental publisher — learning outcomes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700" b="0">
                <a:solidFill>
                  <a:srgbClr val="37474F"/>
                </a:solidFill>
                <a:latin typeface="Calibri"/>
              </a:defRPr>
            </a:pPr>
            <a:r>
              <a:t>▸  Prove async plugins run autonomously without a Plugin Call per data point — validating Module B async theory.</a:t>
            </a:r>
          </a:p>
          <a:p>
            <a:pPr>
              <a:lnSpc>
                <a:spcPct val="115000"/>
              </a:lnSpc>
              <a:spcAft>
                <a:spcPts val="500"/>
              </a:spcAft>
              <a:defRPr sz="1700" b="0">
                <a:solidFill>
                  <a:srgbClr val="37474F"/>
                </a:solidFill>
                <a:latin typeface="Calibri"/>
              </a:defRPr>
            </a:pPr>
            <a:r>
              <a:t>▸  Prove edge LR container publishes time-series to InfluxDB reachable on Docker network s4t at hostname influxdb.</a:t>
            </a:r>
          </a:p>
          <a:p>
            <a:pPr>
              <a:lnSpc>
                <a:spcPct val="115000"/>
              </a:lnSpc>
              <a:spcAft>
                <a:spcPts val="500"/>
              </a:spcAft>
              <a:defRPr sz="1700" b="0">
                <a:solidFill>
                  <a:srgbClr val="37474F"/>
                </a:solidFill>
                <a:latin typeface="Calibri"/>
              </a:defRPr>
            </a:pPr>
            <a:r>
              <a:t>▸  Prove the data model matches TOO(L)SMART air-quality and meteorological schema with environmental_data measurement.</a:t>
            </a:r>
          </a:p>
          <a:p>
            <a:pPr>
              <a:lnSpc>
                <a:spcPct val="115000"/>
              </a:lnSpc>
              <a:spcAft>
                <a:spcPts val="500"/>
              </a:spcAft>
              <a:defRPr sz="1700" b="0">
                <a:solidFill>
                  <a:srgbClr val="37474F"/>
                </a:solidFill>
                <a:latin typeface="Calibri"/>
              </a:defRPr>
            </a:pPr>
            <a:r>
              <a:t>▸  Prove state file resume and oslo_log traceability for production-style fault-tolerant urban monitoring.</a:t>
            </a:r>
          </a:p>
          <a:p>
            <a:pPr>
              <a:lnSpc>
                <a:spcPct val="115000"/>
              </a:lnSpc>
              <a:spcAft>
                <a:spcPts val="500"/>
              </a:spcAft>
              <a:defRPr sz="1700" b="0">
                <a:solidFill>
                  <a:srgbClr val="37474F"/>
                </a:solidFill>
                <a:latin typeface="Calibri"/>
              </a:defRPr>
            </a:pPr>
            <a:r>
              <a:t>▸  Deliverable: at least one SELECT * FROM environmental_data row with Temperature and PM25 fields populated.</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UML sequence — Async environmental publisher (Module C)</a:t>
            </a:r>
          </a:p>
        </p:txBody>
      </p:sp>
      <p:sp>
        <p:nvSpPr>
          <p:cNvPr id="4" name="Rounded Rectangle 3"/>
          <p:cNvSpPr/>
          <p:nvPr/>
        </p:nvSpPr>
        <p:spPr>
          <a:xfrm>
            <a:off x="994198" y="1298448"/>
            <a:ext cx="10203297"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environmental-async.png"/>
          <p:cNvPicPr>
            <a:picLocks noChangeAspect="1"/>
          </p:cNvPicPr>
          <p:nvPr/>
        </p:nvPicPr>
        <p:blipFill>
          <a:blip r:embed="rId2"/>
          <a:stretch>
            <a:fillRect/>
          </a:stretch>
        </p:blipFill>
        <p:spPr>
          <a:xfrm>
            <a:off x="1049062" y="1353312"/>
            <a:ext cx="10093569"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Start plugin → loop CSV → InfluxDB secco.environmental_data every 30s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Verify InfluxDB</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Confirm container influxdb running: docker compose ps | grep influxdb (lab overlay).</a:t>
            </a:r>
          </a:p>
          <a:p>
            <a:pPr>
              <a:lnSpc>
                <a:spcPct val="115000"/>
              </a:lnSpc>
              <a:spcAft>
                <a:spcPts val="800"/>
              </a:spcAft>
              <a:defRPr sz="1900" b="0">
                <a:solidFill>
                  <a:srgbClr val="37474F"/>
                </a:solidFill>
                <a:latin typeface="Calibri"/>
              </a:defRPr>
            </a:pPr>
            <a:r>
              <a:t>▸  curl http://{{VM_IP}}:8086/ping — expect HTTP 204 No Content.</a:t>
            </a:r>
          </a:p>
          <a:p>
            <a:pPr>
              <a:lnSpc>
                <a:spcPct val="115000"/>
              </a:lnSpc>
              <a:spcAft>
                <a:spcPts val="800"/>
              </a:spcAft>
              <a:defRPr sz="1900" b="0">
                <a:solidFill>
                  <a:srgbClr val="37474F"/>
                </a:solidFill>
                <a:latin typeface="Calibri"/>
              </a:defRPr>
            </a:pPr>
            <a:r>
              <a:t>▸  docker exec influxdb influx -username admin -password admin \</a:t>
            </a:r>
          </a:p>
          <a:p>
            <a:pPr>
              <a:lnSpc>
                <a:spcPct val="115000"/>
              </a:lnSpc>
              <a:spcAft>
                <a:spcPts val="800"/>
              </a:spcAft>
              <a:defRPr sz="1900" b="0">
                <a:solidFill>
                  <a:srgbClr val="37474F"/>
                </a:solidFill>
                <a:latin typeface="Calibri"/>
              </a:defRPr>
            </a:pPr>
            <a:r>
              <a:t>▸  -execute 'CREATE DATABASE IF NOT EXISTS secco'</a:t>
            </a:r>
          </a:p>
          <a:p>
            <a:pPr>
              <a:lnSpc>
                <a:spcPct val="115000"/>
              </a:lnSpc>
              <a:spcAft>
                <a:spcPts val="800"/>
              </a:spcAft>
              <a:defRPr sz="1900" b="0">
                <a:solidFill>
                  <a:srgbClr val="37474F"/>
                </a:solidFill>
                <a:latin typeface="Calibri"/>
              </a:defRPr>
            </a:pPr>
            <a:r>
              <a:t>▸  SHOW DATABASES should list secco alongside _internal.</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InfluxDB — debug / metrics page</a:t>
            </a:r>
          </a:p>
        </p:txBody>
      </p:sp>
      <p:sp>
        <p:nvSpPr>
          <p:cNvPr id="4" name="Rounded Rectangle 3"/>
          <p:cNvSpPr/>
          <p:nvPr/>
        </p:nvSpPr>
        <p:spPr>
          <a:xfrm>
            <a:off x="4524615" y="1298448"/>
            <a:ext cx="3142464"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fluxdb-debug.png"/>
          <p:cNvPicPr>
            <a:picLocks noChangeAspect="1"/>
          </p:cNvPicPr>
          <p:nvPr/>
        </p:nvPicPr>
        <p:blipFill>
          <a:blip r:embed="rId2"/>
          <a:stretch>
            <a:fillRect/>
          </a:stretch>
        </p:blipFill>
        <p:spPr>
          <a:xfrm>
            <a:off x="4579479" y="1353312"/>
            <a:ext cx="3032736"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http://{{VM_IP}}:8086/debug/vars</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3E0"/>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1417320" cy="329184"/>
          </a:xfrm>
          <a:prstGeom prst="round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  BOOK ↔ LAB</a:t>
            </a:r>
          </a:p>
        </p:txBody>
      </p:sp>
      <p:sp>
        <p:nvSpPr>
          <p:cNvPr id="4" name="TextBox 3"/>
          <p:cNvSpPr txBox="1"/>
          <p:nvPr/>
        </p:nvSpPr>
        <p:spPr>
          <a:xfrm>
            <a:off x="594360" y="713232"/>
            <a:ext cx="10972800" cy="868680"/>
          </a:xfrm>
          <a:prstGeom prst="rect">
            <a:avLst/>
          </a:prstGeom>
          <a:noFill/>
        </p:spPr>
        <p:txBody>
          <a:bodyPr wrap="none">
            <a:spAutoFit/>
          </a:bodyPr>
          <a:lstStyle/>
          <a:p>
            <a:pPr>
              <a:defRPr sz="2800" b="1">
                <a:solidFill>
                  <a:srgbClr val="BF360C"/>
                </a:solidFill>
                <a:latin typeface="Calibri"/>
              </a:defRPr>
            </a:pPr>
            <a:r>
              <a:t>LR → InfluxDB networking fix (critical)</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Default ch15 plugin uses localhost:8086 — FAILS inside LR container with connection refused.</a:t>
            </a:r>
          </a:p>
          <a:p>
            <a:pPr>
              <a:lnSpc>
                <a:spcPct val="115000"/>
              </a:lnSpc>
              <a:spcAft>
                <a:spcPts val="800"/>
              </a:spcAft>
              <a:defRPr sz="1900" b="0">
                <a:solidFill>
                  <a:srgbClr val="37474F"/>
                </a:solidFill>
                <a:latin typeface="Calibri"/>
              </a:defRPr>
            </a:pPr>
            <a:r>
              <a:t>▸  Fix: self.host = 'influxdb' (Docker DNS on network s4t) — already applied in plugin_demo_lab.py.</a:t>
            </a:r>
          </a:p>
          <a:p>
            <a:pPr>
              <a:lnSpc>
                <a:spcPct val="115000"/>
              </a:lnSpc>
              <a:spcAft>
                <a:spcPts val="800"/>
              </a:spcAft>
              <a:defRPr sz="1900" b="0">
                <a:solidFill>
                  <a:srgbClr val="37474F"/>
                </a:solidFill>
                <a:latin typeface="Calibri"/>
              </a:defRPr>
            </a:pPr>
            <a:r>
              <a:t>▸  Use lab file: training/ch15-lab/plugin_demo_lab.py — not raw training/repos/ch15/plugin_demo.</a:t>
            </a:r>
          </a:p>
          <a:p>
            <a:pPr>
              <a:lnSpc>
                <a:spcPct val="115000"/>
              </a:lnSpc>
              <a:spcAft>
                <a:spcPts val="800"/>
              </a:spcAft>
              <a:defRPr sz="1900" b="0">
                <a:solidFill>
                  <a:srgbClr val="37474F"/>
                </a:solidFill>
                <a:latin typeface="Calibri"/>
              </a:defRPr>
            </a:pPr>
            <a:r>
              <a:t>▸  Do NOT use host IP gateway — fragile across restarts; use s4t service names consistently.</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Install dependencies in LR</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docker exec -it lightning-rod pip install influxdb pandas requests</a:t>
            </a:r>
          </a:p>
          <a:p>
            <a:pPr>
              <a:lnSpc>
                <a:spcPct val="115000"/>
              </a:lnSpc>
              <a:spcAft>
                <a:spcPts val="800"/>
              </a:spcAft>
              <a:defRPr sz="1900" b="0">
                <a:solidFill>
                  <a:srgbClr val="37474F"/>
                </a:solidFill>
                <a:latin typeface="Calibri"/>
              </a:defRPr>
            </a:pPr>
            <a:r>
              <a:t>▸  docker exec -it lightning-rod mkdir -p /opt/data</a:t>
            </a:r>
          </a:p>
          <a:p>
            <a:pPr>
              <a:lnSpc>
                <a:spcPct val="115000"/>
              </a:lnSpc>
              <a:spcAft>
                <a:spcPts val="800"/>
              </a:spcAft>
              <a:defRPr sz="1900" b="0">
                <a:solidFill>
                  <a:srgbClr val="37474F"/>
                </a:solidFill>
                <a:latin typeface="Calibri"/>
              </a:defRPr>
            </a:pPr>
            <a:r>
              <a:t>▸  CSV downloads automatically on first plugin start from Google Drive URL in plugin code.</a:t>
            </a:r>
          </a:p>
          <a:p>
            <a:pPr>
              <a:lnSpc>
                <a:spcPct val="115000"/>
              </a:lnSpc>
              <a:spcAft>
                <a:spcPts val="800"/>
              </a:spcAft>
              <a:defRPr sz="1900" b="0">
                <a:solidFill>
                  <a:srgbClr val="37474F"/>
                </a:solidFill>
                <a:latin typeface="Calibri"/>
              </a:defRPr>
            </a:pPr>
            <a:r>
              <a:t>▸  Verify LR on s4t network: docker inspect lightning-rod | grep -A5 Networks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Lightning-Rod — Configuration</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conf.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http://{{VM_IP}}:1474 — async plugin executes inside LR on network s4t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and start async plugin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Horizon → Plugins → Create — paste training/ch15-lab/plugin_demo_lab.py source.</a:t>
            </a:r>
          </a:p>
          <a:p>
            <a:pPr>
              <a:lnSpc>
                <a:spcPct val="115000"/>
              </a:lnSpc>
              <a:spcAft>
                <a:spcPts val="800"/>
              </a:spcAft>
              <a:defRPr sz="1900" b="0">
                <a:solidFill>
                  <a:srgbClr val="37474F"/>
                </a:solidFill>
                <a:latin typeface="Calibri"/>
              </a:defRPr>
            </a:pPr>
            <a:r>
              <a:t>▸  Callable = OFF (async) → Submit to repository.</a:t>
            </a:r>
          </a:p>
          <a:p>
            <a:pPr>
              <a:lnSpc>
                <a:spcPct val="115000"/>
              </a:lnSpc>
              <a:spcAft>
                <a:spcPts val="800"/>
              </a:spcAft>
              <a:defRPr sz="1900" b="0">
                <a:solidFill>
                  <a:srgbClr val="37474F"/>
                </a:solidFill>
                <a:latin typeface="Calibri"/>
              </a:defRPr>
            </a:pPr>
            <a:r>
              <a:t>▸  Inject on Active board from Module A → use Start (NOT Plugin Call).</a:t>
            </a:r>
          </a:p>
          <a:p>
            <a:pPr>
              <a:lnSpc>
                <a:spcPct val="115000"/>
              </a:lnSpc>
              <a:spcAft>
                <a:spcPts val="800"/>
              </a:spcAft>
              <a:defRPr sz="1900" b="0">
                <a:solidFill>
                  <a:srgbClr val="37474F"/>
                </a:solidFill>
                <a:latin typeface="Calibri"/>
              </a:defRPr>
            </a:pPr>
            <a:r>
              <a:t>▸  Watch logs: docker compose logs -f lightning-rod — expect Row N sent every 30 seconds.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Plugins (async Start)</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plugin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http://{{VM_IP}}/horizon/iot/plugins/ — Callable=OFF → Inject → Start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Query InfluxDB and validate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docker exec influxdb influx -username admin -password admin -database secco \</a:t>
            </a:r>
          </a:p>
          <a:p>
            <a:pPr>
              <a:lnSpc>
                <a:spcPct val="115000"/>
              </a:lnSpc>
              <a:spcAft>
                <a:spcPts val="800"/>
              </a:spcAft>
              <a:defRPr sz="1900" b="0">
                <a:solidFill>
                  <a:srgbClr val="37474F"/>
                </a:solidFill>
                <a:latin typeface="Calibri"/>
              </a:defRPr>
            </a:pPr>
            <a:r>
              <a:t>▸  -execute 'SELECT * FROM environmental_data ORDER BY time DESC LIMIT 5'</a:t>
            </a:r>
          </a:p>
          <a:p>
            <a:pPr>
              <a:lnSpc>
                <a:spcPct val="115000"/>
              </a:lnSpc>
              <a:spcAft>
                <a:spcPts val="800"/>
              </a:spcAft>
              <a:defRPr sz="1900" b="0">
                <a:solidFill>
                  <a:srgbClr val="37474F"/>
                </a:solidFill>
                <a:latin typeface="Calibri"/>
              </a:defRPr>
            </a:pPr>
            <a:r>
              <a:t>▸  Expected: rows with temperature, humidity fields — verified 4+ points in lab.</a:t>
            </a:r>
          </a:p>
          <a:p>
            <a:pPr>
              <a:lnSpc>
                <a:spcPct val="115000"/>
              </a:lnSpc>
              <a:spcAft>
                <a:spcPts val="800"/>
              </a:spcAft>
              <a:defRPr sz="1400" b="0">
                <a:solidFill>
                  <a:srgbClr val="0D2B45"/>
                </a:solidFill>
                <a:latin typeface="Consolas"/>
              </a:defRPr>
            </a:pPr>
            <a:r>
              <a:t>$ ./validate/validate-demo-ch15.sh</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InfluxDB — environmental_data query result</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flux-query-environmental.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Verified query output from Module C demo</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Lab: troubleshooting — environmental plugin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No rows after 2 min → check plugin Started (not just injected) and LR logs for connection errors.</a:t>
            </a:r>
          </a:p>
          <a:p>
            <a:pPr>
              <a:lnSpc>
                <a:spcPct val="115000"/>
              </a:lnSpc>
              <a:spcAft>
                <a:spcPts val="800"/>
              </a:spcAft>
              <a:defRPr sz="1900" b="0">
                <a:solidFill>
                  <a:srgbClr val="37474F"/>
                </a:solidFill>
                <a:latin typeface="Calibri"/>
              </a:defRPr>
            </a:pPr>
            <a:r>
              <a:t>▸  Connection refused to InfluxDB → confirm self.host = 'influxdb' not localhost in plugin source.</a:t>
            </a:r>
          </a:p>
          <a:p>
            <a:pPr>
              <a:lnSpc>
                <a:spcPct val="115000"/>
              </a:lnSpc>
              <a:spcAft>
                <a:spcPts val="800"/>
              </a:spcAft>
              <a:defRPr sz="1900" b="0">
                <a:solidFill>
                  <a:srgbClr val="37474F"/>
                </a:solidFill>
                <a:latin typeface="Calibri"/>
              </a:defRPr>
            </a:pPr>
            <a:r>
              <a:t>▸  CSV download failed → verify VM has outbound HTTPS to Google Drive; check /opt/data inside LR.</a:t>
            </a:r>
          </a:p>
          <a:p>
            <a:pPr>
              <a:lnSpc>
                <a:spcPct val="115000"/>
              </a:lnSpc>
              <a:spcAft>
                <a:spcPts val="800"/>
              </a:spcAft>
              <a:defRPr sz="1900" b="0">
                <a:solidFill>
                  <a:srgbClr val="37474F"/>
                </a:solidFill>
                <a:latin typeface="Calibri"/>
              </a:defRPr>
            </a:pPr>
            <a:r>
              <a:t>▸  ImportError influxdb → re-run pip install inside lightning-rod container before Start.</a:t>
            </a:r>
          </a:p>
          <a:p>
            <a:pPr>
              <a:lnSpc>
                <a:spcPct val="115000"/>
              </a:lnSpc>
              <a:spcAft>
                <a:spcPts val="800"/>
              </a:spcAft>
              <a:defRPr sz="1900" b="0">
                <a:solidFill>
                  <a:srgbClr val="37474F"/>
                </a:solidFill>
                <a:latin typeface="Calibri"/>
              </a:defRPr>
            </a:pPr>
            <a:r>
              <a:t>▸  Empty measurement → wrong database; confirm USE secco and SHOW MEASUREMENTS output.</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TOO(L)SMART smart-city case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Ch.15 §15.5 · national replication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§15.5 · TOO(L)SMART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TOO(L)SMART — national smart station network overview</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TOO(L)SMART builds a replicable national network of environmental smart stations across Italian cities.</a:t>
            </a:r>
          </a:p>
          <a:p>
            <a:pPr>
              <a:lnSpc>
                <a:spcPct val="115000"/>
              </a:lnSpc>
              <a:spcAft>
                <a:spcPts val="500"/>
              </a:spcAft>
              <a:defRPr sz="1600" b="0">
                <a:solidFill>
                  <a:srgbClr val="37474F"/>
                </a:solidFill>
                <a:latin typeface="Calibri"/>
              </a:defRPr>
            </a:pPr>
            <a:r>
              <a:t>▸  Pilot cities: Turin, Padua, Lecce, Siracusa, and Messina — each with distinct deployment maturity.</a:t>
            </a:r>
          </a:p>
          <a:p>
            <a:pPr>
              <a:lnSpc>
                <a:spcPct val="115000"/>
              </a:lnSpc>
              <a:spcAft>
                <a:spcPts val="500"/>
              </a:spcAft>
              <a:defRPr sz="1600" b="0">
                <a:solidFill>
                  <a:srgbClr val="37474F"/>
                </a:solidFill>
                <a:latin typeface="Calibri"/>
              </a:defRPr>
            </a:pPr>
            <a:r>
              <a:t>▸  Goal: democratize air-quality and meteorological monitoring with open data and standardized edge software.</a:t>
            </a:r>
          </a:p>
          <a:p>
            <a:pPr>
              <a:lnSpc>
                <a:spcPct val="115000"/>
              </a:lnSpc>
              <a:spcAft>
                <a:spcPts val="500"/>
              </a:spcAft>
              <a:defRPr sz="1600" b="0">
                <a:solidFill>
                  <a:srgbClr val="37474F"/>
                </a:solidFill>
                <a:latin typeface="Calibri"/>
              </a:defRPr>
            </a:pPr>
            <a:r>
              <a:t>▸  Stack4Things and IoTronic orchestrate edge nodes; cloud stores time-series and serves CKAN open-data APIs.</a:t>
            </a:r>
          </a:p>
          <a:p>
            <a:pPr>
              <a:lnSpc>
                <a:spcPct val="115000"/>
              </a:lnSpc>
              <a:spcAft>
                <a:spcPts val="500"/>
              </a:spcAft>
              <a:defRPr sz="1600" b="0">
                <a:solidFill>
                  <a:srgbClr val="37474F"/>
                </a:solidFill>
                <a:latin typeface="Calibri"/>
              </a:defRPr>
            </a:pPr>
            <a:r>
              <a:t>▸  Grafana dashboards and Node-RED flows provide operator visualization and alert automation.</a:t>
            </a:r>
          </a:p>
          <a:p>
            <a:pPr>
              <a:lnSpc>
                <a:spcPct val="115000"/>
              </a:lnSpc>
              <a:spcAft>
                <a:spcPts val="500"/>
              </a:spcAft>
              <a:defRPr sz="1600" b="0">
                <a:solidFill>
                  <a:srgbClr val="37474F"/>
                </a:solidFill>
                <a:latin typeface="Calibri"/>
              </a:defRPr>
            </a:pPr>
            <a:r>
              <a:t>▸  Today's lab CSV plugin implements the same Worker pattern deployed on physical Pi stations in the field.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Deployment Model 1 · Turin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Deployment Model 1 — Turin full integration</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Turin deployed seven monitoring stations as the reference architecture for the entire national program.</a:t>
            </a:r>
          </a:p>
          <a:p>
            <a:pPr>
              <a:lnSpc>
                <a:spcPct val="115000"/>
              </a:lnSpc>
              <a:spcAft>
                <a:spcPts val="500"/>
              </a:spcAft>
              <a:defRPr sz="1600" b="0">
                <a:solidFill>
                  <a:srgbClr val="37474F"/>
                </a:solidFill>
                <a:latin typeface="Calibri"/>
              </a:defRPr>
            </a:pPr>
            <a:r>
              <a:t>▸  Full stack: S4T, IoTronic, Lightning-Rod, InfluxDB, Grafana, CKAN, Node-RED, and WebSocket tunnels.</a:t>
            </a:r>
          </a:p>
          <a:p>
            <a:pPr>
              <a:lnSpc>
                <a:spcPct val="115000"/>
              </a:lnSpc>
              <a:spcAft>
                <a:spcPts val="500"/>
              </a:spcAft>
              <a:defRPr sz="1600" b="0">
                <a:solidFill>
                  <a:srgbClr val="37474F"/>
                </a:solidFill>
                <a:latin typeface="Calibri"/>
              </a:defRPr>
            </a:pPr>
            <a:r>
              <a:t>▸  Custom integration tied each station to municipal IT, university research networks, and public portals.</a:t>
            </a:r>
          </a:p>
          <a:p>
            <a:pPr>
              <a:lnSpc>
                <a:spcPct val="115000"/>
              </a:lnSpc>
              <a:spcAft>
                <a:spcPts val="500"/>
              </a:spcAft>
              <a:defRPr sz="1600" b="0">
                <a:solidFill>
                  <a:srgbClr val="37474F"/>
                </a:solidFill>
                <a:latin typeface="Calibri"/>
              </a:defRPr>
            </a:pPr>
            <a:r>
              <a:t>▸  Approximately eight months from design to deployment plus one year of operational validation.</a:t>
            </a:r>
          </a:p>
          <a:p>
            <a:pPr>
              <a:lnSpc>
                <a:spcPct val="115000"/>
              </a:lnSpc>
              <a:spcAft>
                <a:spcPts val="500"/>
              </a:spcAft>
              <a:defRPr sz="1600" b="0">
                <a:solidFill>
                  <a:srgbClr val="37474F"/>
                </a:solidFill>
                <a:latin typeface="Calibri"/>
              </a:defRPr>
            </a:pPr>
            <a:r>
              <a:t>▸  Lessons from Turin informed standardized VM bundles used in Model 2 cities.</a:t>
            </a:r>
          </a:p>
          <a:p>
            <a:pPr>
              <a:lnSpc>
                <a:spcPct val="115000"/>
              </a:lnSpc>
              <a:spcAft>
                <a:spcPts val="500"/>
              </a:spcAft>
              <a:defRPr sz="1600" b="0">
                <a:solidFill>
                  <a:srgbClr val="37474F"/>
                </a:solidFill>
                <a:latin typeface="Calibri"/>
              </a:defRPr>
            </a:pPr>
            <a:r>
              <a:t>▸  Turin remains the template for cities willing to invest in deep OpenStack and S4T integration.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Model 1 · Turin operational validation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Deployment Model 1 — Turin operational outcomes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Continuous environmental_data streams feed municipal air-quality compliance reporting.</a:t>
            </a:r>
          </a:p>
          <a:p>
            <a:pPr>
              <a:lnSpc>
                <a:spcPct val="115000"/>
              </a:lnSpc>
              <a:spcAft>
                <a:spcPts val="500"/>
              </a:spcAft>
              <a:defRPr sz="1600" b="0">
                <a:solidFill>
                  <a:srgbClr val="37474F"/>
                </a:solidFill>
                <a:latin typeface="Calibri"/>
              </a:defRPr>
            </a:pPr>
            <a:r>
              <a:t>▸  Open CKAN datasets enable citizen science apps and academic research on urban pollution.</a:t>
            </a:r>
          </a:p>
          <a:p>
            <a:pPr>
              <a:lnSpc>
                <a:spcPct val="115000"/>
              </a:lnSpc>
              <a:spcAft>
                <a:spcPts val="500"/>
              </a:spcAft>
              <a:defRPr sz="1600" b="0">
                <a:solidFill>
                  <a:srgbClr val="37474F"/>
                </a:solidFill>
                <a:latin typeface="Calibri"/>
              </a:defRPr>
            </a:pPr>
            <a:r>
              <a:t>▸  Centralized IoTronic logging lets operators diagnose station faults without visiting rooftop enclosures.</a:t>
            </a:r>
          </a:p>
          <a:p>
            <a:pPr>
              <a:lnSpc>
                <a:spcPct val="115000"/>
              </a:lnSpc>
              <a:spcAft>
                <a:spcPts val="500"/>
              </a:spcAft>
              <a:defRPr sz="1600" b="0">
                <a:solidFill>
                  <a:srgbClr val="37474F"/>
                </a:solidFill>
                <a:latin typeface="Calibri"/>
              </a:defRPr>
            </a:pPr>
            <a:r>
              <a:t>▸  Plugin remote update deployed new CSV field mappings without hardware changes during pilot extensions.</a:t>
            </a:r>
          </a:p>
          <a:p>
            <a:pPr>
              <a:lnSpc>
                <a:spcPct val="115000"/>
              </a:lnSpc>
              <a:spcAft>
                <a:spcPts val="500"/>
              </a:spcAft>
              <a:defRPr sz="1600" b="0">
                <a:solidFill>
                  <a:srgbClr val="37474F"/>
                </a:solidFill>
                <a:latin typeface="Calibri"/>
              </a:defRPr>
            </a:pPr>
            <a:r>
              <a:t>▸  WebSocket tunnels exposed station maintenance APIs securely through municipal firewalls.</a:t>
            </a:r>
          </a:p>
          <a:p>
            <a:pPr>
              <a:lnSpc>
                <a:spcPct val="115000"/>
              </a:lnSpc>
              <a:spcAft>
                <a:spcPts val="500"/>
              </a:spcAft>
              <a:defRPr sz="1600" b="0">
                <a:solidFill>
                  <a:srgbClr val="37474F"/>
                </a:solidFill>
                <a:latin typeface="Calibri"/>
              </a:defRPr>
            </a:pPr>
            <a:r>
              <a:t>▸  Model 1 proves the three-layer architecture at production scale — not only lab Docker Compose.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Deployment Model 2 · VM bundle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Deployment Model 2 — plug-and-play VM bundles</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Padua, Lecce, Siracusa, and Messina received pre-configured VM images for rapid city onboarding.</a:t>
            </a:r>
          </a:p>
          <a:p>
            <a:pPr>
              <a:lnSpc>
                <a:spcPct val="115000"/>
              </a:lnSpc>
              <a:spcAft>
                <a:spcPts val="500"/>
              </a:spcAft>
              <a:defRPr sz="1600" b="0">
                <a:solidFill>
                  <a:srgbClr val="37474F"/>
                </a:solidFill>
                <a:latin typeface="Calibri"/>
              </a:defRPr>
            </a:pPr>
            <a:r>
              <a:t>▸  Each bundle ships Controller Node plus Data Portal — minimal custom integration per municipality.</a:t>
            </a:r>
          </a:p>
          <a:p>
            <a:pPr>
              <a:lnSpc>
                <a:spcPct val="115000"/>
              </a:lnSpc>
              <a:spcAft>
                <a:spcPts val="500"/>
              </a:spcAft>
              <a:defRPr sz="1600" b="0">
                <a:solidFill>
                  <a:srgbClr val="37474F"/>
                </a:solidFill>
                <a:latin typeface="Calibri"/>
              </a:defRPr>
            </a:pPr>
            <a:r>
              <a:t>▸  Modularity and virtualization accelerated city-to-city replication from months toward weeks.</a:t>
            </a:r>
          </a:p>
          <a:p>
            <a:pPr>
              <a:lnSpc>
                <a:spcPct val="115000"/>
              </a:lnSpc>
              <a:spcAft>
                <a:spcPts val="500"/>
              </a:spcAft>
              <a:defRPr sz="1600" b="0">
                <a:solidFill>
                  <a:srgbClr val="37474F"/>
                </a:solidFill>
                <a:latin typeface="Calibri"/>
              </a:defRPr>
            </a:pPr>
            <a:r>
              <a:t>▸  Open standards throughout: CKAN for data, WAMP for control, JSON for payloads, Docker for packaging.</a:t>
            </a:r>
          </a:p>
          <a:p>
            <a:pPr>
              <a:lnSpc>
                <a:spcPct val="115000"/>
              </a:lnSpc>
              <a:spcAft>
                <a:spcPts val="500"/>
              </a:spcAft>
              <a:defRPr sz="1600" b="0">
                <a:solidFill>
                  <a:srgbClr val="37474F"/>
                </a:solidFill>
                <a:latin typeface="Calibri"/>
              </a:defRPr>
            </a:pPr>
            <a:r>
              <a:t>▸  Cities with limited OpenStack expertise still join the network without Turin-scale custom engineering.</a:t>
            </a:r>
          </a:p>
          <a:p>
            <a:pPr>
              <a:lnSpc>
                <a:spcPct val="115000"/>
              </a:lnSpc>
              <a:spcAft>
                <a:spcPts val="500"/>
              </a:spcAft>
              <a:defRPr sz="1600" b="0">
                <a:solidFill>
                  <a:srgbClr val="37474F"/>
                </a:solidFill>
                <a:latin typeface="Calibri"/>
              </a:defRPr>
            </a:pPr>
            <a:r>
              <a:t>▸  Environmental Worker and InfluxDB measurement schema are identical across Model 1 and Model 2.</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 Model 2 · replication economics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Deployment Model 2 — when cities choose plug-and-play</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Smaller municipalities lack dedicated cloud engineers — VM bundles reduce operational skill requirements.</a:t>
            </a:r>
          </a:p>
          <a:p>
            <a:pPr>
              <a:lnSpc>
                <a:spcPct val="115000"/>
              </a:lnSpc>
              <a:spcAft>
                <a:spcPts val="500"/>
              </a:spcAft>
              <a:defRPr sz="1600" b="0">
                <a:solidFill>
                  <a:srgbClr val="37474F"/>
                </a:solidFill>
                <a:latin typeface="Calibri"/>
              </a:defRPr>
            </a:pPr>
            <a:r>
              <a:t>▸  Pre-tested images include Grafana dashboards and CKAN harvesters matching TOO(L)SMART field naming.</a:t>
            </a:r>
          </a:p>
          <a:p>
            <a:pPr>
              <a:lnSpc>
                <a:spcPct val="115000"/>
              </a:lnSpc>
              <a:spcAft>
                <a:spcPts val="500"/>
              </a:spcAft>
              <a:defRPr sz="1600" b="0">
                <a:solidFill>
                  <a:srgbClr val="37474F"/>
                </a:solidFill>
                <a:latin typeface="Calibri"/>
              </a:defRPr>
            </a:pPr>
            <a:r>
              <a:t>▸  Controller Node VM runs IoTronic-facing services; edge Pi boards still run Lightning-Rod and plugins.</a:t>
            </a:r>
          </a:p>
          <a:p>
            <a:pPr>
              <a:lnSpc>
                <a:spcPct val="115000"/>
              </a:lnSpc>
              <a:spcAft>
                <a:spcPts val="500"/>
              </a:spcAft>
              <a:defRPr sz="1600" b="0">
                <a:solidFill>
                  <a:srgbClr val="37474F"/>
                </a:solidFill>
                <a:latin typeface="Calibri"/>
              </a:defRPr>
            </a:pPr>
            <a:r>
              <a:t>▸  Data Portal VM hosts InfluxDB, Grafana, and public APIs — separating acquisition from publication tier.</a:t>
            </a:r>
          </a:p>
          <a:p>
            <a:pPr>
              <a:lnSpc>
                <a:spcPct val="115000"/>
              </a:lnSpc>
              <a:spcAft>
                <a:spcPts val="500"/>
              </a:spcAft>
              <a:defRPr sz="1600" b="0">
                <a:solidFill>
                  <a:srgbClr val="37474F"/>
                </a:solidFill>
                <a:latin typeface="Calibri"/>
              </a:defRPr>
            </a:pPr>
            <a:r>
              <a:t>▸  Upgrade path: cities can migrate from Model 2 bundle toward Model 1 full integration as maturity grows.</a:t>
            </a:r>
          </a:p>
          <a:p>
            <a:pPr>
              <a:lnSpc>
                <a:spcPct val="115000"/>
              </a:lnSpc>
              <a:spcAft>
                <a:spcPts val="500"/>
              </a:spcAft>
              <a:defRPr sz="1600" b="0">
                <a:solidFill>
                  <a:srgbClr val="37474F"/>
                </a:solidFill>
                <a:latin typeface="Calibri"/>
              </a:defRPr>
            </a:pPr>
            <a:r>
              <a:t>▸  Lab Docker Compose is a minimal Model 2 slice — one VM, one LR board, one InfluxDB, one async plugin.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conclusion · TOO(L)SMART lessons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Lessons learned — TOO(L)SMART and Chapter 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Plugin model enables remote logic updates without physical access — essential for rooftop station maintenance.</a:t>
            </a:r>
          </a:p>
          <a:p>
            <a:pPr>
              <a:lnSpc>
                <a:spcPct val="115000"/>
              </a:lnSpc>
              <a:spcAft>
                <a:spcPts val="500"/>
              </a:spcAft>
              <a:defRPr sz="1600" b="0">
                <a:solidFill>
                  <a:srgbClr val="37474F"/>
                </a:solidFill>
                <a:latin typeface="Calibri"/>
              </a:defRPr>
            </a:pPr>
            <a:r>
              <a:t>▸  Time-series storage plus Grafana dashboards give operators observability missing from raw CSV exports.</a:t>
            </a:r>
          </a:p>
          <a:p>
            <a:pPr>
              <a:lnSpc>
                <a:spcPct val="115000"/>
              </a:lnSpc>
              <a:spcAft>
                <a:spcPts val="500"/>
              </a:spcAft>
              <a:defRPr sz="1600" b="0">
                <a:solidFill>
                  <a:srgbClr val="37474F"/>
                </a:solidFill>
                <a:latin typeface="Calibri"/>
              </a:defRPr>
            </a:pPr>
            <a:r>
              <a:t>▸  Cloud-native OpenStack with IoTronic scales multi-city orchestration under Keystone multi-tenancy.</a:t>
            </a:r>
          </a:p>
          <a:p>
            <a:pPr>
              <a:lnSpc>
                <a:spcPct val="115000"/>
              </a:lnSpc>
              <a:spcAft>
                <a:spcPts val="500"/>
              </a:spcAft>
              <a:defRPr sz="1600" b="0">
                <a:solidFill>
                  <a:srgbClr val="37474F"/>
                </a:solidFill>
                <a:latin typeface="Calibri"/>
              </a:defRPr>
            </a:pPr>
            <a:r>
              <a:t>▸  Lab CSV demo maps one-to-one to Raspberry Pi sensor acquisition — swap data source, keep architecture.</a:t>
            </a:r>
          </a:p>
          <a:p>
            <a:pPr>
              <a:lnSpc>
                <a:spcPct val="115000"/>
              </a:lnSpc>
              <a:spcAft>
                <a:spcPts val="500"/>
              </a:spcAft>
              <a:defRPr sz="1600" b="0">
                <a:solidFill>
                  <a:srgbClr val="37474F"/>
                </a:solidFill>
                <a:latin typeface="Calibri"/>
              </a:defRPr>
            </a:pPr>
            <a:r>
              <a:t>▸  Open-data publication via CKAN closes the loop from edge sensing to citizen-facing urban intelligence.</a:t>
            </a:r>
          </a:p>
          <a:p>
            <a:pPr>
              <a:lnSpc>
                <a:spcPct val="115000"/>
              </a:lnSpc>
              <a:spcAft>
                <a:spcPts val="500"/>
              </a:spcAft>
              <a:defRPr sz="1600" b="0">
                <a:solidFill>
                  <a:srgbClr val="37474F"/>
                </a:solidFill>
                <a:latin typeface="Calibri"/>
              </a:defRPr>
            </a:pPr>
            <a:r>
              <a:t>▸  Software-defined infrastructure turns each station into a remotely programmable cyber-physical asset.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3-hour core course wrap-up</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Module A (Ch.13): deploy I/Ocloud S4T stack, onboard board to Active state.</a:t>
            </a:r>
          </a:p>
          <a:p>
            <a:pPr>
              <a:lnSpc>
                <a:spcPct val="115000"/>
              </a:lnSpc>
              <a:spcAft>
                <a:spcPts val="800"/>
              </a:spcAft>
              <a:defRPr sz="1900" b="0">
                <a:solidFill>
                  <a:srgbClr val="37474F"/>
                </a:solidFill>
                <a:latin typeface="Calibri"/>
              </a:defRPr>
            </a:pPr>
            <a:r>
              <a:t>▸  Module B (Ch.14): sync HelloName plugin, async theory, optional Docker at edge.</a:t>
            </a:r>
          </a:p>
          <a:p>
            <a:pPr>
              <a:lnSpc>
                <a:spcPct val="115000"/>
              </a:lnSpc>
              <a:spcAft>
                <a:spcPts val="800"/>
              </a:spcAft>
              <a:defRPr sz="1900" b="0">
                <a:solidFill>
                  <a:srgbClr val="37474F"/>
                </a:solidFill>
                <a:latin typeface="Calibri"/>
              </a:defRPr>
            </a:pPr>
            <a:r>
              <a:t>▸  Module C (Ch.15): environmental async publisher → InfluxDB time-series validation.</a:t>
            </a:r>
          </a:p>
          <a:p>
            <a:pPr>
              <a:lnSpc>
                <a:spcPct val="115000"/>
              </a:lnSpc>
              <a:spcAft>
                <a:spcPts val="800"/>
              </a:spcAft>
              <a:defRPr sz="1900" b="0">
                <a:solidFill>
                  <a:srgbClr val="37474F"/>
                </a:solidFill>
                <a:latin typeface="Calibri"/>
              </a:defRPr>
            </a:pPr>
            <a:r>
              <a:t>▸  Extended path (6–9h): Modules D–I — multiboard fleet, VN, web services, FL, Blueprint, FaaS.</a:t>
            </a:r>
          </a:p>
          <a:p>
            <a:pPr>
              <a:lnSpc>
                <a:spcPct val="115000"/>
              </a:lnSpc>
              <a:spcAft>
                <a:spcPts val="800"/>
              </a:spcAft>
              <a:defRPr sz="1900" b="0">
                <a:solidFill>
                  <a:srgbClr val="37474F"/>
                </a:solidFill>
                <a:latin typeface="Calibri"/>
              </a:defRPr>
            </a:pPr>
            <a:r>
              <a:t>▸  See 00_Course_Map_EN.pptx · validate: cd training &amp;&amp; ./validate-lab.sh</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Final deliverables checklist</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Board Active screenshot (Module A).</a:t>
            </a:r>
          </a:p>
          <a:p>
            <a:pPr>
              <a:lnSpc>
                <a:spcPct val="115000"/>
              </a:lnSpc>
              <a:spcAft>
                <a:spcPts val="800"/>
              </a:spcAft>
              <a:defRPr sz="1900" b="0">
                <a:solidFill>
                  <a:srgbClr val="37474F"/>
                </a:solidFill>
                <a:latin typeface="Calibri"/>
              </a:defRPr>
            </a:pPr>
            <a:r>
              <a:t>▸  □ HelloName Plugin Call output in Horizon or LR log (Module B).</a:t>
            </a:r>
          </a:p>
          <a:p>
            <a:pPr>
              <a:lnSpc>
                <a:spcPct val="115000"/>
              </a:lnSpc>
              <a:spcAft>
                <a:spcPts val="800"/>
              </a:spcAft>
              <a:defRPr sz="1900" b="0">
                <a:solidFill>
                  <a:srgbClr val="37474F"/>
                </a:solidFill>
                <a:latin typeface="Calibri"/>
              </a:defRPr>
            </a:pPr>
            <a:r>
              <a:t>▸  □ InfluxDB SELECT * FROM environmental_data LIMIT 5 output (Module C).</a:t>
            </a:r>
          </a:p>
          <a:p>
            <a:pPr>
              <a:lnSpc>
                <a:spcPct val="115000"/>
              </a:lnSpc>
              <a:spcAft>
                <a:spcPts val="800"/>
              </a:spcAft>
              <a:defRPr sz="1900" b="0">
                <a:solidFill>
                  <a:srgbClr val="37474F"/>
                </a:solidFill>
                <a:latin typeface="Calibri"/>
              </a:defRPr>
            </a:pPr>
            <a:r>
              <a:t>▸  Material: training/GUIDA_SETUP_CORSISTI.md · training/HANDS_ON_COMMANDS.md</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