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this module we will work through Module D — Multi-board &amp; Fleet Operations.</a:t>
            </a:r>
          </a:p>
          <a:p/>
          <a:p>
            <a:r>
              <a:t>Extension · Ch.13–14 · VM {{VM_IP}}</a:t>
            </a:r>
          </a:p>
          <a:p/>
          <a:p>
            <a:r>
              <a:t>The session alternates theory from the book with live exercises on the Stack4Things lab VM. Replace the placeholder IP with the address of the machine you are using.</a:t>
            </a:r>
          </a:p>
          <a:p/>
          <a:p>
            <a:r>
              <a:t>Extension · Ch.14 — Multi-board &amp; Fleet · prerequisite for Module G.</a:t>
            </a:r>
          </a:p>
          <a:p/>
          <a:p>
            <a:r>
              <a:t>When you're ready, advance to the first section.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Why multiple boards?. Fleet theory before scaling the lab. In the next slides, listen for whether we are in theory mode or hands-on mode, and open your terminal when the slides turn to lab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Scaling from one board to a fleet (Ch.13–14). This material is covered in Ch.13 multi-board note · Ch.14 fleet abstract.</a:t>
            </a:r>
          </a:p>
          <a:p/>
          <a:p>
            <a:r>
              <a:t>First, Real S4T deployments manage hundreds of heterogeneous boards across sites. Next, Each board = one Lightning-Rod instance with unique IoTronic registration code.</a:t>
            </a:r>
          </a:p>
          <a:p/>
          <a:p>
            <a:r>
              <a:t>By contrast, Lab simulates 3 boards via lightning-rod, lightning-rod-2, lightning-rod-3 containers. We should also consider that Same cloud IoTronic Conductor manages all boards under one Keystone tenant.</a:t>
            </a:r>
          </a:p>
          <a:p/>
          <a:p>
            <a:r>
              <a:t>Another key point is that Multi-board topology mirrors TOO(L)SMART multi-station urban deployments (Ch.15). Furthermore, Book repo ch13 documents docker-compose scaling pattern used in this module.</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Lightning-Rod instance isolation (Ch.13). This material is covered in Ch.13 § Lightning-Rod configuration · fig:chap13:lr-conf.</a:t>
            </a:r>
          </a:p>
          <a:p/>
          <a:p>
            <a:r>
              <a:t>First, regarding each lr container binds a distinct host port (, 1474, :1475, :1476) for its Web UI. Next, regarding wamp connection shares crossbar, 8181 — IoTronic distinguishes boards by registration.</a:t>
            </a:r>
          </a:p>
          <a:p/>
          <a:p>
            <a:r>
              <a:t>By contrast, Board metadata (name, UUID, status) stored in IoTronic MariaDB — not in LR container. We should also consider that Plugin inject targets a specific board UUID or an entire fleet collection.</a:t>
            </a:r>
          </a:p>
          <a:p/>
          <a:p>
            <a:r>
              <a:t>Another key point is that regarding credentials per lr dashboard, me / arancino — same pattern on all three instances. Furthermore, Active state requires successful WAMP handshake + heartbeat to Conductor.</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Board registration workflow recap (Ch.13). This material is covered in Ch.13 § board onboarding · listing create_board.</a:t>
            </a:r>
          </a:p>
          <a:p/>
          <a:p>
            <a:r>
              <a:t>First, Horizon IoT, then Create Board, then copy one-time registration code. Next, regarding lr configuration page, paste code, set WAMP URL wss://crossbar:8181, save.</a:t>
            </a:r>
          </a:p>
          <a:p/>
          <a:p>
            <a:r>
              <a:t>By contrast, regarding board transitions, created, then Registering, then Active (or Error if misconfigured). We should also consider that regarding three boards in this module, board-alpha, board-beta, board-gamma.</a:t>
            </a:r>
          </a:p>
          <a:p/>
          <a:p>
            <a:r>
              <a:t>Another key point is that Each board gets independent plugin namespace — inject does not cross boards unless fleet. Furthermore, regarding rest api mirror, GET /v1/boards/ lists all registered boards with status field.</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Fleet abstraction in depth (Ch.14 §14.2). This material is covered in Ch.14 §14.2 · Stack4Things fleet management.</a:t>
            </a:r>
          </a:p>
          <a:p/>
          <a:p>
            <a:r>
              <a:t>First, Fleet ≠ trivial label — semantically meaningful collection of IoT devices. Next, Tenant-aware grouping under OpenStack Keystone multi-tenancy model.</a:t>
            </a:r>
          </a:p>
          <a:p/>
          <a:p>
            <a:r>
              <a:t>By contrast, regarding members act in unison, one fleet-level inject reaches ALL boards in the fleet. We should also consider that Absence or failure of one member can affect fleet-level application behaviour.</a:t>
            </a:r>
          </a:p>
          <a:p/>
          <a:p>
            <a:r>
              <a:t>Another key point is that regarding fleet metadata editable, name, description, member add/remove without re-registering boards. Furthermore, regarding book figures, fig:fleetpanel, fig:fleetpanelCreation, fig:fleetinjPop.</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Fleet vs individual board operations (Ch.14). This material is covered in Ch.14 bulk plugin deployment · fig:fleetinjPop.</a:t>
            </a:r>
          </a:p>
          <a:p/>
          <a:p>
            <a:r>
              <a:t>First, regarding individual inject, fine-grained control, debugging one misbehaving board. Next, regarding fleet inject, operational efficiency at scale — one UI action, N boards updated.</a:t>
            </a:r>
          </a:p>
          <a:p/>
          <a:p>
            <a:r>
              <a:t>By contrast, Same Worker Python code runs on each LR independently after fleet inject. We should also consider that Plugin Call (sync) still per-board unless custom fleet orchestration API used.</a:t>
            </a:r>
          </a:p>
          <a:p/>
          <a:p>
            <a:r>
              <a:t>Another key point is that Fleet delete removes grouping only — boards remain registered and Active. Furthermore, regarding production pattern, dev/test on single board, then promote inject to fleet for rollout.</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Horizon fleet UI workflow (Ch.14). This material is covered in Ch.14 § Stack4Things fleets · Horizon IoT dashboard.</a:t>
            </a:r>
          </a:p>
          <a:p/>
          <a:p>
            <a:r>
              <a:t>First, regarding fleets panel, http://{{VM_IP}}/horizon/iot/fleets/ — create, filter, edit, delete. Next, regarding create fleet, name + description, then add member boards from Active board list.</a:t>
            </a:r>
          </a:p>
          <a:p/>
          <a:p>
            <a:r>
              <a:t>By contrast, regarding fleet detail → plugins tab, inject / update / remove on ALL fleet members at once. We should also consider that Boards panel remains for device-level troubleshooting and individual actions.</a:t>
            </a:r>
          </a:p>
          <a:p/>
          <a:p>
            <a:r>
              <a:t>Another key point is that regarding horizon login, admin / s4t — same tenant sees all boards and fleets. Furthermore, Screenshots in deck captured from live lab — regenerate via capture_dashboards.py.</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Plugin inject on fleet — execution model (Ch.14). This material is covered in Ch.14 §14.1 plugin lifecycle · fleet inject listing.</a:t>
            </a:r>
          </a:p>
          <a:p/>
          <a:p>
            <a:r>
              <a:t>First, IoTronic sends inject command to each fleet member's Lightning-Rod concurrently. Next, Each LR Plugin Manager loads Worker class independently — no shared process.</a:t>
            </a:r>
          </a:p>
          <a:p/>
          <a:p>
            <a:r>
              <a:t>By contrast, regarding sync plugin (helloname), after fleet inject, Plugin Call is still one board at a time. We should also consider that regarding async plugin, start on fleet would launch background loop on every member simultaneously.</a:t>
            </a:r>
          </a:p>
          <a:p/>
          <a:p>
            <a:r>
              <a:t>Another key point is that regarding fleet inject failure on one member, check that board's LR logs before retrying fleet action. Furthermore, Module G (FL) uses per-board async inject — fleet inject not used for Flower clients.</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Fleet operations beyond inject (Ch.14 §14.2). This material is covered in Ch.14 §14.2 · supported fleet operations · fig:fleetinjPop.</a:t>
            </a:r>
          </a:p>
          <a:p/>
          <a:p>
            <a:r>
              <a:t>First, Fleet-level async Start launches background plugins on all members simultaneously. Next, Fleet update pushes revised plugin source to every attached board in one operation.</a:t>
            </a:r>
          </a:p>
          <a:p/>
          <a:p>
            <a:r>
              <a:t>By contrast, Fleet remove detaches plugin from all members — boards remain Active in Horizon. We should also consider that regarding fleet health, absence or failure of one member can break fleet-level application logic.</a:t>
            </a:r>
          </a:p>
          <a:p/>
          <a:p>
            <a:r>
              <a:t>Another key point is that regarding rest api mirrors horizon, fleet CRUD and bulk plugin operations via Conductor. Furthermore, Lab focuses on sync HelloName fleet inject — async fleet Start is production pattern for Ch.15.</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diagram on screen: Multi-board fleet topology. Describe the main boxes and arrows. Relate each element to a Docker service or API you have already seen. In particular, note the following: Three LR instances → one IoTronic Conductor → fleet-level plugin inject.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Module D — learning objectives.</a:t>
            </a:r>
          </a:p>
          <a:p/>
          <a:p>
            <a:r>
              <a:t>First, Start lightning-rod-2 and lightning-rod-3 on host ports 1475 and 1476. Next, Register board-alpha, board-beta, board-gamma — all Active in Horizon.</a:t>
            </a:r>
          </a:p>
          <a:p/>
          <a:p>
            <a:r>
              <a:t>By contrast, Create a fleet containing all three boards. We should also consider that Fleet inject HelloName sync plugin; verify Plugin Call on each board.</a:t>
            </a:r>
          </a:p>
          <a:p/>
          <a:p>
            <a:r>
              <a:t>Another key point is that Pass validate-lab-multiboard.sh — prerequisite for Module G Federated Learning.</a:t>
            </a:r>
          </a:p>
          <a:p/>
          <a:p>
            <a:r>
              <a:t>If these objectives are clear, we can proceed.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demonstration, What this module proves — demo goals.</a:t>
            </a:r>
          </a:p>
          <a:p/>
          <a:p>
            <a:r>
              <a:t>First, Same IoTronic Conductor orchestrates multiple edge agents concurrently. Next, Fleet inject deploys identical plugin logic to all members in one Horizon action.</a:t>
            </a:r>
          </a:p>
          <a:p/>
          <a:p>
            <a:r>
              <a:t>By contrast, Each board maintains independent LR runtime — fleet is logical grouping only. We should also consider that regarding prerequisite satisfied for module g, 3 Active clients on separate boards for FL.</a:t>
            </a:r>
          </a:p>
          <a:p/>
          <a:p>
            <a:r>
              <a:t>Another key point is that regarding mirrors production rollout, test plugin on one board, then fleet inject for deployment. Furthermore, Students can articulate difference between board inject and fleet inject.</a:t>
            </a:r>
          </a:p>
          <a:p/>
          <a:p>
            <a:r>
              <a:t>Check that your screen matches what we showed before moving on.</a:t>
            </a:r>
          </a:p>
          <a:p/>
          <a:p>
            <a:r>
              <a:t>Session timing — Module D — 45-minute timeline: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Lab: start extra Lightning-Rod instances. Docker Compose lab overlay. In the next slides, listen for whether we are in theory mode or hands-on mode, and open your terminal when the slides turn to lab work.</a:t>
            </a:r>
          </a:p>
          <a:p/>
          <a:p>
            <a:r>
              <a:t>Instructor timing (title): Hands-on — start extra Lightning-Rod instances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Start LR-2 and LR-3 containers. Open your lab VM and follow along.</a:t>
            </a:r>
          </a:p>
          <a:p/>
          <a:p>
            <a:r>
              <a:t>Please run the following command on your VM: cd training/repos/ch13. Wait until you see a sensible result before continuing. Please run the following command on your VM: docker compose -f docker-compose.yml \. Wait until you see a sensible result before continuing.</a:t>
            </a:r>
          </a:p>
          <a:p/>
          <a:p>
            <a:r>
              <a:t>By contrast, -f ../../patches/docker-compose.lab.yml up -d lightning-rod-2 lightning-rod-3. Please run the following command on your VM: training/experiments/multiboard/check-endpoints.sh. Wait until you see a sensible result before continuing.</a:t>
            </a:r>
          </a:p>
          <a:p/>
          <a:p>
            <a:r>
              <a:t>Another key point is that regarding expected, HTTP 200 on {{VM_IP}}:1475 and {{VM_IP}}:1476.</a:t>
            </a:r>
          </a:p>
          <a:p/>
          <a:p>
            <a:r>
              <a:t>Raise your hand if you're stuck — we'll wait until most of you are done.</a:t>
            </a:r>
          </a:p>
          <a:p/>
          <a:p>
            <a:r>
              <a:t>Instructor timing (title): Step 1 — Start LR-2 and LR-3 containers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Lab compose port mapping (Ch.13 patch). This material is covered in training/patches/docker-compose.lab.yml · ch13 repo.</a:t>
            </a:r>
          </a:p>
          <a:p/>
          <a:p>
            <a:r>
              <a:t>First, Docker-compose.lab.yml adds lightning-rod-2, then host :1475, lightning-rod-3, then :1476. Next, regarding default lightning-rod (instance 1) remains on, 1474 from Module A.</a:t>
            </a:r>
          </a:p>
          <a:p/>
          <a:p>
            <a:r>
              <a:t>By contrast, All three share iotronic-network — WAMP crossbar reachable as wss://crossbar:8181. We should also consider that Check-endpoints.sh verifies UI reachability before board registration begins.</a:t>
            </a:r>
          </a:p>
          <a:p/>
          <a:p>
            <a:r>
              <a:t>Another key point is that regarding container names, lightning-rod, lightning-rod-2, lightning-rod-3 — distinct hostnames. Furthermore, regarding if port conflict, ensure no other service bound to 1475/1476 on lab VM.</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Lab: register three boards in Horizon. Create Board × 3. In the next slides, listen for whether we are in theory mode or hands-on mode, and open your terminal when the slides turn to lab work.</a:t>
            </a:r>
          </a:p>
          <a:p/>
          <a:p>
            <a:r>
              <a:t>Instructor timing (title): Hands-on — register three boards in Horizon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screenshot on screen: Horizon IoT — Boards dashboard (create 3 boards). Walk the class through what they see in the interface. Connect each panel and button to a component we already deployed in the stack. In particular, note the following: http://{{VM_IP}}/horizon/iot/ → Create Board × 3 · login admin / s4t.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Create three boards in Horizon. Open your lab VM and follow along.</a:t>
            </a:r>
          </a:p>
          <a:p/>
          <a:p>
            <a:r>
              <a:t>First, regarding open http, //{{VM_IP}}/horizon/iot/ — login admin / s4t. Next, regarding create board, board-alpha, then copy registration code to notepad.</a:t>
            </a:r>
          </a:p>
          <a:p/>
          <a:p>
            <a:r>
              <a:t>By contrast, regarding create board, board-beta, then copy registration code. We should also consider that regarding create board, board-gamma, then copy registration code.</a:t>
            </a:r>
          </a:p>
          <a:p/>
          <a:p>
            <a:r>
              <a:t>Another key point is that Do NOT reuse codes — each board gets a unique one-time registration token.</a:t>
            </a:r>
          </a:p>
          <a:p/>
          <a:p>
            <a:r>
              <a:t>Raise your hand if you're stuck — we'll wait until most of you are done.</a:t>
            </a:r>
          </a:p>
          <a:p/>
          <a:p>
            <a:r>
              <a:t>Instructor timing (title): Step 2 — Create three boards in Horizon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screenshot on screen: Book figure — Create Board form (Ch.13). Walk the class through what they see in the interface. Connect each panel and button to a component we already deployed in the stack. In particular, note the following: Reference UI fields: name, description, registration code display.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Lab: configure each Lightning-Rod. Registration code + WAMP URL. In the next slides, listen for whether we are in theory mode or hands-on mode, and open your terminal when the slides turn to lab work.</a:t>
            </a:r>
          </a:p>
          <a:p/>
          <a:p>
            <a:r>
              <a:t>Instructor timing (title): Hands-on — configure each Lightning-Rod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screenshot on screen: LR instance 1 — Configuration (board-alpha). Walk the class through what they see in the interface. Connect each panel and button to a component we already deployed in the stack. In particular, note the following: http://{{VM_IP}}:1474/config — board-alpha · me / arancino.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screenshot on screen: LR instance 2 — home dashboard. Walk the class through what they see in the interface. Connect each panel and button to a component we already deployed in the stack. In particular, note the following: http://{{VM_IP}}:1475 — board-beta will register here.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Configure Lightning-Rod instance 1 (alpha). Open your lab VM and follow along.</a:t>
            </a:r>
          </a:p>
          <a:p/>
          <a:p>
            <a:r>
              <a:t>First, regarding open http, //{{VM_IP}}:1474/config — login me / arancino. Next, Paste board-alpha registration code.</a:t>
            </a:r>
          </a:p>
          <a:p/>
          <a:p>
            <a:r>
              <a:t>By contrast, regarding wamp url, wss://crossbar:8181 · Save. We should also consider that Verify board-alpha shows Active in Horizon before proceeding.</a:t>
            </a:r>
          </a:p>
          <a:p/>
          <a:p>
            <a:r>
              <a:t>Raise your hand if you're stuck — we'll wait until most of you are done.</a:t>
            </a:r>
          </a:p>
          <a:p/>
          <a:p>
            <a:r>
              <a:t>Instructor timing (title): Step 3 — Configure Lightning-Rod instance 1 (alpha)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screenshot on screen: LR instance 2 — Configuration (board-beta). Walk the class through what they see in the interface. Connect each panel and button to a component we already deployed in the stack. In particular, note the following: http://{{VM_IP}}:1475/config — board-beta registration.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Configure Lightning-Rod instance 2 (beta). Open your lab VM and follow along.</a:t>
            </a:r>
          </a:p>
          <a:p/>
          <a:p>
            <a:r>
              <a:t>First, regarding open http, //{{VM_IP}}:1475/config — login me / arancino. Next, regarding paste board-beta registration code · wamp, wss://crossbar:8181 · Save.</a:t>
            </a:r>
          </a:p>
          <a:p/>
          <a:p>
            <a:r>
              <a:t>By contrast, Wait for Active status in Horizon.</a:t>
            </a:r>
          </a:p>
          <a:p/>
          <a:p>
            <a:r>
              <a:t>Raise your hand if you're stuck — we'll wait until most of you are done.</a:t>
            </a:r>
          </a:p>
          <a:p/>
          <a:p>
            <a:r>
              <a:t>Instructor timing (title): Step 4 — Configure Lightning-Rod instance 2 (beta)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screenshot on screen: LR instance 3 — home dashboard. Walk the class through what they see in the interface. Connect each panel and button to a component we already deployed in the stack. In particular, note the following: http://{{VM_IP}}:1476 — board-gamma will register here.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screenshot on screen: LR instance 3 — Configuration (board-gamma). Walk the class through what they see in the interface. Connect each panel and button to a component we already deployed in the stack. In particular, note the following: http://{{VM_IP}}:1476/config — board-gamma registration.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Configure Lightning-Rod instance 3 (gamma). Open your lab VM and follow along.</a:t>
            </a:r>
          </a:p>
          <a:p/>
          <a:p>
            <a:r>
              <a:t>First, regarding open http, //{{VM_IP}}:1476/config — login me / arancino. Next, regarding paste board-gamma registration code · wamp, wss://crossbar:8181 · Save.</a:t>
            </a:r>
          </a:p>
          <a:p/>
          <a:p>
            <a:r>
              <a:t>By contrast, All three boards MUST show Active in Horizon before fleet inject.</a:t>
            </a:r>
          </a:p>
          <a:p/>
          <a:p>
            <a:r>
              <a:t>Raise your hand if you're stuck — we'll wait until most of you are done.</a:t>
            </a:r>
          </a:p>
          <a:p/>
          <a:p>
            <a:r>
              <a:t>Instructor timing (title): Step 5 — Configure Lightning-Rod instance 3 (gamma)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Troubleshooting multi-board registration. This material is covered in Ch.13 troubleshooting · IoTronic REST API.</a:t>
            </a:r>
          </a:p>
          <a:p/>
          <a:p>
            <a:r>
              <a:t>First, regarding board stuck in registering, check LR logs — docker logs lightning-rod-2. Next, regarding wrong code on wrong lr, board shows Error — remove and re-create board in Horizon.</a:t>
            </a:r>
          </a:p>
          <a:p/>
          <a:p>
            <a:r>
              <a:t>By contrast, regarding wamp connection refused, verify crossbar container healthy in docker compose ps. We should also consider that regarding duplicate registration, each code valid for one LR instance only.</a:t>
            </a:r>
          </a:p>
          <a:p/>
          <a:p>
            <a:r>
              <a:t>Another key point is that regarding api check, curl -s http://{{VM_IP}}:8812/v1/boards/ | python3 -m json.tool. Furthermore, All three status fields must read Active before continuing to fleet creation.</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Lab: create fleet and inject HelloName. Fleet-level plugin deploy. In the next slides, listen for whether we are in theory mode or hands-on mode, and open your terminal when the slides turn to lab work.</a:t>
            </a:r>
          </a:p>
          <a:p/>
          <a:p>
            <a:r>
              <a:t>Instructor timing (title): Hands-on — create fleet and inject HelloName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sequence diagram on screen: UML sequence — Fleet plugin inject (Module D). Trace the diagram from left to right. Name each actor, the protocol used, and the message that crosses the cloud–edge boundary. In particular, note the following: Create fleet → inject HelloName on board-alpha, beta, gamma.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screenshot on screen: Horizon IoT — Fleets panel. Walk the class through what they see in the interface. Connect each panel and button to a component we already deployed in the stack. In particular, note the following: http://{{VM_IP}}/horizon/iot/fleets/ — Create Fleet.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Create fleet and add all Active boards. Open your lab VM and follow along.</a:t>
            </a:r>
          </a:p>
          <a:p/>
          <a:p>
            <a:r>
              <a:t>First, regarding http, //{{VM_IP}}/horizon/iot/fleets/, then Create Fleet. Next, regarding name, lab-fleet-3 · add board-alpha, board-beta, board-gamma.</a:t>
            </a:r>
          </a:p>
          <a:p/>
          <a:p>
            <a:r>
              <a:t>By contrast, Save — verify all three members listed in fleet detail view.</a:t>
            </a:r>
          </a:p>
          <a:p/>
          <a:p>
            <a:r>
              <a:t>Raise your hand if you're stuck — we'll wait until most of you are done.</a:t>
            </a:r>
          </a:p>
          <a:p/>
          <a:p>
            <a:r>
              <a:t>Instructor timing (title): Step 6 — Create fleet and add all Active boards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Fleet inject HelloName plugin. Open your lab VM and follow along.</a:t>
            </a:r>
          </a:p>
          <a:p/>
          <a:p>
            <a:r>
              <a:t>First, Fleet, then Plugins tab, then Inject, then select HelloName (from Module B). Next, Confirm inject succeeds on all three members.</a:t>
            </a:r>
          </a:p>
          <a:p/>
          <a:p>
            <a:r>
              <a:t>By contrast, regarding per board, plugins, then HelloName, then Plugin Call, then {"name": "fleet-demo"}. We should also consider that regarding verify json result returned on each of, 1474, :1475, :1476 boards.</a:t>
            </a:r>
          </a:p>
          <a:p/>
          <a:p>
            <a:r>
              <a:t>Raise your hand if you're stuck — we'll wait until most of you are done.</a:t>
            </a:r>
          </a:p>
          <a:p/>
          <a:p>
            <a:r>
              <a:t>Instructor timing (title): Step 7 — Fleet inject HelloName plugin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Fleet inject vs individual inject — when to use each. This material is covered in Ch.14 §14.2 · bulk plugin deployment.</a:t>
            </a:r>
          </a:p>
          <a:p/>
          <a:p>
            <a:r>
              <a:t>First, regarding development/debug, individual board inject — isolate failures quickly. Next, regarding production rollout, fleet inject — consistent version across all edge nodes.</a:t>
            </a:r>
          </a:p>
          <a:p/>
          <a:p>
            <a:r>
              <a:t>By contrast, regarding heterogeneous fleets, filter members by tag/metadata before inject (production feature). We should also consider that regarding helloname sync demo, fleet inject saves time; Plugin Call proves per-board execution.</a:t>
            </a:r>
          </a:p>
          <a:p/>
          <a:p>
            <a:r>
              <a:t>Another key point is that regarding module g fl, per-board async inject with different CSV — not fleet inject pattern. Furthermore, Book Ch.14 fleet panel screenshots match Horizon workflow shown in hands-on steps.</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Validate &amp; wrap-up. Confirm lab state for Module G. In the next slides, listen for whether we are in theory mode or hands-on mode, and open your terminal when the slides turn to lab work.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Validate multi-board lab state. Open your lab VM and follow along.</a:t>
            </a:r>
          </a:p>
          <a:p/>
          <a:p>
            <a:r>
              <a:t>Please run the following command on your VM: cd training &amp;&amp; ./validate-lab-multiboard.sh. Wait until you see a sensible result before continuing. Please run the following command on your VM: curl -s http://{{VM_IP}}:8812/v1/boards/ | python3 -m json.tool. Wait until you see a sensible result before continuing.</a:t>
            </a:r>
          </a:p>
          <a:p/>
          <a:p>
            <a:r>
              <a:t>By contrast, regarding expected, 3 boards, all status Active, fleet lab-fleet-3 exists.</a:t>
            </a:r>
          </a:p>
          <a:p/>
          <a:p>
            <a:r>
              <a:t>Raise your hand if you're stuck — we'll wait until most of you are done.</a:t>
            </a:r>
          </a:p>
          <a:p/>
          <a:p>
            <a:r>
              <a:t>Instructor timing (title): Step 8 — Validate multi-board lab state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Module D checklist.</a:t>
            </a:r>
          </a:p>
          <a:p/>
          <a:p>
            <a:r>
              <a:t>First, □ Three boards Active in Horizon (board-alpha, board-beta, board-gamma). Next, regarding □ three lr uis reachable, {{VM_IP}}:1474, :1475, :1476.</a:t>
            </a:r>
          </a:p>
          <a:p/>
          <a:p>
            <a:r>
              <a:t>By contrast, □ Fleet created with HelloName injected on all members. We should also consider that □ validate-lab-multiboard.sh passes.</a:t>
            </a:r>
          </a:p>
          <a:p/>
          <a:p>
            <a:r>
              <a:t>Another key point is that Prerequisite satisfied, then proceed to Module G (Federated Learning) or Module F (WSTUN).</a:t>
            </a:r>
          </a:p>
          <a:p/>
          <a:p>
            <a:r>
              <a:t>If these objectives are clear, we can proceed.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502920"/>
            <a:ext cx="2011680" cy="347472"/>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S4T TRAINING</a:t>
            </a:r>
          </a:p>
        </p:txBody>
      </p:sp>
      <p:sp>
        <p:nvSpPr>
          <p:cNvPr id="5" name="TextBox 4"/>
          <p:cNvSpPr txBox="1"/>
          <p:nvPr/>
        </p:nvSpPr>
        <p:spPr>
          <a:xfrm>
            <a:off x="685800" y="1828800"/>
            <a:ext cx="10789920" cy="1645920"/>
          </a:xfrm>
          <a:prstGeom prst="rect">
            <a:avLst/>
          </a:prstGeom>
          <a:noFill/>
        </p:spPr>
        <p:txBody>
          <a:bodyPr wrap="none">
            <a:spAutoFit/>
          </a:bodyPr>
          <a:lstStyle/>
          <a:p>
            <a:pPr>
              <a:defRPr sz="4000" b="1">
                <a:solidFill>
                  <a:srgbClr val="FFFFFF"/>
                </a:solidFill>
                <a:latin typeface="Calibri"/>
              </a:defRPr>
            </a:pPr>
            <a:r>
              <a:t>Module D — Multi-board &amp; Fleet Operations</a:t>
            </a:r>
          </a:p>
        </p:txBody>
      </p:sp>
      <p:sp>
        <p:nvSpPr>
          <p:cNvPr id="6" name="TextBox 5"/>
          <p:cNvSpPr txBox="1"/>
          <p:nvPr/>
        </p:nvSpPr>
        <p:spPr>
          <a:xfrm>
            <a:off x="685800" y="3520440"/>
            <a:ext cx="10515600" cy="1280160"/>
          </a:xfrm>
          <a:prstGeom prst="rect">
            <a:avLst/>
          </a:prstGeom>
          <a:noFill/>
        </p:spPr>
        <p:txBody>
          <a:bodyPr wrap="none">
            <a:spAutoFit/>
          </a:bodyPr>
          <a:lstStyle/>
          <a:p>
            <a:pPr>
              <a:spcAft>
                <a:spcPts val="400"/>
              </a:spcAft>
              <a:defRPr sz="2200" b="0">
                <a:solidFill>
                  <a:srgbClr val="B2EBF2"/>
                </a:solidFill>
                <a:latin typeface="Calibri"/>
              </a:defRPr>
            </a:pPr>
            <a:r>
              <a:t>Extension · Ch.13–14 · VM {{VM_IP}}</a:t>
            </a:r>
          </a:p>
        </p:txBody>
      </p:sp>
      <p:sp>
        <p:nvSpPr>
          <p:cNvPr id="7" name="TextBox 6"/>
          <p:cNvSpPr txBox="1"/>
          <p:nvPr/>
        </p:nvSpPr>
        <p:spPr>
          <a:xfrm>
            <a:off x="685800" y="5623560"/>
            <a:ext cx="10515600" cy="548640"/>
          </a:xfrm>
          <a:prstGeom prst="rect">
            <a:avLst/>
          </a:prstGeom>
          <a:noFill/>
        </p:spPr>
        <p:txBody>
          <a:bodyPr wrap="none">
            <a:spAutoFit/>
          </a:bodyPr>
          <a:lstStyle/>
          <a:p>
            <a:pPr>
              <a:defRPr sz="1400" b="0">
                <a:solidFill>
                  <a:srgbClr val="90A4AE"/>
                </a:solidFill>
                <a:latin typeface="Calibri"/>
              </a:defRPr>
            </a:pPr>
            <a:r>
              <a:t>Extension · Ch.14 — Multi-board &amp; Fleet · prerequisite for Module G</a:t>
            </a:r>
          </a:p>
        </p:txBody>
      </p:sp>
      <p:sp>
        <p:nvSpPr>
          <p:cNvPr id="8" name="Rectangle 7"/>
          <p:cNvSpPr/>
          <p:nvPr/>
        </p:nvSpPr>
        <p:spPr>
          <a:xfrm>
            <a:off x="685800" y="5394960"/>
            <a:ext cx="3200400" cy="36576"/>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Why multiple boards?</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Fleet theory before scaling the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Ch.13 multi-board note · Ch.14 fleet abstract</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Scaling from one board to a fleet (Ch.13–14)</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Real S4T deployments manage hundreds of heterogeneous boards across sites</a:t>
            </a:r>
          </a:p>
          <a:p>
            <a:pPr>
              <a:lnSpc>
                <a:spcPct val="115000"/>
              </a:lnSpc>
              <a:spcAft>
                <a:spcPts val="500"/>
              </a:spcAft>
              <a:defRPr sz="1600" b="0">
                <a:solidFill>
                  <a:srgbClr val="37474F"/>
                </a:solidFill>
                <a:latin typeface="Calibri"/>
              </a:defRPr>
            </a:pPr>
            <a:r>
              <a:t>▸  Each board = one Lightning-Rod instance with unique IoTronic registration code</a:t>
            </a:r>
          </a:p>
          <a:p>
            <a:pPr>
              <a:lnSpc>
                <a:spcPct val="115000"/>
              </a:lnSpc>
              <a:spcAft>
                <a:spcPts val="500"/>
              </a:spcAft>
              <a:defRPr sz="1600" b="0">
                <a:solidFill>
                  <a:srgbClr val="37474F"/>
                </a:solidFill>
                <a:latin typeface="Calibri"/>
              </a:defRPr>
            </a:pPr>
            <a:r>
              <a:t>▸  Lab simulates 3 boards via lightning-rod, lightning-rod-2, lightning-rod-3 containers</a:t>
            </a:r>
          </a:p>
          <a:p>
            <a:pPr>
              <a:lnSpc>
                <a:spcPct val="115000"/>
              </a:lnSpc>
              <a:spcAft>
                <a:spcPts val="500"/>
              </a:spcAft>
              <a:defRPr sz="1600" b="0">
                <a:solidFill>
                  <a:srgbClr val="37474F"/>
                </a:solidFill>
                <a:latin typeface="Calibri"/>
              </a:defRPr>
            </a:pPr>
            <a:r>
              <a:t>▸  Same cloud IoTronic Conductor manages all boards under one Keystone tenant</a:t>
            </a:r>
          </a:p>
          <a:p>
            <a:pPr>
              <a:lnSpc>
                <a:spcPct val="115000"/>
              </a:lnSpc>
              <a:spcAft>
                <a:spcPts val="500"/>
              </a:spcAft>
              <a:defRPr sz="1600" b="0">
                <a:solidFill>
                  <a:srgbClr val="37474F"/>
                </a:solidFill>
                <a:latin typeface="Calibri"/>
              </a:defRPr>
            </a:pPr>
            <a:r>
              <a:t>▸  Multi-board topology mirrors TOO(L)SMART multi-station urban deployments (Ch.15)</a:t>
            </a:r>
          </a:p>
          <a:p>
            <a:pPr>
              <a:lnSpc>
                <a:spcPct val="115000"/>
              </a:lnSpc>
              <a:spcAft>
                <a:spcPts val="500"/>
              </a:spcAft>
              <a:defRPr sz="1600" b="0">
                <a:solidFill>
                  <a:srgbClr val="37474F"/>
                </a:solidFill>
                <a:latin typeface="Calibri"/>
              </a:defRPr>
            </a:pPr>
            <a:r>
              <a:t>▸  Book repo ch13 documents docker-compose scaling pattern used in this module</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Ch.13 § Lightning-Rod configuration · fig:chap13:lr-conf</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Lightning-Rod instance isolation (Ch.13)</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Each LR container binds a distinct host port (:1474, :1475, :1476) for its Web UI</a:t>
            </a:r>
          </a:p>
          <a:p>
            <a:pPr>
              <a:lnSpc>
                <a:spcPct val="115000"/>
              </a:lnSpc>
              <a:spcAft>
                <a:spcPts val="500"/>
              </a:spcAft>
              <a:defRPr sz="1600" b="0">
                <a:solidFill>
                  <a:srgbClr val="37474F"/>
                </a:solidFill>
                <a:latin typeface="Calibri"/>
              </a:defRPr>
            </a:pPr>
            <a:r>
              <a:t>▸  WAMP connection shares crossbar:8181 — IoTronic distinguishes boards by registration</a:t>
            </a:r>
          </a:p>
          <a:p>
            <a:pPr>
              <a:lnSpc>
                <a:spcPct val="115000"/>
              </a:lnSpc>
              <a:spcAft>
                <a:spcPts val="500"/>
              </a:spcAft>
              <a:defRPr sz="1600" b="0">
                <a:solidFill>
                  <a:srgbClr val="37474F"/>
                </a:solidFill>
                <a:latin typeface="Calibri"/>
              </a:defRPr>
            </a:pPr>
            <a:r>
              <a:t>▸  Board metadata (name, UUID, status) stored in IoTronic MariaDB — not in LR container</a:t>
            </a:r>
          </a:p>
          <a:p>
            <a:pPr>
              <a:lnSpc>
                <a:spcPct val="115000"/>
              </a:lnSpc>
              <a:spcAft>
                <a:spcPts val="500"/>
              </a:spcAft>
              <a:defRPr sz="1600" b="0">
                <a:solidFill>
                  <a:srgbClr val="37474F"/>
                </a:solidFill>
                <a:latin typeface="Calibri"/>
              </a:defRPr>
            </a:pPr>
            <a:r>
              <a:t>▸  Plugin inject targets a specific board UUID or an entire fleet collection</a:t>
            </a:r>
          </a:p>
          <a:p>
            <a:pPr>
              <a:lnSpc>
                <a:spcPct val="115000"/>
              </a:lnSpc>
              <a:spcAft>
                <a:spcPts val="500"/>
              </a:spcAft>
              <a:defRPr sz="1600" b="0">
                <a:solidFill>
                  <a:srgbClr val="37474F"/>
                </a:solidFill>
                <a:latin typeface="Calibri"/>
              </a:defRPr>
            </a:pPr>
            <a:r>
              <a:t>▸  Credentials per LR dashboard: me / arancino — same pattern on all three instances</a:t>
            </a:r>
          </a:p>
          <a:p>
            <a:pPr>
              <a:lnSpc>
                <a:spcPct val="115000"/>
              </a:lnSpc>
              <a:spcAft>
                <a:spcPts val="500"/>
              </a:spcAft>
              <a:defRPr sz="1600" b="0">
                <a:solidFill>
                  <a:srgbClr val="37474F"/>
                </a:solidFill>
                <a:latin typeface="Calibri"/>
              </a:defRPr>
            </a:pPr>
            <a:r>
              <a:t>▸  Active state requires successful WAMP handshake + heartbeat to Conductor</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Ch.13 § board onboarding · listing create_board</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Board registration workflow recap (Ch.13)</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Horizon IoT → Create Board → copy one-time registration code</a:t>
            </a:r>
          </a:p>
          <a:p>
            <a:pPr>
              <a:lnSpc>
                <a:spcPct val="115000"/>
              </a:lnSpc>
              <a:spcAft>
                <a:spcPts val="500"/>
              </a:spcAft>
              <a:defRPr sz="1600" b="0">
                <a:solidFill>
                  <a:srgbClr val="37474F"/>
                </a:solidFill>
                <a:latin typeface="Calibri"/>
              </a:defRPr>
            </a:pPr>
            <a:r>
              <a:t>▸  LR Configuration page: paste code, set WAMP URL wss://crossbar:8181, save</a:t>
            </a:r>
          </a:p>
          <a:p>
            <a:pPr>
              <a:lnSpc>
                <a:spcPct val="115000"/>
              </a:lnSpc>
              <a:spcAft>
                <a:spcPts val="500"/>
              </a:spcAft>
              <a:defRPr sz="1600" b="0">
                <a:solidFill>
                  <a:srgbClr val="37474F"/>
                </a:solidFill>
                <a:latin typeface="Calibri"/>
              </a:defRPr>
            </a:pPr>
            <a:r>
              <a:t>▸  Board transitions: Created → Registering → Active (or Error if misconfigured)</a:t>
            </a:r>
          </a:p>
          <a:p>
            <a:pPr>
              <a:lnSpc>
                <a:spcPct val="115000"/>
              </a:lnSpc>
              <a:spcAft>
                <a:spcPts val="500"/>
              </a:spcAft>
              <a:defRPr sz="1600" b="0">
                <a:solidFill>
                  <a:srgbClr val="37474F"/>
                </a:solidFill>
                <a:latin typeface="Calibri"/>
              </a:defRPr>
            </a:pPr>
            <a:r>
              <a:t>▸  Three boards in this module: board-alpha, board-beta, board-gamma</a:t>
            </a:r>
          </a:p>
          <a:p>
            <a:pPr>
              <a:lnSpc>
                <a:spcPct val="115000"/>
              </a:lnSpc>
              <a:spcAft>
                <a:spcPts val="500"/>
              </a:spcAft>
              <a:defRPr sz="1600" b="0">
                <a:solidFill>
                  <a:srgbClr val="37474F"/>
                </a:solidFill>
                <a:latin typeface="Calibri"/>
              </a:defRPr>
            </a:pPr>
            <a:r>
              <a:t>▸  Each board gets independent plugin namespace — inject does not cross boards unless fleet</a:t>
            </a:r>
          </a:p>
          <a:p>
            <a:pPr>
              <a:lnSpc>
                <a:spcPct val="115000"/>
              </a:lnSpc>
              <a:spcAft>
                <a:spcPts val="500"/>
              </a:spcAft>
              <a:defRPr sz="1600" b="0">
                <a:solidFill>
                  <a:srgbClr val="37474F"/>
                </a:solidFill>
                <a:latin typeface="Calibri"/>
              </a:defRPr>
            </a:pPr>
            <a:r>
              <a:t>▸  REST API mirror: GET /v1/boards/ lists all registered boards with status field</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Ch.14 §14.2 · Stack4Things fleet management</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Fleet abstraction in depth (Ch.14 §14.2)</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Fleet ≠ trivial label — semantically meaningful collection of IoT devices</a:t>
            </a:r>
          </a:p>
          <a:p>
            <a:pPr>
              <a:lnSpc>
                <a:spcPct val="115000"/>
              </a:lnSpc>
              <a:spcAft>
                <a:spcPts val="500"/>
              </a:spcAft>
              <a:defRPr sz="1600" b="0">
                <a:solidFill>
                  <a:srgbClr val="37474F"/>
                </a:solidFill>
                <a:latin typeface="Calibri"/>
              </a:defRPr>
            </a:pPr>
            <a:r>
              <a:t>▸  Tenant-aware grouping under OpenStack Keystone multi-tenancy model</a:t>
            </a:r>
          </a:p>
          <a:p>
            <a:pPr>
              <a:lnSpc>
                <a:spcPct val="115000"/>
              </a:lnSpc>
              <a:spcAft>
                <a:spcPts val="500"/>
              </a:spcAft>
              <a:defRPr sz="1600" b="0">
                <a:solidFill>
                  <a:srgbClr val="37474F"/>
                </a:solidFill>
                <a:latin typeface="Calibri"/>
              </a:defRPr>
            </a:pPr>
            <a:r>
              <a:t>▸  Members act in unison: one fleet-level inject reaches ALL boards in the fleet</a:t>
            </a:r>
          </a:p>
          <a:p>
            <a:pPr>
              <a:lnSpc>
                <a:spcPct val="115000"/>
              </a:lnSpc>
              <a:spcAft>
                <a:spcPts val="500"/>
              </a:spcAft>
              <a:defRPr sz="1600" b="0">
                <a:solidFill>
                  <a:srgbClr val="37474F"/>
                </a:solidFill>
                <a:latin typeface="Calibri"/>
              </a:defRPr>
            </a:pPr>
            <a:r>
              <a:t>▸  Absence or failure of one member can affect fleet-level application behaviour</a:t>
            </a:r>
          </a:p>
          <a:p>
            <a:pPr>
              <a:lnSpc>
                <a:spcPct val="115000"/>
              </a:lnSpc>
              <a:spcAft>
                <a:spcPts val="500"/>
              </a:spcAft>
              <a:defRPr sz="1600" b="0">
                <a:solidFill>
                  <a:srgbClr val="37474F"/>
                </a:solidFill>
                <a:latin typeface="Calibri"/>
              </a:defRPr>
            </a:pPr>
            <a:r>
              <a:t>▸  Fleet metadata editable: name, description, member add/remove without re-registering boards</a:t>
            </a:r>
          </a:p>
          <a:p>
            <a:pPr>
              <a:lnSpc>
                <a:spcPct val="115000"/>
              </a:lnSpc>
              <a:spcAft>
                <a:spcPts val="500"/>
              </a:spcAft>
              <a:defRPr sz="1600" b="0">
                <a:solidFill>
                  <a:srgbClr val="37474F"/>
                </a:solidFill>
                <a:latin typeface="Calibri"/>
              </a:defRPr>
            </a:pPr>
            <a:r>
              <a:t>▸  Book figures: fig:fleetpanel, fig:fleetpanelCreation, fig:fleetinjPop</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Ch.14 bulk plugin deployment · fig:fleetinjPop</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Fleet vs individual board operations (Ch.14)</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Individual inject: fine-grained control, debugging one misbehaving board</a:t>
            </a:r>
          </a:p>
          <a:p>
            <a:pPr>
              <a:lnSpc>
                <a:spcPct val="115000"/>
              </a:lnSpc>
              <a:spcAft>
                <a:spcPts val="500"/>
              </a:spcAft>
              <a:defRPr sz="1600" b="0">
                <a:solidFill>
                  <a:srgbClr val="37474F"/>
                </a:solidFill>
                <a:latin typeface="Calibri"/>
              </a:defRPr>
            </a:pPr>
            <a:r>
              <a:t>▸  Fleet inject: operational efficiency at scale — one UI action, N boards updated</a:t>
            </a:r>
          </a:p>
          <a:p>
            <a:pPr>
              <a:lnSpc>
                <a:spcPct val="115000"/>
              </a:lnSpc>
              <a:spcAft>
                <a:spcPts val="500"/>
              </a:spcAft>
              <a:defRPr sz="1600" b="0">
                <a:solidFill>
                  <a:srgbClr val="37474F"/>
                </a:solidFill>
                <a:latin typeface="Calibri"/>
              </a:defRPr>
            </a:pPr>
            <a:r>
              <a:t>▸  Same Worker Python code runs on each LR independently after fleet inject</a:t>
            </a:r>
          </a:p>
          <a:p>
            <a:pPr>
              <a:lnSpc>
                <a:spcPct val="115000"/>
              </a:lnSpc>
              <a:spcAft>
                <a:spcPts val="500"/>
              </a:spcAft>
              <a:defRPr sz="1600" b="0">
                <a:solidFill>
                  <a:srgbClr val="37474F"/>
                </a:solidFill>
                <a:latin typeface="Calibri"/>
              </a:defRPr>
            </a:pPr>
            <a:r>
              <a:t>▸  Plugin Call (sync) still per-board unless custom fleet orchestration API used</a:t>
            </a:r>
          </a:p>
          <a:p>
            <a:pPr>
              <a:lnSpc>
                <a:spcPct val="115000"/>
              </a:lnSpc>
              <a:spcAft>
                <a:spcPts val="500"/>
              </a:spcAft>
              <a:defRPr sz="1600" b="0">
                <a:solidFill>
                  <a:srgbClr val="37474F"/>
                </a:solidFill>
                <a:latin typeface="Calibri"/>
              </a:defRPr>
            </a:pPr>
            <a:r>
              <a:t>▸  Fleet delete removes grouping only — boards remain registered and Active</a:t>
            </a:r>
          </a:p>
          <a:p>
            <a:pPr>
              <a:lnSpc>
                <a:spcPct val="115000"/>
              </a:lnSpc>
              <a:spcAft>
                <a:spcPts val="500"/>
              </a:spcAft>
              <a:defRPr sz="1600" b="0">
                <a:solidFill>
                  <a:srgbClr val="37474F"/>
                </a:solidFill>
                <a:latin typeface="Calibri"/>
              </a:defRPr>
            </a:pPr>
            <a:r>
              <a:t>▸  Production pattern: dev/test on single board → promote inject to fleet for rollout</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Ch.14 § Stack4Things fleets · Horizon IoT dashboard</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Horizon fleet UI workflow (Ch.14)</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Fleets panel: http://{{VM_IP}}/horizon/iot/fleets/ — create, filter, edit, delete</a:t>
            </a:r>
          </a:p>
          <a:p>
            <a:pPr>
              <a:lnSpc>
                <a:spcPct val="115000"/>
              </a:lnSpc>
              <a:spcAft>
                <a:spcPts val="500"/>
              </a:spcAft>
              <a:defRPr sz="1600" b="0">
                <a:solidFill>
                  <a:srgbClr val="37474F"/>
                </a:solidFill>
                <a:latin typeface="Calibri"/>
              </a:defRPr>
            </a:pPr>
            <a:r>
              <a:t>▸  Create Fleet: name + description → add member boards from Active board list</a:t>
            </a:r>
          </a:p>
          <a:p>
            <a:pPr>
              <a:lnSpc>
                <a:spcPct val="115000"/>
              </a:lnSpc>
              <a:spcAft>
                <a:spcPts val="500"/>
              </a:spcAft>
              <a:defRPr sz="1600" b="0">
                <a:solidFill>
                  <a:srgbClr val="37474F"/>
                </a:solidFill>
                <a:latin typeface="Calibri"/>
              </a:defRPr>
            </a:pPr>
            <a:r>
              <a:t>▸  Fleet detail → Plugins tab: inject / update / remove on ALL fleet members at once</a:t>
            </a:r>
          </a:p>
          <a:p>
            <a:pPr>
              <a:lnSpc>
                <a:spcPct val="115000"/>
              </a:lnSpc>
              <a:spcAft>
                <a:spcPts val="500"/>
              </a:spcAft>
              <a:defRPr sz="1600" b="0">
                <a:solidFill>
                  <a:srgbClr val="37474F"/>
                </a:solidFill>
                <a:latin typeface="Calibri"/>
              </a:defRPr>
            </a:pPr>
            <a:r>
              <a:t>▸  Boards panel remains for device-level troubleshooting and individual actions</a:t>
            </a:r>
          </a:p>
          <a:p>
            <a:pPr>
              <a:lnSpc>
                <a:spcPct val="115000"/>
              </a:lnSpc>
              <a:spcAft>
                <a:spcPts val="500"/>
              </a:spcAft>
              <a:defRPr sz="1600" b="0">
                <a:solidFill>
                  <a:srgbClr val="37474F"/>
                </a:solidFill>
                <a:latin typeface="Calibri"/>
              </a:defRPr>
            </a:pPr>
            <a:r>
              <a:t>▸  Horizon login: admin / s4t — same tenant sees all boards and fleets</a:t>
            </a:r>
          </a:p>
          <a:p>
            <a:pPr>
              <a:lnSpc>
                <a:spcPct val="115000"/>
              </a:lnSpc>
              <a:spcAft>
                <a:spcPts val="500"/>
              </a:spcAft>
              <a:defRPr sz="1600" b="0">
                <a:solidFill>
                  <a:srgbClr val="37474F"/>
                </a:solidFill>
                <a:latin typeface="Calibri"/>
              </a:defRPr>
            </a:pPr>
            <a:r>
              <a:t>▸  Screenshots in deck captured from live lab — regenerate via capture_dashboards.py</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Ch.14 §14.1 plugin lifecycle · fleet inject listing</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Plugin inject on fleet — execution model (Ch.14)</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IoTronic sends inject command to each fleet member's Lightning-Rod concurrently</a:t>
            </a:r>
          </a:p>
          <a:p>
            <a:pPr>
              <a:lnSpc>
                <a:spcPct val="115000"/>
              </a:lnSpc>
              <a:spcAft>
                <a:spcPts val="500"/>
              </a:spcAft>
              <a:defRPr sz="1600" b="0">
                <a:solidFill>
                  <a:srgbClr val="37474F"/>
                </a:solidFill>
                <a:latin typeface="Calibri"/>
              </a:defRPr>
            </a:pPr>
            <a:r>
              <a:t>▸  Each LR Plugin Manager loads Worker class independently — no shared process</a:t>
            </a:r>
          </a:p>
          <a:p>
            <a:pPr>
              <a:lnSpc>
                <a:spcPct val="115000"/>
              </a:lnSpc>
              <a:spcAft>
                <a:spcPts val="500"/>
              </a:spcAft>
              <a:defRPr sz="1600" b="0">
                <a:solidFill>
                  <a:srgbClr val="37474F"/>
                </a:solidFill>
                <a:latin typeface="Calibri"/>
              </a:defRPr>
            </a:pPr>
            <a:r>
              <a:t>▸  Sync plugin (HelloName): after fleet inject, Plugin Call is still one board at a time</a:t>
            </a:r>
          </a:p>
          <a:p>
            <a:pPr>
              <a:lnSpc>
                <a:spcPct val="115000"/>
              </a:lnSpc>
              <a:spcAft>
                <a:spcPts val="500"/>
              </a:spcAft>
              <a:defRPr sz="1600" b="0">
                <a:solidFill>
                  <a:srgbClr val="37474F"/>
                </a:solidFill>
                <a:latin typeface="Calibri"/>
              </a:defRPr>
            </a:pPr>
            <a:r>
              <a:t>▸  Async plugin: Start on fleet would launch background loop on every member simultaneously</a:t>
            </a:r>
          </a:p>
          <a:p>
            <a:pPr>
              <a:lnSpc>
                <a:spcPct val="115000"/>
              </a:lnSpc>
              <a:spcAft>
                <a:spcPts val="500"/>
              </a:spcAft>
              <a:defRPr sz="1600" b="0">
                <a:solidFill>
                  <a:srgbClr val="37474F"/>
                </a:solidFill>
                <a:latin typeface="Calibri"/>
              </a:defRPr>
            </a:pPr>
            <a:r>
              <a:t>▸  Fleet inject failure on one member: check that board's LR logs before retrying fleet action</a:t>
            </a:r>
          </a:p>
          <a:p>
            <a:pPr>
              <a:lnSpc>
                <a:spcPct val="115000"/>
              </a:lnSpc>
              <a:spcAft>
                <a:spcPts val="500"/>
              </a:spcAft>
              <a:defRPr sz="1600" b="0">
                <a:solidFill>
                  <a:srgbClr val="37474F"/>
                </a:solidFill>
                <a:latin typeface="Calibri"/>
              </a:defRPr>
            </a:pPr>
            <a:r>
              <a:t>▸  Module G (FL) uses per-board async inject — fleet inject not used for Flower clients</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Ch.14 §14.2 · supported fleet operations · fig:fleetinjPop</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Fleet operations beyond inject (Ch.14 §14.2)</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Fleet-level async Start launches background plugins on all members simultaneously.</a:t>
            </a:r>
          </a:p>
          <a:p>
            <a:pPr>
              <a:lnSpc>
                <a:spcPct val="115000"/>
              </a:lnSpc>
              <a:spcAft>
                <a:spcPts val="500"/>
              </a:spcAft>
              <a:defRPr sz="1600" b="0">
                <a:solidFill>
                  <a:srgbClr val="37474F"/>
                </a:solidFill>
                <a:latin typeface="Calibri"/>
              </a:defRPr>
            </a:pPr>
            <a:r>
              <a:t>▸  Fleet update pushes revised plugin source to every attached board in one operation.</a:t>
            </a:r>
          </a:p>
          <a:p>
            <a:pPr>
              <a:lnSpc>
                <a:spcPct val="115000"/>
              </a:lnSpc>
              <a:spcAft>
                <a:spcPts val="500"/>
              </a:spcAft>
              <a:defRPr sz="1600" b="0">
                <a:solidFill>
                  <a:srgbClr val="37474F"/>
                </a:solidFill>
                <a:latin typeface="Calibri"/>
              </a:defRPr>
            </a:pPr>
            <a:r>
              <a:t>▸  Fleet remove detaches plugin from all members — boards remain Active in Horizon.</a:t>
            </a:r>
          </a:p>
          <a:p>
            <a:pPr>
              <a:lnSpc>
                <a:spcPct val="115000"/>
              </a:lnSpc>
              <a:spcAft>
                <a:spcPts val="500"/>
              </a:spcAft>
              <a:defRPr sz="1600" b="0">
                <a:solidFill>
                  <a:srgbClr val="37474F"/>
                </a:solidFill>
                <a:latin typeface="Calibri"/>
              </a:defRPr>
            </a:pPr>
            <a:r>
              <a:t>▸  Fleet health: absence or failure of one member can break fleet-level application logic.</a:t>
            </a:r>
          </a:p>
          <a:p>
            <a:pPr>
              <a:lnSpc>
                <a:spcPct val="115000"/>
              </a:lnSpc>
              <a:spcAft>
                <a:spcPts val="500"/>
              </a:spcAft>
              <a:defRPr sz="1600" b="0">
                <a:solidFill>
                  <a:srgbClr val="37474F"/>
                </a:solidFill>
                <a:latin typeface="Calibri"/>
              </a:defRPr>
            </a:pPr>
            <a:r>
              <a:t>▸  REST API mirrors Horizon: fleet CRUD and bulk plugin operations via Conductor.</a:t>
            </a:r>
          </a:p>
          <a:p>
            <a:pPr>
              <a:lnSpc>
                <a:spcPct val="115000"/>
              </a:lnSpc>
              <a:spcAft>
                <a:spcPts val="500"/>
              </a:spcAft>
              <a:defRPr sz="1600" b="0">
                <a:solidFill>
                  <a:srgbClr val="37474F"/>
                </a:solidFill>
                <a:latin typeface="Calibri"/>
              </a:defRPr>
            </a:pPr>
            <a:r>
              <a:t>▸  Lab focuses on sync HelloName fleet inject — async fleet Start is production pattern for Ch.15.</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Multi-board fleet topology</a:t>
            </a:r>
          </a:p>
        </p:txBody>
      </p:sp>
      <p:sp>
        <p:nvSpPr>
          <p:cNvPr id="4" name="Rounded Rectangle 3"/>
          <p:cNvSpPr/>
          <p:nvPr/>
        </p:nvSpPr>
        <p:spPr>
          <a:xfrm>
            <a:off x="1120368" y="1298448"/>
            <a:ext cx="995095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ultiboard-fleet.png"/>
          <p:cNvPicPr>
            <a:picLocks noChangeAspect="1"/>
          </p:cNvPicPr>
          <p:nvPr/>
        </p:nvPicPr>
        <p:blipFill>
          <a:blip r:embed="rId2"/>
          <a:stretch>
            <a:fillRect/>
          </a:stretch>
        </p:blipFill>
        <p:spPr>
          <a:xfrm>
            <a:off x="1175232" y="1353312"/>
            <a:ext cx="984123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Three LR instances → one IoTronic Conductor → fleet-level plugin inject</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Diagram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Module D — learning objectives</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Start lightning-rod-2 and lightning-rod-3 on host ports 1475 and 1476</a:t>
            </a:r>
          </a:p>
          <a:p>
            <a:pPr>
              <a:lnSpc>
                <a:spcPct val="115000"/>
              </a:lnSpc>
              <a:spcAft>
                <a:spcPts val="800"/>
              </a:spcAft>
              <a:defRPr sz="1900" b="0">
                <a:solidFill>
                  <a:srgbClr val="37474F"/>
                </a:solidFill>
                <a:latin typeface="Calibri"/>
              </a:defRPr>
            </a:pPr>
            <a:r>
              <a:t>▸  Register board-alpha, board-beta, board-gamma — all Active in Horizon</a:t>
            </a:r>
          </a:p>
          <a:p>
            <a:pPr>
              <a:lnSpc>
                <a:spcPct val="115000"/>
              </a:lnSpc>
              <a:spcAft>
                <a:spcPts val="800"/>
              </a:spcAft>
              <a:defRPr sz="1900" b="0">
                <a:solidFill>
                  <a:srgbClr val="37474F"/>
                </a:solidFill>
                <a:latin typeface="Calibri"/>
              </a:defRPr>
            </a:pPr>
            <a:r>
              <a:t>▸  Create a fleet containing all three boards</a:t>
            </a:r>
          </a:p>
          <a:p>
            <a:pPr>
              <a:lnSpc>
                <a:spcPct val="115000"/>
              </a:lnSpc>
              <a:spcAft>
                <a:spcPts val="800"/>
              </a:spcAft>
              <a:defRPr sz="1900" b="0">
                <a:solidFill>
                  <a:srgbClr val="37474F"/>
                </a:solidFill>
                <a:latin typeface="Calibri"/>
              </a:defRPr>
            </a:pPr>
            <a:r>
              <a:t>▸  Fleet inject HelloName sync plugin; verify Plugin Call on each board</a:t>
            </a:r>
          </a:p>
          <a:p>
            <a:pPr>
              <a:lnSpc>
                <a:spcPct val="115000"/>
              </a:lnSpc>
              <a:spcAft>
                <a:spcPts val="800"/>
              </a:spcAft>
              <a:defRPr sz="1900" b="0">
                <a:solidFill>
                  <a:srgbClr val="37474F"/>
                </a:solidFill>
                <a:latin typeface="Calibri"/>
              </a:defRPr>
            </a:pPr>
            <a:r>
              <a:t>▸  Pass validate-lab-multiboard.sh — prerequisite for Module G Federated Learning</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1"/>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868680" cy="310896"/>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DEMO</a:t>
            </a:r>
          </a:p>
        </p:txBody>
      </p:sp>
      <p:sp>
        <p:nvSpPr>
          <p:cNvPr id="4" name="TextBox 3"/>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What this module proves — demo goals</a:t>
            </a:r>
          </a:p>
        </p:txBody>
      </p:sp>
      <p:sp>
        <p:nvSpPr>
          <p:cNvPr id="5" name="Rounded Rectangle 4"/>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Same IoTronic Conductor orchestrates multiple edge agents concurrently</a:t>
            </a:r>
          </a:p>
          <a:p>
            <a:pPr>
              <a:lnSpc>
                <a:spcPct val="115000"/>
              </a:lnSpc>
              <a:spcAft>
                <a:spcPts val="500"/>
              </a:spcAft>
              <a:defRPr sz="1600" b="0">
                <a:solidFill>
                  <a:srgbClr val="37474F"/>
                </a:solidFill>
                <a:latin typeface="Calibri"/>
              </a:defRPr>
            </a:pPr>
            <a:r>
              <a:t>▸  Fleet inject deploys identical plugin logic to all members in one Horizon action</a:t>
            </a:r>
          </a:p>
          <a:p>
            <a:pPr>
              <a:lnSpc>
                <a:spcPct val="115000"/>
              </a:lnSpc>
              <a:spcAft>
                <a:spcPts val="500"/>
              </a:spcAft>
              <a:defRPr sz="1600" b="0">
                <a:solidFill>
                  <a:srgbClr val="37474F"/>
                </a:solidFill>
                <a:latin typeface="Calibri"/>
              </a:defRPr>
            </a:pPr>
            <a:r>
              <a:t>▸  Each board maintains independent LR runtime — fleet is logical grouping only</a:t>
            </a:r>
          </a:p>
          <a:p>
            <a:pPr>
              <a:lnSpc>
                <a:spcPct val="115000"/>
              </a:lnSpc>
              <a:spcAft>
                <a:spcPts val="500"/>
              </a:spcAft>
              <a:defRPr sz="1600" b="0">
                <a:solidFill>
                  <a:srgbClr val="37474F"/>
                </a:solidFill>
                <a:latin typeface="Calibri"/>
              </a:defRPr>
            </a:pPr>
            <a:r>
              <a:t>▸  Prerequisite satisfied for Module G: 3 Active clients on separate boards for FL</a:t>
            </a:r>
          </a:p>
          <a:p>
            <a:pPr>
              <a:lnSpc>
                <a:spcPct val="115000"/>
              </a:lnSpc>
              <a:spcAft>
                <a:spcPts val="500"/>
              </a:spcAft>
              <a:defRPr sz="1600" b="0">
                <a:solidFill>
                  <a:srgbClr val="37474F"/>
                </a:solidFill>
                <a:latin typeface="Calibri"/>
              </a:defRPr>
            </a:pPr>
            <a:r>
              <a:t>▸  Mirrors production rollout: test plugin on one board → fleet inject for deployment</a:t>
            </a:r>
          </a:p>
          <a:p>
            <a:pPr>
              <a:lnSpc>
                <a:spcPct val="115000"/>
              </a:lnSpc>
              <a:spcAft>
                <a:spcPts val="500"/>
              </a:spcAft>
              <a:defRPr sz="1600" b="0">
                <a:solidFill>
                  <a:srgbClr val="37474F"/>
                </a:solidFill>
                <a:latin typeface="Calibri"/>
              </a:defRPr>
            </a:pPr>
            <a:r>
              <a:t>▸  Students can articulate difference between board inject and fleet inject</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Demo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Lab: start extra Lightning-Rod instances</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Docker Compose lab overlay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Start LR-2 and LR-3 containers</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400" b="0">
                <a:solidFill>
                  <a:srgbClr val="0D2B45"/>
                </a:solidFill>
                <a:latin typeface="Consolas"/>
              </a:defRPr>
            </a:pPr>
            <a:r>
              <a:t>$ cd training/repos/ch13</a:t>
            </a:r>
          </a:p>
          <a:p>
            <a:pPr>
              <a:lnSpc>
                <a:spcPct val="115000"/>
              </a:lnSpc>
              <a:spcAft>
                <a:spcPts val="800"/>
              </a:spcAft>
              <a:defRPr sz="1400" b="0">
                <a:solidFill>
                  <a:srgbClr val="0D2B45"/>
                </a:solidFill>
                <a:latin typeface="Consolas"/>
              </a:defRPr>
            </a:pPr>
            <a:r>
              <a:t>$ docker compose -f docker-compose.yml \</a:t>
            </a:r>
          </a:p>
          <a:p>
            <a:pPr>
              <a:lnSpc>
                <a:spcPct val="115000"/>
              </a:lnSpc>
              <a:spcAft>
                <a:spcPts val="800"/>
              </a:spcAft>
              <a:defRPr sz="1900" b="0">
                <a:solidFill>
                  <a:srgbClr val="37474F"/>
                </a:solidFill>
                <a:latin typeface="Calibri"/>
              </a:defRPr>
            </a:pPr>
            <a:r>
              <a:t>▸  -f ../../patches/docker-compose.lab.yml up -d lightning-rod-2 lightning-rod-3</a:t>
            </a:r>
          </a:p>
          <a:p>
            <a:pPr>
              <a:lnSpc>
                <a:spcPct val="115000"/>
              </a:lnSpc>
              <a:spcAft>
                <a:spcPts val="800"/>
              </a:spcAft>
              <a:defRPr sz="1400" b="0">
                <a:solidFill>
                  <a:srgbClr val="0D2B45"/>
                </a:solidFill>
                <a:latin typeface="Consolas"/>
              </a:defRPr>
            </a:pPr>
            <a:r>
              <a:t>$ training/experiments/multiboard/check-endpoints.sh</a:t>
            </a:r>
          </a:p>
          <a:p>
            <a:pPr>
              <a:lnSpc>
                <a:spcPct val="115000"/>
              </a:lnSpc>
              <a:spcAft>
                <a:spcPts val="800"/>
              </a:spcAft>
              <a:defRPr sz="1900" b="0">
                <a:solidFill>
                  <a:srgbClr val="37474F"/>
                </a:solidFill>
                <a:latin typeface="Calibri"/>
              </a:defRPr>
            </a:pPr>
            <a:r>
              <a:t>▸  Expected: HTTP 200 on {{VM_IP}}:1475 and {{VM_IP}}:1476</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training/patches/docker-compose.lab.yml · ch13 repo</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Lab compose port mapping (Ch.13 patch)</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docker-compose.lab.yml adds lightning-rod-2 → host :1475, lightning-rod-3 → :1476</a:t>
            </a:r>
          </a:p>
          <a:p>
            <a:pPr>
              <a:lnSpc>
                <a:spcPct val="115000"/>
              </a:lnSpc>
              <a:spcAft>
                <a:spcPts val="500"/>
              </a:spcAft>
              <a:defRPr sz="1600" b="0">
                <a:solidFill>
                  <a:srgbClr val="37474F"/>
                </a:solidFill>
                <a:latin typeface="Calibri"/>
              </a:defRPr>
            </a:pPr>
            <a:r>
              <a:t>▸  Default lightning-rod (instance 1) remains on :1474 from Module A</a:t>
            </a:r>
          </a:p>
          <a:p>
            <a:pPr>
              <a:lnSpc>
                <a:spcPct val="115000"/>
              </a:lnSpc>
              <a:spcAft>
                <a:spcPts val="500"/>
              </a:spcAft>
              <a:defRPr sz="1600" b="0">
                <a:solidFill>
                  <a:srgbClr val="37474F"/>
                </a:solidFill>
                <a:latin typeface="Calibri"/>
              </a:defRPr>
            </a:pPr>
            <a:r>
              <a:t>▸  All three share iotronic-network — WAMP crossbar reachable as wss://crossbar:8181</a:t>
            </a:r>
          </a:p>
          <a:p>
            <a:pPr>
              <a:lnSpc>
                <a:spcPct val="115000"/>
              </a:lnSpc>
              <a:spcAft>
                <a:spcPts val="500"/>
              </a:spcAft>
              <a:defRPr sz="1600" b="0">
                <a:solidFill>
                  <a:srgbClr val="37474F"/>
                </a:solidFill>
                <a:latin typeface="Calibri"/>
              </a:defRPr>
            </a:pPr>
            <a:r>
              <a:t>▸  check-endpoints.sh verifies UI reachability before board registration begins</a:t>
            </a:r>
          </a:p>
          <a:p>
            <a:pPr>
              <a:lnSpc>
                <a:spcPct val="115000"/>
              </a:lnSpc>
              <a:spcAft>
                <a:spcPts val="500"/>
              </a:spcAft>
              <a:defRPr sz="1600" b="0">
                <a:solidFill>
                  <a:srgbClr val="37474F"/>
                </a:solidFill>
                <a:latin typeface="Calibri"/>
              </a:defRPr>
            </a:pPr>
            <a:r>
              <a:t>▸  Container names: lightning-rod, lightning-rod-2, lightning-rod-3 — distinct hostnames</a:t>
            </a:r>
          </a:p>
          <a:p>
            <a:pPr>
              <a:lnSpc>
                <a:spcPct val="115000"/>
              </a:lnSpc>
              <a:spcAft>
                <a:spcPts val="500"/>
              </a:spcAft>
              <a:defRPr sz="1600" b="0">
                <a:solidFill>
                  <a:srgbClr val="37474F"/>
                </a:solidFill>
                <a:latin typeface="Calibri"/>
              </a:defRPr>
            </a:pPr>
            <a:r>
              <a:t>▸  If port conflict: ensure no other service bound to 1475/1476 on lab VM</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Lab: register three boards in Horizon</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Create Board ×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Horizon IoT — Boards dashboard (create 3 boards)</a:t>
            </a:r>
          </a:p>
        </p:txBody>
      </p:sp>
      <p:sp>
        <p:nvSpPr>
          <p:cNvPr id="4" name="Rounded Rectangle 3"/>
          <p:cNvSpPr/>
          <p:nvPr/>
        </p:nvSpPr>
        <p:spPr>
          <a:xfrm>
            <a:off x="1667103" y="1298448"/>
            <a:ext cx="885748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orizon-boards-dashboard.png"/>
          <p:cNvPicPr>
            <a:picLocks noChangeAspect="1"/>
          </p:cNvPicPr>
          <p:nvPr/>
        </p:nvPicPr>
        <p:blipFill>
          <a:blip r:embed="rId2"/>
          <a:stretch>
            <a:fillRect/>
          </a:stretch>
        </p:blipFill>
        <p:spPr>
          <a:xfrm>
            <a:off x="1721967" y="1353312"/>
            <a:ext cx="874776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http://{{VM_IP}}/horizon/iot/ → Create Board × 3 · login admin / s4t</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Screenshot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Create three boards in Horizon</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Open http://{{VM_IP}}/horizon/iot/ — login admin / s4t</a:t>
            </a:r>
          </a:p>
          <a:p>
            <a:pPr>
              <a:lnSpc>
                <a:spcPct val="115000"/>
              </a:lnSpc>
              <a:spcAft>
                <a:spcPts val="800"/>
              </a:spcAft>
              <a:defRPr sz="1900" b="0">
                <a:solidFill>
                  <a:srgbClr val="37474F"/>
                </a:solidFill>
                <a:latin typeface="Calibri"/>
              </a:defRPr>
            </a:pPr>
            <a:r>
              <a:t>▸  Create Board: board-alpha → copy registration code to notepad</a:t>
            </a:r>
          </a:p>
          <a:p>
            <a:pPr>
              <a:lnSpc>
                <a:spcPct val="115000"/>
              </a:lnSpc>
              <a:spcAft>
                <a:spcPts val="800"/>
              </a:spcAft>
              <a:defRPr sz="1900" b="0">
                <a:solidFill>
                  <a:srgbClr val="37474F"/>
                </a:solidFill>
                <a:latin typeface="Calibri"/>
              </a:defRPr>
            </a:pPr>
            <a:r>
              <a:t>▸  Create Board: board-beta → copy registration code</a:t>
            </a:r>
          </a:p>
          <a:p>
            <a:pPr>
              <a:lnSpc>
                <a:spcPct val="115000"/>
              </a:lnSpc>
              <a:spcAft>
                <a:spcPts val="800"/>
              </a:spcAft>
              <a:defRPr sz="1900" b="0">
                <a:solidFill>
                  <a:srgbClr val="37474F"/>
                </a:solidFill>
                <a:latin typeface="Calibri"/>
              </a:defRPr>
            </a:pPr>
            <a:r>
              <a:t>▸  Create Board: board-gamma → copy registration code</a:t>
            </a:r>
          </a:p>
          <a:p>
            <a:pPr>
              <a:lnSpc>
                <a:spcPct val="115000"/>
              </a:lnSpc>
              <a:spcAft>
                <a:spcPts val="800"/>
              </a:spcAft>
              <a:defRPr sz="1900" b="0">
                <a:solidFill>
                  <a:srgbClr val="37474F"/>
                </a:solidFill>
                <a:latin typeface="Calibri"/>
              </a:defRPr>
            </a:pPr>
            <a:r>
              <a:t>▸  Do NOT reuse codes — each board gets a unique one-time registration token</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Book figure — Create Board form (Ch.13)</a:t>
            </a:r>
          </a:p>
        </p:txBody>
      </p:sp>
      <p:sp>
        <p:nvSpPr>
          <p:cNvPr id="4" name="Rounded Rectangle 3"/>
          <p:cNvSpPr/>
          <p:nvPr/>
        </p:nvSpPr>
        <p:spPr>
          <a:xfrm>
            <a:off x="280263" y="1298448"/>
            <a:ext cx="11631167" cy="4595174"/>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shot-create-board.png"/>
          <p:cNvPicPr>
            <a:picLocks noChangeAspect="1"/>
          </p:cNvPicPr>
          <p:nvPr/>
        </p:nvPicPr>
        <p:blipFill>
          <a:blip r:embed="rId2"/>
          <a:stretch>
            <a:fillRect/>
          </a:stretch>
        </p:blipFill>
        <p:spPr>
          <a:xfrm>
            <a:off x="335127" y="1353312"/>
            <a:ext cx="11521440" cy="4485446"/>
          </a:xfrm>
          <a:prstGeom prst="rect">
            <a:avLst/>
          </a:prstGeom>
        </p:spPr>
      </p:pic>
      <p:sp>
        <p:nvSpPr>
          <p:cNvPr id="6" name="TextBox 5"/>
          <p:cNvSpPr txBox="1"/>
          <p:nvPr/>
        </p:nvSpPr>
        <p:spPr>
          <a:xfrm>
            <a:off x="594360" y="6030782"/>
            <a:ext cx="10972800" cy="411480"/>
          </a:xfrm>
          <a:prstGeom prst="rect">
            <a:avLst/>
          </a:prstGeom>
          <a:noFill/>
        </p:spPr>
        <p:txBody>
          <a:bodyPr wrap="none">
            <a:spAutoFit/>
          </a:bodyPr>
          <a:lstStyle/>
          <a:p>
            <a:pPr>
              <a:defRPr sz="1200" b="0">
                <a:solidFill>
                  <a:srgbClr val="37474F"/>
                </a:solidFill>
                <a:latin typeface="Calibri"/>
              </a:defRPr>
            </a:pPr>
            <a:r>
              <a:t>Reference UI fields: name, description, registration code display</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Screenshot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Lab: configure each Lightning-Rod</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Registration code + WAMP URL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LR instance 1 — Configuration (board-alpha)</a:t>
            </a:r>
          </a:p>
        </p:txBody>
      </p:sp>
      <p:sp>
        <p:nvSpPr>
          <p:cNvPr id="4" name="Rounded Rectangle 3"/>
          <p:cNvSpPr/>
          <p:nvPr/>
        </p:nvSpPr>
        <p:spPr>
          <a:xfrm>
            <a:off x="1667103" y="1298448"/>
            <a:ext cx="885748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r-dashboard-conf.png"/>
          <p:cNvPicPr>
            <a:picLocks noChangeAspect="1"/>
          </p:cNvPicPr>
          <p:nvPr/>
        </p:nvPicPr>
        <p:blipFill>
          <a:blip r:embed="rId2"/>
          <a:stretch>
            <a:fillRect/>
          </a:stretch>
        </p:blipFill>
        <p:spPr>
          <a:xfrm>
            <a:off x="1721967" y="1353312"/>
            <a:ext cx="874776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http://{{VM_IP}}:1474/config — board-alpha · me / arancino</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Screenshot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LR instance 2 — home dashboard</a:t>
            </a:r>
          </a:p>
        </p:txBody>
      </p:sp>
      <p:sp>
        <p:nvSpPr>
          <p:cNvPr id="4" name="Rounded Rectangle 3"/>
          <p:cNvSpPr/>
          <p:nvPr/>
        </p:nvSpPr>
        <p:spPr>
          <a:xfrm>
            <a:off x="1667103" y="1298448"/>
            <a:ext cx="885748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r-dashboard-home-lr2.png"/>
          <p:cNvPicPr>
            <a:picLocks noChangeAspect="1"/>
          </p:cNvPicPr>
          <p:nvPr/>
        </p:nvPicPr>
        <p:blipFill>
          <a:blip r:embed="rId2"/>
          <a:stretch>
            <a:fillRect/>
          </a:stretch>
        </p:blipFill>
        <p:spPr>
          <a:xfrm>
            <a:off x="1721967" y="1353312"/>
            <a:ext cx="874776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http://{{VM_IP}}:1475 — board-beta will register here</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Screenshot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Configure Lightning-Rod instance 1 (alpha)</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Open http://{{VM_IP}}:1474/config — login me / arancino</a:t>
            </a:r>
          </a:p>
          <a:p>
            <a:pPr>
              <a:lnSpc>
                <a:spcPct val="115000"/>
              </a:lnSpc>
              <a:spcAft>
                <a:spcPts val="800"/>
              </a:spcAft>
              <a:defRPr sz="1900" b="0">
                <a:solidFill>
                  <a:srgbClr val="37474F"/>
                </a:solidFill>
                <a:latin typeface="Calibri"/>
              </a:defRPr>
            </a:pPr>
            <a:r>
              <a:t>▸  Paste board-alpha registration code</a:t>
            </a:r>
          </a:p>
          <a:p>
            <a:pPr>
              <a:lnSpc>
                <a:spcPct val="115000"/>
              </a:lnSpc>
              <a:spcAft>
                <a:spcPts val="800"/>
              </a:spcAft>
              <a:defRPr sz="1900" b="0">
                <a:solidFill>
                  <a:srgbClr val="37474F"/>
                </a:solidFill>
                <a:latin typeface="Calibri"/>
              </a:defRPr>
            </a:pPr>
            <a:r>
              <a:t>▸  WAMP URL: wss://crossbar:8181 · Save</a:t>
            </a:r>
          </a:p>
          <a:p>
            <a:pPr>
              <a:lnSpc>
                <a:spcPct val="115000"/>
              </a:lnSpc>
              <a:spcAft>
                <a:spcPts val="800"/>
              </a:spcAft>
              <a:defRPr sz="1900" b="0">
                <a:solidFill>
                  <a:srgbClr val="37474F"/>
                </a:solidFill>
                <a:latin typeface="Calibri"/>
              </a:defRPr>
            </a:pPr>
            <a:r>
              <a:t>▸  Verify board-alpha shows Active in Horizon before proceeding</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LR instance 2 — Configuration (board-beta)</a:t>
            </a:r>
          </a:p>
        </p:txBody>
      </p:sp>
      <p:sp>
        <p:nvSpPr>
          <p:cNvPr id="4" name="Rounded Rectangle 3"/>
          <p:cNvSpPr/>
          <p:nvPr/>
        </p:nvSpPr>
        <p:spPr>
          <a:xfrm>
            <a:off x="1667103" y="1298448"/>
            <a:ext cx="885748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r-dashboard-conf-lr2.png"/>
          <p:cNvPicPr>
            <a:picLocks noChangeAspect="1"/>
          </p:cNvPicPr>
          <p:nvPr/>
        </p:nvPicPr>
        <p:blipFill>
          <a:blip r:embed="rId2"/>
          <a:stretch>
            <a:fillRect/>
          </a:stretch>
        </p:blipFill>
        <p:spPr>
          <a:xfrm>
            <a:off x="1721967" y="1353312"/>
            <a:ext cx="874776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http://{{VM_IP}}:1475/config — board-beta registration</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Screenshot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Configure Lightning-Rod instance 2 (beta)</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Open http://{{VM_IP}}:1475/config — login me / arancino</a:t>
            </a:r>
          </a:p>
          <a:p>
            <a:pPr>
              <a:lnSpc>
                <a:spcPct val="115000"/>
              </a:lnSpc>
              <a:spcAft>
                <a:spcPts val="800"/>
              </a:spcAft>
              <a:defRPr sz="1900" b="0">
                <a:solidFill>
                  <a:srgbClr val="37474F"/>
                </a:solidFill>
                <a:latin typeface="Calibri"/>
              </a:defRPr>
            </a:pPr>
            <a:r>
              <a:t>▸  Paste board-beta registration code · WAMP: wss://crossbar:8181 · Save</a:t>
            </a:r>
          </a:p>
          <a:p>
            <a:pPr>
              <a:lnSpc>
                <a:spcPct val="115000"/>
              </a:lnSpc>
              <a:spcAft>
                <a:spcPts val="800"/>
              </a:spcAft>
              <a:defRPr sz="1900" b="0">
                <a:solidFill>
                  <a:srgbClr val="37474F"/>
                </a:solidFill>
                <a:latin typeface="Calibri"/>
              </a:defRPr>
            </a:pPr>
            <a:r>
              <a:t>▸  Wait for Active status in Horizon</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LR instance 3 — home dashboard</a:t>
            </a:r>
          </a:p>
        </p:txBody>
      </p:sp>
      <p:sp>
        <p:nvSpPr>
          <p:cNvPr id="4" name="Rounded Rectangle 3"/>
          <p:cNvSpPr/>
          <p:nvPr/>
        </p:nvSpPr>
        <p:spPr>
          <a:xfrm>
            <a:off x="1667103" y="1298448"/>
            <a:ext cx="885748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r-dashboard-home-lr2.png"/>
          <p:cNvPicPr>
            <a:picLocks noChangeAspect="1"/>
          </p:cNvPicPr>
          <p:nvPr/>
        </p:nvPicPr>
        <p:blipFill>
          <a:blip r:embed="rId2"/>
          <a:stretch>
            <a:fillRect/>
          </a:stretch>
        </p:blipFill>
        <p:spPr>
          <a:xfrm>
            <a:off x="1721967" y="1353312"/>
            <a:ext cx="874776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http://{{VM_IP}}:1476 — board-gamma will register here</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Screenshot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LR instance 3 — Configuration (board-gamma)</a:t>
            </a:r>
          </a:p>
        </p:txBody>
      </p:sp>
      <p:sp>
        <p:nvSpPr>
          <p:cNvPr id="4" name="Rounded Rectangle 3"/>
          <p:cNvSpPr/>
          <p:nvPr/>
        </p:nvSpPr>
        <p:spPr>
          <a:xfrm>
            <a:off x="1667103" y="1298448"/>
            <a:ext cx="885748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r-dashboard-conf-lr2.png"/>
          <p:cNvPicPr>
            <a:picLocks noChangeAspect="1"/>
          </p:cNvPicPr>
          <p:nvPr/>
        </p:nvPicPr>
        <p:blipFill>
          <a:blip r:embed="rId2"/>
          <a:stretch>
            <a:fillRect/>
          </a:stretch>
        </p:blipFill>
        <p:spPr>
          <a:xfrm>
            <a:off x="1721967" y="1353312"/>
            <a:ext cx="874776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http://{{VM_IP}}:1476/config — board-gamma registration</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Screenshot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Configure Lightning-Rod instance 3 (gamma)</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Open http://{{VM_IP}}:1476/config — login me / arancino</a:t>
            </a:r>
          </a:p>
          <a:p>
            <a:pPr>
              <a:lnSpc>
                <a:spcPct val="115000"/>
              </a:lnSpc>
              <a:spcAft>
                <a:spcPts val="800"/>
              </a:spcAft>
              <a:defRPr sz="1900" b="0">
                <a:solidFill>
                  <a:srgbClr val="37474F"/>
                </a:solidFill>
                <a:latin typeface="Calibri"/>
              </a:defRPr>
            </a:pPr>
            <a:r>
              <a:t>▸  Paste board-gamma registration code · WAMP: wss://crossbar:8181 · Save</a:t>
            </a:r>
          </a:p>
          <a:p>
            <a:pPr>
              <a:lnSpc>
                <a:spcPct val="115000"/>
              </a:lnSpc>
              <a:spcAft>
                <a:spcPts val="800"/>
              </a:spcAft>
              <a:defRPr sz="1900" b="0">
                <a:solidFill>
                  <a:srgbClr val="37474F"/>
                </a:solidFill>
                <a:latin typeface="Calibri"/>
              </a:defRPr>
            </a:pPr>
            <a:r>
              <a:t>▸  All three boards MUST show Active in Horizon before fleet inject</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Ch.13 troubleshooting · IoTronic REST API</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Troubleshooting multi-board registration</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Board stuck in Registering: check LR logs — docker logs lightning-rod-2</a:t>
            </a:r>
          </a:p>
          <a:p>
            <a:pPr>
              <a:lnSpc>
                <a:spcPct val="115000"/>
              </a:lnSpc>
              <a:spcAft>
                <a:spcPts val="500"/>
              </a:spcAft>
              <a:defRPr sz="1600" b="0">
                <a:solidFill>
                  <a:srgbClr val="37474F"/>
                </a:solidFill>
                <a:latin typeface="Calibri"/>
              </a:defRPr>
            </a:pPr>
            <a:r>
              <a:t>▸  Wrong code on wrong LR: board shows Error — remove and re-create board in Horizon</a:t>
            </a:r>
          </a:p>
          <a:p>
            <a:pPr>
              <a:lnSpc>
                <a:spcPct val="115000"/>
              </a:lnSpc>
              <a:spcAft>
                <a:spcPts val="500"/>
              </a:spcAft>
              <a:defRPr sz="1600" b="0">
                <a:solidFill>
                  <a:srgbClr val="37474F"/>
                </a:solidFill>
                <a:latin typeface="Calibri"/>
              </a:defRPr>
            </a:pPr>
            <a:r>
              <a:t>▸  WAMP connection refused: verify crossbar container healthy in docker compose ps</a:t>
            </a:r>
          </a:p>
          <a:p>
            <a:pPr>
              <a:lnSpc>
                <a:spcPct val="115000"/>
              </a:lnSpc>
              <a:spcAft>
                <a:spcPts val="500"/>
              </a:spcAft>
              <a:defRPr sz="1600" b="0">
                <a:solidFill>
                  <a:srgbClr val="37474F"/>
                </a:solidFill>
                <a:latin typeface="Calibri"/>
              </a:defRPr>
            </a:pPr>
            <a:r>
              <a:t>▸  Duplicate registration: each code valid for one LR instance only</a:t>
            </a:r>
          </a:p>
          <a:p>
            <a:pPr>
              <a:lnSpc>
                <a:spcPct val="115000"/>
              </a:lnSpc>
              <a:spcAft>
                <a:spcPts val="500"/>
              </a:spcAft>
              <a:defRPr sz="1600" b="0">
                <a:solidFill>
                  <a:srgbClr val="37474F"/>
                </a:solidFill>
                <a:latin typeface="Calibri"/>
              </a:defRPr>
            </a:pPr>
            <a:r>
              <a:t>▸  API check: curl -s http://{{VM_IP}}:8812/v1/boards/ | python3 -m json.tool</a:t>
            </a:r>
          </a:p>
          <a:p>
            <a:pPr>
              <a:lnSpc>
                <a:spcPct val="115000"/>
              </a:lnSpc>
              <a:spcAft>
                <a:spcPts val="500"/>
              </a:spcAft>
              <a:defRPr sz="1600" b="0">
                <a:solidFill>
                  <a:srgbClr val="37474F"/>
                </a:solidFill>
                <a:latin typeface="Calibri"/>
              </a:defRPr>
            </a:pPr>
            <a:r>
              <a:t>▸  All three status fields must read Active before continuing to fleet creation</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Lab: create fleet and inject HelloName</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Fleet-level plugin deploy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UML sequence — Fleet plugin inject (Module D)</a:t>
            </a:r>
          </a:p>
        </p:txBody>
      </p:sp>
      <p:sp>
        <p:nvSpPr>
          <p:cNvPr id="4" name="Rounded Rectangle 3"/>
          <p:cNvSpPr/>
          <p:nvPr/>
        </p:nvSpPr>
        <p:spPr>
          <a:xfrm>
            <a:off x="994198" y="1298448"/>
            <a:ext cx="10203297"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q-fleet-inject.png"/>
          <p:cNvPicPr>
            <a:picLocks noChangeAspect="1"/>
          </p:cNvPicPr>
          <p:nvPr/>
        </p:nvPicPr>
        <p:blipFill>
          <a:blip r:embed="rId2"/>
          <a:stretch>
            <a:fillRect/>
          </a:stretch>
        </p:blipFill>
        <p:spPr>
          <a:xfrm>
            <a:off x="1049062" y="1353312"/>
            <a:ext cx="10093569"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Create fleet → inject HelloName on board-alpha, beta, gamma</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Diagram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Horizon IoT — Fleets panel</a:t>
            </a:r>
          </a:p>
        </p:txBody>
      </p:sp>
      <p:sp>
        <p:nvSpPr>
          <p:cNvPr id="4" name="Rounded Rectangle 3"/>
          <p:cNvSpPr/>
          <p:nvPr/>
        </p:nvSpPr>
        <p:spPr>
          <a:xfrm>
            <a:off x="1667103" y="1298448"/>
            <a:ext cx="885748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orizon-fleets-dashboard.png"/>
          <p:cNvPicPr>
            <a:picLocks noChangeAspect="1"/>
          </p:cNvPicPr>
          <p:nvPr/>
        </p:nvPicPr>
        <p:blipFill>
          <a:blip r:embed="rId2"/>
          <a:stretch>
            <a:fillRect/>
          </a:stretch>
        </p:blipFill>
        <p:spPr>
          <a:xfrm>
            <a:off x="1721967" y="1353312"/>
            <a:ext cx="874776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http://{{VM_IP}}/horizon/iot/fleets/ — Create Fleet</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Screenshot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Create fleet and add all Active boards</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http://{{VM_IP}}/horizon/iot/fleets/ → Create Fleet</a:t>
            </a:r>
          </a:p>
          <a:p>
            <a:pPr>
              <a:lnSpc>
                <a:spcPct val="115000"/>
              </a:lnSpc>
              <a:spcAft>
                <a:spcPts val="800"/>
              </a:spcAft>
              <a:defRPr sz="1900" b="0">
                <a:solidFill>
                  <a:srgbClr val="37474F"/>
                </a:solidFill>
                <a:latin typeface="Calibri"/>
              </a:defRPr>
            </a:pPr>
            <a:r>
              <a:t>▸  Name: lab-fleet-3 · add board-alpha, board-beta, board-gamma</a:t>
            </a:r>
          </a:p>
          <a:p>
            <a:pPr>
              <a:lnSpc>
                <a:spcPct val="115000"/>
              </a:lnSpc>
              <a:spcAft>
                <a:spcPts val="800"/>
              </a:spcAft>
              <a:defRPr sz="1900" b="0">
                <a:solidFill>
                  <a:srgbClr val="37474F"/>
                </a:solidFill>
                <a:latin typeface="Calibri"/>
              </a:defRPr>
            </a:pPr>
            <a:r>
              <a:t>▸  Save — verify all three members listed in fleet detail view</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Fleet inject HelloName plugin</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Fleet → Plugins tab → Inject → select HelloName (from Module B)</a:t>
            </a:r>
          </a:p>
          <a:p>
            <a:pPr>
              <a:lnSpc>
                <a:spcPct val="115000"/>
              </a:lnSpc>
              <a:spcAft>
                <a:spcPts val="800"/>
              </a:spcAft>
              <a:defRPr sz="1900" b="0">
                <a:solidFill>
                  <a:srgbClr val="37474F"/>
                </a:solidFill>
                <a:latin typeface="Calibri"/>
              </a:defRPr>
            </a:pPr>
            <a:r>
              <a:t>▸  Confirm inject succeeds on all three members</a:t>
            </a:r>
          </a:p>
          <a:p>
            <a:pPr>
              <a:lnSpc>
                <a:spcPct val="115000"/>
              </a:lnSpc>
              <a:spcAft>
                <a:spcPts val="800"/>
              </a:spcAft>
              <a:defRPr sz="1900" b="0">
                <a:solidFill>
                  <a:srgbClr val="37474F"/>
                </a:solidFill>
                <a:latin typeface="Calibri"/>
              </a:defRPr>
            </a:pPr>
            <a:r>
              <a:t>▸  Per board: Plugins → HelloName → Plugin Call → {"name": "fleet-demo"}</a:t>
            </a:r>
          </a:p>
          <a:p>
            <a:pPr>
              <a:lnSpc>
                <a:spcPct val="115000"/>
              </a:lnSpc>
              <a:spcAft>
                <a:spcPts val="800"/>
              </a:spcAft>
              <a:defRPr sz="1900" b="0">
                <a:solidFill>
                  <a:srgbClr val="37474F"/>
                </a:solidFill>
                <a:latin typeface="Calibri"/>
              </a:defRPr>
            </a:pPr>
            <a:r>
              <a:t>▸  Verify JSON result returned on each of :1474, :1475, :1476 boards</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Ch.14 §14.2 · bulk plugin deployment</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Fleet inject vs individual inject — when to use each</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Development/debug: individual board inject — isolate failures quickly</a:t>
            </a:r>
          </a:p>
          <a:p>
            <a:pPr>
              <a:lnSpc>
                <a:spcPct val="115000"/>
              </a:lnSpc>
              <a:spcAft>
                <a:spcPts val="500"/>
              </a:spcAft>
              <a:defRPr sz="1600" b="0">
                <a:solidFill>
                  <a:srgbClr val="37474F"/>
                </a:solidFill>
                <a:latin typeface="Calibri"/>
              </a:defRPr>
            </a:pPr>
            <a:r>
              <a:t>▸  Production rollout: fleet inject — consistent version across all edge nodes</a:t>
            </a:r>
          </a:p>
          <a:p>
            <a:pPr>
              <a:lnSpc>
                <a:spcPct val="115000"/>
              </a:lnSpc>
              <a:spcAft>
                <a:spcPts val="500"/>
              </a:spcAft>
              <a:defRPr sz="1600" b="0">
                <a:solidFill>
                  <a:srgbClr val="37474F"/>
                </a:solidFill>
                <a:latin typeface="Calibri"/>
              </a:defRPr>
            </a:pPr>
            <a:r>
              <a:t>▸  Heterogeneous fleets: filter members by tag/metadata before inject (production feature)</a:t>
            </a:r>
          </a:p>
          <a:p>
            <a:pPr>
              <a:lnSpc>
                <a:spcPct val="115000"/>
              </a:lnSpc>
              <a:spcAft>
                <a:spcPts val="500"/>
              </a:spcAft>
              <a:defRPr sz="1600" b="0">
                <a:solidFill>
                  <a:srgbClr val="37474F"/>
                </a:solidFill>
                <a:latin typeface="Calibri"/>
              </a:defRPr>
            </a:pPr>
            <a:r>
              <a:t>▸  HelloName sync demo: fleet inject saves time; Plugin Call proves per-board execution</a:t>
            </a:r>
          </a:p>
          <a:p>
            <a:pPr>
              <a:lnSpc>
                <a:spcPct val="115000"/>
              </a:lnSpc>
              <a:spcAft>
                <a:spcPts val="500"/>
              </a:spcAft>
              <a:defRPr sz="1600" b="0">
                <a:solidFill>
                  <a:srgbClr val="37474F"/>
                </a:solidFill>
                <a:latin typeface="Calibri"/>
              </a:defRPr>
            </a:pPr>
            <a:r>
              <a:t>▸  Module G FL: per-board async inject with different CSV — not fleet inject pattern</a:t>
            </a:r>
          </a:p>
          <a:p>
            <a:pPr>
              <a:lnSpc>
                <a:spcPct val="115000"/>
              </a:lnSpc>
              <a:spcAft>
                <a:spcPts val="500"/>
              </a:spcAft>
              <a:defRPr sz="1600" b="0">
                <a:solidFill>
                  <a:srgbClr val="37474F"/>
                </a:solidFill>
                <a:latin typeface="Calibri"/>
              </a:defRPr>
            </a:pPr>
            <a:r>
              <a:t>▸  Book Ch.14 fleet panel screenshots match Horizon workflow shown in hands-on steps</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Validate &amp; wrap-up</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Confirm lab state for Module 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Validate multi-board lab state</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400" b="0">
                <a:solidFill>
                  <a:srgbClr val="0D2B45"/>
                </a:solidFill>
                <a:latin typeface="Consolas"/>
              </a:defRPr>
            </a:pPr>
            <a:r>
              <a:t>$ cd training &amp;&amp; ./validate-lab-multiboard.sh</a:t>
            </a:r>
          </a:p>
          <a:p>
            <a:pPr>
              <a:lnSpc>
                <a:spcPct val="115000"/>
              </a:lnSpc>
              <a:spcAft>
                <a:spcPts val="800"/>
              </a:spcAft>
              <a:defRPr sz="1400" b="0">
                <a:solidFill>
                  <a:srgbClr val="0D2B45"/>
                </a:solidFill>
                <a:latin typeface="Consolas"/>
              </a:defRPr>
            </a:pPr>
            <a:r>
              <a:t>$ curl -s http://{{VM_IP}}:8812/v1/boards/ | python3 -m json.tool</a:t>
            </a:r>
          </a:p>
          <a:p>
            <a:pPr>
              <a:lnSpc>
                <a:spcPct val="115000"/>
              </a:lnSpc>
              <a:spcAft>
                <a:spcPts val="800"/>
              </a:spcAft>
              <a:defRPr sz="1900" b="0">
                <a:solidFill>
                  <a:srgbClr val="37474F"/>
                </a:solidFill>
                <a:latin typeface="Calibri"/>
              </a:defRPr>
            </a:pPr>
            <a:r>
              <a:t>▸  Expected: 3 boards, all status Active, fleet lab-fleet-3 exists</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Module D checklist</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 Three boards Active in Horizon (board-alpha, board-beta, board-gamma)</a:t>
            </a:r>
          </a:p>
          <a:p>
            <a:pPr>
              <a:lnSpc>
                <a:spcPct val="115000"/>
              </a:lnSpc>
              <a:spcAft>
                <a:spcPts val="800"/>
              </a:spcAft>
              <a:defRPr sz="1900" b="0">
                <a:solidFill>
                  <a:srgbClr val="37474F"/>
                </a:solidFill>
                <a:latin typeface="Calibri"/>
              </a:defRPr>
            </a:pPr>
            <a:r>
              <a:t>▸  □ Three LR UIs reachable: {{VM_IP}}:1474, :1475, :1476</a:t>
            </a:r>
          </a:p>
          <a:p>
            <a:pPr>
              <a:lnSpc>
                <a:spcPct val="115000"/>
              </a:lnSpc>
              <a:spcAft>
                <a:spcPts val="800"/>
              </a:spcAft>
              <a:defRPr sz="1900" b="0">
                <a:solidFill>
                  <a:srgbClr val="37474F"/>
                </a:solidFill>
                <a:latin typeface="Calibri"/>
              </a:defRPr>
            </a:pPr>
            <a:r>
              <a:t>▸  □ Fleet created with HelloName injected on all members</a:t>
            </a:r>
          </a:p>
          <a:p>
            <a:pPr>
              <a:lnSpc>
                <a:spcPct val="115000"/>
              </a:lnSpc>
              <a:spcAft>
                <a:spcPts val="800"/>
              </a:spcAft>
              <a:defRPr sz="1900" b="0">
                <a:solidFill>
                  <a:srgbClr val="37474F"/>
                </a:solidFill>
                <a:latin typeface="Calibri"/>
              </a:defRPr>
            </a:pPr>
            <a:r>
              <a:t>▸  □ validate-lab-multiboard.sh passes</a:t>
            </a:r>
          </a:p>
          <a:p>
            <a:pPr>
              <a:lnSpc>
                <a:spcPct val="115000"/>
              </a:lnSpc>
              <a:spcAft>
                <a:spcPts val="800"/>
              </a:spcAft>
              <a:defRPr sz="1900" b="0">
                <a:solidFill>
                  <a:srgbClr val="37474F"/>
                </a:solidFill>
                <a:latin typeface="Calibri"/>
              </a:defRPr>
            </a:pPr>
            <a:r>
              <a:t>▸  Prerequisite satisfied → proceed to Module G (Federated Learning) or Module F (WSTUN)</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