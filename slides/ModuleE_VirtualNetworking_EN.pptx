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In this module we will work through Module E — Virtual Networking.</a:t>
            </a:r>
          </a:p>
          <a:p/>
          <a:p>
            <a:r>
              <a:t>Ch.5 · Extension · VM {{VM_IP}} · OPTIONAL tier</a:t>
            </a:r>
          </a:p>
          <a:p/>
          <a:p>
            <a:r>
              <a:t>The session alternates theory from the book with live exercises on the Stack4Things lab VM. Replace the placeholder IP with the address of the machine you are using.</a:t>
            </a:r>
          </a:p>
          <a:p/>
          <a:p>
            <a:r>
              <a:t>Extension · Ch.5 — Virtual Networking · optional if Neutron incomplete.</a:t>
            </a:r>
          </a:p>
          <a:p/>
          <a:p>
            <a:r>
              <a:t>When you're ready, advance to the first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Network virtualization theory. Ch.5 — Neutron + IoTronic ports before the lab. In the next slides, listen for whether we are in theory mode or hands-on mode, and open your terminal when the slides turn to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Problem: connecting cloud and edge (Ch.5). This material is covered in Ch.5 · Network virtualization in IoT · chapter abstract.</a:t>
            </a:r>
          </a:p>
          <a:p/>
          <a:p>
            <a:r>
              <a:t>First, IoT boards sit behind NAT, firewalls, and heterogeneous LAN topologies. Next, Cloud applications in VMs need logical connectivity to edge devices and sensors.</a:t>
            </a:r>
          </a:p>
          <a:p/>
          <a:p>
            <a:r>
              <a:t>By contrast, regarding network virtualization, overlay networks independent of physical wiring. We should also consider that Stack4Things extends OpenStack Neutron toward edge IoT nodes via IoTronic.</a:t>
            </a:r>
          </a:p>
          <a:p/>
          <a:p>
            <a:r>
              <a:t>Another key point is that regarding goal, treat remote boards as first-class network citizens in the cloud overlay. Furthermore, Complements WSTUN (Module F) which solves HTTP service exposure, not L2/L3 overlay.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OpenStack Neutron recap for IoT context (Ch.5). This material is covered in Ch.5 § OpenStack networking · Neutron architecture.</a:t>
            </a:r>
          </a:p>
          <a:p/>
          <a:p>
            <a:r>
              <a:t>First, Neutron manages virtual networks, subnets, routers, security groups in OpenStack. Next, Standard cloud VMs attach to Neutron networks via virtual interfaces (VIFs).</a:t>
            </a:r>
          </a:p>
          <a:p/>
          <a:p>
            <a:r>
              <a:t>By contrast, regarding iotronic ports api extends this model, boards receive VIFs on overlay networks. We should also consider that WAgent (Worker Agent) on cloud side coordinates tunnel/port setup with edge LR agent.</a:t>
            </a:r>
          </a:p>
          <a:p/>
          <a:p>
            <a:r>
              <a:t>Another key point is that regarding production, full Neutron L2/L3 with ML2 plugin; Docker lab: API workflow demo only. Furthermore, Book tables list IoTronic networking REST endpoints with request/response schemas.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Virtual ports &amp; VIF abstraction (Ch.5). This material is covered in Ch.5 · IoTronic networking API · attach port listing.</a:t>
            </a:r>
          </a:p>
          <a:p/>
          <a:p>
            <a:r>
              <a:t>First, POST /v1/boards/{uuid}/ports/ attaches virtual network interface to registered board. Next, Response JSON includes VIF_name, ip address, MAC_add — logical identity on overlay.</a:t>
            </a:r>
          </a:p>
          <a:p/>
          <a:p>
            <a:r>
              <a:t>By contrast, regarding board-side, virtual interface appears in Linux network stack (tun/tap device). We should also consider that Applications on board bind to assigned overlay IP without physical NIC changes.</a:t>
            </a:r>
          </a:p>
          <a:p/>
          <a:p>
            <a:r>
              <a:t>Another key point is that regarding cloud-side, other VMs on same Neutron network reach board via overlay routing. Furthermore, Enables peer-to-peer cloud↔edge communication for latency-sensitive workloads.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WAgent orchestration role (Ch.5 + Ch.13). This material is covered in Ch.5 · WAgent · Ch.13 docker-compose service list.</a:t>
            </a:r>
          </a:p>
          <a:p/>
          <a:p>
            <a:r>
              <a:t>First, WAgent container (iotronic-wagent) runs alongside Conductor in cloud stack. Next, Receives port attach requests from IoTronic, then configures tunnel/VIF on cloud side.</a:t>
            </a:r>
          </a:p>
          <a:p/>
          <a:p>
            <a:r>
              <a:t>By contrast, Coordinates with Lightning-Rod agent on board for edge-side interface creation. We should also consider that Logs in docker logs iotronic-wagent show attach attempt and backend response.</a:t>
            </a:r>
          </a:p>
          <a:p/>
          <a:p>
            <a:r>
              <a:t>Another key point is that regarding if neutron backend unavailable, API accepts request but L3 may not fully provision. Furthermore, regarding lab value, understand book workflow before production OpenStack deployment.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I/Ocloud networking context (Ch.4–5 bridge). This material is covered in Ch.4 I/Ocloud + Ch.5 VN · fig:chap05:vn-workflow.</a:t>
            </a:r>
          </a:p>
          <a:p/>
          <a:p>
            <a:r>
              <a:t>First, Virtual Nodes in cloud can participate in same overlay as physical boards. Next, Designate provides DNS naming; Neutron provides topology; IoTronic binds boards.</a:t>
            </a:r>
          </a:p>
          <a:p/>
          <a:p>
            <a:r>
              <a:t>By contrast, regarding full production, multi-site SLICES experiments span Neutron networks (Ch.10–11). We should also consider that VN enables cloud microservices to push/pull data directly to edge sensors.</a:t>
            </a:r>
          </a:p>
          <a:p/>
          <a:p>
            <a:r>
              <a:t>Another key point is that regarding different from module f wstun, VN is network-layer; WSTUN is application-layer tunnel. Furthermore, Both coexist in complete S4T deployments for different connectivity patterns.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Attach-port REST workflow step-by-step (Ch.5). This material is covered in Ch.5 · API tables · training/experiments/virtual-networking/.</a:t>
            </a:r>
          </a:p>
          <a:p/>
          <a:p>
            <a:r>
              <a:t>First, regarding step 1, obtain Keystone token (or use Horizon session for API exploration). Next, regarding step 2, GET /v1/boards/ — select Active board UUID.</a:t>
            </a:r>
          </a:p>
          <a:p/>
          <a:p>
            <a:r>
              <a:t>By contrast, regarding step 3, GET /v1/networks/ or Horizon — obtain target Neutron network UUID. We should also consider that regarding step 4, POST /v1/boards/{BOARD_UUID}/ports/ with {"network": "NETWORK_UUID"}.</a:t>
            </a:r>
          </a:p>
          <a:p/>
          <a:p>
            <a:r>
              <a:t>Another key point is that regarding step 5, parse response — note VIF_name, ip, MAC for verification on board. Furthermore, regarding step 6, test connectivity from cloud VM to board overlay IP (production).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MENO and Virtual Sensor Networks (Ch.5). This material is covered in Ch.5 § Network virtualization in IoT · MENO · VITRO.</a:t>
            </a:r>
          </a:p>
          <a:p/>
          <a:p>
            <a:r>
              <a:t>First, regarding managed ecosystem of networked objects (meno), limited cooperating devices without public IPs. Next, regarding vitro virtual sensor networking (vsn), dynamic collaboration across admin domains.</a:t>
            </a:r>
          </a:p>
          <a:p/>
          <a:p>
            <a:r>
              <a:t>By contrast, Applications see only the logical overlay — physical LAN boundaries become transparent. We should also consider that regarding motivates s4t nv beyond lab attach-port, smart factories, buildings, and city districts.</a:t>
            </a:r>
          </a:p>
          <a:p/>
          <a:p>
            <a:r>
              <a:t>Another key point is that Contrasts with exposing every sensor on a public server — most IoT apps need local cooperation. Furthermore, regarding book figure, fig:chap05:MENO — end-to-end logical network over heterogeneous physical links.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S4T NV use cases from the book (Ch.5). This material is covered in Ch.5 § use cases · fig:chap05:use-cases · fig:chap05:use-case-personal.</a:t>
            </a:r>
          </a:p>
          <a:p/>
          <a:p>
            <a:r>
              <a:t>First, regarding partitioning, split devices on one LAN into separate VNs — e.g. departments in a smart building. Next, regarding cross-network, connect geo-distributed boards without VPN configuration on edge routers.</a:t>
            </a:r>
          </a:p>
          <a:p/>
          <a:p>
            <a:r>
              <a:t>By contrast, regarding cloud extension, add OpenStack VMs to the same VN as edge sensors for storage and analytics. We should also consider that regarding personal devices, smartphones/tablets join VN — static overlay IP survives WiFi↔4G handoff.</a:t>
            </a:r>
          </a:p>
          <a:p/>
          <a:p>
            <a:r>
              <a:t>Another key point is that Hybrid VNs combine all patterns — countless topologies for application-specific requirements. Furthermore, AllJoyn requires same broadcast domain; S4T NV crosses NAT and subnet boundaries.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diagram on screen: Attach port workflow. Describe the main boxes and arrows. Relate each element to a Docker service or API you have already seen. In particular, note the following: Horizon/API → IoTronic → WAgent → board virtual interface.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Module E — learning objectives.</a:t>
            </a:r>
          </a:p>
          <a:p/>
          <a:p>
            <a:r>
              <a:t>First, Understand Ch.5 virtual networking theory and IoTronic ports API. Next, Execute attach-port.sh helper script against live lab Conductor.</a:t>
            </a:r>
          </a:p>
          <a:p/>
          <a:p>
            <a:r>
              <a:t>By contrast, Inspect WAgent logs for orchestration evidence. We should also consider that Articulate VN vs WSTUN difference (network overlay vs HTTP tunnel).</a:t>
            </a:r>
          </a:p>
          <a:p/>
          <a:p>
            <a:r>
              <a:t>Another key point is that Pass validate-lab-vn.sh where Neutron backend permits.</a:t>
            </a:r>
          </a:p>
          <a:p/>
          <a:p>
            <a:r>
              <a:t>If these objectives are clear, we can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demonstration, What this module demonstrates — demo goals.</a:t>
            </a:r>
          </a:p>
          <a:p/>
          <a:p>
            <a:r>
              <a:t>First, Operator can request virtual port attachment via REST API on live Conductor. Next, WAgent logs show orchestration attempt even if Neutron L3 backend is limited in Docker.</a:t>
            </a:r>
          </a:p>
          <a:p/>
          <a:p>
            <a:r>
              <a:t>By contrast, Students understand production attach-port workflow before field deployment. We should also consider that Board appears as network participant — not just HTTP endpoint behind NAT.</a:t>
            </a:r>
          </a:p>
          <a:p/>
          <a:p>
            <a:r>
              <a:t>Another key point is that Foundation for SLICES multi-site experiments (Ch.10–11) using Neutron overlays. Furthermore, Optional module — skip gracefully if short on time without blocking other modules.</a:t>
            </a:r>
          </a:p>
          <a:p/>
          <a:p>
            <a:r>
              <a:t>Check that your screen matches what we showed before moving on.</a:t>
            </a:r>
          </a:p>
          <a:p/>
          <a:p>
            <a:r>
              <a:t>Session timing — Module E — 45-minute timeline (OPTIONAL):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Lab: explore boards and ports. attach-port.sh helper scripts. In the next slides, listen for whether we are in theory mode or hands-on mode, and open your terminal when the slides turn to lab work.</a:t>
            </a:r>
          </a:p>
          <a:p/>
          <a:p>
            <a:r>
              <a:t>Instructor timing (title): Hands-on — explore boards and 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List boards and existing ports. Open your lab VM and follow along.</a:t>
            </a:r>
          </a:p>
          <a:p/>
          <a:p>
            <a:r>
              <a:t>Please run the following command on your VM: cd training. Wait until you see a sensible result before continuing. Please run the following command on your VM: ./experiments/virtual-networking/attach-port.sh boards. Wait until you see a sensible result before continuing.</a:t>
            </a:r>
          </a:p>
          <a:p/>
          <a:p>
            <a:r>
              <a:t>Please run the following command on your VM: ./experiments/virtual-networking/attach-port.sh list. Wait until you see a sensible result before continuing. We should also consider that Note Active board UUID(s) and any existing port attachments.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1 — List boards and existing 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screenshot on screen: Horizon IoT — Boards (attach port context). Walk the class through what they see in the interface. Connect each panel and button to a component we already deployed in the stack. In particular, note the following: http://{{VM_IP}}/horizon/iot/ · login admin / s4t · select Active board.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attach-port.sh script internals. This material is covered in training/experiments/virtual-networking/attach-port.sh.</a:t>
            </a:r>
          </a:p>
          <a:p/>
          <a:p>
            <a:r>
              <a:t>First, Script wraps IoTronic REST API with lab-friendly output formatting. Next, regarding boards subcommand, GET /v1/boards/ — filters Active boards.</a:t>
            </a:r>
          </a:p>
          <a:p/>
          <a:p>
            <a:r>
              <a:t>By contrast, regarding list subcommand, GET /v1/boards/{uuid}/ports/ — shows existing VIF attachments. We should also consider that regarding uses conductor at http, //{{VM_IP}}:8812 — same endpoint as Module A API checks.</a:t>
            </a:r>
          </a:p>
          <a:p/>
          <a:p>
            <a:r>
              <a:t>Another key point is that regarding token acquisition, script reads from env or prompts — see script header for details. Furthermore, Safe to re-run list after attach to confirm new port appears in response JSON.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Lab: attach port via API. POST when network UUID known. In the next slides, listen for whether we are in theory mode or hands-on mode, and open your terminal when the slides turn to lab work.</a:t>
            </a:r>
          </a:p>
          <a:p/>
          <a:p>
            <a:r>
              <a:t>Instructor timing (title): Hands-on — attach port via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 we walk through the code for Attach port API call.</a:t>
            </a:r>
          </a:p>
          <a:p/>
          <a:p>
            <a:r>
              <a:t>Scroll slowly through the listing on screen while I explain each part.</a:t>
            </a:r>
          </a:p>
          <a:p/>
          <a:p>
            <a:r>
              <a:t>Point out the imports, the class definition, and the run method. Students will adapt this template in the lab rather than writing from scratch.</a:t>
            </a:r>
          </a:p>
          <a:p/>
          <a:p>
            <a:r>
              <a:t>After reviewing the code, we'll apply it in the practical exercise.</a:t>
            </a:r>
          </a:p>
          <a:p/>
          <a:p>
            <a:r>
              <a:t>Instructor timing (title): Step 2 — Attach port API call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Expected API response fields (Ch.5). This material is covered in Ch.5 · ports API response schema.</a:t>
            </a:r>
          </a:p>
          <a:p/>
          <a:p>
            <a:r>
              <a:t>First, regarding vif_name, logical interface identifier assigned by IoTronic/Neutron. Next, regarding ip address, overlay IP reachable within the Neutron network context.</a:t>
            </a:r>
          </a:p>
          <a:p/>
          <a:p>
            <a:r>
              <a:t>By contrast, regarding mac_add, hardware address for L2 operations on the overlay segment. We should also consider that regarding empty or error response, neutron backend may not be fully wired in Docker lab.</a:t>
            </a:r>
          </a:p>
          <a:p/>
          <a:p>
            <a:r>
              <a:t>Another key point is that Partial success still demonstrates API contract students will use in production. Furthermore, Compare response schema with Ch.5 API tables in the book listing.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TUN/TAP and edge-side networking (Ch.5). This material is covered in Ch.5 · edge virtual interface · TUN/TAP.</a:t>
            </a:r>
          </a:p>
          <a:p/>
          <a:p>
            <a:r>
              <a:t>First, Virtual interfaces on board appear as tun/tap devices in Linux network stack. Next, Ip link show on board container reveals new interface after successful attach.</a:t>
            </a:r>
          </a:p>
          <a:p/>
          <a:p>
            <a:r>
              <a:t>By contrast, Applications bind to assigned overlay IP — no change to physical NIC configuration. We should also consider that Edge routing tables may need update for multi-homed board scenarios (advanced).</a:t>
            </a:r>
          </a:p>
          <a:p/>
          <a:p>
            <a:r>
              <a:t>Another key point is that regarding wstun (module f) solves different problem, HTTP service exposure via NAT traversal. Furthermore, VN + WSTUN complement each other in full S4T production deployments.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Verify WAgent logs. Open your lab VM and follow along.</a:t>
            </a:r>
          </a:p>
          <a:p/>
          <a:p>
            <a:r>
              <a:t>Please run the following command on your VM: docker logs iotronic-wagent 2&gt;&amp;1 | tail -30. Wait until you see a sensible result before continuing. Next, Look for port attach / VIF configuration messages.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3 — Verify WAgent logs</a:t>
            </a:r>
          </a:p>
          <a:p/>
          <a:p>
            <a:r>
              <a:t>Instructor cues:</a:t>
            </a:r>
          </a:p>
          <a:p>
            <a:r>
              <a:t>• If no Neutron network UUID available: document API attempt for instructor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VN vs WSTUN — comparison table (Ch.5 vs Ch.14). This material is covered in Ch.5 · Ch.14 §14.3 · Module F cross-reference.</a:t>
            </a:r>
          </a:p>
          <a:p/>
          <a:p>
            <a:r>
              <a:t>First, regarding vn (this module), L2/L3 overlay — board gets IP on Neutron network. Next, regarding wstun (module f), L7 reverse tunnel — board HTTP service exposed on public port.</a:t>
            </a:r>
          </a:p>
          <a:p/>
          <a:p>
            <a:r>
              <a:t>By contrast, regarding vn use case, cloud VM pings board overlay IP; microservice-to-sensor direct TCP. We should also consider that regarding wstun use case, curl http://{{VM_IP}}:50002/ reaches nginx on board port 50000.</a:t>
            </a:r>
          </a:p>
          <a:p/>
          <a:p>
            <a:r>
              <a:t>Another key point is that regarding production, both enabled simultaneously for different application patterns. Furthermore, regarding lab docker stack, WSTUN fully functional; VN demonstrates API + WAgent workflow.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Validate &amp; further reading. Production Neutron requirements. In the next slides, listen for whether we are in theory mode or hands-on mode, and open your terminal when the slides turn to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Validate VN module. Open your lab VM and follow along.</a:t>
            </a:r>
          </a:p>
          <a:p/>
          <a:p>
            <a:r>
              <a:t>Please run the following command on your VM: cd training &amp;&amp; ./validate-lab-vn.sh. Wait until you see a sensible result before continuing. Next, Script checks API reachability and WAgent container health.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4 — Validate VN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Production deployment requirements (Ch.5). This material is covered in Ch.5 · production checklist · ch05 repo.</a:t>
            </a:r>
          </a:p>
          <a:p/>
          <a:p>
            <a:r>
              <a:t>First, Full OpenStack Neutron with ML2 plugin and network agent on compute nodes. Next, IoTronic Conductor + WAgent deployed as OpenStack services (not Docker lab compose).</a:t>
            </a:r>
          </a:p>
          <a:p/>
          <a:p>
            <a:r>
              <a:t>By contrast, Board Lightning-Rod agent version compatible with IoTronic ports API version. We should also consider that Network UUIDs managed via Horizon Network panel or neutron CLI.</a:t>
            </a:r>
          </a:p>
          <a:p/>
          <a:p>
            <a:r>
              <a:t>Another key point is that SLICES RI testbeds (Ch.10) provide production-grade Neutron for experimenters. Furthermore, regarding reference repo, github.com/AssemblingSmartCPS/ch05 — Neutron port specs.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Module E checklist &amp; reference.</a:t>
            </a:r>
          </a:p>
          <a:p/>
          <a:p>
            <a:r>
              <a:t>First, □ attach-port.sh boards lists Active board from Module A. Next, □ Port attach API call attempted (or documented why Neutron UUID unavailable).</a:t>
            </a:r>
          </a:p>
          <a:p/>
          <a:p>
            <a:r>
              <a:t>By contrast, □ WAgent logs inspected for orchestration messages. We should also consider that □ Student can explain VN vs WSTUN difference.</a:t>
            </a:r>
          </a:p>
          <a:p/>
          <a:p>
            <a:r>
              <a:t>Another key point is that regarding reference, book Ch.5 tables · github.com/AssemblingSmartCPS/ch05.</a:t>
            </a:r>
          </a:p>
          <a:p/>
          <a:p>
            <a:r>
              <a:t>If these objectives are clear, we can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Module E — Virtual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B2EBF2"/>
                </a:solidFill>
                <a:latin typeface="Calibri"/>
              </a:defRPr>
            </a:pPr>
            <a:r>
              <a:t>Ch.5 · Extension · VM {{VM_IP}} · OPTIONAL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Extension · Ch.5 — Virtual Networking · optional if Neutron incomplete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Network virtualization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Ch.5 — Neutron + IoTronic ports before the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Network virtualization in IoT · chapter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Problem: connecting cloud and edge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IoT boards sit behind NAT, firewalls, and heterogeneous LAN topologies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 applications in VMs need logical connectivity to edge devices and sensors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Network virtualization: overlay networks independent of physical wiring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Stack4Things extends OpenStack Neutron toward edge IoT nodes via IoTronic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Goal: treat remote boards as first-class network citizens in the cloud overlay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Complements WSTUN (Module F) which solves HTTP service exposure, not L2/L3 overlay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§ OpenStack networking · Neutron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OpenStack Neutron recap for IoT context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Neutron manages virtual networks, subnets, routers, security groups in OpenStack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Standard cloud VMs attach to Neutron networks via virtual interfaces (VIFs)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IoTronic ports API extends this model: boards receive VIFs on overlay networks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WAgent (Worker Agent) on cloud side coordinates tunnel/port setup with edge LR agent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Production: full Neutron L2/L3 with ML2 plugin; Docker lab: API workflow demo only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tables list IoTronic networking REST endpoints with request/response schemas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IoTronic networking API · attach port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Virtual ports &amp; VIF abstraction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POST /v1/boards/{uuid}/ports/ attaches virtual network interface to registered board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Response JSON includes VIF_name, ip address, MAC_add — logical identity on overlay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Board-side: virtual interface appears in Linux network stack (tun/tap device)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Applications on board bind to assigned overlay IP without physical NIC changes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Cloud-side: other VMs on same Neutron network reach board via overlay routing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Enables peer-to-peer cloud↔edge communication for latency-sensitive workloads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WAgent · Ch.13 docker-compose service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WAgent orchestration role (Ch.5 + 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WAgent container (iotronic-wagent) runs alongside Conductor in cloud stack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Receives port attach requests from IoTronic → configures tunnel/VIF on cloud side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Coordinates with Lightning-Rod agent on board for edge-side interface creation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Logs in docker logs iotronic-wagent show attach attempt and backend response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If Neutron backend unavailable: API accepts request but L3 may not fully provision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value: understand book workflow before production OpenStack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Ch.4 I/Ocloud + Ch.5 VN · fig:chap05:vn-workflow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I/Ocloud networking context (Ch.4–5 bridge)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Virtual Nodes in cloud can participate in same overlay as physical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Designate provides DNS naming; Neutron provides topology; IoTronic binds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Full production: multi-site SLICES experiments span Neutron networks (Ch.10–11)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VN enables cloud microservices to push/pull data directly to edge sensors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Different from Module F WSTUN: VN is network-layer; WSTUN is application-layer tunnel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Both coexist in complete S4T deployments for different connectivity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API tables · training/experiments/virtual-networking/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Attach-port REST workflow step-by-step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1: obtain Keystone token (or use Horizon session for API exploration)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2: GET /v1/boards/ — select Active board UUID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3: GET /v1/networks/ or Horizon — obtain target Neutron network UUID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4: POST /v1/boards/{BOARD_UUID}/ports/ with {"network": "NETWORK_UUID"}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5: parse response — note VIF_name, ip, MAC for verification on board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Step 6: test connectivity from cloud VM to board overlay IP (production)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§ Network virtualization in IoT · MENO · VITRO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MENO and Virtual Sensor Networks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Managed Ecosystem of Networked Objects (MENO): limited cooperating devices without public IPs.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VITRO Virtual Sensor Networking (VSN): dynamic collaboration across admin domains.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Applications see only the logical overlay — physical LAN boundaries become transparent.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Motivates S4T NV beyond lab attach-port: smart factories, buildings, and city districts.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Contrasts with exposing every sensor on a public server — most IoT apps need local cooperation.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figure: fig:chap05:MENO — end-to-end logical network over heterogeneous physical links.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§ use cases · fig:chap05:use-cases · fig:chap05:use-case-personal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S4T NV use cases from the book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Partitioning: split devices on one LAN into separate VNs — e.g. departments in a smart building.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Cross-network: connect geo-distributed boards without VPN configuration on edge routers.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 extension: add OpenStack VMs to the same VN as edge sensors for storage and analytics.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Personal devices: smartphones/tablets join VN — static overlay IP survives WiFi↔4G handoff.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Hybrid VNs combine all patterns — countless topologies for application-specific requirements.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AllJoyn requires same broadcast domain; S4T NV crosses NAT and subnet boundaries.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Attach port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368" y="1298448"/>
            <a:ext cx="995095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n-attach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32" y="1353312"/>
            <a:ext cx="984123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Horizon/API → IoTronic → WAgent → board virtual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Module E —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Understand Ch.5 virtual networking theory and IoTronic ports API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Execute attach-port.sh helper script against live lab Conductor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Inspect WAgent logs for orchestration evidence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Articulate VN vs WSTUN difference (network overlay vs HTTP tunnel)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Pass validate-lab-vn.sh where Neutron backend permits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What this module demonstrates — demo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Operator can request virtual port attachment via REST API on live Conductor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WAgent logs show orchestration attempt even if Neutron L3 backend is limited in Docker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Students understand production attach-port workflow before field deployment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 appears as network participant — not just HTTP endpoint behind NAT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Foundation for SLICES multi-site experiments (Ch.10–11) using Neutron overlays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Optional module — skip gracefully if short on time without blocking other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Lab: explore boards and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attach-port.sh helper scripts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List boards and existing 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cd training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./experiments/virtual-networking/attach-port.sh boards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./experiments/virtual-networking/attach-port.sh list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Note Active board UUID(s) and any existing port attachments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Boards (attach port context)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7103" y="1298448"/>
            <a:ext cx="885748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board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67" y="1353312"/>
            <a:ext cx="874776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http://{{VM_IP}}/horizon/iot/ · login admin / s4t · select Active 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training/experiments/virtual-networking/attach-port.sh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attach-port.sh script internals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Script wraps IoTronic REST API with lab-friendly output formatting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boards subcommand: GET /v1/boards/ — filters Active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list subcommand: GET /v1/boards/{uuid}/ports/ — shows existing VIF attachments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Uses Conductor at http://{{VM_IP}}:8812 — same endpoint as Module A API checks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Token acquisition: script reads from env or prompts — see script header for details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Safe to re-run list after attach to confirm new port appears in response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Lab: attach port via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POST when network UUID known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Attach port API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411480"/>
          <a:lstStyle/>
          <a:p>
            <a:pPr algn="ctr"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curl -X POST http://{{VM_IP}}:8812/v1/boards/{BOARD_UUID}/ports/ \</a:t>
            </a:r>
          </a:p>
          <a:p>
            <a:pPr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-H "X-Auth-Token: $TOKEN" -H "Content-Type: application/json" \</a:t>
            </a:r>
          </a:p>
          <a:p>
            <a:pPr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-d '{"network": "{NETWORK_UUID}"}'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5819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58191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ports API response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Expected API response fields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VIF_name: logical interface identifier assigned by IoTronic/Neutron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ip address: overlay IP reachable within the Neutron network context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MAC_add: hardware address for L2 operations on the overlay segment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Empty or error response: Neutron backend may not be fully wired in Docker lab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Partial success still demonstrates API contract students will use in production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Compare response schema with Ch.5 API tables in the book listing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edge virtual interface · TUN/TAP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TUN/TAP and edge-side networking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Virtual interfaces on board appear as tun/tap devices in Linux network stack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ip link show on board container reveals new interface after successful attach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Applications bind to assigned overlay IP — no change to physical NIC configuration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Edge routing tables may need update for multi-homed board scenarios (advanced)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WSTUN (Module F) solves different problem: HTTP service exposure via NAT traversal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VN + WSTUN complement each other in full S4T production deployments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Verify WAgent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docker logs iotronic-wagent 2&gt;&amp;1 | tail -30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Look for port attach / VIF configuration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Ch.14 §14.3 · Module F cross-reference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VN vs WSTUN — comparison table (Ch.5 vs 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VN (this module): L2/L3 overlay — board gets IP on Neutron network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WSTUN (Module F): L7 reverse tunnel — board HTTP service exposed on public 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VN use case: cloud VM pings board overlay IP; microservice-to-sensor direct TCP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WSTUN use case: curl http://{{VM_IP}}:50002/ reaches nginx on board port 50000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Production: both enabled simultaneously for different application patterns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Docker stack: WSTUN fully functional; VN demonstrates API + WAgent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Validate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Production Neutron requirements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Validate VN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cd training &amp;&amp; ./validate-lab-vn.sh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Script checks API reachability and WAgent container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Ch.5 · production checklist · ch05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Production deployment requirements (Ch.5)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Full OpenStack Neutron with ML2 plugin and network agent on compute nodes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IoTronic Conductor + WAgent deployed as OpenStack services (not Docker lab compose)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 Lightning-Rod agent version compatible with IoTronic ports API version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Network UUIDs managed via Horizon Network panel or neutron CLI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SLICES RI testbeds (Ch.10) provide production-grade Neutron for experimenters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Reference repo: github.com/AssemblingSmartCPS/ch05 — Neutron port specs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Module E checklist &amp;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□ attach-port.sh boards lists Active board from Module 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□ Port attach API call attempted (or documented why Neutron UUID unavailable)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□ WAgent logs inspected for orchestration messages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□ Student can explain VN vs WSTUN difference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Reference: Book Ch.5 tables · github.com/AssemblingSmartCPS/ch05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