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  <a:p>
            <a:r>
              <a:t>Replace BOARD_UUID from boards listing · NETWORK_UUID from Neutron/Horizon if available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[EXT] 45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502920"/>
            <a:ext cx="2011680" cy="347472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S4T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Calibri"/>
              </a:defRPr>
            </a:pPr>
            <a:r>
              <a:t>Module E — Virtual Networking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52044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000" b="0">
                <a:solidFill>
                  <a:srgbClr val="B2EBF2"/>
                </a:solidFill>
                <a:latin typeface="Calibri"/>
              </a:defRPr>
            </a:pPr>
            <a:r>
              <a:t>Ch.5 · Extension · VM {{VM_IP}} · OPTIONAL 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623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90A4AE"/>
                </a:solidFill>
                <a:latin typeface="Calibri"/>
              </a:defRPr>
            </a:pPr>
            <a:r>
              <a:t>Extension · Ch.5 — Virtual Networking · optional if Neutron incomplete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394960"/>
            <a:ext cx="3200400" cy="36576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Network virtualization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Ch.5 — Neutron + IoTronic ports before the 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Ch.5 · Network virtualization in IoT · chapter abstract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Problem: connecting cloud and edge (Ch.5)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IoT boards sit behind NAT, firewalls, and heterogeneous LAN topologies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Cloud applications in VMs need logical connectivity to edge devices and sensors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Network virtualization: overlay networks independent of physical wiring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Stack4Things extends OpenStack Neutron toward edge IoT nodes via IoTronic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Goal: treat remote boards as first-class network citizens in the cloud overlay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Complements WSTUN (Module F) which solves HTTP service exposure, not L2/L3 overlay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Ch.5 § OpenStack networking · Neutron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OpenStack Neutron recap for IoT context (Ch.5)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Neutron manages virtual networks, subnets, routers, security groups in OpenStack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Standard cloud VMs attach to Neutron networks via virtual interfaces (VIFs)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IoTronic ports API extends this model: boards receive VIFs on overlay networks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WAgent (Worker Agent) on cloud side coordinates tunnel/port setup with edge LR agent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Production: full Neutron L2/L3 with ML2 plugin; Docker lab: API workflow demo only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tables list IoTronic networking REST endpoints with request/response schemas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Ch.5 · IoTronic networking API · attach port listing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Virtual ports &amp; VIF abstraction (Ch.5)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POST /v1/boards/{uuid}/ports/ attaches virtual network interface to registered board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Response JSON includes VIF_name, ip address, MAC_add — logical identity on overlay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Board-side: virtual interface appears in Linux network stack (tun/tap device)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Applications on board bind to assigned overlay IP without physical NIC changes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Cloud-side: other VMs on same Neutron network reach board via overlay routing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Enables peer-to-peer cloud↔edge communication for latency-sensitive workloads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Ch.5 · WAgent · Ch.13 docker-compose service 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WAgent orchestration role (Ch.5 + Ch.13)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WAgent container (iotronic-wagent) runs alongside Conductor in cloud stack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Receives port attach requests from IoTronic → configures tunnel/VIF on cloud side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Coordinates with Lightning-Rod agent on board for edge-side interface creation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Logs in docker logs iotronic-wagent show attach attempt and backend response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If Neutron backend unavailable: API accepts request but L3 may not fully provision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Lab value: understand book workflow before production OpenStack deployment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Ch.4 I/Ocloud + Ch.5 VN · fig:chap05:vn-workflow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I/Ocloud networking context (Ch.4–5 bridge)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Virtual Nodes in cloud can participate in same overlay as physical boards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Designate provides DNS naming; Neutron provides topology; IoTronic binds boards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Full production: multi-site SLICES experiments span Neutron networks (Ch.10–11)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VN enables cloud microservices to push/pull data directly to edge sensors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Different from Module F WSTUN: VN is network-layer; WSTUN is application-layer tunnel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Both coexist in complete S4T deployments for different connectivity patterns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Ch.5 · API tables · training/experiments/virtual-networking/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Attach-port REST workflow step-by-step (Ch.5)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Step 1: obtain Keystone token (or use Horizon session for API exploration)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Step 2: GET /v1/boards/ — select Active board UUID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Step 3: GET /v1/networks/ or Horizon — obtain target Neutron network UUID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Step 4: POST /v1/boards/{BOARD_UUID}/ports/ with {"network": "NETWORK_UUID"}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Step 5: parse response — note VIF_name, ip, MAC for verification on board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Step 6: test connectivity from cloud VM to board overlay IP (production)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Ch.5 § Network virtualization in IoT · MENO · VITRO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MENO and Virtual Sensor Networks (Ch.5)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Managed Ecosystem of Networked Objects (MENO): limited cooperating devices without public IPs.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VITRO Virtual Sensor Networking (VSN): dynamic collaboration across admin domains.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Applications see only the logical overlay — physical LAN boundaries become transparent.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Motivates S4T NV beyond lab attach-port: smart factories, buildings, and city districts.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Contrasts with exposing every sensor on a public server — most IoT apps need local cooperation.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figure: fig:chap05:MENO — end-to-end logical network over heterogeneous physical links.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Ch.5 § use cases · fig:chap05:use-cases · fig:chap05:use-case-personal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S4T NV use cases from the book (Ch.5)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Partitioning: split devices on one LAN into separate VNs — e.g. departments in a smart building.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Cross-network: connect geo-distributed boards without VPN configuration on edge routers.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Cloud extension: add OpenStack VMs to the same VN as edge sensors for storage and analytics.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Personal devices: smartphones/tablets join VN — static overlay IP survives WiFi↔4G handoff.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Hybrid VNs combine all patterns — countless topologies for application-specific requirements.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AllJoyn requires same broadcast domain; S4T NV crosses NAT and subnet boundaries.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Attach port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42260" y="1426464"/>
            <a:ext cx="7107173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n-attach-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412" y="1499616"/>
            <a:ext cx="6960869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Horizon/API → IoTronic → WAgent → board virtual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Diagram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Module E — learning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Understand Ch.5 virtual networking theory and IoTronic ports API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Execute attach-port.sh helper script against live lab Conductor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Inspect WAgent logs for orchestration evidence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Articulate VN vs WSTUN difference (network overlay vs HTTP tunnel)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Pass validate-lab-vn.sh where Neutron backend permits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868680" cy="310896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What this module demonstrates — demo goals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Operator can request virtual port attachment via REST API on live Conductor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WAgent logs show orchestration attempt even if Neutron L3 backend is limited in Docker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Students understand production attach-port workflow before field deployment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Board appears as network participant — not just HTTP endpoint behind NAT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Foundation for SLICES multi-site experiments (Ch.10–11) using Neutron overlays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Optional module — skip gracefully if short on time without blocking other modules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Demo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Lab: explore boards and 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attach-port.sh helper scripts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List boards and existing ports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cd training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./experiments/virtual-networking/attach-port.sh boards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./experiments/virtual-networking/attach-port.sh list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Note Active board UUID(s) and any existing port attachments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Horizon IoT — Boards (attach port context)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8975" y="1426464"/>
            <a:ext cx="6333744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rizon-boards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127" y="1499616"/>
            <a:ext cx="618744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http://{{VM_IP}}/horizon/iot/ · login admin / s4t · select Active board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training/experiments/virtual-networking/attach-port.sh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attach-port.sh script internals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Script wraps IoTronic REST API with lab-friendly output formatting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boards subcommand: GET /v1/boards/ — filters Active boards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list subcommand: GET /v1/boards/{uuid}/ports/ — shows existing VIF attachments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Uses Conductor at http://{{VM_IP}}:8812 — same endpoint as Module A API checks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Token acquisition: script reads from env or prompts — see script header for details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Safe to re-run list after attach to confirm new port appears in response JSON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Lab: attach port via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POST when network UUID known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Attach port API call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11155680" cy="4892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A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411480"/>
          <a:lstStyle/>
          <a:p>
            <a:pPr algn="ctr">
              <a:spcAft>
                <a:spcPts val="200"/>
              </a:spcAft>
              <a:defRPr sz="1100" b="0">
                <a:solidFill>
                  <a:srgbClr val="E2E8F0"/>
                </a:solidFill>
                <a:latin typeface="Consolas"/>
              </a:defRPr>
            </a:pPr>
            <a:r>
              <a:t>curl -X POST http://{{VM_IP}}:8812/v1/boards/{BOARD_UUID}/ports/ \</a:t>
            </a:r>
          </a:p>
          <a:p>
            <a:pPr>
              <a:spcAft>
                <a:spcPts val="200"/>
              </a:spcAft>
              <a:defRPr sz="1100" b="0">
                <a:solidFill>
                  <a:srgbClr val="E2E8F0"/>
                </a:solidFill>
                <a:latin typeface="Consolas"/>
              </a:defRPr>
            </a:pPr>
            <a:r>
              <a:t>  -H "X-Auth-Token: $TOKEN" -H "Content-Type: application/json" \</a:t>
            </a:r>
          </a:p>
          <a:p>
            <a:pPr>
              <a:spcAft>
                <a:spcPts val="200"/>
              </a:spcAft>
              <a:defRPr sz="1100" b="0">
                <a:solidFill>
                  <a:srgbClr val="E2E8F0"/>
                </a:solidFill>
                <a:latin typeface="Consolas"/>
              </a:defRPr>
            </a:pPr>
            <a:r>
              <a:t>  -d '{"network": "{NETWORK_UUID}"}'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11155680" cy="292608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581912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86968" y="1581912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" y="1581912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Code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Ch.5 · ports API response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Expected API response fields (Ch.5)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VIF_name: logical interface identifier assigned by IoTronic/Neutron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ip address: overlay IP reachable within the Neutron network context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MAC_add: hardware address for L2 operations on the overlay segment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Empty or error response: Neutron backend may not be fully wired in Docker lab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Partial success still demonstrates API contract students will use in production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Compare response schema with Ch.5 API tables in the book listing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Ch.5 · edge virtual interface · TUN/TAP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TUN/TAP and edge-side networking (Ch.5)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Virtual interfaces on board appear as tun/tap devices in Linux network stack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ip link show on board container reveals new interface after successful attach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Applications bind to assigned overlay IP — no change to physical NIC configuration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Edge routing tables may need update for multi-homed board scenarios (advanced)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WSTUN (Module F) solves different problem: HTTP service exposure via NAT traversal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VN + WSTUN complement each other in full S4T production deployments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Verify WAgent logs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docker logs iotronic-wagent 2&gt;&amp;1 | tail -30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Look for port attach / VIF configuration messages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Ch.5 · Ch.14 §14.3 · Module F cross-reference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VN vs WSTUN — comparison table (Ch.5 vs 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VN (this module): L2/L3 overlay — board gets IP on Neutron network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WSTUN (Module F): L7 reverse tunnel — board HTTP service exposed on public port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VN use case: cloud VM pings board overlay IP; microservice-to-sensor direct TCP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WSTUN use case: curl http://{{VM_IP}}:50002/ reaches nginx on board port 50000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Production: both enabled simultaneously for different application patterns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Lab Docker stack: WSTUN fully functional; VN demonstrates API + WAgent workflow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Validate &amp;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Production Neutron requirements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Validate VN module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300" b="0">
                <a:solidFill>
                  <a:srgbClr val="0D2B45"/>
                </a:solidFill>
                <a:latin typeface="Consolas"/>
              </a:defRPr>
            </a:pPr>
            <a:r>
              <a:t>$ cd training &amp;&amp; ./validate-lab-vn.sh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Script checks API reachability and WAgent container health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Ch.5 · production checklist · ch05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Production deployment requirements (Ch.5)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Full OpenStack Neutron with ML2 plugin and network agent on compute nodes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IoTronic Conductor + WAgent deployed as OpenStack services (not Docker lab compose)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Board Lightning-Rod agent version compatible with IoTronic ports API version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Network UUIDs managed via Horizon Network panel or neutron CLI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SLICES RI testbeds (Ch.10) provide production-grade Neutron for experimenters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Reference repo: github.com/AssemblingSmartCPS/ch05 — Neutron port specs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Module E checklist &amp;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attach-port.sh boards lists Active board from Module A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Port attach API call attempted (or documented why Neutron UUID unavailable)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WAgent logs inspected for orchestration messages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Student can explain VN vs WSTUN difference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Reference: Book Ch.5 tables · github.com/AssemblingSmartCPS/ch05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