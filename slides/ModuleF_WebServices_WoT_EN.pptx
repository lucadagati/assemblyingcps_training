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  <a:p>
            <a:r>
              <a:t>Response JSON includes public_port on iotronic-wstun (e.g. 50002)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02920"/>
            <a:ext cx="2011680" cy="347472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S4T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Calibri"/>
              </a:defRPr>
            </a:pPr>
            <a:r>
              <a:t>Module F — Web Services, WSTUN &amp; WoT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0">
                <a:solidFill>
                  <a:srgbClr val="B2EBF2"/>
                </a:solidFill>
                <a:latin typeface="Calibri"/>
              </a:defRPr>
            </a:pPr>
            <a:r>
              <a:t>Ch.6 + Ch.14 · Extension · VM {{VM_IP}}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90A4AE"/>
                </a:solidFill>
                <a:latin typeface="Calibri"/>
              </a:defRPr>
            </a:pPr>
            <a:r>
              <a:t>Extension · Ch.6 + Ch.14 — Web Services, WSTUN &amp; WoT · book :8080 vs lab :50000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94960"/>
            <a:ext cx="3200400" cy="36576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Web of Things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Ch.6 — layered model before the WSTUN 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§6.1 · fragmented IoT · need for common abstraction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Fragmented IoT and the need for abstraction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IoT devices use incompatible protocols — Zigbee, MQTT, CoAP, proprietary HTTP APIs.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Each vendor ships its own stack — integration requires custom middleware and data mapping.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Parallel to the pre-WWW Internet: incompatible islands before HTTP unified access.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WoT reuses HTTP, URIs, JSON, REST — decades of proven Web infrastructure and tooling.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Common abstraction decouples application logic from board-specific SDKs and pin maps.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S4T I/Ocloud + WoT gateway pattern is the book's answer to fragmentation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· Weaving the Web of Things · chapter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Web of Things paradigm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Extend Web standards (HTTP, URIs, JSON, HTML) to physical objects and sensors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Web Things expose RESTful APIs: readable properties, invokable actions, events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Three integration patterns: direct API on device, smart gateway, I/Ocloud virtual nodes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Goal: interoperable IoT at Web scale — not proprietary silo protocols (MQTT-only, etc.)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WoT aligns with I/Ocloud vision (Ch.4): programmable CPS as Web-accessible infrastructure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I (Ch.7 Deviceless) builds on WoT exposure patterns introduced 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· fig:chap06:WoT-layers ·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WoT layered model — Access layer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Device becomes HTTP resource: GET /temperature, POST /led, GET /humidity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Content negotiation: JSON for machines, HTML for human-readable sensor dashboards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Gateway pattern: heterogeneous sensors → LR adapts protocols → uniform REST on HTTP/S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live demo: wot.rasp-univ.iot.* — Flask endpoints on Raspberry Pi gateway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Security: HTTPS termination at cloud reverse proxy; board may use HTTP internally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figure: fig:chap06:WoT-layers — Access is the foundation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· Find · Share · Compose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WoT layered model — Find, Share, Compose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Find: machine-readable Thing Descriptions + discovery mechanisms (CoRE Link Format, etc.)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Share: cross-domain access with social/trust models — who may read/actuate which Thing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Compose: mashups combining distributed Web Things (sensor page + live video + map)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S4T stack: Designate DNS + IoTronic service catalog enable Find at Web scale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Horizon Web Services Manager exposes human-friendly URLs for board services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DeXMS mediators (Ch.6 §6.4) deploy protocol bridges (MQTT, CoAP) on remote gateways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§6.4 · Stack4Things gateway WoT system · fig:chap06:s4t-wot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Gateway-based WoT in S4T (Ch.6 §6.4)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Heterogeneous boards connect via Lightning-Rod — protocol adaptation at the edge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Cloud stack: Designate (DNS) + IoTronic + NGINX reverse proxy + WebSocket tunnels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architecture: cloud NGINX routes https://wot.board.example.com → board HTTP service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LR runs local HTTP server (Flask, nginx) — cloud exposes it on public URL or 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WoT Thing Description documents available endpoints for automated discovery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Training lab uses WSTUN port mapping instead of full Designate DNS registration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§ DNS in OpenStack · Designate · ACME · sec:expose-service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Designate DNS and ACME certificates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Designate is OpenStack's DNS-as-a-service — manages zones and records for board subdomains.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 WoT URL: web-server.node-A.example.com decomposed into service.node.fqdn parts.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ACME (Certbot/Let's Encrypt) issues DV TLS certificates once DNS records propagate.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Cloud NGINX terminates HTTPS and forwards to WSTUN backend for the matching board tunnel.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Nine-step book workflow: catalog service → Enable → DNS → cert → NGINX → public HTTPS URL.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WSTUN skips DNS/ACME — same ServiceEnable API, different public endpoint format.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§6.4 DeXMS · CoAP/MQTT mediation · fig:chap06:mediation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DeXMS — gateway mediators for heterogeneous protocols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DeXMS deploys protocol-bridge mediators on remote gateways via IoTronic RPC.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DeXIDL GUI generates mediator JARs — packaged into LR Docker images for K8s/K3s rollout.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CoAP observe streams and MQTT pub/sub topics become HTTP endpoints for WoT consumers.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ESB-style integration without forcing every sensor to speak HTTP natively.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sequence diagrams: CoAP→HTTP and MQTT→HTTP mediation paths (fig:chap06:coap/mqtt).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Connects Module F HTTP demos to constrained-device protocols in smart-city deployments.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· three WoT integration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Direct vs gateway vs virtual-node WoT patterns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Direct: sensor board runs HTTP server — reachable if public IP (rare in IoT)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Gateway: LR aggregates multiple sensors → single REST API surface (most common S4T)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Virtual node: cloud-side software representation with same REST contract as physical board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S4T supports all three; Ch.14 web services focus on gateway pattern with DNS/WSTUN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weather station: gateway pattern — Flask on board, exposed via cloud proxy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nginx demo: gateway pattern — nginx in LR container, exposed via WSTUN tunnel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S4T Web Services (Ch.14 §14.3)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Designate + WSTUN + service catalog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§14.3 · Web services integration ·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Stack4Things Web Services overview (Ch.14 §14.3)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Expose IoT resources over the Web without manual port forwarding on edge routers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Designate DNS-as-a-Service assigns subdomain per board (wot.board-1.example.com)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NGINX reverse proxy + WebSocket tunnel routes HTTPS to edge HTTP service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IoTronic Service Catalog: define reusable service templates (name + port + protocol)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ServiceEnable action on board activates tunnel — cloud assigns public endpoint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repo: ch14/demos/weather_web_server.py — canonical WoT weather station on :8080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· Web Services Manager · fig:chap14:wot-manager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Web Services Manager workflow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Horizon Web Services panel → enable WSM per board → configure subdomain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 catalog entry: name (e.g. wot) + local port (8080 in book weather demo)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Public URL: https://wot.board-1.example.com (Designate A record + NGINX location block)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Exposes sensor GET endpoints + actuator POST (temperature, humidity, LED toggle)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figures: fig:chap14:wot-manager, fig:chap14:wot-example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Full path requires Designate + NGINX + valid DNS zone — optional in Docker lab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demos/weather_web_server.py · listing weather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Book weather server — weather_web_server.py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Flask app on board port 8080 — GET /temperature, /humidity, POST /led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Simulated or real sensor reads — returns JSON for programmatic access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Represents canonical WoT gateway service in book hands-on walkthrough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 catalog entry: name=wot, port=8080, protocol=TCP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After ServiceEnable: public URL or WSTUN port maps to board :8080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Students should understand this as the production-intent service (vs lab nginx shortcut)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Ch.13 WSTUN · Ch.16 MACM WSTUNServer · docker-compose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WSTUN — lab alternative to full Designate (Ch.13–14)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WSTUN Server (iotronic-wstun) manages reverse WebSocket tunnels to NAT-bound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 catalog: define service name + local TCP port on board (lab: 50000)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ServiceEnable on board → cloud assigns public_port from range 50001–50100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access: http://{{VM_IP}}:&lt;public_port&gt;/ — no DNS registration required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Same IoTronic API workflow as production — only the public endpoint format differs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Ch.16 MACM documents WSTUNServer component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demos/weather_web_server.py · run-weather-demo.sh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Book :8080 vs lab ports — verified divergence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(Ch.14): weather_web_server.py on port 8080 — GET /sensors, POST /led/toggle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LR compose image reserves :8080 internally — lab runs weather on port 8088 instead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infra smoke test: lr-nginx-demo on port 50000 → WSTUN public_port (e.g. 50002)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WoT demo verified: weather-wot service on lab port 8088 → WSTUN :50062 → HTTP 200 /sensors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Both demos use identical IoTronic workflow: catalog → ServiceEnable → curl public endpoint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Repo: github.com/AssemblingSmartCPS/ch14 · demos/weather_web_server.py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WSTUN port forwarding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42260" y="1426464"/>
            <a:ext cx="7107173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stun-port-forwa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412" y="1499616"/>
            <a:ext cx="69608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Edge service → WSTUN tunnel → cloud public_port (50001–50100 range)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UML sequence — ServiceEnable / WSTUN (Module F)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85081" y="1426464"/>
            <a:ext cx="6621531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q-wstun-en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233" y="1499616"/>
            <a:ext cx="6475227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Catalog → ServiceEnable → WSTUN tunnel → curl public_port/sensors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F — learning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Explain Ch.6 WoT layered model and Ch.14 web services architecture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Run book weather demo via run-weather-demo.sh (port 8088 lab / 8080 book)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Run nginx infra smoke test via setup-wstun-demo.py (port 50000)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Execute ServiceEnable on Active board — obtain public_port mapping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curl /sensors JSON from weather tunnel and HTTP 200 from nginx tunnel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868680" cy="310896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Demo A — Book weather server (ch14) — verified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Script: experiments/webservices/run-weather-demo.sh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Starts weather_web_server.py inside LR on lab port 8088 (book uses 8080 on hardware)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Creates catalog entry weather-wot · ServiceEnable → public_port (verified :50062)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Success: curl http://{{VM_IP}}:&lt;public_port&gt;/sensors → JSON temperature/humidity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Screenshot: assets/chapter14/weather-server-dashboard.png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State file: experiments/webservices/weather-state.json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Demo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868680" cy="310896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Demo B — nginx infra smoke test — verified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Script: experiments/webservices/setup-wstun-demo.py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Catalog lr-nginx-demo port 50000 → public_port (verified :50002) → HTTP 200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Validates WSTUN tunnel plumbing without deploying Flask weather server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Use when time is short — weather demo proves full WoT API path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Both services can coexist on same board with different local 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Demo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Lab stack — WSTUN component ports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WSTUN control plane: iotronic-wstun container in docker compose stack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Tunnel public range: host ports 50001–50100 mapped in lab overlay patch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Requires board Active (Module A) + service catalog entry with valid port ≠ 0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Conductor API: http://{{VM_IP}}:8812 · Horizon: http://{{VM_IP}}/horizon/iot/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Horizon login: admin / s4t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417320" cy="329184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⚠  BOOK ↔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BF360C"/>
                </a:solidFill>
                <a:latin typeface="Calibri"/>
              </a:defRPr>
            </a:pPr>
            <a:r>
              <a:t>Horizon Create Service — Porta default is 0!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Form /horizon/iot/services/create/ defaults Porta = 0 — INVALID for any service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You MUST set Porta = 50000 for lab nginx demo (LOCAL_PORT constant in this deck)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Book weather demo uses port 8080 — same form, different port value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Port 0 causes ServiceEnable failure or silent misconfiguration — always verify in list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Prefer API if UI unclear: POST /v1/services with explicit port field in JSON body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setup-wstun-demo.py script automates catalog creation with correct 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Demo A: book weather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run-weather-demo.sh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Run verified weather demo script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cd training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./experiments/webservices/run-weather-demo.sh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# Starts ch14/demos/weather_web_server.py inside LR on port 8088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# Creates catalog weather-wot · ServiceEnable · writes weather-state.json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Expected: OK http://{{VM_IP}}:&lt;public_port&gt;/sensors → HTTP 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Weather server dashboard via WSTUN 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eather-serv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http://{{VM_IP}}:&lt;public_port&gt;/ — JSON /sensors from ch14 demo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Verify WoT sensor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CLOUD=$(python3 -c "import json; print(json.load(open('experiments/webservices/weather-state.json'))['cloud_port'])")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curl -s http://{{VM_IP}}:$CLOUD/sensors | python3 -m json.tool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Expected fields: temperature, humidity, pressure, device=weather-station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curl -X POST http://{{VM_IP}}:$CLOUD/led/toggle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Demo B: nginx infra smoke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setup-wstun-demo.py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Run nginx WSTUN smoke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.venv/bin/python experiments/webservices/setup-wstun-demo.py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Creates lr-nginx-demo port 50000 · captures Horizon screenshots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curl -v http://{{VM_IP}}:50002/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Expected: HTTP 200 nginx welcome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— Servizi list (port verified)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service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http://{{VM_IP}}/horizon/iot/services/ — lr-nginx-demo port 50000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· IoTronic services API · listing create_service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Service catalog REST schema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POST /v1/services — body: name (string), port (integer), protocol (TCP|UDP)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GET /v1/services/ — list all catalog entries with UUID and port fields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Catalog is tenant-global — same service definition reused across multiple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ServiceEnable on board creates board-specific tunnel instance with public_port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DELETE /v1/services/{uuid} — remove catalog entry (boards must disable first)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Port must match actual listening port inside LR container (50000 nginx / 8080 Flask)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ServiceEnable on board (API)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892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A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411480"/>
          <a:lstStyle/>
          <a:p>
            <a:pPr algn="ctr">
              <a:spcAft>
                <a:spcPts val="200"/>
              </a:spcAft>
              <a:defRPr sz="1100" b="0">
                <a:solidFill>
                  <a:srgbClr val="E2E8F0"/>
                </a:solidFill>
                <a:latin typeface="Consolas"/>
              </a:defRPr>
            </a:pPr>
            <a:r>
              <a:t>curl -X POST http://{{VM_IP}}:8812/v1/boards/&lt;BOARD_UUID&gt;/services/lr-nginx-demo/action \</a:t>
            </a:r>
          </a:p>
          <a:p>
            <a:pPr>
              <a:spcAft>
                <a:spcPts val="200"/>
              </a:spcAft>
              <a:defRPr sz="1100" b="0">
                <a:solidFill>
                  <a:srgbClr val="E2E8F0"/>
                </a:solidFill>
                <a:latin typeface="Consolas"/>
              </a:defRPr>
            </a:pPr>
            <a:r>
              <a:t>  -H "X-Auth-Token: $TOKEN" -H "Content-Type: application/json" \</a:t>
            </a:r>
          </a:p>
          <a:p>
            <a:pPr>
              <a:spcAft>
                <a:spcPts val="200"/>
              </a:spcAft>
              <a:defRPr sz="1100" b="0">
                <a:solidFill>
                  <a:srgbClr val="E2E8F0"/>
                </a:solidFill>
                <a:latin typeface="Consolas"/>
              </a:defRPr>
            </a:pPr>
            <a:r>
              <a:t>  -d '{"action":"ServiceEnable"}'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11155680" cy="29260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581912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6968" y="158191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" y="158191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— Boards with exposed service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boards-with-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Servizi column: lr-nginx-demo [TCP] 50000 → 50002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· ServiceEnable · WSTUN port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ServiceEnable response and port mapping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Response public_port: host-accessible port on lab VM (50001–50100 range)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 column in Horizon shows: service_name [protocol] local_port → public_port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Traffic flow: client → {{VM_IP}}:public_port → WSTUN → LR:local_port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LR nginx (lab) or Flask (book) must be listening BEFORE ServiceEnable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ServiceDisable action tears down tunnel — public_port returned to pool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Multiple services on same board: separate catalog entries with different local 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Verify cloud endpoint with curl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curl -v http://{{VM_IP}}:50002/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# nginx demo public_port — check wstun-state.json if different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Expected: HTTP 200 + nginx welcome page from board LR container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./validate/validate-demo-ch14.sh &amp;&amp; ./validate-lab-wstun.sh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WSTUN troubleshooting logs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docker logs iotronic-wstun 2&gt;&amp;1 | tail -20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docker logs lightning-rod 2&gt;&amp;1 | grep -i 'Cloud service'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Look for: TCP server listening on assigned public port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Common fix: recreate catalog entry if port was 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demos/weather_web_server.py · weather-state.json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Book weather server — verified lab procedure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Script run-weather-demo.sh copies ch14/demos/weather_web_server.py into LR container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port 8088 used because LR compose image reserves :8080 for WSTUN client stack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Catalog entry weather-wot port 8088 · ServiceEnable → curl /sensors JSON via public_port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Verified: HTTP 200 on /sensors with temperature, humidity, pressure fields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hardware boards use port 8080 as documented in ch14/demos/README.md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Repo: github.com/AssemblingSmartCPS/ch14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— Web Services panel (Designate path)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webservice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http://{{VM_IP}}/horizon/iot/webservices/ — full WoT URL setup (optional tour)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· local domain simulation · Designate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Production WoT path — Designate + /etc/hosts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Install/configure OpenStack Designate with public domain zone (example.com)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Testing without real DNS: map example.com → {{VM_IP}} in /etc/hosts on client machine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Enable WSM → service wot :8080 → https://wot.board-1.example.com/temperature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NGINX terminates TLS — forwards to WSTUN tunnel — same machinery as port mapping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Human-readable URLs enable WoT Find/Share layers (Ch.6) at scale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Designate optional in Docker lab — WSTUN port path sufficient for training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· Ch.14 security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WoT security considerations (Ch.6 +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HTTPS at cloud edge — never expose raw board HTTP to public Internet in production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Keystone authentication for IoTronic API — ServiceEnable requires valid token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 services should validate input on POST actuators (LED, GPIO) — prevent abuse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Rate limiting at NGINX for public WSTUN endpoints under DDoS exposure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Lab: HTTP acceptable on {{VM_IP}}:public_port for classroom — not production pattern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Cross-reference Module E VN for network-layer security groups on overlay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RESTful Things · Ch.14 weather_web_server.py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REST design for WoT resources (Ch.6 +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GET /temperature — read sensor property; idempotent, cacheable, safe method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POST /led — actuate actuator with JSON body {"state": "on"} — non-idempotent action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Content-Type: application/json for machine clients; text/html optional for dashboards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HTTP status codes: 200 OK read, 201 Created action, 503 if sensor temporarily unavailable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weather server returns JSON: {"temperature": 22.5, "unit": "C"} — WoT property pattern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nginx returns HTML welcome page — infra validation only; weather server is true WoT 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§6.4 gateway architecture · Ch.14 NGINX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NGINX reverse proxy role in S4T WoT (Ch.6 §6.4 +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Cloud NGINX terminates TLS and routes Host header to correct board tunnel backend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Location block per subdomain: wot.board-1.example.com → upstream WSTUN backend 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Board-side nginx (lab :50000) or Flask (:8080) is origin server — NGINX is edge proxy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WebSocket upgrade headers preserved for WSTUN tunnel establishment and maintenance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Same NGINX instance serves Horizon UI and IoT service proxy — different server_name blocks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Production: NGINX + Designate + WSTUN three-component path to Deviceless URL (Module I)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Ch.6 · Find layer · Thing Description W3C WoT spec cross-reference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Thing Descriptions and discovery (Ch.6 Find layer)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WoT Thing Description (TD): JSON-LD document listing properties, actions, events, schemas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Well-known URI: /.well-known/wot-thing-description — automated discovery by mashup apps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CoRE Link Format alternative for constrained devices — Link header in HTTP responses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S4T Designate DNS enables stable TD URL: https://wot.board.example.com/td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Find layer completes Access: clients discover API contract before invoking endpoints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WSTUN path skips Find (no DNS) — students should know production adds TD + DNS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· service lifecycle · ServiceDisable listing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Service lifecycle — Enable, Disable, Update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ServiceEnable: creates WSTUN tunnel, assigns public_port, starts forwarding traffic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ServiceDisable: tears down tunnel, releases public_port back to pool 50001–50100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 must be Active before ServiceEnable — same prerequisite as plugin inject (Module A)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Changing catalog port requires Disable → update catalog → re-Enable on affected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Multiple services per board: separate catalog entries (lr-nginx-demo :50000, wot :8080)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Horizon boards column shows all active service mappings per board for operational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§14.3 · WSTUN vs Designate comparison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WSTUN vs Designate — decision guide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Use WSTUN port mapping: lab, demos, quick tests — http://{{VM_IP}}:public_port/path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Use Designate DNS: production, human URLs, WoT Find/Share layers, Module I Deviceless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Same ServiceEnable API — difference is only how clients construct the public URL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Designate requires DNS zone + NGINX server_name config — more setup, better UX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weather demo intended for Designate path — WSTUN port path is lab training shortcut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Both paths traverse same WebSocket tunnel — WSTUNServer is shared infrastructure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ServiceDisable cleanup (optional)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691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508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API: POST .../services/lr-nginx-demo/action with {"action":"ServiceDisable"}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Verify Horizon boards column clears service mapping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Re-Enable to confirm public_port may change — not guaranteed same port after recycle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Validate WSTUN module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cd training &amp;&amp; ./validate-lab-wstun.sh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Script verifies catalog port, ServiceEnable state, and curl HTTP 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F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weather-wot service verified: curl /sensors → JSON HTTP 200 (run-weather-demo.sh)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lr-nginx-demo port 50000 → public_port curl HTTP 200 (setup-wstun-demo.py)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Board Servizi column shows both tunnel mappings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Student can explain book port 8080 vs lab port 8088 (LR image constraint)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Student can describe Designate path vs WSTUN port path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./validate/validate-all.sh Module F checks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