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In this module we will work through Module F — Web Services, WSTUN &amp; WoT.</a:t>
            </a:r>
          </a:p>
          <a:p/>
          <a:p>
            <a:r>
              <a:t>Ch.6 + Ch.14 · Extension · VM {{VM_IP}}</a:t>
            </a:r>
          </a:p>
          <a:p/>
          <a:p>
            <a:r>
              <a:t>The session alternates theory from the book with live exercises on the Stack4Things lab VM. Replace the placeholder IP with the address of the machine you are using.</a:t>
            </a:r>
          </a:p>
          <a:p/>
          <a:p>
            <a:r>
              <a:t>Extension · Ch.6 + Ch.14 — Web Services, WSTUN &amp; WoT · book :8080 vs lab :50000.</a:t>
            </a:r>
          </a:p>
          <a:p/>
          <a:p>
            <a:r>
              <a:t>When you're ready, advance to the first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begin a new section: Web of Things theory. Ch.6 — layered model before the WSTUN demo. In the next slides, listen for whether we are in theory mode or hands-on mode, and open your terminal when the slides turn to lab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Fragmented IoT and the need for abstraction (Ch.6). This material is covered in Ch.6 §6.1 · fragmented IoT · need for common abstraction.</a:t>
            </a:r>
          </a:p>
          <a:p/>
          <a:p>
            <a:r>
              <a:t>First, IoT devices use incompatible protocols — Zigbee, MQTT, CoAP, proprietary HTTP APIs. Next, Each vendor ships its own stack — integration requires custom middleware and data mapping.</a:t>
            </a:r>
          </a:p>
          <a:p/>
          <a:p>
            <a:r>
              <a:t>By contrast, regarding parallel to the pre-www internet, incompatible islands before HTTP unified access. We should also consider that WoT reuses HTTP, URIs, JSON, REST — decades of proven Web infrastructure and tooling.</a:t>
            </a:r>
          </a:p>
          <a:p/>
          <a:p>
            <a:r>
              <a:t>Another key point is that Common abstraction decouples application logic from board-specific SDKs and pin maps. Furthermore, S4T I/Ocloud + WoT gateway pattern is the book's answer to fragmentation at scale.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Web of Things paradigm (Ch.6). This material is covered in Ch.6 · Weaving the Web of Things · chapter abstract.</a:t>
            </a:r>
          </a:p>
          <a:p/>
          <a:p>
            <a:r>
              <a:t>First, Extend Web standards (HTTP, URIs, JSON, HTML) to physical objects and sensors. Next, regarding web things expose restful apis, readable properties, invokable actions, events.</a:t>
            </a:r>
          </a:p>
          <a:p/>
          <a:p>
            <a:r>
              <a:t>By contrast, regarding three integration patterns, direct API on device, smart gateway, I/Ocloud virtual nodes. We should also consider that regarding goal, interoperable IoT at Web scale — not proprietary silo protocols (MQTT-only, etc.).</a:t>
            </a:r>
          </a:p>
          <a:p/>
          <a:p>
            <a:r>
              <a:t>Another key point is that regarding wot aligns with i/ocloud vision (ch.4), programmable CPS as Web-accessible infrastructure. Furthermore, Module I (Ch.7 Deviceless) builds on WoT exposure patterns introduced here.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WoT layered model — Access layer (Ch.6). This material is covered in Ch.6 · fig:chap06:WoT-layers · Access.</a:t>
            </a:r>
          </a:p>
          <a:p/>
          <a:p>
            <a:r>
              <a:t>First, regarding device becomes http resource, GET /temperature, POST /led, GET /humidity. Next, regarding content negotiation, JSON for machines, HTML for human-readable sensor dashboards.</a:t>
            </a:r>
          </a:p>
          <a:p/>
          <a:p>
            <a:r>
              <a:t>By contrast, regarding gateway pattern, heterogeneous sensors, then LR adapts protocols, then uniform REST on HTTP/S. We should also consider that regarding book live demo, wot.rasp-univ.iot.* — Flask endpoints on Raspberry Pi gateway.</a:t>
            </a:r>
          </a:p>
          <a:p/>
          <a:p>
            <a:r>
              <a:t>Another key point is that regarding security, HTTPS termination at cloud reverse proxy; board may use HTTP internally. Furthermore, regarding book figure, fig:chap06:WoT-layers — Access is the foundation layer.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WoT layered model — Find, Share, Compose (Ch.6). This material is covered in Ch.6 · Find · Share · Compose layers.</a:t>
            </a:r>
          </a:p>
          <a:p/>
          <a:p>
            <a:r>
              <a:t>First, regarding find, machine-readable Thing Descriptions + discovery mechanisms (CoRE Link Format, etc.). Next, regarding share, cross-domain access with social/trust models — who may read/actuate which Thing.</a:t>
            </a:r>
          </a:p>
          <a:p/>
          <a:p>
            <a:r>
              <a:t>By contrast, regarding compose, mashups combining distributed Web Things (sensor page + live video + map). We should also consider that regarding s4t stack, designate DNS + IoTronic service catalog enable Find at Web scale.</a:t>
            </a:r>
          </a:p>
          <a:p/>
          <a:p>
            <a:r>
              <a:t>Another key point is that Horizon Web Services Manager exposes human-friendly URLs for board services. Furthermore, DeXMS mediators (Ch.6 §6.4) deploy protocol bridges (MQTT, CoAP) on remote gateways.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Gateway-based WoT in S4T (Ch.6 §6.4). This material is covered in Ch.6 §6.4 · Stack4Things gateway WoT system · fig:chap06:s4t-wot.</a:t>
            </a:r>
          </a:p>
          <a:p/>
          <a:p>
            <a:r>
              <a:t>First, Heterogeneous boards connect via Lightning-Rod — protocol adaptation at the edge. Next, regarding cloud stack, designate (DNS) + IoTronic + NGINX reverse proxy + WebSocket tunnels.</a:t>
            </a:r>
          </a:p>
          <a:p/>
          <a:p>
            <a:r>
              <a:t>By contrast, regarding book architecture, cloud NGINX routes https://wot.board.example.com, then board HTTP service. We should also consider that LR runs local HTTP server (Flask, nginx) — cloud exposes it on public URL or port.</a:t>
            </a:r>
          </a:p>
          <a:p/>
          <a:p>
            <a:r>
              <a:t>Another key point is that WoT Thing Description documents available endpoints for automated discovery. Furthermore, Training lab uses WSTUN port mapping instead of full Designate DNS registration.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Designate DNS and ACME certificates (Ch.6). This material is covered in Ch.6 § DNS in OpenStack · Designate · ACME · sec:expose-service.</a:t>
            </a:r>
          </a:p>
          <a:p/>
          <a:p>
            <a:r>
              <a:t>First, Designate is OpenStack's DNS-as-a-service — manages zones and records for board subdomains. Next, regarding production wot url, web-server.node-A.example.com decomposed into service.node.fqdn parts.</a:t>
            </a:r>
          </a:p>
          <a:p/>
          <a:p>
            <a:r>
              <a:t>By contrast, ACME (Certbot/Let's Encrypt) issues DV TLS certificates once DNS records propagate. We should also consider that Cloud NGINX terminates HTTPS and forwards to WSTUN backend for the matching board tunnel.</a:t>
            </a:r>
          </a:p>
          <a:p/>
          <a:p>
            <a:r>
              <a:t>Another key point is that regarding nine-step book workflow, catalog service, then Enable, then DNS, then cert, then NGINX, then public HTTPS URL. Furthermore, Lab WSTUN skips DNS/ACME — same ServiceEnable API, different public endpoint format.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DeXMS — gateway mediators for heterogeneous protocols (Ch.6). This material is covered in Ch.6 §6.4 DeXMS · CoAP/MQTT mediation · fig:chap06:mediation.</a:t>
            </a:r>
          </a:p>
          <a:p/>
          <a:p>
            <a:r>
              <a:t>First, DeXMS deploys protocol-bridge mediators on remote gateways via IoTronic RPC. Next, DeXIDL GUI generates mediator JARs — packaged into LR Docker images for K8s/K3s rollout.</a:t>
            </a:r>
          </a:p>
          <a:p/>
          <a:p>
            <a:r>
              <a:t>By contrast, CoAP observe streams and MQTT pub/sub topics become HTTP endpoints for WoT consumers. We should also consider that ESB-style integration without forcing every sensor to speak HTTP natively.</a:t>
            </a:r>
          </a:p>
          <a:p/>
          <a:p>
            <a:r>
              <a:t>Another key point is that regarding book sequence diagrams, coAP, then HTTP and MQTT, then HTTP mediation paths (fig:chap06:coap/mqtt). Furthermore, Connects Module F HTTP demos to constrained-device protocols in smart-city deployments.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Direct vs gateway vs virtual-node WoT patterns (Ch.6). This material is covered in Ch.6 · three WoT integration patterns.</a:t>
            </a:r>
          </a:p>
          <a:p/>
          <a:p>
            <a:r>
              <a:t>First, regarding direct, sensor board runs HTTP server — reachable if public IP (rare in IoT). Next, regarding gateway, LR aggregates multiple sensors, then single REST API surface (most common S4T).</a:t>
            </a:r>
          </a:p>
          <a:p/>
          <a:p>
            <a:r>
              <a:t>By contrast, regarding virtual node, cloud-side software representation with same REST contract as physical board. We should also consider that S4T supports all three; Ch.14 web services focus on gateway pattern with DNS/WSTUN.</a:t>
            </a:r>
          </a:p>
          <a:p/>
          <a:p>
            <a:r>
              <a:t>Another key point is that regarding book weather station, gateway pattern — Flask on board, exposed via cloud proxy. Furthermore, regarding lab nginx demo, gateway pattern — nginx in LR container, exposed via WSTUN tunnel.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begin a new section: S4T Web Services (Ch.14 §14.3). Designate + WSTUN + service catalog. In the next slides, listen for whether we are in theory mode or hands-on mode, and open your terminal when the slides turn to lab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Stack4Things Web Services overview (Ch.14 §14.3). This material is covered in Ch.14 §14.3 · Web services integration · abstract.</a:t>
            </a:r>
          </a:p>
          <a:p/>
          <a:p>
            <a:r>
              <a:t>First, Expose IoT resources over the Web without manual port forwarding on edge routers. Next, Designate DNS-as-a-Service assigns subdomain per board (wot.board-1.example.com).</a:t>
            </a:r>
          </a:p>
          <a:p/>
          <a:p>
            <a:r>
              <a:t>By contrast, NGINX reverse proxy + WebSocket tunnel routes HTTPS to edge HTTP service. We should also consider that regarding iotronic service catalog, define reusable service templates (name + port + protocol).</a:t>
            </a:r>
          </a:p>
          <a:p/>
          <a:p>
            <a:r>
              <a:t>Another key point is that ServiceEnable action on board activates tunnel — cloud assigns public endpoint. Furthermore, regarding book repo, ch14/demos/weather_web_server.py — canonical WoT weather station on :8080.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Web Services Manager workflow (Ch.14). This material is covered in Ch.14 · Web Services Manager · fig:chap14:wot-manager.</a:t>
            </a:r>
          </a:p>
          <a:p/>
          <a:p>
            <a:r>
              <a:t>First, Horizon Web Services panel, then enable WSM per board, then configure subdomain. Next, regarding service catalog entry, name (e.g. wot) + local port (8080 in book weather demo).</a:t>
            </a:r>
          </a:p>
          <a:p/>
          <a:p>
            <a:r>
              <a:t>By contrast, regarding public url, https://wot.board-1.example.com (Designate A record + NGINX location block). We should also consider that Exposes sensor GET endpoints + actuator POST (temperature, humidity, LED toggle).</a:t>
            </a:r>
          </a:p>
          <a:p/>
          <a:p>
            <a:r>
              <a:t>Another key point is that regarding book figures, fig:chap14:wot-manager, fig:chap14:wot-example. Furthermore, Full path requires Designate + NGINX + valid DNS zone — optional in Docker lab.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Book weather server — weather_web_server.py (Ch.14). This material is covered in Ch.14 demos/weather_web_server.py · listing weather endpoints.</a:t>
            </a:r>
          </a:p>
          <a:p/>
          <a:p>
            <a:r>
              <a:t>First, Flask app on board port 8080 — GET /temperature, /humidity, POST /led. Next, Simulated or real sensor reads — returns JSON for programmatic access.</a:t>
            </a:r>
          </a:p>
          <a:p/>
          <a:p>
            <a:r>
              <a:t>By contrast, Represents canonical WoT gateway service in book hands-on walkthrough. We should also consider that regarding service catalog entry, name=wot, port=8080, protocol=TCP.</a:t>
            </a:r>
          </a:p>
          <a:p/>
          <a:p>
            <a:r>
              <a:t>Another key point is that regarding after serviceenable, public URL or WSTUN port maps to board :8080. Furthermore, Students should understand this as the production-intent service (vs lab nginx shortcut).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WSTUN — lab alternative to full Designate (Ch.13–14). This material is covered in Ch.13 WSTUN · Ch.16 MACM WSTUNServer · docker-compose.</a:t>
            </a:r>
          </a:p>
          <a:p/>
          <a:p>
            <a:r>
              <a:t>First, WSTUN Server (iotronic-wstun) manages reverse WebSocket tunnels to NAT-bound boards. Next, regarding service catalog, define service name + local TCP port on board (lab: 50000).</a:t>
            </a:r>
          </a:p>
          <a:p/>
          <a:p>
            <a:r>
              <a:t>By contrast, ServiceEnable on board, then cloud assigns public_port from range 50001–50100. We should also consider that regarding lab access, http://{{VM_IP}}:&lt;public_port&gt;/ — no DNS registration required.</a:t>
            </a:r>
          </a:p>
          <a:p/>
          <a:p>
            <a:r>
              <a:t>Another key point is that Same IoTronic API workflow as production — only the public endpoint format differs. Furthermore, Book Ch.16 MACM documents WSTUNServer component architecture.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Book :8080 vs lab ports — verified divergence. This material is covered in Ch.14 demos/weather_web_server.py · run-weather-demo.sh.</a:t>
            </a:r>
          </a:p>
          <a:p/>
          <a:p>
            <a:r>
              <a:t>First, regarding book (ch.14), weather_web_server.py on port 8080 — GET /sensors, POST /led/toggle. Next, regarding lr compose image reserves, 8080 internally — lab runs weather on port 8088 instead.</a:t>
            </a:r>
          </a:p>
          <a:p/>
          <a:p>
            <a:r>
              <a:t>By contrast, regarding lab infra smoke test, lr-nginx-demo on port 50000, then WSTUN public_port (e.g. 50002). We should also consider that regarding book wot demo verified, weather-wot service on lab port 8088, then WSTUN :50062, then HTTP 200 /sensors.</a:t>
            </a:r>
          </a:p>
          <a:p/>
          <a:p>
            <a:r>
              <a:t>Another key point is that regarding both demos use identical iotronic workflow, catalog, then ServiceEnable, then curl public endpoint. Furthermore, regarding repo, github.com/AssemblingSmartCPS/ch14 · demos/weather_web_server.py.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look at the diagram on screen: WSTUN port forwarding architecture. Describe the main boxes and arrows. Relate each element to a Docker service or API you have already seen. In particular, note the following: Edge service → WSTUN tunnel → cloud public_port (50001–50100 range). Take a few seconds to orient before we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look at the sequence diagram on screen: UML sequence — ServiceEnable / WSTUN (Module F). Trace the diagram from left to right. Name each actor, the protocol used, and the message that crosses the cloud–edge boundary. In particular, note the following: Catalog → ServiceEnable → WSTUN tunnel → curl public_port/sensors. Take a few seconds to orient before we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Module F — learning objectives.</a:t>
            </a:r>
          </a:p>
          <a:p/>
          <a:p>
            <a:r>
              <a:t>First, Explain Ch.6 WoT layered model and Ch.14 web services architecture. Next, Run book weather demo via run-weather-demo.sh (port 8088 lab / 8080 book).</a:t>
            </a:r>
          </a:p>
          <a:p/>
          <a:p>
            <a:r>
              <a:t>By contrast, Run nginx infra smoke test via setup-wstun-demo.py (port 50000). We should also consider that Execute ServiceEnable on Active board — obtain public_port mapping.</a:t>
            </a:r>
          </a:p>
          <a:p/>
          <a:p>
            <a:r>
              <a:t>Another key point is that Curl /sensors JSON from weather tunnel and HTTP 200 from nginx tunnel.</a:t>
            </a:r>
          </a:p>
          <a:p/>
          <a:p>
            <a:r>
              <a:t>If these objectives are clear, we can proceed.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demonstration, Demo A — Book weather server (ch14) — verified.</a:t>
            </a:r>
          </a:p>
          <a:p/>
          <a:p>
            <a:r>
              <a:t>First, regarding script, experiments/webservices/run-weather-demo.sh. Next, Starts weather_web_server.py inside LR on lab port 8088 (book uses 8080 on hardware).</a:t>
            </a:r>
          </a:p>
          <a:p/>
          <a:p>
            <a:r>
              <a:t>By contrast, Creates catalog entry weather-wot · ServiceEnable, then public_port (verified :50062). We should also consider that regarding success, curl http://{{VM_IP}}:&lt;public_port&gt;/sensors, then JSON temperature/humidity.</a:t>
            </a:r>
          </a:p>
          <a:p/>
          <a:p>
            <a:r>
              <a:t>Another key point is that regarding screenshot, assets/chapter14/weather-server-dashboard.png. Furthermore, regarding state file, experiments/webservices/weather-state.json.</a:t>
            </a:r>
          </a:p>
          <a:p/>
          <a:p>
            <a:r>
              <a:t>Check that your screen matches what we showed before moving on.</a:t>
            </a:r>
          </a:p>
          <a:p/>
          <a:p>
            <a:r>
              <a:t>Session timing — Module F — 40-minute timeline: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demonstration, Demo B — nginx infra smoke test — verified.</a:t>
            </a:r>
          </a:p>
          <a:p/>
          <a:p>
            <a:r>
              <a:t>First, regarding script, experiments/webservices/setup-wstun-demo.py. Next, Catalog lr-nginx-demo port 50000, then public_port (verified :50002), then HTTP 200.</a:t>
            </a:r>
          </a:p>
          <a:p/>
          <a:p>
            <a:r>
              <a:t>By contrast, Validates WSTUN tunnel plumbing without deploying Flask weather server. We should also consider that Use when time is short — weather demo proves full WoT API path.</a:t>
            </a:r>
          </a:p>
          <a:p/>
          <a:p>
            <a:r>
              <a:t>Another key point is that Both services can coexist on same board with different local ports.</a:t>
            </a:r>
          </a:p>
          <a:p/>
          <a:p>
            <a:r>
              <a:t>Check that your screen matches what we showed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Lab stack — WSTUN component ports.</a:t>
            </a:r>
          </a:p>
          <a:p/>
          <a:p>
            <a:r>
              <a:t>First, regarding wstun control plane, iotronic-wstun container in docker compose stack. Next, regarding tunnel public range, host ports 50001–50100 mapped in lab overlay patch.</a:t>
            </a:r>
          </a:p>
          <a:p/>
          <a:p>
            <a:r>
              <a:t>By contrast, Requires board Active (Module A) + service catalog entry with valid port ≠ 0. We should also consider that regarding conductor api, http://{{VM_IP}}:8812 · Horizon: http://{{VM_IP}}/horizon/iot/.</a:t>
            </a:r>
          </a:p>
          <a:p/>
          <a:p>
            <a:r>
              <a:t>Another key point is that regarding horizon login, admin / s4t.</a:t>
            </a:r>
          </a:p>
          <a:p/>
          <a:p>
            <a:r>
              <a:t>If these objectives are clear, we can proceed.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we continue, an important note about Horizon Create Service — Porta default is 0!.</a:t>
            </a:r>
          </a:p>
          <a:p/>
          <a:p>
            <a:r>
              <a:t>First, Form /horizon/iot/services/create/ defaults Porta = 0 — INVALID for any service. Next, You MUST set Porta = 50000 for lab nginx demo (LOCAL_PORT constant in this deck).</a:t>
            </a:r>
          </a:p>
          <a:p/>
          <a:p>
            <a:r>
              <a:t>By contrast, Book weather demo uses port 8080 — same form, different port value. We should also consider that Port 0 causes ServiceEnable failure or silent misconfiguration — always verify in list.</a:t>
            </a:r>
          </a:p>
          <a:p/>
          <a:p>
            <a:r>
              <a:t>Another key point is that regarding prefer api if ui unclear, POST /v1/services with explicit port field in JSON body. Furthermore, Setup-wstun-demo.py script automates catalog creation with correct port.</a:t>
            </a:r>
          </a:p>
          <a:p/>
          <a:p>
            <a:r>
              <a:t>Keep this difference in mind for the rest of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begin a new section: Lab: Demo A: book weather server. run-weather-demo.sh. In the next slides, listen for whether we are in theory mode or hands-on mode, and open your terminal when the slides turn to lab work.</a:t>
            </a:r>
          </a:p>
          <a:p/>
          <a:p>
            <a:r>
              <a:t>Instructor timing (title): Hands-on — Demo A: book weather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Run verified weather demo script. Open your lab VM and follow along.</a:t>
            </a:r>
          </a:p>
          <a:p/>
          <a:p>
            <a:r>
              <a:t>Please run the following command on your VM: cd training. Wait until you see a sensible result before continuing. Please run the following command on your VM: ./experiments/webservices/run-weather-demo.sh. Wait until you see a sensible result before continuing.</a:t>
            </a:r>
          </a:p>
          <a:p/>
          <a:p>
            <a:r>
              <a:t>By contrast, # Starts ch14/demos/weather_web_server.py inside LR on port 8088. We should also consider that # Creates catalog weather-wot · ServiceEnable · writes weather-state.json.</a:t>
            </a:r>
          </a:p>
          <a:p/>
          <a:p>
            <a:r>
              <a:t>Another key point is that regarding expected, OK http://{{VM_IP}}:&lt;public_port&gt;/sensors, then HTTP 200.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1 — Run verified weather demo 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look at the screenshot on screen: Weather server dashboard via WSTUN tunnel. Walk the class through what they see in the interface. Connect each panel and button to a component we already deployed in the stack. In particular, note the following: http://{{VM_IP}}:&lt;public_port&gt;/ — JSON /sensors from ch14 demo. Take a few seconds to orient before we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Verify WoT sensor API. Open your lab VM and follow along.</a:t>
            </a:r>
          </a:p>
          <a:p/>
          <a:p>
            <a:r>
              <a:t>Please run the following command on your VM: CLOUD=$(python3 -c "import json; print(json.load(open('experiments/webservices/weather-state.json'))['cloud_port'])"). Wait until you see a sensible result before continuing. Please run the following command on your VM: curl -s http://{{VM_IP}}:$CLOUD/sensors | python3 -m json.tool. Wait until you see a sensible result before continuing.</a:t>
            </a:r>
          </a:p>
          <a:p/>
          <a:p>
            <a:r>
              <a:t>By contrast, regarding expected fields, temperature, humidity, pressure, device=weather-station. Please run the following command on your VM: curl -X POST http://{{VM_IP}}:$CLOUD/led/toggle. Wait until you see a sensible result before continuing.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2 — Verify WoT sensor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begin a new section: Lab: Demo B: nginx infra smoke test. setup-wstun-demo.py. In the next slides, listen for whether we are in theory mode or hands-on mode, and open your terminal when the slides turn to lab work.</a:t>
            </a:r>
          </a:p>
          <a:p/>
          <a:p>
            <a:r>
              <a:t>Instructor timing (title): Hands-on — Demo B: nginx infra smoke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Run nginx WSTUN smoke test. Open your lab VM and follow along.</a:t>
            </a:r>
          </a:p>
          <a:p/>
          <a:p>
            <a:r>
              <a:t>Please run the following command on your VM: .venv/bin/python experiments/webservices/setup-wstun-demo.py. Wait until you see a sensible result before continuing. Next, Creates lr-nginx-demo port 50000 · captures Horizon screenshots.</a:t>
            </a:r>
          </a:p>
          <a:p/>
          <a:p>
            <a:r>
              <a:t>Please run the following command on your VM: curl -v http://{{VM_IP}}:50002/. Wait until you see a sensible result before continuing. We should also consider that regarding expected, HTTP 200 nginx welcome page.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3 — Run nginx WSTUN smoke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look at the screenshot on screen: Horizon — Servizi list (port verified). Walk the class through what they see in the interface. Connect each panel and button to a component we already deployed in the stack. In particular, note the following: http://{{VM_IP}}/horizon/iot/services/ — lr-nginx-demo port 50000. Take a few seconds to orient before we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Service catalog REST schema (Ch.14). This material is covered in Ch.14 · IoTronic services API · listing create_service.</a:t>
            </a:r>
          </a:p>
          <a:p/>
          <a:p>
            <a:r>
              <a:t>First, regarding post /v1/services — body, name (string), port (integer), protocol (TCP|UDP). Next, GET /v1/services/ — list all catalog entries with UUID and port fields.</a:t>
            </a:r>
          </a:p>
          <a:p/>
          <a:p>
            <a:r>
              <a:t>By contrast, Catalog is tenant-global — same service definition reused across multiple boards. We should also consider that ServiceEnable on board creates board-specific tunnel instance with public_port.</a:t>
            </a:r>
          </a:p>
          <a:p/>
          <a:p>
            <a:r>
              <a:t>Another key point is that DELETE /v1/services/{uuid} — remove catalog entry (boards must disable first). Furthermore, Port must match actual listening port inside LR container (50000 nginx / 8080 Flask).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 we walk through the code for ServiceEnable on board (API).</a:t>
            </a:r>
          </a:p>
          <a:p/>
          <a:p>
            <a:r>
              <a:t>Scroll slowly through the listing on screen while I explain each part.</a:t>
            </a:r>
          </a:p>
          <a:p/>
          <a:p>
            <a:r>
              <a:t>Point out the imports, the class definition, and the run method. Students will adapt this template in the lab rather than writing from scratch.</a:t>
            </a:r>
          </a:p>
          <a:p/>
          <a:p>
            <a:r>
              <a:t>After reviewing the code, we'll apply it in the practical exercise.</a:t>
            </a:r>
          </a:p>
          <a:p/>
          <a:p>
            <a:r>
              <a:t>Instructor timing (title): Step 2 — ServiceEnable on board (API)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look at the screenshot on screen: Horizon — Boards with exposed service. Walk the class through what they see in the interface. Connect each panel and button to a component we already deployed in the stack. In particular, note the following: Servizi column: lr-nginx-demo [TCP] 50000 → 50002. Take a few seconds to orient before we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ServiceEnable response and port mapping (Ch.14). This material is covered in Ch.14 · ServiceEnable · WSTUN port allocation.</a:t>
            </a:r>
          </a:p>
          <a:p/>
          <a:p>
            <a:r>
              <a:t>First, regarding response public_port, host-accessible port on lab VM (50001–50100 range). Next, regarding board column in horizon shows, service_name [protocol] local_port, then public_port.</a:t>
            </a:r>
          </a:p>
          <a:p/>
          <a:p>
            <a:r>
              <a:t>By contrast, regarding traffic flow, client, then {{VM_IP}}:public_port, then WSTUN, then LR:local_port. We should also consider that LR nginx (lab) or Flask (book) must be listening BEFORE ServiceEnable.</a:t>
            </a:r>
          </a:p>
          <a:p/>
          <a:p>
            <a:r>
              <a:t>Another key point is that ServiceDisable action tears down tunnel — public_port returned to pool. Furthermore, regarding multiple services on same board, separate catalog entries with different local ports.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Verify cloud endpoint with curl. Open your lab VM and follow along.</a:t>
            </a:r>
          </a:p>
          <a:p/>
          <a:p>
            <a:r>
              <a:t>Please run the following command on your VM: curl -v http://{{VM_IP}}:50002/. Wait until you see a sensible result before continuing. Next, # nginx demo public_port — check wstun-state.json if different.</a:t>
            </a:r>
          </a:p>
          <a:p/>
          <a:p>
            <a:r>
              <a:t>By contrast, regarding expected, HTTP 200 + nginx welcome page from board LR container. Please run the following command on your VM: ./validate/validate-demo-ch14.sh &amp;&amp; ./validate-lab-wstun.sh. Wait until you see a sensible result before continuing.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4 — Verify cloud endpoint with curl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WSTUN troubleshooting logs. Open your lab VM and follow along.</a:t>
            </a:r>
          </a:p>
          <a:p/>
          <a:p>
            <a:r>
              <a:t>Please run the following command on your VM: docker logs iotronic-wstun 2&gt;&amp;1 | tail -20. Wait until you see a sensible result before continuing. Please run the following command on your VM: docker logs lightning-rod 2&gt;&amp;1 | grep -i 'Cloud service'. Wait until you see a sensible result before continuing.</a:t>
            </a:r>
          </a:p>
          <a:p/>
          <a:p>
            <a:r>
              <a:t>By contrast, regarding look for, TCP server listening on assigned public port. We should also consider that regarding common fix, recreate catalog entry if port was 0.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5 — WSTUN troubleshooting logs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Book weather server — verified lab procedure (Ch.14). This material is covered in Ch.14 demos/weather_web_server.py · weather-state.json.</a:t>
            </a:r>
          </a:p>
          <a:p/>
          <a:p>
            <a:r>
              <a:t>First, Script run-weather-demo.sh copies ch14/demos/weather_web_server.py into LR container. Next, Lab port 8088 used because LR compose image reserves :8080 for WSTUN client stack.</a:t>
            </a:r>
          </a:p>
          <a:p/>
          <a:p>
            <a:r>
              <a:t>By contrast, Catalog entry weather-wot port 8088 · ServiceEnable, then curl /sensors JSON via public_port. We should also consider that regarding verified, HTTP 200 on /sensors with temperature, humidity, pressure fields.</a:t>
            </a:r>
          </a:p>
          <a:p/>
          <a:p>
            <a:r>
              <a:t>Another key point is that Book hardware boards use port 8080 as documented in ch14/demos/README.md. Furthermore, regarding repo, github.com/AssemblingSmartCPS/ch14.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look at the screenshot on screen: Horizon — Web Services panel (Designate path). Walk the class through what they see in the interface. Connect each panel and button to a component we already deployed in the stack. In particular, note the following: http://{{VM_IP}}/horizon/iot/webservices/ — full WoT URL setup (optional tour). Take a few seconds to orient before we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Production WoT path — Designate + /etc/hosts (Ch.14). This material is covered in Ch.14 · local domain simulation · Designate integration.</a:t>
            </a:r>
          </a:p>
          <a:p/>
          <a:p>
            <a:r>
              <a:t>First, Install/configure OpenStack Designate with public domain zone (example.com). Next, regarding testing without real dns, map example.com, then {{VM_IP}} in /etc/hosts on client machine.</a:t>
            </a:r>
          </a:p>
          <a:p/>
          <a:p>
            <a:r>
              <a:t>By contrast, regarding enable wsm → service wot, 8080, then https://wot.board-1.example.com/temperature. We should also consider that NGINX terminates TLS — forwards to WSTUN tunnel — same machinery as port mapping.</a:t>
            </a:r>
          </a:p>
          <a:p/>
          <a:p>
            <a:r>
              <a:t>Another key point is that Human-readable URLs enable WoT Find/Share layers (Ch.6) at scale. Furthermore, Designate optional in Docker lab — WSTUN port path sufficient for training objectives.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WoT security considerations (Ch.6 + Ch.14). This material is covered in Ch.6 · Ch.14 security notes.</a:t>
            </a:r>
          </a:p>
          <a:p/>
          <a:p>
            <a:r>
              <a:t>First, HTTPS at cloud edge — never expose raw board HTTP to public Internet in production. Next, Keystone authentication for IoTronic API — ServiceEnable requires valid token.</a:t>
            </a:r>
          </a:p>
          <a:p/>
          <a:p>
            <a:r>
              <a:t>By contrast, Board services should validate input on POST actuators (LED, GPIO) — prevent abuse. We should also consider that Rate limiting at NGINX for public WSTUN endpoints under DDoS exposure.</a:t>
            </a:r>
          </a:p>
          <a:p/>
          <a:p>
            <a:r>
              <a:t>Another key point is that regarding lab, HTTP acceptable on {{VM_IP}}:public_port for classroom — not production pattern. Furthermore, Cross-reference Module E VN for network-layer security groups on overlay.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REST design for WoT resources (Ch.6 + Ch.14). This material is covered in Ch.6 RESTful Things · Ch.14 weather_web_server.py endpoints.</a:t>
            </a:r>
          </a:p>
          <a:p/>
          <a:p>
            <a:r>
              <a:t>First, GET /temperature — read sensor property; idempotent, cacheable, safe method. Next, POST /led — actuate actuator with JSON body {"state": "on"} — non-idempotent action.</a:t>
            </a:r>
          </a:p>
          <a:p/>
          <a:p>
            <a:r>
              <a:t>By contrast, regarding content-type, application/json for machine clients; text/html optional for dashboards. We should also consider that regarding http status codes, 200 OK read, 201 Created action, 503 if sensor temporarily unavailable.</a:t>
            </a:r>
          </a:p>
          <a:p/>
          <a:p>
            <a:r>
              <a:t>Another key point is that regarding book weather server returns json, {"temperature": 22.5, "unit": "C"} — WoT property pattern. Furthermore, Lab nginx returns HTML welcome page — infra validation only; weather server is true WoT API.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NGINX reverse proxy role in S4T WoT (Ch.6 §6.4 + Ch.14). This material is covered in Ch.6 §6.4 gateway architecture · Ch.14 NGINX integration.</a:t>
            </a:r>
          </a:p>
          <a:p/>
          <a:p>
            <a:r>
              <a:t>First, Cloud NGINX terminates TLS and routes Host header to correct board tunnel backend. Next, regarding location block per subdomain, wot.board-1.example.com, then upstream WSTUN backend port.</a:t>
            </a:r>
          </a:p>
          <a:p/>
          <a:p>
            <a:r>
              <a:t>By contrast, regarding board-side nginx (lab, 50000) or Flask (:8080) is origin server — NGINX is edge proxy. We should also consider that WebSocket upgrade headers preserved for WSTUN tunnel establishment and maintenance.</a:t>
            </a:r>
          </a:p>
          <a:p/>
          <a:p>
            <a:r>
              <a:t>Another key point is that Same NGINX instance serves Horizon UI and IoT service proxy — different server_name blocks. Furthermore, regarding production, NGINX + Designate + WSTUN three-component path to Deviceless URL (Module I).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Thing Descriptions and discovery (Ch.6 Find layer). This material is covered in Ch.6 · Find layer · Thing Description W3C WoT spec cross-reference.</a:t>
            </a:r>
          </a:p>
          <a:p/>
          <a:p>
            <a:r>
              <a:t>First, regarding wot thing description (td), JSON-LD document listing properties, actions, events, schemas. Next, regarding well-known uri, /.well-known/wot-thing-description — automated discovery by mashup apps.</a:t>
            </a:r>
          </a:p>
          <a:p/>
          <a:p>
            <a:r>
              <a:t>By contrast, CoRE Link Format alternative for constrained devices — Link header in HTTP responses. We should also consider that regarding s4t designate dns enables stable td url, https://wot.board.example.com/td.</a:t>
            </a:r>
          </a:p>
          <a:p/>
          <a:p>
            <a:r>
              <a:t>Another key point is that regarding find layer completes access, clients discover API contract before invoking endpoints. Furthermore, Lab WSTUN path skips Find (no DNS) — students should know production adds TD + DNS.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Service lifecycle — Enable, Disable, Update (Ch.14). This material is covered in Ch.14 · service lifecycle · ServiceDisable listing.</a:t>
            </a:r>
          </a:p>
          <a:p/>
          <a:p>
            <a:r>
              <a:t>First, regarding serviceenable, creates WSTUN tunnel, assigns public_port, starts forwarding traffic. Next, regarding servicedisable, tears down tunnel, releases public_port back to pool 50001–50100.</a:t>
            </a:r>
          </a:p>
          <a:p/>
          <a:p>
            <a:r>
              <a:t>By contrast, Board must be Active before ServiceEnable — same prerequisite as plugin inject (Module A). We should also consider that Changing catalog port requires Disable, then update catalog, then re-Enable on affected boards.</a:t>
            </a:r>
          </a:p>
          <a:p/>
          <a:p>
            <a:r>
              <a:t>Another key point is that regarding multiple services per board, separate catalog entries (lr-nginx-demo :50000, wot :8080). Furthermore, Horizon boards column shows all active service mappings per board for operational audit.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cover WSTUN vs Designate — decision guide (Ch.14). This material is covered in Ch.14 §14.3 · WSTUN vs Designate comparison table.</a:t>
            </a:r>
          </a:p>
          <a:p/>
          <a:p>
            <a:r>
              <a:t>First, regarding use wstun port mapping, lab, demos, quick tests — http://{{VM_IP}}:public_port/path. Next, regarding use designate dns, production, human URLs, WoT Find/Share layers, Module I Deviceless.</a:t>
            </a:r>
          </a:p>
          <a:p/>
          <a:p>
            <a:r>
              <a:t>By contrast, Same ServiceEnable API — difference is only how clients construct the public URL. We should also consider that Designate requires DNS zone + NGINX server_name config — more setup, better UX.</a:t>
            </a:r>
          </a:p>
          <a:p/>
          <a:p>
            <a:r>
              <a:t>Another key point is that Book weather demo intended for Designate path — WSTUN port path is lab training shortcut. Furthermore, Both paths traverse same WebSocket tunnel — WSTUNServer is shared infrastructure.</a:t>
            </a:r>
          </a:p>
          <a:p/>
          <a:p>
            <a:r>
              <a:t>I'll pause here for questions, then we'll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ServiceDisable cleanup (optional). Open your lab VM and follow along.</a:t>
            </a:r>
          </a:p>
          <a:p/>
          <a:p>
            <a:r>
              <a:t>First, regarding api, POST .../services/lr-nginx-demo/action with {"action":"ServiceDisable"}. Next, Verify Horizon boards column clears service mapping.</a:t>
            </a:r>
          </a:p>
          <a:p/>
          <a:p>
            <a:r>
              <a:t>By contrast, Re-Enable to confirm public_port may change — not guaranteed same port after recycle.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5 — ServiceDisable cleanup (optional)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the hands-on part: Validate WSTUN module. Open your lab VM and follow along.</a:t>
            </a:r>
          </a:p>
          <a:p/>
          <a:p>
            <a:r>
              <a:t>Please run the following command on your VM: cd training &amp;&amp; ./validate-lab-wstun.sh. Wait until you see a sensible result before continuing. Next, Script verifies catalog port, ServiceEnable state, and curl HTTP 200.</a:t>
            </a:r>
          </a:p>
          <a:p/>
          <a:p>
            <a:r>
              <a:t>Raise your hand if you're stuck — we'll wait until most of you are done.</a:t>
            </a:r>
          </a:p>
          <a:p/>
          <a:p>
            <a:r>
              <a:t>Instructor timing (title): Step 6 — Validate WSTUN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Module F checklist.</a:t>
            </a:r>
          </a:p>
          <a:p/>
          <a:p>
            <a:r>
              <a:t>First, regarding □ weather-wot service verified, curl /sensors, then JSON HTTP 200 (run-weather-demo.sh). Next, □ lr-nginx-demo port 50000, then public_port curl HTTP 200 (setup-wstun-demo.py).</a:t>
            </a:r>
          </a:p>
          <a:p/>
          <a:p>
            <a:r>
              <a:t>By contrast, □ Board Servizi column shows both tunnel mappings. We should also consider that □ Student can explain book port 8080 vs lab port 8088 (LR image constraint).</a:t>
            </a:r>
          </a:p>
          <a:p/>
          <a:p>
            <a:r>
              <a:t>Another key point is that □ Student can describe Designate path vs WSTUN port path. Furthermore, □ ./validate/validate-all.sh Module F checks pass.</a:t>
            </a:r>
          </a:p>
          <a:p/>
          <a:p>
            <a:r>
              <a:t>If these objectives are clear, we can proceed.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2011680" cy="347472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Module F — Web Services, WSTUN &amp; WoT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B2EBF2"/>
                </a:solidFill>
                <a:latin typeface="Calibri"/>
              </a:defRPr>
            </a:pPr>
            <a:r>
              <a:t>Ch.6 + Ch.14 · Extension · VM {{VM_IP}}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0A4AE"/>
                </a:solidFill>
                <a:latin typeface="Calibri"/>
              </a:defRPr>
            </a:pPr>
            <a:r>
              <a:t>Extension · Ch.6 + Ch.14 — Web Services, WSTUN &amp; WoT · book :8080 vs lab :50000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394960"/>
            <a:ext cx="320040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Web of Things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B2EBF2"/>
                </a:solidFill>
                <a:latin typeface="Calibri"/>
              </a:defRPr>
            </a:pPr>
            <a:r>
              <a:t>Ch.6 — layered model before the WSTUN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§6.1 · fragmented IoT · need for common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Fragmented IoT and the need for abstraction (Ch.6)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IoT devices use incompatible protocols — Zigbee, MQTT, CoAP, proprietary HTTP APIs.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Each vendor ships its own stack — integration requires custom middleware and data mapping.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Parallel to the pre-WWW Internet: incompatible islands before HTTP unified access.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WoT reuses HTTP, URIs, JSON, REST — decades of proven Web infrastructure and tooling.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Common abstraction decouples application logic from board-specific SDKs and pin maps.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S4T I/Ocloud + WoT gateway pattern is the book's answer to fragmentation at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· Weaving the Web of Things · chapter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Web of Things paradigm (Ch.6)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Extend Web standards (HTTP, URIs, JSON, HTML) to physical objects and sensors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Web Things expose RESTful APIs: readable properties, invokable actions, events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Three integration patterns: direct API on device, smart gateway, I/Ocloud virtual nodes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Goal: interoperable IoT at Web scale — not proprietary silo protocols (MQTT-only, etc.)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WoT aligns with I/Ocloud vision (Ch.4): programmable CPS as Web-accessible infrastructure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Module I (Ch.7 Deviceless) builds on WoT exposure patterns introduced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· fig:chap06:WoT-layers ·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WoT layered model — Access layer (Ch.6)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Device becomes HTTP resource: GET /temperature, POST /led, GET /humidity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Content negotiation: JSON for machines, HTML for human-readable sensor dashboards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Gateway pattern: heterogeneous sensors → LR adapts protocols → uniform REST on HTTP/S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live demo: wot.rasp-univ.iot.* — Flask endpoints on Raspberry Pi gateway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Security: HTTPS termination at cloud reverse proxy; board may use HTTP internally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figure: fig:chap06:WoT-layers — Access is the foundation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· Find · Share · Compose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WoT layered model — Find, Share, Compose (Ch.6)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Find: machine-readable Thing Descriptions + discovery mechanisms (CoRE Link Format, etc.)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Share: cross-domain access with social/trust models — who may read/actuate which Thing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Compose: mashups combining distributed Web Things (sensor page + live video + map)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S4T stack: Designate DNS + IoTronic service catalog enable Find at Web scale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Horizon Web Services Manager exposes human-friendly URLs for board services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DeXMS mediators (Ch.6 §6.4) deploy protocol bridges (MQTT, CoAP) on remote gateways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§6.4 · Stack4Things gateway WoT system · fig:chap06:s4t-wot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Gateway-based WoT in S4T (Ch.6 §6.4)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Heterogeneous boards connect via Lightning-Rod — protocol adaptation at the edge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Cloud stack: Designate (DNS) + IoTronic + NGINX reverse proxy + WebSocket tunnels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architecture: cloud NGINX routes https://wot.board.example.com → board HTTP service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LR runs local HTTP server (Flask, nginx) — cloud exposes it on public URL or port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WoT Thing Description documents available endpoints for automated discovery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Training lab uses WSTUN port mapping instead of full Designate DNS registration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§ DNS in OpenStack · Designate · ACME · sec:expose-service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Designate DNS and ACME certificates (Ch.6)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Designate is OpenStack's DNS-as-a-service — manages zones and records for board subdomains.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Production WoT URL: web-server.node-A.example.com decomposed into service.node.fqdn parts.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ACME (Certbot/Let's Encrypt) issues DV TLS certificates once DNS records propagate.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Cloud NGINX terminates HTTPS and forwards to WSTUN backend for the matching board tunnel.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Nine-step book workflow: catalog service → Enable → DNS → cert → NGINX → public HTTPS URL.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WSTUN skips DNS/ACME — same ServiceEnable API, different public endpoint format.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§6.4 DeXMS · CoAP/MQTT mediation · fig:chap06:mediation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DeXMS — gateway mediators for heterogeneous protocols (Ch.6)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DeXMS deploys protocol-bridge mediators on remote gateways via IoTronic RPC.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DeXIDL GUI generates mediator JARs — packaged into LR Docker images for K8s/K3s rollout.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CoAP observe streams and MQTT pub/sub topics become HTTP endpoints for WoT consumers.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ESB-style integration without forcing every sensor to speak HTTP natively.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sequence diagrams: CoAP→HTTP and MQTT→HTTP mediation paths (fig:chap06:coap/mqtt).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Connects Module F HTTP demos to constrained-device protocols in smart-city deployments.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· three WoT integration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Direct vs gateway vs virtual-node WoT patterns (Ch.6)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Direct: sensor board runs HTTP server — reachable if public IP (rare in IoT)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Gateway: LR aggregates multiple sensors → single REST API surface (most common S4T)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Virtual node: cloud-side software representation with same REST contract as physical board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S4T supports all three; Ch.14 web services focus on gateway pattern with DNS/WSTUN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weather station: gateway pattern — Flask on board, exposed via cloud proxy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nginx demo: gateway pattern — nginx in LR container, exposed via WSTUN tunnel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S4T Web Services (Ch.14 §14.3)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B2EBF2"/>
                </a:solidFill>
                <a:latin typeface="Calibri"/>
              </a:defRPr>
            </a:pPr>
            <a:r>
              <a:t>Designate + WSTUN + service catalog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§14.3 · Web services integration ·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Stack4Things Web Services overview (Ch.14 §14.3)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Expose IoT resources over the Web without manual port forwarding on edge routers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Designate DNS-as-a-Service assigns subdomain per board (wot.board-1.example.com)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NGINX reverse proxy + WebSocket tunnel routes HTTPS to edge HTTP service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IoTronic Service Catalog: define reusable service templates (name + port + protocol)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ServiceEnable action on board activates tunnel — cloud assigns public endpoint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repo: ch14/demos/weather_web_server.py — canonical WoT weather station on :8080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· Web Services Manager · fig:chap14:wot-manager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Web Services Manager workflow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Horizon Web Services panel → enable WSM per board → configure subdomain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 catalog entry: name (e.g. wot) + local port (8080 in book weather demo)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Public URL: https://wot.board-1.example.com (Designate A record + NGINX location block)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Exposes sensor GET endpoints + actuator POST (temperature, humidity, LED toggle)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figures: fig:chap14:wot-manager, fig:chap14:wot-example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Full path requires Designate + NGINX + valid DNS zone — optional in Docker 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demos/weather_web_server.py · listing weather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Book weather server — weather_web_server.py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Flask app on board port 8080 — GET /temperature, /humidity, POST /led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Simulated or real sensor reads — returns JSON for programmatic access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Represents canonical WoT gateway service in book hands-on walkthrough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 catalog entry: name=wot, port=8080, protocol=TCP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After ServiceEnable: public URL or WSTUN port maps to board :8080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Students should understand this as the production-intent service (vs lab nginx shortcut)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Ch.13 WSTUN · Ch.16 MACM WSTUNServer · docker-compose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WSTUN — lab alternative to full Designate (Ch.13–14)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WSTUN Server (iotronic-wstun) manages reverse WebSocket tunnels to NAT-bound 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 catalog: define service name + local TCP port on board (lab: 50000)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ServiceEnable on board → cloud assigns public_port from range 50001–50100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access: http://{{VM_IP}}:&lt;public_port&gt;/ — no DNS registration required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Same IoTronic API workflow as production — only the public endpoint format differs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Ch.16 MACM documents WSTUNServer component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demos/weather_web_server.py · run-weather-demo.sh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Book :8080 vs lab ports — verified divergence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(Ch.14): weather_web_server.py on port 8080 — GET /sensors, POST /led/toggle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LR compose image reserves :8080 internally — lab runs weather on port 8088 instead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infra smoke test: lr-nginx-demo on port 50000 → WSTUN public_port (e.g. 50002)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WoT demo verified: weather-wot service on lab port 8088 → WSTUN :50062 → HTTP 200 /sensors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Both demos use identical IoTronic workflow: catalog → ServiceEnable → curl public endpoint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Repo: github.com/AssemblingSmartCPS/ch14 · demos/weather_web_server.py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WSTUN port forwarding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368" y="1298448"/>
            <a:ext cx="9950958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stun-port-forw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232" y="1353312"/>
            <a:ext cx="984123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71688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474F"/>
                </a:solidFill>
                <a:latin typeface="Calibri"/>
              </a:defRPr>
            </a:pPr>
            <a:r>
              <a:t>Edge service → WSTUN tunnel → cloud public_port (50001–50100 range)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UML sequence — ServiceEnable / WSTUN (Module 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667" y="1298448"/>
            <a:ext cx="9264360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q-wstun-en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31" y="1353312"/>
            <a:ext cx="9154632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71688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474F"/>
                </a:solidFill>
                <a:latin typeface="Calibri"/>
              </a:defRPr>
            </a:pPr>
            <a:r>
              <a:t>Catalog → ServiceEnable → WSTUN tunnel → curl public_port/sensors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Module F — 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Explain Ch.6 WoT layered model and Ch.14 web services architecture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Run book weather demo via run-weather-demo.sh (port 8088 lab / 8080 book)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Run nginx infra smoke test via setup-wstun-demo.py (port 50000)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Execute ServiceEnable on Active board — obtain public_port mapping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curl /sensors JSON from weather tunnel and HTTP 200 from nginx tunnel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Demo A — Book weather server (ch14) —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Script: experiments/webservices/run-weather-demo.sh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Starts weather_web_server.py inside LR on lab port 8088 (book uses 8080 on hardware)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Creates catalog entry weather-wot · ServiceEnable → public_port (verified :50062)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Success: curl http://{{VM_IP}}:&lt;public_port&gt;/sensors → JSON temperature/humidity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Screenshot: assets/chapter14/weather-server-dashboard.png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State file: experiments/webservices/weather-state.json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868680" cy="310896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Demo B — nginx infra smoke test —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Script: experiments/webservices/setup-wstun-demo.py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Catalog lr-nginx-demo port 50000 → public_port (verified :50002) → HTTP 200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Validates WSTUN tunnel plumbing without deploying Flask weather server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Use when time is short — weather demo proves full WoT API path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Both services can coexist on same board with different local 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Lab stack — WSTUN component 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WSTUN control plane: iotronic-wstun container in docker compose stack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Tunnel public range: host ports 50001–50100 mapped in lab overlay patch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Requires board Active (Module A) + service catalog entry with valid port ≠ 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Conductor API: http://{{VM_IP}}:8812 · Horizon: http://{{VM_IP}}/horizon/iot/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Horizon login: admin / s4t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417320" cy="32918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⚠  BOOK ↔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F360C"/>
                </a:solidFill>
                <a:latin typeface="Calibri"/>
              </a:defRPr>
            </a:pPr>
            <a:r>
              <a:t>Horizon Create Service — Porta default is 0!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Form /horizon/iot/services/create/ defaults Porta = 0 — INVALID for any service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You MUST set Porta = 50000 for lab nginx demo (LOCAL_PORT constant in this deck)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Book weather demo uses port 8080 — same form, different port value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Port 0 causes ServiceEnable failure or silent misconfiguration — always verify in list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Prefer API if UI unclear: POST /v1/services with explicit port field in JSON body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setup-wstun-demo.py script automates catalog creation with correct 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Lab: Demo A: book weather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B2EBF2"/>
                </a:solidFill>
                <a:latin typeface="Calibri"/>
              </a:defRPr>
            </a:pPr>
            <a:r>
              <a:t>run-weather-demo.sh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Run verified weather demo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cd training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./experiments/webservices/run-weather-demo.sh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# Starts ch14/demos/weather_web_server.py inside LR on port 8088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# Creates catalog weather-wot · ServiceEnable · writes weather-state.json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Expected: OK http://{{VM_IP}}:&lt;public_port&gt;/sensors → HTTP 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Weather server dashboard via WSTUN 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67103" y="1298448"/>
            <a:ext cx="8857488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ather-serv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67" y="1353312"/>
            <a:ext cx="874776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71688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474F"/>
                </a:solidFill>
                <a:latin typeface="Calibri"/>
              </a:defRPr>
            </a:pPr>
            <a:r>
              <a:t>http://{{VM_IP}}:&lt;public_port&gt;/ — JSON /sensors from ch14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Verify WoT sensor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CLOUD=$(python3 -c "import json; print(json.load(open('experiments/webservices/weather-state.json'))['cloud_port'])")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curl -s http://{{VM_IP}}:$CLOUD/sensors | python3 -m json.tool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Expected fields: temperature, humidity, pressure, device=weather-station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curl -X POST http://{{VM_IP}}:$CLOUD/led/toggle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Lab: Demo B: nginx infra smoke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B2EBF2"/>
                </a:solidFill>
                <a:latin typeface="Calibri"/>
              </a:defRPr>
            </a:pPr>
            <a:r>
              <a:t>setup-wstun-demo.py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Run nginx WSTUN smoke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.venv/bin/python experiments/webservices/setup-wstun-demo.py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Creates lr-nginx-demo port 50000 · captures Horizon screenshots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curl -v http://{{VM_IP}}:50002/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Expected: HTTP 200 nginx welcome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— Servizi list (port verified)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67103" y="1298448"/>
            <a:ext cx="8857488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service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67" y="1353312"/>
            <a:ext cx="874776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71688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474F"/>
                </a:solidFill>
                <a:latin typeface="Calibri"/>
              </a:defRPr>
            </a:pPr>
            <a:r>
              <a:t>http://{{VM_IP}}/horizon/iot/services/ — lr-nginx-demo port 50000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· IoTronic services API · listing create_service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Service catalog REST schema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POST /v1/services — body: name (string), port (integer), protocol (TCP|UDP)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GET /v1/services/ — list all catalog entries with UUID and port fields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Catalog is tenant-global — same service definition reused across multiple 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ServiceEnable on board creates board-specific tunnel instance with public_port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DELETE /v1/services/{uuid} — remove catalog entry (boards must disable first)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Port must match actual listening port inside LR container (50000 nginx / 8080 Flask)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ServiceEnable on board (API)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115568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411480"/>
          <a:lstStyle/>
          <a:p>
            <a:pPr algn="ctr"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curl -X POST http://{{VM_IP}}:8812/v1/boards/&lt;BOARD_UUID&gt;/services/lr-nginx-demo/action \</a:t>
            </a:r>
          </a:p>
          <a:p>
            <a:pPr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-H "X-Auth-Token: $TOKEN" -H "Content-Type: application/json" \</a:t>
            </a:r>
          </a:p>
          <a:p>
            <a:pPr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-d '{"action":"ServiceEnable"}'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15568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8191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5819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1581912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Code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— Boards with exposed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67103" y="1298448"/>
            <a:ext cx="8857488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boards-with-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67" y="1353312"/>
            <a:ext cx="874776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71688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474F"/>
                </a:solidFill>
                <a:latin typeface="Calibri"/>
              </a:defRPr>
            </a:pPr>
            <a:r>
              <a:t>Servizi column: lr-nginx-demo [TCP] 50000 → 50002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· ServiceEnable · WSTUN port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ServiceEnable response and port mapping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Response public_port: host-accessible port on lab VM (50001–50100 range)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Board column in Horizon shows: service_name [protocol] local_port → public_port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Traffic flow: client → {{VM_IP}}:public_port → WSTUN → LR:local_port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LR nginx (lab) or Flask (book) must be listening BEFORE ServiceEnable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ServiceDisable action tears down tunnel — public_port returned to pool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Multiple services on same board: separate catalog entries with different local 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Verify cloud endpoint with curl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curl -v http://{{VM_IP}}:50002/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# nginx demo public_port — check wstun-state.json if different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Expected: HTTP 200 + nginx welcome page from board LR container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./validate/validate-demo-ch14.sh &amp;&amp; ./validate-lab-wstun.sh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WSTUN troubleshooting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docker logs iotronic-wstun 2&gt;&amp;1 | tail -20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docker logs lightning-rod 2&gt;&amp;1 | grep -i 'Cloud service'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Look for: TCP server listening on assigned public port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Common fix: recreate catalog entry if port was 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demos/weather_web_server.py · weather-state.json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Book weather server — verified lab procedure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Script run-weather-demo.sh copies ch14/demos/weather_web_server.py into LR container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port 8088 used because LR compose image reserves :8080 for WSTUN client stack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Catalog entry weather-wot port 8088 · ServiceEnable → curl /sensors JSON via public_port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Verified: HTTP 200 on /sensors with temperature, humidity, pressure fields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hardware boards use port 8080 as documented in ch14/demos/README.md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Repo: github.com/AssemblingSmartCPS/ch14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Horizon — Web Services panel (Designate path)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67103" y="1298448"/>
            <a:ext cx="8857488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izon-webservice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67" y="1353312"/>
            <a:ext cx="874776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71688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474F"/>
                </a:solidFill>
                <a:latin typeface="Calibri"/>
              </a:defRPr>
            </a:pPr>
            <a:r>
              <a:t>http://{{VM_IP}}/horizon/iot/webservices/ — full WoT URL setup (optional tour)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· local domain simulation · Designate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Production WoT path — Designate + /etc/hosts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Install/configure OpenStack Designate with public domain zone (example.com)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Testing without real DNS: map example.com → {{VM_IP}} in /etc/hosts on client machine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Enable WSM → service wot :8080 → https://wot.board-1.example.com/temperature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NGINX terminates TLS — forwards to WSTUN tunnel — same machinery as port mapping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Human-readable URLs enable WoT Find/Share layers (Ch.6) at scale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Designate optional in Docker lab — WSTUN port path sufficient for training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· Ch.14 security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WoT security considerations (Ch.6 + 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HTTPS at cloud edge — never expose raw board HTTP to public Internet in production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Keystone authentication for IoTronic API — ServiceEnable requires valid token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Board services should validate input on POST actuators (LED, GPIO) — prevent abuse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Rate limiting at NGINX for public WSTUN endpoints under DDoS exposure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Lab: HTTP acceptable on {{VM_IP}}:public_port for classroom — not production pattern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Cross-reference Module E VN for network-layer security groups on overlay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RESTful Things · Ch.14 weather_web_server.py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REST design for WoT resources (Ch.6 + 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GET /temperature — read sensor property; idempotent, cacheable, safe method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POST /led — actuate actuator with JSON body {"state": "on"} — non-idempotent action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Content-Type: application/json for machine clients; text/html optional for dashboards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HTTP status codes: 200 OK read, 201 Created action, 503 if sensor temporarily unavailable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weather server returns JSON: {"temperature": 22.5, "unit": "C"} — WoT property pattern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nginx returns HTML welcome page — infra validation only; weather server is true WoT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§6.4 gateway architecture · Ch.14 NGINX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NGINX reverse proxy role in S4T WoT (Ch.6 §6.4 + 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Cloud NGINX terminates TLS and routes Host header to correct board tunnel backend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Location block per subdomain: wot.board-1.example.com → upstream WSTUN backend port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Board-side nginx (lab :50000) or Flask (:8080) is origin server — NGINX is edge proxy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WebSocket upgrade headers preserved for WSTUN tunnel establishment and maintenance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Same NGINX instance serves Horizon UI and IoT service proxy — different server_name blocks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Production: NGINX + Designate + WSTUN three-component path to Deviceless URL (Module I)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Ch.6 · Find layer · Thing Description W3C WoT spec cross-reference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Thing Descriptions and discovery (Ch.6 Find layer)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WoT Thing Description (TD): JSON-LD document listing properties, actions, events, schemas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Well-known URI: /.well-known/wot-thing-description — automated discovery by mashup apps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CoRE Link Format alternative for constrained devices — Link header in HTTP responses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S4T Designate DNS enables stable TD URL: https://wot.board.example.com/td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Find layer completes Access: clients discover API contract before invoking endpoints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Lab WSTUN path skips Find (no DNS) — students should know production adds TD + DNS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· service lifecycle · ServiceDisable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Service lifecycle — Enable, Disable, Update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ServiceEnable: creates WSTUN tunnel, assigns public_port, starts forwarding traffic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ServiceDisable: tears down tunnel, releases public_port back to pool 50001–50100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Board must be Active before ServiceEnable — same prerequisite as plugin inject (Module A)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Changing catalog port requires Disable → update catalog → re-Enable on affected boards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Multiple services per board: separate catalog entries (lr-nginx-demo :50000, wot :8080)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Horizon boards column shows all active service mappings per board for operational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Calibri"/>
              </a:defRPr>
            </a:pPr>
            <a:r>
              <a:t>Ch.14 §14.3 · WSTUN vs Designate comparison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45"/>
                </a:solidFill>
                <a:latin typeface="Calibri"/>
              </a:defRPr>
            </a:pPr>
            <a:r>
              <a:t>WSTUN vs Designate — decision guide (Ch.14)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Use WSTUN port mapping: lab, demos, quick tests — http://{{VM_IP}}:public_port/path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Use Designate DNS: production, human URLs, WoT Find/Share layers, Module I Deviceless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Same ServiceEnable API — difference is only how clients construct the public URL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Designate requires DNS zone + NGINX server_name config — more setup, better UX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Book weather demo intended for Designate path — WSTUN port path is lab training shortcut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37474F"/>
                </a:solidFill>
                <a:latin typeface="Calibri"/>
              </a:defRPr>
            </a:pPr>
            <a:r>
              <a:t>▸  Both paths traverse same WebSocket tunnel — WSTUNServer is shared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ServiceDisable cleanup (optional)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API: POST .../services/lr-nginx-demo/action with {"action":"ServiceDisable"}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Verify Horizon boards column clears service mapping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Re-Enable to confirm public_port may change — not guaranteed same port after recycle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Validate WSTUN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0D2B45"/>
                </a:solidFill>
                <a:latin typeface="Consolas"/>
              </a:defRPr>
            </a:pPr>
            <a:r>
              <a:t>$ cd training &amp;&amp; ./validate-lab-wstun.sh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37474F"/>
                </a:solidFill>
                <a:latin typeface="Calibri"/>
              </a:defRPr>
            </a:pPr>
            <a:r>
              <a:t>▸  Script verifies catalog port, ServiceEnable state, and curl HTTP 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B45"/>
                </a:solidFill>
                <a:latin typeface="Calibri"/>
              </a:defRPr>
            </a:pPr>
            <a:r>
              <a:t>Module F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weather-wot service verified: curl /sensors → JSON HTTP 200 (run-weather-demo.sh)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lr-nginx-demo port 50000 → public_port curl HTTP 200 (setup-wstun-demo.py)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Board Servizi column shows both tunnel mappings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Student can explain book port 8080 vs lab port 8088 (LR image constraint)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Student can describe Designate path vs WSTUN port path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□ ./validate/validate-all.sh Module F checks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