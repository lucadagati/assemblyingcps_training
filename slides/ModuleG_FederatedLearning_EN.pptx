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Module G — Federated Learning on the Edge.</a:t>
            </a:r>
          </a:p>
          <a:p/>
          <a:p>
            <a:r>
              <a:t>Ch.19 · Advanced · VM {{VM_IP}}</a:t>
            </a:r>
          </a:p>
          <a:p/>
          <a:p>
            <a:r>
              <a:t>The session alternates theory from the book with live exercises on the Stack4Things lab VM. Replace the placeholder IP with the address of the machine you are using.</a:t>
            </a:r>
          </a:p>
          <a:p/>
          <a:p>
            <a:r>
              <a:t>Advanced · Ch.19 — Federated Learning · requires Module D (3 Active boards).</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Federated Learning theory. Ch.19 — motivation, architecture, taxonomy.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Why Federated Learning? (Ch.19). This material is covered in Ch.19 · FL motivation · regulatory compliance section.</a:t>
            </a:r>
          </a:p>
          <a:p/>
          <a:p>
            <a:r>
              <a:t>First, regarding centralized ml, collect all raw data to cloud — privacy, GDPR, bandwidth, latency risks. Next, regarding fl, train collaboratively — raw data never leaves edge devices or local storage.</a:t>
            </a:r>
          </a:p>
          <a:p/>
          <a:p>
            <a:r>
              <a:t>By contrast, Only model weight updates (gradients/parameters) sent to aggregation server each round. We should also consider that Critical for healthcare, finance, smart cities, IoT fleets with sensitive local data.</a:t>
            </a:r>
          </a:p>
          <a:p/>
          <a:p>
            <a:r>
              <a:t>Another key point is that Regulatory frameworks (GDPR, DPDP, HIPAA) restrict data centralization — FL enables compliance. Furthermore, regarding book motivation section cites real-world cases, hospitals, banks, cross-device IoT.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Centralized vs federated — operational contrast (Ch.19). This material is covered in Ch.19 · centralized vs federated comparison.</a:t>
            </a:r>
          </a:p>
          <a:p/>
          <a:p>
            <a:r>
              <a:t>First, in the centralized approach, an ETL pipeline uploads datasets, then a single GPU cluster trains a monolithic model. Next, in the federated approach, N clients train locally, then the server aggregates, then the global model improves iteratively.</a:t>
            </a:r>
          </a:p>
          <a:p/>
          <a:p>
            <a:r>
              <a:t>By contrast, a major bottleneck of centralized training is network upload of full dataset from each edge site. We should also consider that federated learning has bottlenecks: straggler clients, non-IID data distribution, communication rounds.</a:t>
            </a:r>
          </a:p>
          <a:p/>
          <a:p>
            <a:r>
              <a:t>Another key point is that for Stack4Things, the value proposition is that IoTronic deploys FL client plugin to fleet — the operational layer for federated learning. Furthermore, our lab demonstration uses 3 production lines, 3 CSV files, 1 Flower server — horizontal FL for failure prediction.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architecture components (Ch.19). This material is covered in Ch.19 · fig:chap19:federated_learning_architecture · listing server.py.</a:t>
            </a:r>
          </a:p>
          <a:p/>
          <a:p>
            <a:r>
              <a:t>First, regarding server (flower in lab), orchestrates rounds, aggregates updates (FedAvg algorithm). Next, regarding clients, local training on board-resident telemetry — machine_1/2/3.csv (predictive maintenance).</a:t>
            </a:r>
          </a:p>
          <a:p/>
          <a:p>
            <a:r>
              <a:t>By contrast, regarding stack4things, async plugin injected on each board via IoTronic — Worker connects to server. We should also consider that Direct TCP to Flower server on VM host — lightweight for lab; MQTT optional in field.</a:t>
            </a:r>
          </a:p>
          <a:p/>
          <a:p>
            <a:r>
              <a:t>Another key point is that regarding book figure, fig:chap19:federated_learning_architecture — 3 clients + 1 server. Furthermore, Each client runs local epochs before sending weight update — not every mini-batch.</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FedAvg aggregation algorithm (Ch.19). This material is covered in Ch.19 · FedAvg · Flower framework references.</a:t>
            </a:r>
          </a:p>
          <a:p/>
          <a:p>
            <a:r>
              <a:t>First, regarding federated averaging, server computes weighted average of client model parameters. Next, Weight proportional to local dataset size — larger datasets influence global model more.</a:t>
            </a:r>
          </a:p>
          <a:p/>
          <a:p>
            <a:r>
              <a:t>By contrast, regarding round k, server broadcasts global model, then clients train locally, then clients send updates. We should also consider that Server aggregates, then broadcasts updated global model, then repeat for FL_ROUNDS iterations.</a:t>
            </a:r>
          </a:p>
          <a:p/>
          <a:p>
            <a:r>
              <a:t>Another key point is that Convergence depends on data IID-ness — lab CSVs designed with compatible schema. Furthermore, Flower framework abstracts transport — same FedAvg logic in lab and production.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taxonomy — four categories (Ch.19). This material is covered in Ch.19 · FL types · horizontal vs vertical.</a:t>
            </a:r>
          </a:p>
          <a:p/>
          <a:p>
            <a:r>
              <a:t>First, regarding horizontal fl, same features, different samples — hospitals, IoT boards (lab demo type). Next, regarding vertical fl, different features, same samples — bank + credit card company collaboration.</a:t>
            </a:r>
          </a:p>
          <a:p/>
          <a:p>
            <a:r>
              <a:t>By contrast, regarding cross-silo, organizations with stable connectivity and rich local datasets. We should also consider that regarding cross-device, many mobile/IoT clients, intermittent connectivity, small local data.</a:t>
            </a:r>
          </a:p>
          <a:p/>
          <a:p>
            <a:r>
              <a:t>Another key point is that our lab demonstration uses horizontal cross-silo — 3 boards, same CSV schema, different row samples. Furthermore, Book taxonomy table helps students classify real-world FL deployment scenarios.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Non-IID data challenges (Ch.19). This material is covered in Ch.19 · non-IID · predictive maintenance lab extension.</a:t>
            </a:r>
          </a:p>
          <a:p/>
          <a:p>
            <a:r>
              <a:t>First, regarding real edge data often non-iid, each production line has different failure signatures. Next, regarding lab, CNC spindle vs conveyor vs pump — distinct vibration/temperature/current patterns.</a:t>
            </a:r>
          </a:p>
          <a:p/>
          <a:p>
            <a:r>
              <a:t>By contrast, Target=1 = failure imminent; federated model learns global predictor without centralizing CSVs. We should also consider that Non-IID slows convergence — may require more FL_ROUNDS or specialized aggregation.</a:t>
            </a:r>
          </a:p>
          <a:p/>
          <a:p>
            <a:r>
              <a:t>Another key point is that regarding production mitigations, fedProx, SCAFFOLD — beyond lab scope. Furthermore, Module D fleet (3 boards) mirrors cross-silo industrial FL scenario.</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S4T + FL integration — plugin model (Ch.19). This material is covered in Ch.19 · server on cloud VM · 3 board clients · Horizon Federated Learning panel.</a:t>
            </a:r>
          </a:p>
          <a:p/>
          <a:p>
            <a:r>
              <a:t>First, regarding each board monitors a different machine, vibration, temperature, motor current (local CSV). Next, regarding target, binary failure_imminent — raw telemetry never leaves the edge board.</a:t>
            </a:r>
          </a:p>
          <a:p/>
          <a:p>
            <a:r>
              <a:t>By contrast, regarding plugin lifecycle, install datasets, then shared fl-client in FL panel, then inject, then Start. We should also consider that Board-alpha = CNC spindle, board-beta = conveyor motor, board-gamma = pump line.</a:t>
            </a:r>
          </a:p>
          <a:p/>
          <a:p>
            <a:r>
              <a:t>Another key point is that regarding non-iid by design, each line has different failure signatures (Ch.19 horizontal FL). Furthermore, regarding repo, ch19/server.py + fl_client_plugin.py + machine_*.csv (generate_pm_datasets.py).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Privacy and regulatory framing (Ch.19). This material is covered in Ch.19 · regulatory compliance · privacy-preserving FL footnote.</a:t>
            </a:r>
          </a:p>
          <a:p/>
          <a:p>
            <a:r>
              <a:t>First, regarding gdpr article 25, data protection by design — FL keeps raw data at edge by default. Next, regarding dpdp (india), hipaa (us healthcare), restrict cross-border raw data transfer.</a:t>
            </a:r>
          </a:p>
          <a:p/>
          <a:p>
            <a:r>
              <a:t>By contrast, FL enables smarter systems while data stays on edge nodes under local jurisdiction. We should also consider that S4T provides deployment vehicle (IoTronic inject) — FL provides training methodology.</a:t>
            </a:r>
          </a:p>
          <a:p/>
          <a:p>
            <a:r>
              <a:t>Another key point is that regarding production extensions, differential privacy noise on updates, secure aggregation (crypto). Furthermore, regarding lab scope, demonstrate FL workflow — not production-grade privacy guarantees.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challenges and open issues (Ch.19). This material is covered in Ch.19 § Challenges and open issues · FedProx · secure aggregation footnote.</a:t>
            </a:r>
          </a:p>
          <a:p/>
          <a:p>
            <a:r>
              <a:t>First, regarding system heterogeneity, boards differ in CPU, RAM, bandwidth — stragglers delay aggregation rounds. Next, regarding client availability, intermittent connectivity reduces effective participants per round.</a:t>
            </a:r>
          </a:p>
          <a:p/>
          <a:p>
            <a:r>
              <a:t>By contrast, regarding model heterogeneity, incompatible architectures complicate weight merging and convergence. We should also consider that regarding statistical heterogeneity (non-iid), skewed local data degrades global model accuracy.</a:t>
            </a:r>
          </a:p>
          <a:p/>
          <a:p>
            <a:r>
              <a:t>Another key point is that regarding model update security, poisoning and backdoor attacks via malicious local training data. Furthermore, Mitigations include FedProx, secure aggregation, differential privacy — research beyond lab scope.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platform landscape (Ch.19). This material is covered in Ch.19 § Core requirements · tools and frameworks.</a:t>
            </a:r>
          </a:p>
          <a:p/>
          <a:p>
            <a:r>
              <a:t>First, regarding open source, tensorFlow Federated, Flower (lab choice), PySyft, LEAF benchmarks, FedML. Next, regarding enterprise, NVIDIA FLARE, IBM FL — production orchestration and compliance tooling.</a:t>
            </a:r>
          </a:p>
          <a:p/>
          <a:p>
            <a:r>
              <a:t>By contrast, Flower chosen in ch19 repo for lightweight Python server + edge client plugin integration. We should also consider that Platform choice depends on scale, privacy requirements, and edge hardware constraints.</a:t>
            </a:r>
          </a:p>
          <a:p/>
          <a:p>
            <a:r>
              <a:t>Another key point is that regarding s4t contribution, same IoTronic inject lifecycle deploys FL client Workers on real boards. Furthermore, Google/Apple on-device FL cited in book as industry validation of federated approach.</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FL architecture — 3 edge clients. Describe the main boxes and arrows. Relate each element to a Docker service or API you have already seen. In particular, note the following: Flower server on VM host + 3 LR clients on :1474/:1475/:1476 (Module D).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Federated Learning round (Module G). Trace the diagram from left to right. Name each actor, the protocol used, and the message that crosses the cloud–edge boundary. In particular, note the following: Broadcast weights → local train → upload gradients → FedAvg.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G — learning objectives.</a:t>
            </a:r>
          </a:p>
          <a:p/>
          <a:p>
            <a:r>
              <a:t>First, Explain FL motivation, FedAvg, and horizontal cross-silo taxonomy (Ch.19). Next, Deploy Flower server; federated failure-prediction model across 3 edge production lines.</a:t>
            </a:r>
          </a:p>
          <a:p/>
          <a:p>
            <a:r>
              <a:t>By contrast, Inject FL async client on 3 Active boards with distinct machine_*.csv datasets. We should also consider that Pass validate-lab-fl.sh — bridge Ch.19 AI methodology with Ch.13–14 S4T stack.</a:t>
            </a:r>
          </a:p>
          <a:p/>
          <a:p>
            <a:r>
              <a:t>If these objectives are clear, we can proceed.</a:t>
            </a:r>
          </a:p>
          <a:p/>
          <a:p>
            <a:r>
              <a:t>Instructor cues:</a:t>
            </a:r>
          </a:p>
          <a:p>
            <a:r>
              <a:t>• Observe ≥2 aggregation rounds complete (FL_ROUNDS=2 classroom pacing)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What the FL demo proves — demo goals.</a:t>
            </a:r>
          </a:p>
          <a:p/>
          <a:p>
            <a:r>
              <a:t>First, Edge boards participate in distributed ML without sharing raw CSV data across boards. Next, IoTronic deploys identical FL client plugin code to heterogeneous Active boards.</a:t>
            </a:r>
          </a:p>
          <a:p/>
          <a:p>
            <a:r>
              <a:t>By contrast, Aggregation improves global model accuracy over successive rounds (FL_ROUNDS=2 in class). We should also consider that Bridges Ch.19 AI methodology with Ch.13–14 S4T operational stack (inject + Start).</a:t>
            </a:r>
          </a:p>
          <a:p/>
          <a:p>
            <a:r>
              <a:t>Another key point is that Students can classify lab setup as horizontal cross-silo FL from Ch.19 taxonomy. Furthermore, Flower server log shows round completion — tangible evidence of federated aggregation.</a:t>
            </a:r>
          </a:p>
          <a:p/>
          <a:p>
            <a:r>
              <a:t>Check that your screen matches what we showed before moving on.</a:t>
            </a:r>
          </a:p>
          <a:p/>
          <a:p>
            <a:r>
              <a:t>Session timing — Module G — 60-minute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Prerequisites &amp; resource constraints.</a:t>
            </a:r>
          </a:p>
          <a:p/>
          <a:p>
            <a:r>
              <a:t>First, Module D complete — 3 Active boards on {{VM_IP}}:1474/:1475/:1476. Next, regarding repo, ch19/server.py + fl_client_plugin.py + machine_*.csv (predictive maintenance lab).</a:t>
            </a:r>
          </a:p>
          <a:p/>
          <a:p>
            <a:r>
              <a:t>By contrast, Run install-fl-on-boards.sh once — deps + machine_*.csv into LR containers. We should also consider that Do NOT run simultaneously with Module H K3s — RAM gate: free -h ≥ 2 GB during FL.</a:t>
            </a:r>
          </a:p>
          <a:p/>
          <a:p>
            <a:r>
              <a:t>Another key point is that Horizon admin / s4t · LR dashboards me / arancino on all three instances.</a:t>
            </a:r>
          </a:p>
          <a:p/>
          <a:p>
            <a:r>
              <a:t>If these objectives are clear, we can proceed.</a:t>
            </a:r>
          </a:p>
          <a:p/>
          <a:p>
            <a:r>
              <a:t>Instructor cues:</a:t>
            </a:r>
          </a:p>
          <a:p>
            <a:r>
              <a:t>• Classroom pacing: FL_ROUNDS=2 — keeps session within 60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Flower server setup. Install dependencies + start aggregation. In the next slides, listen for whether we are in theory mode or hands-on mode, and open your terminal when the slides turn to lab work.</a:t>
            </a:r>
          </a:p>
          <a:p/>
          <a:p>
            <a:r>
              <a:t>Instructor timing (title): Hands-on — Flower server setup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Install FL deps on VM and boards. Open your lab VM and follow along.</a:t>
            </a:r>
          </a:p>
          <a:p/>
          <a:p>
            <a:r>
              <a:t>Please run the following command on your VM: cd training &amp;&amp; pip install flwr torch pandas scikit-learn # or use .venv. Wait until you see a sensible result before continuing. Please run the following command on your VM: ./experiments/federated-learning/install-fl-on-boards.sh. Wait until you see a sensible result before continuing.</a:t>
            </a:r>
          </a:p>
          <a:p/>
          <a:p>
            <a:r>
              <a:t>By contrast, Copies machine_1/2/3.csv + fl_client_plugin.py into each LR container (/opt/fl/).</a:t>
            </a:r>
          </a:p>
          <a:p/>
          <a:p>
            <a:r>
              <a:t>Raise your hand if you're stuck — we'll wait until most of you are done.</a:t>
            </a:r>
          </a:p>
          <a:p/>
          <a:p>
            <a:r>
              <a:t>Instructor timing (title): Step 1 — Install FL deps on VM and boards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Flower server configuration (Ch.19). This material is covered in Ch.19 · server.py on cloud VM · FL_PORT=8087 · Horizon panel + fl-control :8091.</a:t>
            </a:r>
          </a:p>
          <a:p/>
          <a:p>
            <a:r>
              <a:t>First, regarding server.py on vm host, fedAvg strategy — same role as book listing (Cap. 19). Next, FL_ROUNDS env var controls aggregation iterations — set to 2 for classroom demo.</a:t>
            </a:r>
          </a:p>
          <a:p/>
          <a:p>
            <a:r>
              <a:t>By contrast, regarding server binds 0.0.0.0, 8087 (default) — avoids WSTUN conflict on :8080. We should also consider that LR containers reach VM host via Docker bridge gateway (e.g. 172.18.0.1:8087).</a:t>
            </a:r>
          </a:p>
          <a:p/>
          <a:p>
            <a:r>
              <a:t>Another key point is that regarding minimum clients, 3 (matches 3 boards from Module D) — server waits for all before round.</a:t>
            </a:r>
          </a:p>
          <a:p/>
          <a:p>
            <a:r>
              <a:t>I'll pause here for questions, then we'll continue.</a:t>
            </a:r>
          </a:p>
          <a:p/>
          <a:p>
            <a:r>
              <a:t>Instructor cues:</a:t>
            </a:r>
          </a:p>
          <a:p>
            <a:r>
              <a:t>• Server log prints per-round aggregated metrics — instructor projects for class visibility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Enable FL panel and start Flower server. Open your lab VM and follow along.</a:t>
            </a:r>
          </a:p>
          <a:p/>
          <a:p>
            <a:r>
              <a:t>Please run the following command on your VM: cd training &amp;&amp; ./experiments/federated-learning/setup-fl-horizon.sh # once. Wait until you see a sensible result before continuing. Next, Horizon, then IoT, then Federated Learning, then Lab parameters, then Save.</a:t>
            </a:r>
          </a:p>
          <a:p/>
          <a:p>
            <a:r>
              <a:t>By contrast, Click Start Flower server (or Restart after param changes) — live topology iframe. We should also consider that regarding optional demo-ready, ./experiments/federated-learning/setup-fl-demo-plugins.sh.</a:t>
            </a:r>
          </a:p>
          <a:p/>
          <a:p>
            <a:r>
              <a:t>Raise your hand if you're stuck — we'll wait until most of you are done.</a:t>
            </a:r>
          </a:p>
          <a:p/>
          <a:p>
            <a:r>
              <a:t>Instructor timing (title): Step 2 — Enable FL panel and start Flower server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deploy FL client plugins. Single shared fl-client plugin. In the next slides, listen for whether we are in theory mode or hands-on mode, and open your terminal when the slides turn to lab work.</a:t>
            </a:r>
          </a:p>
          <a:p/>
          <a:p>
            <a:r>
              <a:t>Instructor timing (title): Hands-on — deploy FL client plugins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and inject FL client plugin. Open your lab VM and follow along.</a:t>
            </a:r>
          </a:p>
          <a:p/>
          <a:p>
            <a:r>
              <a:t>First, Horizon, then Federated Learning, then Create / update FL client plugin (name: fl-client). Next, regarding one shared async plugin — per-board json, csv_file + board_name only.</a:t>
            </a:r>
          </a:p>
          <a:p/>
          <a:p>
            <a:r>
              <a:t>By contrast, regarding inject fl-client, board-alpha (machine_1/CNC), board-beta (machine_2/conveyor), board-gamma (machine_3/pump). We should also consider that Lab parameters supply server_address and dashboard_url — Apply to all boards.</a:t>
            </a:r>
          </a:p>
          <a:p/>
          <a:p>
            <a:r>
              <a:t>Raise your hand if you're stuck — we'll wait until most of you are done.</a:t>
            </a:r>
          </a:p>
          <a:p/>
          <a:p>
            <a:r>
              <a:t>Instructor timing (title): Step 3 — Create and inject FL client plugin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 Federated Learning panel (Module G). Walk the class through what they see in the interface. Connect each panel and button to a component we already deployed in the stack. In particular, note the following: Predictive maintenance lab · machine_1/2/3.csv per board · admin / s4t.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Lab parameters — rounds, server and dashboard URLs. Walk the class through what they see in the interface. Connect each panel and button to a component we already deployed in the stack. In particular, note the following: FL rounds + Docker gateway for Flower :8087 and dashboard :8090.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Edge FL clients — failure prediction per production line. Walk the class through what they see in the interface. Connect each panel and button to a component we already deployed in the stack. In particular, note the following: board-alpha CNC · board-beta conveyor · board-gamma pump · machine_*.csv JSON.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Multi-board topology for FL clients. Describe the main boxes and arrows. Relate each element to a Docker service or API you have already seen. In particular, note the following: 3 LR clients :1474/:1475/:1476 → Flower server on VM host :8087 (not on a board).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Live topology — federated failure-prediction dashboard. Walk the class through what they see in the interface. Connect each panel and button to a component we already deployed in the stack. In particular, note the following: Vibration/temperature/current models aggregate without sharing raw CSVs.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Start FL clients on all three boards. Open your lab VM and follow along.</a:t>
            </a:r>
          </a:p>
          <a:p/>
          <a:p>
            <a:r>
              <a:t>First, regarding with flower server running, federated Learning panel, then Start all clients. Next, Or Start fl-client individually per board from the panel.</a:t>
            </a:r>
          </a:p>
          <a:p/>
          <a:p>
            <a:r>
              <a:t>By contrast, regarding watch live topology, clients connect, then rounds advance, then loss/accuracy update. We should also consider that regarding lr logs, docker logs lightning-rod-2 — local training progress messages.</a:t>
            </a:r>
          </a:p>
          <a:p/>
          <a:p>
            <a:r>
              <a:t>Raise your hand if you're stuck — we'll wait until most of you are done.</a:t>
            </a:r>
          </a:p>
          <a:p/>
          <a:p>
            <a:r>
              <a:t>Instructor timing (title): Step 4 — Start FL clients on all three boards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Client plugin execution flow (Ch.19). This material is covered in Ch.19 · fl_client_plugin.py Worker + HeartClient · async plugin pattern.</a:t>
            </a:r>
          </a:p>
          <a:p/>
          <a:p>
            <a:r>
              <a:t>First, Start action launches async Worker — connects to Flower server via gRPC/TCP. Next, Worker loads local CSV — initializes model with global weights from server.</a:t>
            </a:r>
          </a:p>
          <a:p/>
          <a:p>
            <a:r>
              <a:t>By contrast, regarding local training, N local epochs on board CPU — sends weight delta to server. We should also consider that Server aggregates all 3 client updates — broadcasts new global weights.</a:t>
            </a:r>
          </a:p>
          <a:p/>
          <a:p>
            <a:r>
              <a:t>Another key point is that regarding round 2, clients receive updated global model — repeat local training. Furthermore, regarding stop, interrupt plugin on each board after rounds complete — clean shutdown.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Troubleshooting FL connectivity (Ch.19 lab). This material is covered in fix-iotronic-wampagents.sh · validate-lab-fl.sh · install-fl-on-boards.sh.</a:t>
            </a:r>
          </a:p>
          <a:p/>
          <a:p>
            <a:r>
              <a:t>First, regarding clients cannot connect, verify server on VM :8087 and gateway IP from install-fl-on-boards.sh. Next, regarding horizon 'unable to retrieve boards list', run scripts/fix-iotronic-wampagents.sh.</a:t>
            </a:r>
          </a:p>
          <a:p/>
          <a:p>
            <a:r>
              <a:t>By contrast, regarding server stuck waiting, ensure all 3 Start actions fired — minimum client count not met. We should also consider that regarding oom on board, reduce local epochs in plugin params — edge boards have limited RAM.</a:t>
            </a:r>
          </a:p>
          <a:p/>
          <a:p>
            <a:r>
              <a:t>Another key point is that regarding plugin error on start, re-run install-fl-on-boards.sh (flwr/torch in LR container). Furthermore, Validate-lab-fl.sh — artifacts, Horizon mounts, panel URL, live proxy + optional E2E.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 in the Cloud Continuum research context (Ch.19 + Ch.11). This material is covered in Ch.19 + Ch.11 Type 4 · SLICES RI FL experiment pattern.</a:t>
            </a:r>
          </a:p>
          <a:p/>
          <a:p>
            <a:r>
              <a:t>First, regarding ch.11 type 4 experiments, AI/ML workflows including federated learning at edge. Next, regarding slices ri multi-site fl, clients on different European sites, server on cloud slice.</a:t>
            </a:r>
          </a:p>
          <a:p/>
          <a:p>
            <a:r>
              <a:t>By contrast, S4T IoTronic inject scales FL client deployment — same pattern as Module D fleet ops. We should also consider that Crossplane Workflow CRD could declare FL experiment: server + N client plugins + datasets.</a:t>
            </a:r>
          </a:p>
          <a:p/>
          <a:p>
            <a:r>
              <a:t>Another key point is that Edge-board FL preserves data sovereignty requirements of SLICES partner institutions. Furthermore, Lab on {{VM_IP}} is minimal horizontal FL — production scales to cross-silo federation.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Validate &amp; wrap-up. Confirm aggregation + Module H exclusion.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Validate FL lab. Open your lab VM and follow along.</a:t>
            </a:r>
          </a:p>
          <a:p/>
          <a:p>
            <a:r>
              <a:t>Please run the following command on your VM: cd training &amp;&amp; ./validate-lab-fl.sh. Wait until you see a sensible result before continuing. Next, Live topology shows rounds completing; loss numeric (not em-dash).</a:t>
            </a:r>
          </a:p>
          <a:p/>
          <a:p>
            <a:r>
              <a:t>By contrast, Interrupt FL plugins on all boards after successful validation.</a:t>
            </a:r>
          </a:p>
          <a:p/>
          <a:p>
            <a:r>
              <a:t>Raise your hand if you're stuck — we'll wait until most of you are done.</a:t>
            </a:r>
          </a:p>
          <a:p/>
          <a:p>
            <a:r>
              <a:t>Instructor timing (title): Step 5 — Validate FL lab</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G checklist &amp; resource note.</a:t>
            </a:r>
          </a:p>
          <a:p/>
          <a:p>
            <a:r>
              <a:t>First, regarding □ horizon fl panel, start server + Start all clients — rounds complete in live topology. Next, □ Three production lines connected via fl-client with correct machine_*.csv per board.</a:t>
            </a:r>
          </a:p>
          <a:p/>
          <a:p>
            <a:r>
              <a:t>By contrast, regarding □ validate-lab-fl.sh passes (horizon mounts +, 8091 control API). We should also consider that □ free -h ≥ 2 GB during FL — do NOT run K3s Blueprint (Module H) concurrently.</a:t>
            </a:r>
          </a:p>
          <a:p/>
          <a:p>
            <a:r>
              <a:t>Another key point is that □ Students articulate horizontal cross-silo FL classification from Ch.19 taxonomy.</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Module G — Federated Learning on the Edge</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Ch.19 · Advanced ·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Advanced · Ch.19 — Federated Learning · requires Module D (3 Active boards)</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Federated Learning theory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Ch.19 — motivation, architecture, taxonomy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FL motivation · regulatory compliance section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Why Federated Learning?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Centralized ML: collect all raw data to cloud — privacy, GDPR, bandwidth, latency risks</a:t>
            </a:r>
          </a:p>
          <a:p>
            <a:pPr>
              <a:lnSpc>
                <a:spcPct val="115000"/>
              </a:lnSpc>
              <a:spcAft>
                <a:spcPts val="500"/>
              </a:spcAft>
              <a:defRPr sz="1600" b="0">
                <a:solidFill>
                  <a:srgbClr val="37474F"/>
                </a:solidFill>
                <a:latin typeface="Calibri"/>
              </a:defRPr>
            </a:pPr>
            <a:r>
              <a:t>▸  FL: train collaboratively — raw data never leaves edge devices or local storage</a:t>
            </a:r>
          </a:p>
          <a:p>
            <a:pPr>
              <a:lnSpc>
                <a:spcPct val="115000"/>
              </a:lnSpc>
              <a:spcAft>
                <a:spcPts val="500"/>
              </a:spcAft>
              <a:defRPr sz="1600" b="0">
                <a:solidFill>
                  <a:srgbClr val="37474F"/>
                </a:solidFill>
                <a:latin typeface="Calibri"/>
              </a:defRPr>
            </a:pPr>
            <a:r>
              <a:t>▸  Only model weight updates (gradients/parameters) sent to aggregation server each round</a:t>
            </a:r>
          </a:p>
          <a:p>
            <a:pPr>
              <a:lnSpc>
                <a:spcPct val="115000"/>
              </a:lnSpc>
              <a:spcAft>
                <a:spcPts val="500"/>
              </a:spcAft>
              <a:defRPr sz="1600" b="0">
                <a:solidFill>
                  <a:srgbClr val="37474F"/>
                </a:solidFill>
                <a:latin typeface="Calibri"/>
              </a:defRPr>
            </a:pPr>
            <a:r>
              <a:t>▸  Critical for healthcare, finance, smart cities, IoT fleets with sensitive local data</a:t>
            </a:r>
          </a:p>
          <a:p>
            <a:pPr>
              <a:lnSpc>
                <a:spcPct val="115000"/>
              </a:lnSpc>
              <a:spcAft>
                <a:spcPts val="500"/>
              </a:spcAft>
              <a:defRPr sz="1600" b="0">
                <a:solidFill>
                  <a:srgbClr val="37474F"/>
                </a:solidFill>
                <a:latin typeface="Calibri"/>
              </a:defRPr>
            </a:pPr>
            <a:r>
              <a:t>▸  Regulatory frameworks (GDPR, DPDP, HIPAA) restrict data centralization — FL enables compliance</a:t>
            </a:r>
          </a:p>
          <a:p>
            <a:pPr>
              <a:lnSpc>
                <a:spcPct val="115000"/>
              </a:lnSpc>
              <a:spcAft>
                <a:spcPts val="500"/>
              </a:spcAft>
              <a:defRPr sz="1600" b="0">
                <a:solidFill>
                  <a:srgbClr val="37474F"/>
                </a:solidFill>
                <a:latin typeface="Calibri"/>
              </a:defRPr>
            </a:pPr>
            <a:r>
              <a:t>▸  Book motivation section cites real-world cases: hospitals, banks, cross-device IoT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centralized vs federated comparison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Centralized vs federated — operational contrast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Centralized: ETL pipeline uploads datasets → single GPU cluster trains monolithic model</a:t>
            </a:r>
          </a:p>
          <a:p>
            <a:pPr>
              <a:lnSpc>
                <a:spcPct val="115000"/>
              </a:lnSpc>
              <a:spcAft>
                <a:spcPts val="500"/>
              </a:spcAft>
              <a:defRPr sz="1600" b="0">
                <a:solidFill>
                  <a:srgbClr val="37474F"/>
                </a:solidFill>
                <a:latin typeface="Calibri"/>
              </a:defRPr>
            </a:pPr>
            <a:r>
              <a:t>▸  Federated: N clients train locally → server aggregates → global model improves iteratively</a:t>
            </a:r>
          </a:p>
          <a:p>
            <a:pPr>
              <a:lnSpc>
                <a:spcPct val="115000"/>
              </a:lnSpc>
              <a:spcAft>
                <a:spcPts val="500"/>
              </a:spcAft>
              <a:defRPr sz="1600" b="0">
                <a:solidFill>
                  <a:srgbClr val="37474F"/>
                </a:solidFill>
                <a:latin typeface="Calibri"/>
              </a:defRPr>
            </a:pPr>
            <a:r>
              <a:t>▸  Centralized bottleneck: network upload of full dataset from each edge site</a:t>
            </a:r>
          </a:p>
          <a:p>
            <a:pPr>
              <a:lnSpc>
                <a:spcPct val="115000"/>
              </a:lnSpc>
              <a:spcAft>
                <a:spcPts val="500"/>
              </a:spcAft>
              <a:defRPr sz="1600" b="0">
                <a:solidFill>
                  <a:srgbClr val="37474F"/>
                </a:solidFill>
                <a:latin typeface="Calibri"/>
              </a:defRPr>
            </a:pPr>
            <a:r>
              <a:t>▸  Federated bottleneck: straggler clients, non-IID data distribution, communication rounds</a:t>
            </a:r>
          </a:p>
          <a:p>
            <a:pPr>
              <a:lnSpc>
                <a:spcPct val="115000"/>
              </a:lnSpc>
              <a:spcAft>
                <a:spcPts val="500"/>
              </a:spcAft>
              <a:defRPr sz="1600" b="0">
                <a:solidFill>
                  <a:srgbClr val="37474F"/>
                </a:solidFill>
                <a:latin typeface="Calibri"/>
              </a:defRPr>
            </a:pPr>
            <a:r>
              <a:t>▸  S4T value proposition: IoTronic deploys FL client plugin to fleet — operational layer for FL</a:t>
            </a:r>
          </a:p>
          <a:p>
            <a:pPr>
              <a:lnSpc>
                <a:spcPct val="115000"/>
              </a:lnSpc>
              <a:spcAft>
                <a:spcPts val="500"/>
              </a:spcAft>
              <a:defRPr sz="1600" b="0">
                <a:solidFill>
                  <a:srgbClr val="37474F"/>
                </a:solidFill>
                <a:latin typeface="Calibri"/>
              </a:defRPr>
            </a:pPr>
            <a:r>
              <a:t>▸  Lab demo: 3 production lines, 3 CSV files, 1 Flower server — horizontal FL for failure prediction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fig:chap19:federated_learning_architecture · listing server.py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architecture components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Server (Flower in lab): orchestrates rounds, aggregates updates (FedAvg algorithm)</a:t>
            </a:r>
          </a:p>
          <a:p>
            <a:pPr>
              <a:lnSpc>
                <a:spcPct val="115000"/>
              </a:lnSpc>
              <a:spcAft>
                <a:spcPts val="500"/>
              </a:spcAft>
              <a:defRPr sz="1600" b="0">
                <a:solidFill>
                  <a:srgbClr val="37474F"/>
                </a:solidFill>
                <a:latin typeface="Calibri"/>
              </a:defRPr>
            </a:pPr>
            <a:r>
              <a:t>▸  Clients: local training on board-resident telemetry — machine_1/2/3.csv (predictive maintenance)</a:t>
            </a:r>
          </a:p>
          <a:p>
            <a:pPr>
              <a:lnSpc>
                <a:spcPct val="115000"/>
              </a:lnSpc>
              <a:spcAft>
                <a:spcPts val="500"/>
              </a:spcAft>
              <a:defRPr sz="1600" b="0">
                <a:solidFill>
                  <a:srgbClr val="37474F"/>
                </a:solidFill>
                <a:latin typeface="Calibri"/>
              </a:defRPr>
            </a:pPr>
            <a:r>
              <a:t>▸  Stack4Things: async plugin injected on each board via IoTronic — Worker connects to server</a:t>
            </a:r>
          </a:p>
          <a:p>
            <a:pPr>
              <a:lnSpc>
                <a:spcPct val="115000"/>
              </a:lnSpc>
              <a:spcAft>
                <a:spcPts val="500"/>
              </a:spcAft>
              <a:defRPr sz="1600" b="0">
                <a:solidFill>
                  <a:srgbClr val="37474F"/>
                </a:solidFill>
                <a:latin typeface="Calibri"/>
              </a:defRPr>
            </a:pPr>
            <a:r>
              <a:t>▸  Direct TCP to Flower server on VM host — lightweight for lab; MQTT optional in field</a:t>
            </a:r>
          </a:p>
          <a:p>
            <a:pPr>
              <a:lnSpc>
                <a:spcPct val="115000"/>
              </a:lnSpc>
              <a:spcAft>
                <a:spcPts val="500"/>
              </a:spcAft>
              <a:defRPr sz="1600" b="0">
                <a:solidFill>
                  <a:srgbClr val="37474F"/>
                </a:solidFill>
                <a:latin typeface="Calibri"/>
              </a:defRPr>
            </a:pPr>
            <a:r>
              <a:t>▸  Book figure: fig:chap19:federated_learning_architecture — 3 clients + 1 server</a:t>
            </a:r>
          </a:p>
          <a:p>
            <a:pPr>
              <a:lnSpc>
                <a:spcPct val="115000"/>
              </a:lnSpc>
              <a:spcAft>
                <a:spcPts val="500"/>
              </a:spcAft>
              <a:defRPr sz="1600" b="0">
                <a:solidFill>
                  <a:srgbClr val="37474F"/>
                </a:solidFill>
                <a:latin typeface="Calibri"/>
              </a:defRPr>
            </a:pPr>
            <a:r>
              <a:t>▸  Each client runs local epochs before sending weight update — not every mini-batch</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FedAvg · Flower framework references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FedAvg aggregation algorithm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Federated Averaging: server computes weighted average of client model parameters</a:t>
            </a:r>
          </a:p>
          <a:p>
            <a:pPr>
              <a:lnSpc>
                <a:spcPct val="115000"/>
              </a:lnSpc>
              <a:spcAft>
                <a:spcPts val="500"/>
              </a:spcAft>
              <a:defRPr sz="1600" b="0">
                <a:solidFill>
                  <a:srgbClr val="37474F"/>
                </a:solidFill>
                <a:latin typeface="Calibri"/>
              </a:defRPr>
            </a:pPr>
            <a:r>
              <a:t>▸  Weight proportional to local dataset size — larger datasets influence global model more</a:t>
            </a:r>
          </a:p>
          <a:p>
            <a:pPr>
              <a:lnSpc>
                <a:spcPct val="115000"/>
              </a:lnSpc>
              <a:spcAft>
                <a:spcPts val="500"/>
              </a:spcAft>
              <a:defRPr sz="1600" b="0">
                <a:solidFill>
                  <a:srgbClr val="37474F"/>
                </a:solidFill>
                <a:latin typeface="Calibri"/>
              </a:defRPr>
            </a:pPr>
            <a:r>
              <a:t>▸  Round k: server broadcasts global model → clients train locally → clients send updates</a:t>
            </a:r>
          </a:p>
          <a:p>
            <a:pPr>
              <a:lnSpc>
                <a:spcPct val="115000"/>
              </a:lnSpc>
              <a:spcAft>
                <a:spcPts val="500"/>
              </a:spcAft>
              <a:defRPr sz="1600" b="0">
                <a:solidFill>
                  <a:srgbClr val="37474F"/>
                </a:solidFill>
                <a:latin typeface="Calibri"/>
              </a:defRPr>
            </a:pPr>
            <a:r>
              <a:t>▸  Server aggregates → broadcasts updated global model → repeat for FL_ROUNDS iterations</a:t>
            </a:r>
          </a:p>
          <a:p>
            <a:pPr>
              <a:lnSpc>
                <a:spcPct val="115000"/>
              </a:lnSpc>
              <a:spcAft>
                <a:spcPts val="500"/>
              </a:spcAft>
              <a:defRPr sz="1600" b="0">
                <a:solidFill>
                  <a:srgbClr val="37474F"/>
                </a:solidFill>
                <a:latin typeface="Calibri"/>
              </a:defRPr>
            </a:pPr>
            <a:r>
              <a:t>▸  Convergence depends on data IID-ness — lab CSVs designed with compatible schema</a:t>
            </a:r>
          </a:p>
          <a:p>
            <a:pPr>
              <a:lnSpc>
                <a:spcPct val="115000"/>
              </a:lnSpc>
              <a:spcAft>
                <a:spcPts val="500"/>
              </a:spcAft>
              <a:defRPr sz="1600" b="0">
                <a:solidFill>
                  <a:srgbClr val="37474F"/>
                </a:solidFill>
                <a:latin typeface="Calibri"/>
              </a:defRPr>
            </a:pPr>
            <a:r>
              <a:t>▸  Flower framework abstracts transport — same FedAvg logic in lab and production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FL types · horizontal vs vertical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taxonomy — four categories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Horizontal FL: same features, different samples — hospitals, IoT boards (lab demo type)</a:t>
            </a:r>
          </a:p>
          <a:p>
            <a:pPr>
              <a:lnSpc>
                <a:spcPct val="115000"/>
              </a:lnSpc>
              <a:spcAft>
                <a:spcPts val="500"/>
              </a:spcAft>
              <a:defRPr sz="1600" b="0">
                <a:solidFill>
                  <a:srgbClr val="37474F"/>
                </a:solidFill>
                <a:latin typeface="Calibri"/>
              </a:defRPr>
            </a:pPr>
            <a:r>
              <a:t>▸  Vertical FL: different features, same samples — bank + credit card company collaboration</a:t>
            </a:r>
          </a:p>
          <a:p>
            <a:pPr>
              <a:lnSpc>
                <a:spcPct val="115000"/>
              </a:lnSpc>
              <a:spcAft>
                <a:spcPts val="500"/>
              </a:spcAft>
              <a:defRPr sz="1600" b="0">
                <a:solidFill>
                  <a:srgbClr val="37474F"/>
                </a:solidFill>
                <a:latin typeface="Calibri"/>
              </a:defRPr>
            </a:pPr>
            <a:r>
              <a:t>▸  Cross-silo: organizations with stable connectivity and rich local datasets</a:t>
            </a:r>
          </a:p>
          <a:p>
            <a:pPr>
              <a:lnSpc>
                <a:spcPct val="115000"/>
              </a:lnSpc>
              <a:spcAft>
                <a:spcPts val="500"/>
              </a:spcAft>
              <a:defRPr sz="1600" b="0">
                <a:solidFill>
                  <a:srgbClr val="37474F"/>
                </a:solidFill>
                <a:latin typeface="Calibri"/>
              </a:defRPr>
            </a:pPr>
            <a:r>
              <a:t>▸  Cross-device: many mobile/IoT clients, intermittent connectivity, small local data</a:t>
            </a:r>
          </a:p>
          <a:p>
            <a:pPr>
              <a:lnSpc>
                <a:spcPct val="115000"/>
              </a:lnSpc>
              <a:spcAft>
                <a:spcPts val="500"/>
              </a:spcAft>
              <a:defRPr sz="1600" b="0">
                <a:solidFill>
                  <a:srgbClr val="37474F"/>
                </a:solidFill>
                <a:latin typeface="Calibri"/>
              </a:defRPr>
            </a:pPr>
            <a:r>
              <a:t>▸  Lab demo: horizontal cross-silo — 3 boards, same CSV schema, different row samples</a:t>
            </a:r>
          </a:p>
          <a:p>
            <a:pPr>
              <a:lnSpc>
                <a:spcPct val="115000"/>
              </a:lnSpc>
              <a:spcAft>
                <a:spcPts val="500"/>
              </a:spcAft>
              <a:defRPr sz="1600" b="0">
                <a:solidFill>
                  <a:srgbClr val="37474F"/>
                </a:solidFill>
                <a:latin typeface="Calibri"/>
              </a:defRPr>
            </a:pPr>
            <a:r>
              <a:t>▸  Book taxonomy table helps students classify real-world FL deployment scenarios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non-IID · predictive maintenance lab extension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Non-IID data challenges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Real edge data often non-IID: each production line has different failure signatures</a:t>
            </a:r>
          </a:p>
          <a:p>
            <a:pPr>
              <a:lnSpc>
                <a:spcPct val="115000"/>
              </a:lnSpc>
              <a:spcAft>
                <a:spcPts val="500"/>
              </a:spcAft>
              <a:defRPr sz="1600" b="0">
                <a:solidFill>
                  <a:srgbClr val="37474F"/>
                </a:solidFill>
                <a:latin typeface="Calibri"/>
              </a:defRPr>
            </a:pPr>
            <a:r>
              <a:t>▸  Lab: CNC spindle vs conveyor vs pump — distinct vibration/temperature/current patterns</a:t>
            </a:r>
          </a:p>
          <a:p>
            <a:pPr>
              <a:lnSpc>
                <a:spcPct val="115000"/>
              </a:lnSpc>
              <a:spcAft>
                <a:spcPts val="500"/>
              </a:spcAft>
              <a:defRPr sz="1600" b="0">
                <a:solidFill>
                  <a:srgbClr val="37474F"/>
                </a:solidFill>
                <a:latin typeface="Calibri"/>
              </a:defRPr>
            </a:pPr>
            <a:r>
              <a:t>▸  target=1 = failure imminent; federated model learns global predictor without centralizing CSVs</a:t>
            </a:r>
          </a:p>
          <a:p>
            <a:pPr>
              <a:lnSpc>
                <a:spcPct val="115000"/>
              </a:lnSpc>
              <a:spcAft>
                <a:spcPts val="500"/>
              </a:spcAft>
              <a:defRPr sz="1600" b="0">
                <a:solidFill>
                  <a:srgbClr val="37474F"/>
                </a:solidFill>
                <a:latin typeface="Calibri"/>
              </a:defRPr>
            </a:pPr>
            <a:r>
              <a:t>▸  Non-IID slows convergence — may require more FL_ROUNDS or specialized aggregation</a:t>
            </a:r>
          </a:p>
          <a:p>
            <a:pPr>
              <a:lnSpc>
                <a:spcPct val="115000"/>
              </a:lnSpc>
              <a:spcAft>
                <a:spcPts val="500"/>
              </a:spcAft>
              <a:defRPr sz="1600" b="0">
                <a:solidFill>
                  <a:srgbClr val="37474F"/>
                </a:solidFill>
                <a:latin typeface="Calibri"/>
              </a:defRPr>
            </a:pPr>
            <a:r>
              <a:t>▸  Production mitigations: FedProx, SCAFFOLD — beyond lab scope</a:t>
            </a:r>
          </a:p>
          <a:p>
            <a:pPr>
              <a:lnSpc>
                <a:spcPct val="115000"/>
              </a:lnSpc>
              <a:spcAft>
                <a:spcPts val="500"/>
              </a:spcAft>
              <a:defRPr sz="1600" b="0">
                <a:solidFill>
                  <a:srgbClr val="37474F"/>
                </a:solidFill>
                <a:latin typeface="Calibri"/>
              </a:defRPr>
            </a:pPr>
            <a:r>
              <a:t>▸  Module D fleet (3 boards) mirrors cross-silo industrial FL scenario</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server on cloud VM · 3 board clients · Horizon Federated Learn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S4T + FL integration — plugin model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Each board monitors a different machine: vibration, temperature, motor current (local CSV)</a:t>
            </a:r>
          </a:p>
          <a:p>
            <a:pPr>
              <a:lnSpc>
                <a:spcPct val="115000"/>
              </a:lnSpc>
              <a:spcAft>
                <a:spcPts val="500"/>
              </a:spcAft>
              <a:defRPr sz="1600" b="0">
                <a:solidFill>
                  <a:srgbClr val="37474F"/>
                </a:solidFill>
                <a:latin typeface="Calibri"/>
              </a:defRPr>
            </a:pPr>
            <a:r>
              <a:t>▸  Target: binary failure_imminent — raw telemetry never leaves the edge board</a:t>
            </a:r>
          </a:p>
          <a:p>
            <a:pPr>
              <a:lnSpc>
                <a:spcPct val="115000"/>
              </a:lnSpc>
              <a:spcAft>
                <a:spcPts val="500"/>
              </a:spcAft>
              <a:defRPr sz="1600" b="0">
                <a:solidFill>
                  <a:srgbClr val="37474F"/>
                </a:solidFill>
                <a:latin typeface="Calibri"/>
              </a:defRPr>
            </a:pPr>
            <a:r>
              <a:t>▸  Plugin lifecycle: install datasets → shared fl-client in FL panel → inject → Start</a:t>
            </a:r>
          </a:p>
          <a:p>
            <a:pPr>
              <a:lnSpc>
                <a:spcPct val="115000"/>
              </a:lnSpc>
              <a:spcAft>
                <a:spcPts val="500"/>
              </a:spcAft>
              <a:defRPr sz="1600" b="0">
                <a:solidFill>
                  <a:srgbClr val="37474F"/>
                </a:solidFill>
                <a:latin typeface="Calibri"/>
              </a:defRPr>
            </a:pPr>
            <a:r>
              <a:t>▸  board-alpha = CNC spindle, board-beta = conveyor motor, board-gamma = pump line</a:t>
            </a:r>
          </a:p>
          <a:p>
            <a:pPr>
              <a:lnSpc>
                <a:spcPct val="115000"/>
              </a:lnSpc>
              <a:spcAft>
                <a:spcPts val="500"/>
              </a:spcAft>
              <a:defRPr sz="1600" b="0">
                <a:solidFill>
                  <a:srgbClr val="37474F"/>
                </a:solidFill>
                <a:latin typeface="Calibri"/>
              </a:defRPr>
            </a:pPr>
            <a:r>
              <a:t>▸  Non-IID by design: each line has different failure signatures (Ch.19 horizontal FL)</a:t>
            </a:r>
          </a:p>
          <a:p>
            <a:pPr>
              <a:lnSpc>
                <a:spcPct val="115000"/>
              </a:lnSpc>
              <a:spcAft>
                <a:spcPts val="500"/>
              </a:spcAft>
              <a:defRPr sz="1600" b="0">
                <a:solidFill>
                  <a:srgbClr val="37474F"/>
                </a:solidFill>
                <a:latin typeface="Calibri"/>
              </a:defRPr>
            </a:pPr>
            <a:r>
              <a:t>▸  Repo: ch19/server.py + fl_client_plugin.py + machine_*.csv (generate_pm_datasets.py)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regulatory compliance · privacy-preserving FL footnote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Privacy and regulatory framing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GDPR Article 25: data protection by design — FL keeps raw data at edge by default</a:t>
            </a:r>
          </a:p>
          <a:p>
            <a:pPr>
              <a:lnSpc>
                <a:spcPct val="115000"/>
              </a:lnSpc>
              <a:spcAft>
                <a:spcPts val="500"/>
              </a:spcAft>
              <a:defRPr sz="1600" b="0">
                <a:solidFill>
                  <a:srgbClr val="37474F"/>
                </a:solidFill>
                <a:latin typeface="Calibri"/>
              </a:defRPr>
            </a:pPr>
            <a:r>
              <a:t>▸  DPDP (India), HIPAA (US healthcare): restrict cross-border raw data transfer</a:t>
            </a:r>
          </a:p>
          <a:p>
            <a:pPr>
              <a:lnSpc>
                <a:spcPct val="115000"/>
              </a:lnSpc>
              <a:spcAft>
                <a:spcPts val="500"/>
              </a:spcAft>
              <a:defRPr sz="1600" b="0">
                <a:solidFill>
                  <a:srgbClr val="37474F"/>
                </a:solidFill>
                <a:latin typeface="Calibri"/>
              </a:defRPr>
            </a:pPr>
            <a:r>
              <a:t>▸  FL enables smarter systems while data stays on edge nodes under local jurisdiction</a:t>
            </a:r>
          </a:p>
          <a:p>
            <a:pPr>
              <a:lnSpc>
                <a:spcPct val="115000"/>
              </a:lnSpc>
              <a:spcAft>
                <a:spcPts val="500"/>
              </a:spcAft>
              <a:defRPr sz="1600" b="0">
                <a:solidFill>
                  <a:srgbClr val="37474F"/>
                </a:solidFill>
                <a:latin typeface="Calibri"/>
              </a:defRPr>
            </a:pPr>
            <a:r>
              <a:t>▸  S4T provides deployment vehicle (IoTronic inject) — FL provides training methodology</a:t>
            </a:r>
          </a:p>
          <a:p>
            <a:pPr>
              <a:lnSpc>
                <a:spcPct val="115000"/>
              </a:lnSpc>
              <a:spcAft>
                <a:spcPts val="500"/>
              </a:spcAft>
              <a:defRPr sz="1600" b="0">
                <a:solidFill>
                  <a:srgbClr val="37474F"/>
                </a:solidFill>
                <a:latin typeface="Calibri"/>
              </a:defRPr>
            </a:pPr>
            <a:r>
              <a:t>▸  Production extensions: differential privacy noise on updates, secure aggregation (crypto)</a:t>
            </a:r>
          </a:p>
          <a:p>
            <a:pPr>
              <a:lnSpc>
                <a:spcPct val="115000"/>
              </a:lnSpc>
              <a:spcAft>
                <a:spcPts val="500"/>
              </a:spcAft>
              <a:defRPr sz="1600" b="0">
                <a:solidFill>
                  <a:srgbClr val="37474F"/>
                </a:solidFill>
                <a:latin typeface="Calibri"/>
              </a:defRPr>
            </a:pPr>
            <a:r>
              <a:t>▸  Lab scope: demonstrate FL workflow — not production-grade privacy guarantees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Challenges and open issues · FedProx · secure aggregation foot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challenges and open issues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System heterogeneity: boards differ in CPU, RAM, bandwidth — stragglers delay aggregation rounds.</a:t>
            </a:r>
          </a:p>
          <a:p>
            <a:pPr>
              <a:lnSpc>
                <a:spcPct val="115000"/>
              </a:lnSpc>
              <a:spcAft>
                <a:spcPts val="500"/>
              </a:spcAft>
              <a:defRPr sz="1600" b="0">
                <a:solidFill>
                  <a:srgbClr val="37474F"/>
                </a:solidFill>
                <a:latin typeface="Calibri"/>
              </a:defRPr>
            </a:pPr>
            <a:r>
              <a:t>▸  Client availability: intermittent connectivity reduces effective participants per round.</a:t>
            </a:r>
          </a:p>
          <a:p>
            <a:pPr>
              <a:lnSpc>
                <a:spcPct val="115000"/>
              </a:lnSpc>
              <a:spcAft>
                <a:spcPts val="500"/>
              </a:spcAft>
              <a:defRPr sz="1600" b="0">
                <a:solidFill>
                  <a:srgbClr val="37474F"/>
                </a:solidFill>
                <a:latin typeface="Calibri"/>
              </a:defRPr>
            </a:pPr>
            <a:r>
              <a:t>▸  Model heterogeneity: incompatible architectures complicate weight merging and convergence.</a:t>
            </a:r>
          </a:p>
          <a:p>
            <a:pPr>
              <a:lnSpc>
                <a:spcPct val="115000"/>
              </a:lnSpc>
              <a:spcAft>
                <a:spcPts val="500"/>
              </a:spcAft>
              <a:defRPr sz="1600" b="0">
                <a:solidFill>
                  <a:srgbClr val="37474F"/>
                </a:solidFill>
                <a:latin typeface="Calibri"/>
              </a:defRPr>
            </a:pPr>
            <a:r>
              <a:t>▸  Statistical heterogeneity (Non-IID): skewed local data degrades global model accuracy.</a:t>
            </a:r>
          </a:p>
          <a:p>
            <a:pPr>
              <a:lnSpc>
                <a:spcPct val="115000"/>
              </a:lnSpc>
              <a:spcAft>
                <a:spcPts val="500"/>
              </a:spcAft>
              <a:defRPr sz="1600" b="0">
                <a:solidFill>
                  <a:srgbClr val="37474F"/>
                </a:solidFill>
                <a:latin typeface="Calibri"/>
              </a:defRPr>
            </a:pPr>
            <a:r>
              <a:t>▸  Model update security: poisoning and backdoor attacks via malicious local training data.</a:t>
            </a:r>
          </a:p>
          <a:p>
            <a:pPr>
              <a:lnSpc>
                <a:spcPct val="115000"/>
              </a:lnSpc>
              <a:spcAft>
                <a:spcPts val="500"/>
              </a:spcAft>
              <a:defRPr sz="1600" b="0">
                <a:solidFill>
                  <a:srgbClr val="37474F"/>
                </a:solidFill>
                <a:latin typeface="Calibri"/>
              </a:defRPr>
            </a:pPr>
            <a:r>
              <a:t>▸  Mitigations include FedProx, secure aggregation, differential privacy — research beyond lab scope.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Core requirements · tools and frameworks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platform landscape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Open source: TensorFlow Federated, Flower (lab choice), PySyft, LEAF benchmarks, FedML.</a:t>
            </a:r>
          </a:p>
          <a:p>
            <a:pPr>
              <a:lnSpc>
                <a:spcPct val="115000"/>
              </a:lnSpc>
              <a:spcAft>
                <a:spcPts val="500"/>
              </a:spcAft>
              <a:defRPr sz="1600" b="0">
                <a:solidFill>
                  <a:srgbClr val="37474F"/>
                </a:solidFill>
                <a:latin typeface="Calibri"/>
              </a:defRPr>
            </a:pPr>
            <a:r>
              <a:t>▸  Enterprise: NVIDIA FLARE, IBM FL — production orchestration and compliance tooling.</a:t>
            </a:r>
          </a:p>
          <a:p>
            <a:pPr>
              <a:lnSpc>
                <a:spcPct val="115000"/>
              </a:lnSpc>
              <a:spcAft>
                <a:spcPts val="500"/>
              </a:spcAft>
              <a:defRPr sz="1600" b="0">
                <a:solidFill>
                  <a:srgbClr val="37474F"/>
                </a:solidFill>
                <a:latin typeface="Calibri"/>
              </a:defRPr>
            </a:pPr>
            <a:r>
              <a:t>▸  Flower chosen in ch19 repo for lightweight Python server + edge client plugin integration.</a:t>
            </a:r>
          </a:p>
          <a:p>
            <a:pPr>
              <a:lnSpc>
                <a:spcPct val="115000"/>
              </a:lnSpc>
              <a:spcAft>
                <a:spcPts val="500"/>
              </a:spcAft>
              <a:defRPr sz="1600" b="0">
                <a:solidFill>
                  <a:srgbClr val="37474F"/>
                </a:solidFill>
                <a:latin typeface="Calibri"/>
              </a:defRPr>
            </a:pPr>
            <a:r>
              <a:t>▸  Platform choice depends on scale, privacy requirements, and edge hardware constraints.</a:t>
            </a:r>
          </a:p>
          <a:p>
            <a:pPr>
              <a:lnSpc>
                <a:spcPct val="115000"/>
              </a:lnSpc>
              <a:spcAft>
                <a:spcPts val="500"/>
              </a:spcAft>
              <a:defRPr sz="1600" b="0">
                <a:solidFill>
                  <a:srgbClr val="37474F"/>
                </a:solidFill>
                <a:latin typeface="Calibri"/>
              </a:defRPr>
            </a:pPr>
            <a:r>
              <a:t>▸  S4T contribution: same IoTronic inject lifecycle deploys FL client Workers on real boards.</a:t>
            </a:r>
          </a:p>
          <a:p>
            <a:pPr>
              <a:lnSpc>
                <a:spcPct val="115000"/>
              </a:lnSpc>
              <a:spcAft>
                <a:spcPts val="500"/>
              </a:spcAft>
              <a:defRPr sz="1600" b="0">
                <a:solidFill>
                  <a:srgbClr val="37474F"/>
                </a:solidFill>
                <a:latin typeface="Calibri"/>
              </a:defRPr>
            </a:pPr>
            <a:r>
              <a:t>▸  Google/Apple on-device FL cited in book as industry validation of federated approach.</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FL architecture — 3 edge clients</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rchitecture.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Flower server on VM host + 3 LR clients on :1474/:1475/:1476 (Module 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Federated Learning round (Module G)</a:t>
            </a:r>
          </a:p>
        </p:txBody>
      </p:sp>
      <p:sp>
        <p:nvSpPr>
          <p:cNvPr id="4" name="Rounded Rectangle 3"/>
          <p:cNvSpPr/>
          <p:nvPr/>
        </p:nvSpPr>
        <p:spPr>
          <a:xfrm>
            <a:off x="1240383" y="1298448"/>
            <a:ext cx="971092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fl-round.png"/>
          <p:cNvPicPr>
            <a:picLocks noChangeAspect="1"/>
          </p:cNvPicPr>
          <p:nvPr/>
        </p:nvPicPr>
        <p:blipFill>
          <a:blip r:embed="rId2"/>
          <a:stretch>
            <a:fillRect/>
          </a:stretch>
        </p:blipFill>
        <p:spPr>
          <a:xfrm>
            <a:off x="1295247" y="1353312"/>
            <a:ext cx="960120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Broadcast weights → local train → upload gradients → FedAvg</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G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Explain FL motivation, FedAvg, and horizontal cross-silo taxonomy (Ch.19)</a:t>
            </a:r>
          </a:p>
          <a:p>
            <a:pPr>
              <a:lnSpc>
                <a:spcPct val="115000"/>
              </a:lnSpc>
              <a:spcAft>
                <a:spcPts val="800"/>
              </a:spcAft>
              <a:defRPr sz="1900" b="0">
                <a:solidFill>
                  <a:srgbClr val="37474F"/>
                </a:solidFill>
                <a:latin typeface="Calibri"/>
              </a:defRPr>
            </a:pPr>
            <a:r>
              <a:t>▸  Deploy Flower server; federated failure-prediction model across 3 edge production lines</a:t>
            </a:r>
          </a:p>
          <a:p>
            <a:pPr>
              <a:lnSpc>
                <a:spcPct val="115000"/>
              </a:lnSpc>
              <a:spcAft>
                <a:spcPts val="800"/>
              </a:spcAft>
              <a:defRPr sz="1900" b="0">
                <a:solidFill>
                  <a:srgbClr val="37474F"/>
                </a:solidFill>
                <a:latin typeface="Calibri"/>
              </a:defRPr>
            </a:pPr>
            <a:r>
              <a:t>▸  Inject FL async client on 3 Active boards with distinct machine_*.csv datasets</a:t>
            </a:r>
          </a:p>
          <a:p>
            <a:pPr>
              <a:lnSpc>
                <a:spcPct val="115000"/>
              </a:lnSpc>
              <a:spcAft>
                <a:spcPts val="800"/>
              </a:spcAft>
              <a:defRPr sz="1900" b="0">
                <a:solidFill>
                  <a:srgbClr val="37474F"/>
                </a:solidFill>
                <a:latin typeface="Calibri"/>
              </a:defRPr>
            </a:pPr>
            <a:r>
              <a:t>▸  Pass validate-lab-fl.sh — bridge Ch.19 AI methodology with Ch.13–14 S4T stack</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the FL demo proves — demo goals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Edge boards participate in distributed ML without sharing raw CSV data across boards</a:t>
            </a:r>
          </a:p>
          <a:p>
            <a:pPr>
              <a:lnSpc>
                <a:spcPct val="115000"/>
              </a:lnSpc>
              <a:spcAft>
                <a:spcPts val="500"/>
              </a:spcAft>
              <a:defRPr sz="1600" b="0">
                <a:solidFill>
                  <a:srgbClr val="37474F"/>
                </a:solidFill>
                <a:latin typeface="Calibri"/>
              </a:defRPr>
            </a:pPr>
            <a:r>
              <a:t>▸  IoTronic deploys identical FL client plugin code to heterogeneous Active boards</a:t>
            </a:r>
          </a:p>
          <a:p>
            <a:pPr>
              <a:lnSpc>
                <a:spcPct val="115000"/>
              </a:lnSpc>
              <a:spcAft>
                <a:spcPts val="500"/>
              </a:spcAft>
              <a:defRPr sz="1600" b="0">
                <a:solidFill>
                  <a:srgbClr val="37474F"/>
                </a:solidFill>
                <a:latin typeface="Calibri"/>
              </a:defRPr>
            </a:pPr>
            <a:r>
              <a:t>▸  Aggregation improves global model accuracy over successive rounds (FL_ROUNDS=2 in class)</a:t>
            </a:r>
          </a:p>
          <a:p>
            <a:pPr>
              <a:lnSpc>
                <a:spcPct val="115000"/>
              </a:lnSpc>
              <a:spcAft>
                <a:spcPts val="500"/>
              </a:spcAft>
              <a:defRPr sz="1600" b="0">
                <a:solidFill>
                  <a:srgbClr val="37474F"/>
                </a:solidFill>
                <a:latin typeface="Calibri"/>
              </a:defRPr>
            </a:pPr>
            <a:r>
              <a:t>▸  Bridges Ch.19 AI methodology with Ch.13–14 S4T operational stack (inject + Start)</a:t>
            </a:r>
          </a:p>
          <a:p>
            <a:pPr>
              <a:lnSpc>
                <a:spcPct val="115000"/>
              </a:lnSpc>
              <a:spcAft>
                <a:spcPts val="500"/>
              </a:spcAft>
              <a:defRPr sz="1600" b="0">
                <a:solidFill>
                  <a:srgbClr val="37474F"/>
                </a:solidFill>
                <a:latin typeface="Calibri"/>
              </a:defRPr>
            </a:pPr>
            <a:r>
              <a:t>▸  Students can classify lab setup as horizontal cross-silo FL from Ch.19 taxonomy</a:t>
            </a:r>
          </a:p>
          <a:p>
            <a:pPr>
              <a:lnSpc>
                <a:spcPct val="115000"/>
              </a:lnSpc>
              <a:spcAft>
                <a:spcPts val="500"/>
              </a:spcAft>
              <a:defRPr sz="1600" b="0">
                <a:solidFill>
                  <a:srgbClr val="37474F"/>
                </a:solidFill>
                <a:latin typeface="Calibri"/>
              </a:defRPr>
            </a:pPr>
            <a:r>
              <a:t>▸  Flower server log shows round completion — tangible evidence of federated aggregation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Prerequisites &amp; resource constraints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Module D complete — 3 Active boards on {{VM_IP}}:1474/:1475/:1476</a:t>
            </a:r>
          </a:p>
          <a:p>
            <a:pPr>
              <a:lnSpc>
                <a:spcPct val="115000"/>
              </a:lnSpc>
              <a:spcAft>
                <a:spcPts val="800"/>
              </a:spcAft>
              <a:defRPr sz="1900" b="0">
                <a:solidFill>
                  <a:srgbClr val="37474F"/>
                </a:solidFill>
                <a:latin typeface="Calibri"/>
              </a:defRPr>
            </a:pPr>
            <a:r>
              <a:t>▸  Repo: ch19/server.py + fl_client_plugin.py + machine_*.csv (predictive maintenance lab)</a:t>
            </a:r>
          </a:p>
          <a:p>
            <a:pPr>
              <a:lnSpc>
                <a:spcPct val="115000"/>
              </a:lnSpc>
              <a:spcAft>
                <a:spcPts val="800"/>
              </a:spcAft>
              <a:defRPr sz="1900" b="0">
                <a:solidFill>
                  <a:srgbClr val="37474F"/>
                </a:solidFill>
                <a:latin typeface="Calibri"/>
              </a:defRPr>
            </a:pPr>
            <a:r>
              <a:t>▸  Run install-fl-on-boards.sh once — deps + machine_*.csv into LR containers</a:t>
            </a:r>
          </a:p>
          <a:p>
            <a:pPr>
              <a:lnSpc>
                <a:spcPct val="115000"/>
              </a:lnSpc>
              <a:spcAft>
                <a:spcPts val="800"/>
              </a:spcAft>
              <a:defRPr sz="1900" b="0">
                <a:solidFill>
                  <a:srgbClr val="37474F"/>
                </a:solidFill>
                <a:latin typeface="Calibri"/>
              </a:defRPr>
            </a:pPr>
            <a:r>
              <a:t>▸  Do NOT run simultaneously with Module H K3s — RAM gate: free -h ≥ 2 GB during FL</a:t>
            </a:r>
          </a:p>
          <a:p>
            <a:pPr>
              <a:lnSpc>
                <a:spcPct val="115000"/>
              </a:lnSpc>
              <a:spcAft>
                <a:spcPts val="800"/>
              </a:spcAft>
              <a:defRPr sz="1900" b="0">
                <a:solidFill>
                  <a:srgbClr val="37474F"/>
                </a:solidFill>
                <a:latin typeface="Calibri"/>
              </a:defRPr>
            </a:pPr>
            <a:r>
              <a:t>▸  Horizon admin / s4t · LR dashboards me / arancino on all three instances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Flower server setup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Install dependencies + start aggregation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Install FL deps on VM and boards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 &amp;&amp; pip install flwr torch pandas scikit-learn # or use .venv</a:t>
            </a:r>
          </a:p>
          <a:p>
            <a:pPr>
              <a:lnSpc>
                <a:spcPct val="115000"/>
              </a:lnSpc>
              <a:spcAft>
                <a:spcPts val="800"/>
              </a:spcAft>
              <a:defRPr sz="1400" b="0">
                <a:solidFill>
                  <a:srgbClr val="0D2B45"/>
                </a:solidFill>
                <a:latin typeface="Consolas"/>
              </a:defRPr>
            </a:pPr>
            <a:r>
              <a:t>$ ./experiments/federated-learning/install-fl-on-boards.sh</a:t>
            </a:r>
          </a:p>
          <a:p>
            <a:pPr>
              <a:lnSpc>
                <a:spcPct val="115000"/>
              </a:lnSpc>
              <a:spcAft>
                <a:spcPts val="800"/>
              </a:spcAft>
              <a:defRPr sz="1900" b="0">
                <a:solidFill>
                  <a:srgbClr val="37474F"/>
                </a:solidFill>
                <a:latin typeface="Calibri"/>
              </a:defRPr>
            </a:pPr>
            <a:r>
              <a:t>▸  Copies machine_1/2/3.csv + fl_client_plugin.py into each LR container (/opt/fl/)</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server.py on cloud VM · FL_PORT=8087 · Horizon panel + fl-cont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Flower server configuration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server.py on VM host: FedAvg strategy — same role as book listing (Cap. 19)</a:t>
            </a:r>
          </a:p>
          <a:p>
            <a:pPr>
              <a:lnSpc>
                <a:spcPct val="115000"/>
              </a:lnSpc>
              <a:spcAft>
                <a:spcPts val="500"/>
              </a:spcAft>
              <a:defRPr sz="1700" b="0">
                <a:solidFill>
                  <a:srgbClr val="37474F"/>
                </a:solidFill>
                <a:latin typeface="Calibri"/>
              </a:defRPr>
            </a:pPr>
            <a:r>
              <a:t>▸  FL_ROUNDS env var controls aggregation iterations — set to 2 for classroom demo</a:t>
            </a:r>
          </a:p>
          <a:p>
            <a:pPr>
              <a:lnSpc>
                <a:spcPct val="115000"/>
              </a:lnSpc>
              <a:spcAft>
                <a:spcPts val="500"/>
              </a:spcAft>
              <a:defRPr sz="1700" b="0">
                <a:solidFill>
                  <a:srgbClr val="37474F"/>
                </a:solidFill>
                <a:latin typeface="Calibri"/>
              </a:defRPr>
            </a:pPr>
            <a:r>
              <a:t>▸  Server binds 0.0.0.0:8087 (default) — avoids WSTUN conflict on :8080</a:t>
            </a:r>
          </a:p>
          <a:p>
            <a:pPr>
              <a:lnSpc>
                <a:spcPct val="115000"/>
              </a:lnSpc>
              <a:spcAft>
                <a:spcPts val="500"/>
              </a:spcAft>
              <a:defRPr sz="1700" b="0">
                <a:solidFill>
                  <a:srgbClr val="37474F"/>
                </a:solidFill>
                <a:latin typeface="Calibri"/>
              </a:defRPr>
            </a:pPr>
            <a:r>
              <a:t>▸  LR containers reach VM host via Docker bridge gateway (e.g. 172.18.0.1:8087)</a:t>
            </a:r>
          </a:p>
          <a:p>
            <a:pPr>
              <a:lnSpc>
                <a:spcPct val="115000"/>
              </a:lnSpc>
              <a:spcAft>
                <a:spcPts val="500"/>
              </a:spcAft>
              <a:defRPr sz="1700" b="0">
                <a:solidFill>
                  <a:srgbClr val="37474F"/>
                </a:solidFill>
                <a:latin typeface="Calibri"/>
              </a:defRPr>
            </a:pPr>
            <a:r>
              <a:t>▸  Minimum clients: 3 (matches 3 boards from Module D) — server waits for all before round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Enable FL panel and start Flower server</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 &amp;&amp; ./experiments/federated-learning/setup-fl-horizon.sh # once</a:t>
            </a:r>
          </a:p>
          <a:p>
            <a:pPr>
              <a:lnSpc>
                <a:spcPct val="115000"/>
              </a:lnSpc>
              <a:spcAft>
                <a:spcPts val="800"/>
              </a:spcAft>
              <a:defRPr sz="1900" b="0">
                <a:solidFill>
                  <a:srgbClr val="37474F"/>
                </a:solidFill>
                <a:latin typeface="Calibri"/>
              </a:defRPr>
            </a:pPr>
            <a:r>
              <a:t>▸  Horizon → IoT → Federated Learning → Lab parameters → Save</a:t>
            </a:r>
          </a:p>
          <a:p>
            <a:pPr>
              <a:lnSpc>
                <a:spcPct val="115000"/>
              </a:lnSpc>
              <a:spcAft>
                <a:spcPts val="800"/>
              </a:spcAft>
              <a:defRPr sz="1900" b="0">
                <a:solidFill>
                  <a:srgbClr val="37474F"/>
                </a:solidFill>
                <a:latin typeface="Calibri"/>
              </a:defRPr>
            </a:pPr>
            <a:r>
              <a:t>▸  Click Start Flower server (or Restart after param changes) — live topology iframe</a:t>
            </a:r>
          </a:p>
          <a:p>
            <a:pPr>
              <a:lnSpc>
                <a:spcPct val="115000"/>
              </a:lnSpc>
              <a:spcAft>
                <a:spcPts val="800"/>
              </a:spcAft>
              <a:defRPr sz="1900" b="0">
                <a:solidFill>
                  <a:srgbClr val="37474F"/>
                </a:solidFill>
                <a:latin typeface="Calibri"/>
              </a:defRPr>
            </a:pPr>
            <a:r>
              <a:t>▸  Optional demo-ready: ./experiments/federated-learning/setup-fl-demo-plugins.sh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deploy FL client plugins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Single shared fl-client plugin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and inject FL client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Federated Learning → Create / update FL client plugin (name: fl-client)</a:t>
            </a:r>
          </a:p>
          <a:p>
            <a:pPr>
              <a:lnSpc>
                <a:spcPct val="115000"/>
              </a:lnSpc>
              <a:spcAft>
                <a:spcPts val="800"/>
              </a:spcAft>
              <a:defRPr sz="1900" b="0">
                <a:solidFill>
                  <a:srgbClr val="37474F"/>
                </a:solidFill>
                <a:latin typeface="Calibri"/>
              </a:defRPr>
            </a:pPr>
            <a:r>
              <a:t>▸  One shared async plugin — per-board JSON: csv_file + board_name only</a:t>
            </a:r>
          </a:p>
          <a:p>
            <a:pPr>
              <a:lnSpc>
                <a:spcPct val="115000"/>
              </a:lnSpc>
              <a:spcAft>
                <a:spcPts val="800"/>
              </a:spcAft>
              <a:defRPr sz="1900" b="0">
                <a:solidFill>
                  <a:srgbClr val="37474F"/>
                </a:solidFill>
                <a:latin typeface="Calibri"/>
              </a:defRPr>
            </a:pPr>
            <a:r>
              <a:t>▸  Inject fl-client: board-alpha (machine_1/CNC), board-beta (machine_2/conveyor), board-gamma (machine_3/pump)</a:t>
            </a:r>
          </a:p>
          <a:p>
            <a:pPr>
              <a:lnSpc>
                <a:spcPct val="115000"/>
              </a:lnSpc>
              <a:spcAft>
                <a:spcPts val="800"/>
              </a:spcAft>
              <a:defRPr sz="1900" b="0">
                <a:solidFill>
                  <a:srgbClr val="37474F"/>
                </a:solidFill>
                <a:latin typeface="Calibri"/>
              </a:defRPr>
            </a:pPr>
            <a:r>
              <a:t>▸  Lab parameters supply server_address and dashboard_url — Apply to all boards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Horizon — Federated Learning panel (Module G)</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Screenshot not available</a:t>
            </a:r>
          </a:p>
          <a:p>
            <a:pPr>
              <a:lnSpc>
                <a:spcPct val="115000"/>
              </a:lnSpc>
              <a:spcAft>
                <a:spcPts val="800"/>
              </a:spcAft>
              <a:defRPr sz="1900" b="0">
                <a:solidFill>
                  <a:srgbClr val="37474F"/>
                </a:solidFill>
                <a:latin typeface="Calibri"/>
              </a:defRPr>
            </a:pPr>
            <a:r>
              <a:t>▸  Predictive maintenance lab · machine_1/2/3.csv per board · admin / s4t</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Lab parameters — rounds, server and dashboard URLs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Screenshot not available</a:t>
            </a:r>
          </a:p>
          <a:p>
            <a:pPr>
              <a:lnSpc>
                <a:spcPct val="115000"/>
              </a:lnSpc>
              <a:spcAft>
                <a:spcPts val="800"/>
              </a:spcAft>
              <a:defRPr sz="1900" b="0">
                <a:solidFill>
                  <a:srgbClr val="37474F"/>
                </a:solidFill>
                <a:latin typeface="Calibri"/>
              </a:defRPr>
            </a:pPr>
            <a:r>
              <a:t>▸  FL rounds + Docker gateway for Flower :8087 and dashboard :8090</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Edge FL clients — failure prediction per production line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Screenshot not available</a:t>
            </a:r>
          </a:p>
          <a:p>
            <a:pPr>
              <a:lnSpc>
                <a:spcPct val="115000"/>
              </a:lnSpc>
              <a:spcAft>
                <a:spcPts val="800"/>
              </a:spcAft>
              <a:defRPr sz="1900" b="0">
                <a:solidFill>
                  <a:srgbClr val="37474F"/>
                </a:solidFill>
                <a:latin typeface="Calibri"/>
              </a:defRPr>
            </a:pPr>
            <a:r>
              <a:t>▸  board-alpha CNC · board-beta conveyor · board-gamma pump · machine_*.csv JSON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Multi-board topology for FL clients</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board-fleet.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3 LR clients :1474/:1475/:1476 → Flower server on VM host :8087 (not on a board)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Live topology — federated failure-prediction dashboard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Screenshot not available</a:t>
            </a:r>
          </a:p>
          <a:p>
            <a:pPr>
              <a:lnSpc>
                <a:spcPct val="115000"/>
              </a:lnSpc>
              <a:spcAft>
                <a:spcPts val="800"/>
              </a:spcAft>
              <a:defRPr sz="1900" b="0">
                <a:solidFill>
                  <a:srgbClr val="37474F"/>
                </a:solidFill>
                <a:latin typeface="Calibri"/>
              </a:defRPr>
            </a:pPr>
            <a:r>
              <a:t>▸  Vibration/temperature/current models aggregate without sharing raw CSVs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Start FL clients on all three boards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With Flower server running: Federated Learning panel → Start all clients</a:t>
            </a:r>
          </a:p>
          <a:p>
            <a:pPr>
              <a:lnSpc>
                <a:spcPct val="115000"/>
              </a:lnSpc>
              <a:spcAft>
                <a:spcPts val="800"/>
              </a:spcAft>
              <a:defRPr sz="1900" b="0">
                <a:solidFill>
                  <a:srgbClr val="37474F"/>
                </a:solidFill>
                <a:latin typeface="Calibri"/>
              </a:defRPr>
            </a:pPr>
            <a:r>
              <a:t>▸  Or Start fl-client individually per board from the panel</a:t>
            </a:r>
          </a:p>
          <a:p>
            <a:pPr>
              <a:lnSpc>
                <a:spcPct val="115000"/>
              </a:lnSpc>
              <a:spcAft>
                <a:spcPts val="800"/>
              </a:spcAft>
              <a:defRPr sz="1900" b="0">
                <a:solidFill>
                  <a:srgbClr val="37474F"/>
                </a:solidFill>
                <a:latin typeface="Calibri"/>
              </a:defRPr>
            </a:pPr>
            <a:r>
              <a:t>▸  Watch live topology: clients connect → rounds advance → loss/accuracy update</a:t>
            </a:r>
          </a:p>
          <a:p>
            <a:pPr>
              <a:lnSpc>
                <a:spcPct val="115000"/>
              </a:lnSpc>
              <a:spcAft>
                <a:spcPts val="800"/>
              </a:spcAft>
              <a:defRPr sz="1900" b="0">
                <a:solidFill>
                  <a:srgbClr val="37474F"/>
                </a:solidFill>
                <a:latin typeface="Calibri"/>
              </a:defRPr>
            </a:pPr>
            <a:r>
              <a:t>▸  LR logs: docker logs lightning-rod-2 — local training progress messages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fl_client_plugin.py Worker + HeartClient · async plugin patter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Client plugin execution flow (Ch.19)</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Start action launches async Worker — connects to Flower server via gRPC/TCP</a:t>
            </a:r>
          </a:p>
          <a:p>
            <a:pPr>
              <a:lnSpc>
                <a:spcPct val="115000"/>
              </a:lnSpc>
              <a:spcAft>
                <a:spcPts val="500"/>
              </a:spcAft>
              <a:defRPr sz="1600" b="0">
                <a:solidFill>
                  <a:srgbClr val="37474F"/>
                </a:solidFill>
                <a:latin typeface="Calibri"/>
              </a:defRPr>
            </a:pPr>
            <a:r>
              <a:t>▸  Worker loads local CSV — initializes model with global weights from server</a:t>
            </a:r>
          </a:p>
          <a:p>
            <a:pPr>
              <a:lnSpc>
                <a:spcPct val="115000"/>
              </a:lnSpc>
              <a:spcAft>
                <a:spcPts val="500"/>
              </a:spcAft>
              <a:defRPr sz="1600" b="0">
                <a:solidFill>
                  <a:srgbClr val="37474F"/>
                </a:solidFill>
                <a:latin typeface="Calibri"/>
              </a:defRPr>
            </a:pPr>
            <a:r>
              <a:t>▸  Local training: N local epochs on board CPU — sends weight delta to server</a:t>
            </a:r>
          </a:p>
          <a:p>
            <a:pPr>
              <a:lnSpc>
                <a:spcPct val="115000"/>
              </a:lnSpc>
              <a:spcAft>
                <a:spcPts val="500"/>
              </a:spcAft>
              <a:defRPr sz="1600" b="0">
                <a:solidFill>
                  <a:srgbClr val="37474F"/>
                </a:solidFill>
                <a:latin typeface="Calibri"/>
              </a:defRPr>
            </a:pPr>
            <a:r>
              <a:t>▸  Server aggregates all 3 client updates — broadcasts new global weights</a:t>
            </a:r>
          </a:p>
          <a:p>
            <a:pPr>
              <a:lnSpc>
                <a:spcPct val="115000"/>
              </a:lnSpc>
              <a:spcAft>
                <a:spcPts val="500"/>
              </a:spcAft>
              <a:defRPr sz="1600" b="0">
                <a:solidFill>
                  <a:srgbClr val="37474F"/>
                </a:solidFill>
                <a:latin typeface="Calibri"/>
              </a:defRPr>
            </a:pPr>
            <a:r>
              <a:t>▸  Round 2: clients receive updated global model — repeat local training</a:t>
            </a:r>
          </a:p>
          <a:p>
            <a:pPr>
              <a:lnSpc>
                <a:spcPct val="115000"/>
              </a:lnSpc>
              <a:spcAft>
                <a:spcPts val="500"/>
              </a:spcAft>
              <a:defRPr sz="1600" b="0">
                <a:solidFill>
                  <a:srgbClr val="37474F"/>
                </a:solidFill>
                <a:latin typeface="Calibri"/>
              </a:defRPr>
            </a:pPr>
            <a:r>
              <a:t>▸  Stop: Interrupt plugin on each board after rounds complete — clean shutdown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fix-iotronic-wampagents.sh · validate-lab-fl.sh · install-fl-on-boards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Troubleshooting FL connectivity (Ch.19 lab)</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Clients cannot connect: verify server on VM :8087 and gateway IP from install-fl-on-boards.sh</a:t>
            </a:r>
          </a:p>
          <a:p>
            <a:pPr>
              <a:lnSpc>
                <a:spcPct val="115000"/>
              </a:lnSpc>
              <a:spcAft>
                <a:spcPts val="500"/>
              </a:spcAft>
              <a:defRPr sz="1600" b="0">
                <a:solidFill>
                  <a:srgbClr val="37474F"/>
                </a:solidFill>
                <a:latin typeface="Calibri"/>
              </a:defRPr>
            </a:pPr>
            <a:r>
              <a:t>▸  Horizon 'Unable to retrieve boards list': run scripts/fix-iotronic-wampagents.sh</a:t>
            </a:r>
          </a:p>
          <a:p>
            <a:pPr>
              <a:lnSpc>
                <a:spcPct val="115000"/>
              </a:lnSpc>
              <a:spcAft>
                <a:spcPts val="500"/>
              </a:spcAft>
              <a:defRPr sz="1600" b="0">
                <a:solidFill>
                  <a:srgbClr val="37474F"/>
                </a:solidFill>
                <a:latin typeface="Calibri"/>
              </a:defRPr>
            </a:pPr>
            <a:r>
              <a:t>▸  Server stuck waiting: ensure all 3 Start actions fired — minimum client count not met</a:t>
            </a:r>
          </a:p>
          <a:p>
            <a:pPr>
              <a:lnSpc>
                <a:spcPct val="115000"/>
              </a:lnSpc>
              <a:spcAft>
                <a:spcPts val="500"/>
              </a:spcAft>
              <a:defRPr sz="1600" b="0">
                <a:solidFill>
                  <a:srgbClr val="37474F"/>
                </a:solidFill>
                <a:latin typeface="Calibri"/>
              </a:defRPr>
            </a:pPr>
            <a:r>
              <a:t>▸  OOM on board: reduce local epochs in plugin params — edge boards have limited RAM</a:t>
            </a:r>
          </a:p>
          <a:p>
            <a:pPr>
              <a:lnSpc>
                <a:spcPct val="115000"/>
              </a:lnSpc>
              <a:spcAft>
                <a:spcPts val="500"/>
              </a:spcAft>
              <a:defRPr sz="1600" b="0">
                <a:solidFill>
                  <a:srgbClr val="37474F"/>
                </a:solidFill>
                <a:latin typeface="Calibri"/>
              </a:defRPr>
            </a:pPr>
            <a:r>
              <a:t>▸  Plugin error on Start: re-run install-fl-on-boards.sh (flwr/torch in LR container)</a:t>
            </a:r>
          </a:p>
          <a:p>
            <a:pPr>
              <a:lnSpc>
                <a:spcPct val="115000"/>
              </a:lnSpc>
              <a:spcAft>
                <a:spcPts val="500"/>
              </a:spcAft>
              <a:defRPr sz="1600" b="0">
                <a:solidFill>
                  <a:srgbClr val="37474F"/>
                </a:solidFill>
                <a:latin typeface="Calibri"/>
              </a:defRPr>
            </a:pPr>
            <a:r>
              <a:t>▸  validate-lab-fl.sh — artifacts, Horizon mounts, panel URL, live proxy + optional E2E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Ch.19 + Ch.11 Type 4 · SLICES RI FL experiment pattern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 in the Cloud Continuum research context (Ch.19 +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Ch.11 Type 4 experiments: AI/ML workflows including federated learning at edge</a:t>
            </a:r>
          </a:p>
          <a:p>
            <a:pPr>
              <a:lnSpc>
                <a:spcPct val="115000"/>
              </a:lnSpc>
              <a:spcAft>
                <a:spcPts val="500"/>
              </a:spcAft>
              <a:defRPr sz="1600" b="0">
                <a:solidFill>
                  <a:srgbClr val="37474F"/>
                </a:solidFill>
                <a:latin typeface="Calibri"/>
              </a:defRPr>
            </a:pPr>
            <a:r>
              <a:t>▸  SLICES RI multi-site FL: clients on different European sites, server on cloud slice</a:t>
            </a:r>
          </a:p>
          <a:p>
            <a:pPr>
              <a:lnSpc>
                <a:spcPct val="115000"/>
              </a:lnSpc>
              <a:spcAft>
                <a:spcPts val="500"/>
              </a:spcAft>
              <a:defRPr sz="1600" b="0">
                <a:solidFill>
                  <a:srgbClr val="37474F"/>
                </a:solidFill>
                <a:latin typeface="Calibri"/>
              </a:defRPr>
            </a:pPr>
            <a:r>
              <a:t>▸  S4T IoTronic inject scales FL client deployment — same pattern as Module D fleet ops</a:t>
            </a:r>
          </a:p>
          <a:p>
            <a:pPr>
              <a:lnSpc>
                <a:spcPct val="115000"/>
              </a:lnSpc>
              <a:spcAft>
                <a:spcPts val="500"/>
              </a:spcAft>
              <a:defRPr sz="1600" b="0">
                <a:solidFill>
                  <a:srgbClr val="37474F"/>
                </a:solidFill>
                <a:latin typeface="Calibri"/>
              </a:defRPr>
            </a:pPr>
            <a:r>
              <a:t>▸  Crossplane Workflow CRD could declare FL experiment: server + N client plugins + datasets</a:t>
            </a:r>
          </a:p>
          <a:p>
            <a:pPr>
              <a:lnSpc>
                <a:spcPct val="115000"/>
              </a:lnSpc>
              <a:spcAft>
                <a:spcPts val="500"/>
              </a:spcAft>
              <a:defRPr sz="1600" b="0">
                <a:solidFill>
                  <a:srgbClr val="37474F"/>
                </a:solidFill>
                <a:latin typeface="Calibri"/>
              </a:defRPr>
            </a:pPr>
            <a:r>
              <a:t>▸  Edge-board FL preserves data sovereignty requirements of SLICES partner institutions</a:t>
            </a:r>
          </a:p>
          <a:p>
            <a:pPr>
              <a:lnSpc>
                <a:spcPct val="115000"/>
              </a:lnSpc>
              <a:spcAft>
                <a:spcPts val="500"/>
              </a:spcAft>
              <a:defRPr sz="1600" b="0">
                <a:solidFill>
                  <a:srgbClr val="37474F"/>
                </a:solidFill>
                <a:latin typeface="Calibri"/>
              </a:defRPr>
            </a:pPr>
            <a:r>
              <a:t>▸  Lab on {{VM_IP}} is minimal horizontal FL — production scales to cross-silo federation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Validate &amp; wrap-up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Confirm aggregation + Module H exclusion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Validate FL lab</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 &amp;&amp; ./validate-lab-fl.sh</a:t>
            </a:r>
          </a:p>
          <a:p>
            <a:pPr>
              <a:lnSpc>
                <a:spcPct val="115000"/>
              </a:lnSpc>
              <a:spcAft>
                <a:spcPts val="800"/>
              </a:spcAft>
              <a:defRPr sz="1900" b="0">
                <a:solidFill>
                  <a:srgbClr val="37474F"/>
                </a:solidFill>
                <a:latin typeface="Calibri"/>
              </a:defRPr>
            </a:pPr>
            <a:r>
              <a:t>▸  Live topology shows rounds completing; loss numeric (not em-dash)</a:t>
            </a:r>
          </a:p>
          <a:p>
            <a:pPr>
              <a:lnSpc>
                <a:spcPct val="115000"/>
              </a:lnSpc>
              <a:spcAft>
                <a:spcPts val="800"/>
              </a:spcAft>
              <a:defRPr sz="1900" b="0">
                <a:solidFill>
                  <a:srgbClr val="37474F"/>
                </a:solidFill>
                <a:latin typeface="Calibri"/>
              </a:defRPr>
            </a:pPr>
            <a:r>
              <a:t>▸  Interrupt FL plugins on all boards after successful validation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G checklist &amp; resource note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Horizon FL panel: Start server + Start all clients — rounds complete in live topology</a:t>
            </a:r>
          </a:p>
          <a:p>
            <a:pPr>
              <a:lnSpc>
                <a:spcPct val="115000"/>
              </a:lnSpc>
              <a:spcAft>
                <a:spcPts val="800"/>
              </a:spcAft>
              <a:defRPr sz="1900" b="0">
                <a:solidFill>
                  <a:srgbClr val="37474F"/>
                </a:solidFill>
                <a:latin typeface="Calibri"/>
              </a:defRPr>
            </a:pPr>
            <a:r>
              <a:t>▸  □ Three production lines connected via fl-client with correct machine_*.csv per board</a:t>
            </a:r>
          </a:p>
          <a:p>
            <a:pPr>
              <a:lnSpc>
                <a:spcPct val="115000"/>
              </a:lnSpc>
              <a:spcAft>
                <a:spcPts val="800"/>
              </a:spcAft>
              <a:defRPr sz="1900" b="0">
                <a:solidFill>
                  <a:srgbClr val="37474F"/>
                </a:solidFill>
                <a:latin typeface="Calibri"/>
              </a:defRPr>
            </a:pPr>
            <a:r>
              <a:t>▸  □ validate-lab-fl.sh passes (Horizon mounts + :8091 control API)</a:t>
            </a:r>
          </a:p>
          <a:p>
            <a:pPr>
              <a:lnSpc>
                <a:spcPct val="115000"/>
              </a:lnSpc>
              <a:spcAft>
                <a:spcPts val="800"/>
              </a:spcAft>
              <a:defRPr sz="1900" b="0">
                <a:solidFill>
                  <a:srgbClr val="37474F"/>
                </a:solidFill>
                <a:latin typeface="Calibri"/>
              </a:defRPr>
            </a:pPr>
            <a:r>
              <a:t>▸  □ free -h ≥ 2 GB during FL — do NOT run K3s Blueprint (Module H) concurrently</a:t>
            </a:r>
          </a:p>
          <a:p>
            <a:pPr>
              <a:lnSpc>
                <a:spcPct val="115000"/>
              </a:lnSpc>
              <a:spcAft>
                <a:spcPts val="800"/>
              </a:spcAft>
              <a:defRPr sz="1900" b="0">
                <a:solidFill>
                  <a:srgbClr val="37474F"/>
                </a:solidFill>
                <a:latin typeface="Calibri"/>
              </a:defRPr>
            </a:pPr>
            <a:r>
              <a:t>▸  □ Students articulate horizontal cross-silo FL classification from Ch.19 taxonomy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