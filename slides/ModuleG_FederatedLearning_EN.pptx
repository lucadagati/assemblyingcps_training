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In this module we will work through Module G — Federated Learning on the Edge.</a:t>
            </a:r>
          </a:p>
          <a:p/>
          <a:p>
            <a:r>
              <a:t>Ch.19 · Advanced · VM {{VM_IP}}</a:t>
            </a:r>
          </a:p>
          <a:p/>
          <a:p>
            <a:r>
              <a:t>The session alternates theory from the book with live exercises on the Stack4Things lab VM. Replace the placeholder IP with the address of the machine you are using.</a:t>
            </a:r>
          </a:p>
          <a:p/>
          <a:p>
            <a:r>
              <a:t>Advanced · Ch.19 — Federated Learning · requires Module D (3 Active boards).</a:t>
            </a:r>
          </a:p>
          <a:p/>
          <a:p>
            <a:r>
              <a:t>When you're ready, advance to the first section.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Federated Learning theory. Ch.19 — motivation, architecture, taxonomy. In the next slides, listen for whether we are in theory mode or hands-on mode, and open your terminal when the slides turn to lab work.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Why Federated Learning? (Ch.19). This material is covered in Ch.19 · FL motivation · regulatory compliance section.</a:t>
            </a:r>
          </a:p>
          <a:p/>
          <a:p>
            <a:r>
              <a:t>First, regarding centralized ml, collect all raw data to cloud — privacy, GDPR, bandwidth, latency risks. Next, regarding fl, train collaboratively — raw data never leaves edge devices or local storage.</a:t>
            </a:r>
          </a:p>
          <a:p/>
          <a:p>
            <a:r>
              <a:t>By contrast, Only model weight updates (gradients/parameters) sent to aggregation server each round. We should also consider that Critical for healthcare, finance, smart cities, IoT fleets with sensitive local data.</a:t>
            </a:r>
          </a:p>
          <a:p/>
          <a:p>
            <a:r>
              <a:t>Another key point is that Regulatory frameworks (GDPR, DPDP, HIPAA) restrict data centralization — FL enables compliance. Furthermore, regarding book motivation section cites real-world cases, hospitals, banks, cross-device IoT.</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Centralized vs federated — operational contrast (Ch.19). This material is covered in Ch.19 · centralized vs federated comparison.</a:t>
            </a:r>
          </a:p>
          <a:p/>
          <a:p>
            <a:r>
              <a:t>First, in the centralized approach, an ETL pipeline uploads datasets, then a single GPU cluster trains monolithic model. Next, in the federated approach, N clients train locally, then the server aggregates, then the global model improves iteratively.</a:t>
            </a:r>
          </a:p>
          <a:p/>
          <a:p>
            <a:r>
              <a:t>By contrast, a major bottleneck of centralized training is the network upload of the full dataset from each edge site. We should also consider that federated learning has bottlenecks: straggler clients, non-IID data distribution, communication rounds.</a:t>
            </a:r>
          </a:p>
          <a:p/>
          <a:p>
            <a:r>
              <a:t>Another key point is that for Stack4Things, the value proposition is that IoTronic deploys FL client plugin to fleet — the operational layer for federated learning. Furthermore, our lab demonstration uses 3 boards, 3 CSV files, 1 Flower server — minimal horizontal FL topology.</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FL architecture components (Ch.19). This material is covered in Ch.19 · fig:chap19:federated_learning_architecture · listing server.py.</a:t>
            </a:r>
          </a:p>
          <a:p/>
          <a:p>
            <a:r>
              <a:t>First, regarding server (flower in lab), orchestrates rounds, aggregates updates (FedAvg algorithm). Next, regarding clients, local training on board-resident dataset — heart_1/2/3.csv in ch19 demo.</a:t>
            </a:r>
          </a:p>
          <a:p/>
          <a:p>
            <a:r>
              <a:t>By contrast, regarding stack4things, async plugin injected on each board via IoTronic — Worker connects to server. We should also consider that Direct TCP to Flower server on VM host — lightweight for lab; MQTT optional in field.</a:t>
            </a:r>
          </a:p>
          <a:p/>
          <a:p>
            <a:r>
              <a:t>Another key point is that regarding book figure, fig:chap19:federated_learning_architecture — 3 clients + 1 server. Furthermore, Each client runs local epochs before sending weight update — not every mini-batch.</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FedAvg aggregation algorithm (Ch.19). This material is covered in Ch.19 · FedAvg · Flower framework references.</a:t>
            </a:r>
          </a:p>
          <a:p/>
          <a:p>
            <a:r>
              <a:t>First, regarding federated averaging, server computes weighted average of client model parameters. Next, Weight proportional to local dataset size — larger datasets influence global model more.</a:t>
            </a:r>
          </a:p>
          <a:p/>
          <a:p>
            <a:r>
              <a:t>By contrast, regarding round k, server broadcasts global model, then clients train locally, then clients send updates. We should also consider that Server aggregates, then broadcasts updated global model, then repeat for FL_ROUNDS iterations.</a:t>
            </a:r>
          </a:p>
          <a:p/>
          <a:p>
            <a:r>
              <a:t>Another key point is that Convergence depends on data IID-ness — lab CSVs designed with compatible schema. Furthermore, Flower framework abstracts transport — same FedAvg logic in lab and production.</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FL taxonomy — four categories (Ch.19). This material is covered in Ch.19 · FL types · horizontal vs vertical.</a:t>
            </a:r>
          </a:p>
          <a:p/>
          <a:p>
            <a:r>
              <a:t>First, regarding horizontal fl, same features, different samples — hospitals, IoT boards (lab demo type). Next, regarding vertical fl, different features, same samples — bank + credit card company collaboration.</a:t>
            </a:r>
          </a:p>
          <a:p/>
          <a:p>
            <a:r>
              <a:t>By contrast, regarding cross-silo, organizations with stable connectivity and rich local datasets. We should also consider that regarding cross-device, many mobile/IoT clients, intermittent connectivity, small local data.</a:t>
            </a:r>
          </a:p>
          <a:p/>
          <a:p>
            <a:r>
              <a:t>Another key point is that our lab demonstration uses horizontal cross-silo — 3 boards, same CSV schema, different row samples. Furthermore, Book taxonomy table helps students classify real-world FL deployment scenarios.</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Non-IID data challenges (Ch.19). This material is covered in Ch.19 · non-IID discussion · advanced FL algorithms footnote.</a:t>
            </a:r>
          </a:p>
          <a:p/>
          <a:p>
            <a:r>
              <a:t>First, regarding real edge data often non-iid, each board sees different distribution of sensor readings. Next, Non-IID slows convergence — may require more FL_ROUNDS or specialized aggregation.</a:t>
            </a:r>
          </a:p>
          <a:p/>
          <a:p>
            <a:r>
              <a:t>By contrast, Lab heart CSVs are mildly non-IID by design — demonstrates realistic edge heterogeneity. We should also consider that regarding production mitigations, fedProx, SCAFFOLD, personalization layers — beyond lab scope.</a:t>
            </a:r>
          </a:p>
          <a:p/>
          <a:p>
            <a:r>
              <a:t>Another key point is that Students should observe per-round accuracy variance in Flower server log output. Furthermore, Module D fleet heterogeneity (3 boards) mirrors cross-silo non-IID scenario.</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S4T + FL integration — plugin model (Ch.19). This material is covered in Ch.19 · ch19 repo plugin + server.py listing.</a:t>
            </a:r>
          </a:p>
          <a:p/>
          <a:p>
            <a:r>
              <a:t>First, Async plugin Worker in client.py connects to Flower server as FL client process. Next, regarding local training loop, read CSV, then train epochs, then send weight update via Flower gRPC.</a:t>
            </a:r>
          </a:p>
          <a:p/>
          <a:p>
            <a:r>
              <a:t>By contrast, regarding server-side evaluation, centralized loss/accuracy view printed each aggregation round. We should also consider that regarding plugin lifecycle, create in IoTronic, then inject per board, then Start while server running.</a:t>
            </a:r>
          </a:p>
          <a:p/>
          <a:p>
            <a:r>
              <a:t>Another key point is that regarding different csv per board, heart_1.csv on alpha, heart_2.csv on beta, heart_3.csv on gamma. Furthermore, regarding repo, training/repos/ch19 — server.py + client.py + sample datasets.</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Privacy and regulatory framing (Ch.19). This material is covered in Ch.19 · regulatory compliance · privacy-preserving FL footnote.</a:t>
            </a:r>
          </a:p>
          <a:p/>
          <a:p>
            <a:r>
              <a:t>First, regarding gdpr article 25, data protection by design — FL keeps raw data at edge by default. Next, regarding dpdp (india), hipaa (us healthcare), restrict cross-border raw data transfer.</a:t>
            </a:r>
          </a:p>
          <a:p/>
          <a:p>
            <a:r>
              <a:t>By contrast, FL enables smarter systems while data stays on edge nodes under local jurisdiction. We should also consider that S4T provides deployment vehicle (IoTronic inject) — FL provides training methodology.</a:t>
            </a:r>
          </a:p>
          <a:p/>
          <a:p>
            <a:r>
              <a:t>Another key point is that regarding production extensions, differential privacy noise on updates, secure aggregation (crypto). Furthermore, regarding lab scope, demonstrate FL workflow — not production-grade privacy guarantees.</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FL challenges and open issues (Ch.19). This material is covered in Ch.19 § Challenges and open issues · FedProx · secure aggregation footnote.</a:t>
            </a:r>
          </a:p>
          <a:p/>
          <a:p>
            <a:r>
              <a:t>First, regarding system heterogeneity, boards differ in CPU, RAM, bandwidth — stragglers delay aggregation rounds. Next, regarding client availability, intermittent connectivity reduces effective participants per round.</a:t>
            </a:r>
          </a:p>
          <a:p/>
          <a:p>
            <a:r>
              <a:t>By contrast, regarding model heterogeneity, incompatible architectures complicate weight merging and convergence. We should also consider that regarding statistical heterogeneity (non-iid), skewed local data degrades global model accuracy.</a:t>
            </a:r>
          </a:p>
          <a:p/>
          <a:p>
            <a:r>
              <a:t>Another key point is that regarding model update security, poisoning and backdoor attacks via malicious local training data. Furthermore, Mitigations include FedProx, secure aggregation, differential privacy — research beyond lab scope.</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FL platform landscape (Ch.19). This material is covered in Ch.19 § Core requirements · tools and frameworks.</a:t>
            </a:r>
          </a:p>
          <a:p/>
          <a:p>
            <a:r>
              <a:t>First, regarding open source, tensorFlow Federated, Flower (lab choice), PySyft, LEAF benchmarks, FedML. Next, regarding enterprise, NVIDIA FLARE, IBM FL — production orchestration and compliance tooling.</a:t>
            </a:r>
          </a:p>
          <a:p/>
          <a:p>
            <a:r>
              <a:t>By contrast, Flower chosen in ch19 repo for lightweight Python server + edge client plugin integration. We should also consider that Platform choice depends on scale, privacy requirements, and edge hardware constraints.</a:t>
            </a:r>
          </a:p>
          <a:p/>
          <a:p>
            <a:r>
              <a:t>Another key point is that regarding s4t contribution, same IoTronic inject lifecycle deploys FL client Workers on real boards. Furthermore, Google/Apple on-device FL cited in book as industry validation of federated approach.</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look at the diagram on screen: FL architecture — 3 edge clients. Describe the main boxes and arrows. Relate each element to a Docker service or API you have already seen. In particular, note the following: Flower server on VM host + 3 LR clients on :1474/:1475/:1476 (Module D). Take a few seconds to orient before we continue.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look at the sequence diagram on screen: UML sequence — Federated Learning round (Module G). Trace the diagram from left to right. Name each actor, the protocol used, and the message that crosses the cloud–edge boundary. In particular, note the following: Broadcast weights → local train → upload gradients → FedAvg. Take a few seconds to orient before we continue.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this slide, Module G — learning objectives.</a:t>
            </a:r>
          </a:p>
          <a:p/>
          <a:p>
            <a:r>
              <a:t>First, Explain FL motivation, FedAvg, and horizontal cross-silo taxonomy (Ch.19). Next, Deploy Flower aggregation server on VM host.</a:t>
            </a:r>
          </a:p>
          <a:p/>
          <a:p>
            <a:r>
              <a:t>By contrast, Inject FL async client plugin on 3 Active boards with distinct CSV datasets. We should also consider that Pass validate-lab-fl.sh — bridge Ch.19 AI methodology with Ch.13–14 S4T stack.</a:t>
            </a:r>
          </a:p>
          <a:p/>
          <a:p>
            <a:r>
              <a:t>If these objectives are clear, we can proceed.</a:t>
            </a:r>
          </a:p>
          <a:p/>
          <a:p>
            <a:r>
              <a:t>Instructor cues:</a:t>
            </a:r>
          </a:p>
          <a:p>
            <a:r>
              <a:t>• Observe ≥2 aggregation rounds complete (FL_ROUNDS=2 classroom pacing)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demonstration, What the FL demo proves — demo goals.</a:t>
            </a:r>
          </a:p>
          <a:p/>
          <a:p>
            <a:r>
              <a:t>First, Edge boards participate in distributed ML without sharing raw CSV data across boards. Next, IoTronic deploys identical FL client plugin code to heterogeneous Active boards.</a:t>
            </a:r>
          </a:p>
          <a:p/>
          <a:p>
            <a:r>
              <a:t>By contrast, Aggregation improves global model accuracy over successive rounds (FL_ROUNDS=2 in class). We should also consider that Bridges Ch.19 AI methodology with Ch.13–14 S4T operational stack (inject + Start).</a:t>
            </a:r>
          </a:p>
          <a:p/>
          <a:p>
            <a:r>
              <a:t>Another key point is that Students can classify lab setup as horizontal cross-silo FL from Ch.19 taxonomy. Furthermore, Flower server log shows round completion — tangible evidence of federated aggregation.</a:t>
            </a:r>
          </a:p>
          <a:p/>
          <a:p>
            <a:r>
              <a:t>Check that your screen matches what we showed before moving on.</a:t>
            </a:r>
          </a:p>
          <a:p/>
          <a:p>
            <a:r>
              <a:t>Session timing — Module G — 60-minute timeline: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this slide, Prerequisites &amp; resource constraints.</a:t>
            </a:r>
          </a:p>
          <a:p/>
          <a:p>
            <a:r>
              <a:t>First, Module D complete — 3 Active boards on {{VM_IP}}:1474/:1475/:1476. Next, regarding repo, training/repos/ch19 (server.py, client.py, heart_*.csv).</a:t>
            </a:r>
          </a:p>
          <a:p/>
          <a:p>
            <a:r>
              <a:t>By contrast, Do NOT run simultaneously with Module H K3s — RAM gate: free -h ≥ 2 GB during FL. We should also consider that Horizon admin / s4t · LR dashboards me / arancino on all three instances.</a:t>
            </a:r>
          </a:p>
          <a:p/>
          <a:p>
            <a:r>
              <a:t>If these objectives are clear, we can proceed.</a:t>
            </a:r>
          </a:p>
          <a:p/>
          <a:p>
            <a:r>
              <a:t>Instructor cues:</a:t>
            </a:r>
          </a:p>
          <a:p>
            <a:r>
              <a:t>• Classroom pacing: FL_ROUNDS=2 — keeps session within 60 minutes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Lab: Flower server setup. Install dependencies + start aggregation. In the next slides, listen for whether we are in theory mode or hands-on mode, and open your terminal when the slides turn to lab work.</a:t>
            </a:r>
          </a:p>
          <a:p/>
          <a:p>
            <a:r>
              <a:t>Instructor timing (title): Hands-on — Flower server setup</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move to the hands-on part: Install Flower and ML dependencies. Open your lab VM and follow along.</a:t>
            </a:r>
          </a:p>
          <a:p/>
          <a:p>
            <a:r>
              <a:t>Please run the following command on your VM: pip install flwr torch pandas scikit-learn. Wait until you see a sensible result before continuing. Next, regarding # or use helper, training/experiments/federated-learning/start-server.sh.</a:t>
            </a:r>
          </a:p>
          <a:p/>
          <a:p>
            <a:r>
              <a:t>By contrast, regarding verify, python3 -c "import flwr; print(flwr.__version__)".</a:t>
            </a:r>
          </a:p>
          <a:p/>
          <a:p>
            <a:r>
              <a:t>Raise your hand if you're stuck — we'll wait until most of you are done.</a:t>
            </a:r>
          </a:p>
          <a:p/>
          <a:p>
            <a:r>
              <a:t>Instructor timing (title): Step 1 — Install Flower and ML dependencies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Flower server configuration (Ch.19). This material is covered in Ch.19 · server.py listing · Flower ServerConfig.</a:t>
            </a:r>
          </a:p>
          <a:p/>
          <a:p>
            <a:r>
              <a:t>First, regarding server.py in ch19 repo, configures FedAvg strategy and number of rounds. Next, FL_ROUNDS env var controls aggregation iterations — set to 2 for classroom demo.</a:t>
            </a:r>
          </a:p>
          <a:p/>
          <a:p>
            <a:r>
              <a:t>By contrast, Server binds all interfaces on port 8080 — must be reachable from LR Docker containers. We should also consider that LR containers reach VM host via docker bridge gateway IP or host network mode.</a:t>
            </a:r>
          </a:p>
          <a:p/>
          <a:p>
            <a:r>
              <a:t>Another key point is that regarding minimum clients, 3 (matches 3 boards from Module D) — server waits for all before round.</a:t>
            </a:r>
          </a:p>
          <a:p/>
          <a:p>
            <a:r>
              <a:t>I'll pause here for questions, then we'll continue.</a:t>
            </a:r>
          </a:p>
          <a:p/>
          <a:p>
            <a:r>
              <a:t>Instructor cues:</a:t>
            </a:r>
          </a:p>
          <a:p>
            <a:r>
              <a:t>• Server log prints per-round aggregated metrics — instructor projects for class visibility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move to the hands-on part: Start Flower aggregation server. Open your lab VM and follow along.</a:t>
            </a:r>
          </a:p>
          <a:p/>
          <a:p>
            <a:r>
              <a:t>Please run the following command on your VM: cd training/repos/ch19. Wait until you see a sensible result before continuing. Please run the following command on your VM: FL_ROUNDS=2 python3 server.py. Wait until you see a sensible result before continuing.</a:t>
            </a:r>
          </a:p>
          <a:p/>
          <a:p>
            <a:r>
              <a:t>By contrast, Keep terminal open — server must run while client plugins connect. We should also consider that regarding expected, waiting for clients message, then round 1/2 aggregation output.</a:t>
            </a:r>
          </a:p>
          <a:p/>
          <a:p>
            <a:r>
              <a:t>Raise your hand if you're stuck — we'll wait until most of you are done.</a:t>
            </a:r>
          </a:p>
          <a:p/>
          <a:p>
            <a:r>
              <a:t>Instructor timing (title): Step 2 — Start Flower aggregation server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Lab: deploy FL client plugins. One async plugin per board. In the next slides, listen for whether we are in theory mode or hands-on mode, and open your terminal when the slides turn to lab work.</a:t>
            </a:r>
          </a:p>
          <a:p/>
          <a:p>
            <a:r>
              <a:t>Instructor timing (title): Hands-on — deploy FL client plugins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move to the hands-on part: Create and inject FL client plugin. Open your lab VM and follow along.</a:t>
            </a:r>
          </a:p>
          <a:p/>
          <a:p>
            <a:r>
              <a:t>First, Horizon, then Plugins, then Create async plugin from ch19 client.py template. Next, Create three plugin instances OR one plugin injected on three boards.</a:t>
            </a:r>
          </a:p>
          <a:p/>
          <a:p>
            <a:r>
              <a:t>By contrast, regarding configure dataset path, heart_1.csv on alpha, heart_2.csv on beta, heart_3.csv on gamma. We should also consider that regarding server address in plugin params, {{VM_IP}}:8080 (Flower server on VM host).</a:t>
            </a:r>
          </a:p>
          <a:p/>
          <a:p>
            <a:r>
              <a:t>Raise your hand if you're stuck — we'll wait until most of you are done.</a:t>
            </a:r>
          </a:p>
          <a:p/>
          <a:p>
            <a:r>
              <a:t>Instructor timing (title): Step 3 — Create and inject FL client plugin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look at the screenshot on screen: Horizon IoT — Plugins dashboard (FL client deploy). Walk the class through what they see in the interface. Connect each panel and button to a component we already deployed in the stack. In particular, note the following: Three async plugins — Callable=OFF → use Start action · login admin / s4t. Take a few seconds to orient before we continue.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look at the diagram on screen: Multi-board topology for FL clients. Describe the main boxes and arrows. Relate each element to a Docker service or API you have already seen. In particular, note the following: 3 LR clients :1474/:1475/:1476 → single Flower server {{VM_IP}}:8080. Take a few seconds to orient before we continue.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move to the hands-on part: Start FL clients on all three boards. Open your lab VM and follow along.</a:t>
            </a:r>
          </a:p>
          <a:p/>
          <a:p>
            <a:r>
              <a:t>First, regarding while flower server is running, plugins, then FL client, then Start on board-alpha. Next, Start on board-beta · Start on board-gamma.</a:t>
            </a:r>
          </a:p>
          <a:p/>
          <a:p>
            <a:r>
              <a:t>By contrast, regarding watch server terminal, clients connect, then round 1 begins, then aggregation, then round 2. We should also consider that regarding each lr log, docker logs lightning-rod-2 — local training progress messages.</a:t>
            </a:r>
          </a:p>
          <a:p/>
          <a:p>
            <a:r>
              <a:t>Raise your hand if you're stuck — we'll wait until most of you are done.</a:t>
            </a:r>
          </a:p>
          <a:p/>
          <a:p>
            <a:r>
              <a:t>Instructor timing (title): Step 4 — Start FL clients on all three boards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Client plugin execution flow (Ch.19). This material is covered in Ch.19 · client.py Worker class · async plugin pattern.</a:t>
            </a:r>
          </a:p>
          <a:p/>
          <a:p>
            <a:r>
              <a:t>First, Start action launches async Worker — connects to Flower server via gRPC/TCP. Next, Worker loads local CSV — initializes model with global weights from server.</a:t>
            </a:r>
          </a:p>
          <a:p/>
          <a:p>
            <a:r>
              <a:t>By contrast, regarding local training, N local epochs on board CPU — sends weight delta to server. We should also consider that Server aggregates all 3 client updates — broadcasts new global weights.</a:t>
            </a:r>
          </a:p>
          <a:p/>
          <a:p>
            <a:r>
              <a:t>Another key point is that regarding round 2, clients receive updated global model — repeat local training. Furthermore, regarding stop, interrupt plugin on each board after rounds complete — clean shutdown.</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Troubleshooting FL connectivity (Ch.19 lab). This material is covered in training/experiments/federated-learning/ · validate-lab-fl.sh.</a:t>
            </a:r>
          </a:p>
          <a:p/>
          <a:p>
            <a:r>
              <a:t>First, regarding clients cannot connect, verify Flower server IP reachable from LR container network. Next, regarding use docker bridge gateway ip if {{vm_ip}}, 8080 not reachable from inside containers.</a:t>
            </a:r>
          </a:p>
          <a:p/>
          <a:p>
            <a:r>
              <a:t>By contrast, regarding server stuck waiting, ensure all 3 Start actions fired — minimum client count not met. We should also consider that regarding oom on board, reduce local epochs in client.py params — edge boards have limited RAM.</a:t>
            </a:r>
          </a:p>
          <a:p/>
          <a:p>
            <a:r>
              <a:t>Another key point is that regarding plugin error on start, check client.py syntax and flwr/torch installed in LR image. Furthermore, Validate-lab-fl.sh automates connectivity and round-completion checks.</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FL in the Cloud Continuum research context (Ch.19 + Ch.11). This material is covered in Ch.19 + Ch.11 Type 4 · SLICES RI FL experiment pattern.</a:t>
            </a:r>
          </a:p>
          <a:p/>
          <a:p>
            <a:r>
              <a:t>First, regarding ch.11 type 4 experiments, AI/ML workflows including federated learning at edge. Next, regarding slices ri multi-site fl, clients on different European sites, server on cloud slice.</a:t>
            </a:r>
          </a:p>
          <a:p/>
          <a:p>
            <a:r>
              <a:t>By contrast, S4T IoTronic inject scales FL client deployment — same pattern as Module D fleet ops. We should also consider that Crossplane Workflow CRD could declare FL experiment: server + N client plugins + datasets.</a:t>
            </a:r>
          </a:p>
          <a:p/>
          <a:p>
            <a:r>
              <a:t>Another key point is that Edge-board FL preserves data sovereignty requirements of SLICES partner institutions. Furthermore, Lab on {{VM_IP}} is minimal horizontal FL — production scales to cross-silo federation.</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Validate &amp; wrap-up. Confirm aggregation + Module H exclusion. In the next slides, listen for whether we are in theory mode or hands-on mode, and open your terminal when the slides turn to lab work.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move to the hands-on part: Validate FL lab. Open your lab VM and follow along.</a:t>
            </a:r>
          </a:p>
          <a:p/>
          <a:p>
            <a:r>
              <a:t>Please run the following command on your VM: cd training &amp;&amp; ./validate-lab-fl.sh. Wait until you see a sensible result before continuing. Next, regarding watch server log for, round 1 complete · Round 2 complete · final accuracy.</a:t>
            </a:r>
          </a:p>
          <a:p/>
          <a:p>
            <a:r>
              <a:t>By contrast, Interrupt FL plugins on all boards after successful validation.</a:t>
            </a:r>
          </a:p>
          <a:p/>
          <a:p>
            <a:r>
              <a:t>Raise your hand if you're stuck — we'll wait until most of you are done.</a:t>
            </a:r>
          </a:p>
          <a:p/>
          <a:p>
            <a:r>
              <a:t>Instructor timing (title): Step 5 — Validate FL lab</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this slide, Module G checklist &amp; resource note.</a:t>
            </a:r>
          </a:p>
          <a:p/>
          <a:p>
            <a:r>
              <a:t>First, □ Flower server shows 2 aggregation rounds completing with 3 clients. Next, □ Three board plugins connected and contributed weight updates.</a:t>
            </a:r>
          </a:p>
          <a:p/>
          <a:p>
            <a:r>
              <a:t>By contrast, □ validate-lab-fl.sh passes. We should also consider that □ free -h ≥ 2 GB during FL — do NOT run K3s Blueprint (Module H) concurrently.</a:t>
            </a:r>
          </a:p>
          <a:p/>
          <a:p>
            <a:r>
              <a:t>Another key point is that □ Students articulate horizontal cross-silo FL classification from Ch.19 taxonomy.</a:t>
            </a:r>
          </a:p>
          <a:p/>
          <a:p>
            <a:r>
              <a:t>If these objectives are clear, we can proceed.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A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85800" y="502920"/>
            <a:ext cx="2011680" cy="347472"/>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S4T TRAINING</a:t>
            </a:r>
          </a:p>
        </p:txBody>
      </p:sp>
      <p:sp>
        <p:nvSpPr>
          <p:cNvPr id="5" name="TextBox 4"/>
          <p:cNvSpPr txBox="1"/>
          <p:nvPr/>
        </p:nvSpPr>
        <p:spPr>
          <a:xfrm>
            <a:off x="685800" y="1828800"/>
            <a:ext cx="10789920" cy="1645920"/>
          </a:xfrm>
          <a:prstGeom prst="rect">
            <a:avLst/>
          </a:prstGeom>
          <a:noFill/>
        </p:spPr>
        <p:txBody>
          <a:bodyPr wrap="none">
            <a:spAutoFit/>
          </a:bodyPr>
          <a:lstStyle/>
          <a:p>
            <a:pPr>
              <a:defRPr sz="4000" b="1">
                <a:solidFill>
                  <a:srgbClr val="FFFFFF"/>
                </a:solidFill>
                <a:latin typeface="Calibri"/>
              </a:defRPr>
            </a:pPr>
            <a:r>
              <a:t>Module G — Federated Learning on the Edge</a:t>
            </a:r>
          </a:p>
        </p:txBody>
      </p:sp>
      <p:sp>
        <p:nvSpPr>
          <p:cNvPr id="6" name="TextBox 5"/>
          <p:cNvSpPr txBox="1"/>
          <p:nvPr/>
        </p:nvSpPr>
        <p:spPr>
          <a:xfrm>
            <a:off x="685800" y="3520440"/>
            <a:ext cx="10515600" cy="1280160"/>
          </a:xfrm>
          <a:prstGeom prst="rect">
            <a:avLst/>
          </a:prstGeom>
          <a:noFill/>
        </p:spPr>
        <p:txBody>
          <a:bodyPr wrap="none">
            <a:spAutoFit/>
          </a:bodyPr>
          <a:lstStyle/>
          <a:p>
            <a:pPr>
              <a:spcAft>
                <a:spcPts val="400"/>
              </a:spcAft>
              <a:defRPr sz="2200" b="0">
                <a:solidFill>
                  <a:srgbClr val="B2EBF2"/>
                </a:solidFill>
                <a:latin typeface="Calibri"/>
              </a:defRPr>
            </a:pPr>
            <a:r>
              <a:t>Ch.19 · Advanced · VM {{VM_IP}}</a:t>
            </a:r>
          </a:p>
        </p:txBody>
      </p:sp>
      <p:sp>
        <p:nvSpPr>
          <p:cNvPr id="7" name="TextBox 6"/>
          <p:cNvSpPr txBox="1"/>
          <p:nvPr/>
        </p:nvSpPr>
        <p:spPr>
          <a:xfrm>
            <a:off x="685800" y="5623560"/>
            <a:ext cx="10515600" cy="548640"/>
          </a:xfrm>
          <a:prstGeom prst="rect">
            <a:avLst/>
          </a:prstGeom>
          <a:noFill/>
        </p:spPr>
        <p:txBody>
          <a:bodyPr wrap="none">
            <a:spAutoFit/>
          </a:bodyPr>
          <a:lstStyle/>
          <a:p>
            <a:pPr>
              <a:defRPr sz="1400" b="0">
                <a:solidFill>
                  <a:srgbClr val="90A4AE"/>
                </a:solidFill>
                <a:latin typeface="Calibri"/>
              </a:defRPr>
            </a:pPr>
            <a:r>
              <a:t>Advanced · Ch.19 — Federated Learning · requires Module D (3 Active boards)</a:t>
            </a:r>
          </a:p>
        </p:txBody>
      </p:sp>
      <p:sp>
        <p:nvSpPr>
          <p:cNvPr id="8" name="Rectangle 7"/>
          <p:cNvSpPr/>
          <p:nvPr/>
        </p:nvSpPr>
        <p:spPr>
          <a:xfrm>
            <a:off x="685800" y="5394960"/>
            <a:ext cx="3200400" cy="36576"/>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Federated Learning theory</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Ch.19 — motivation, architecture, taxonomy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Ch.19 · FL motivation · regulatory compliance section</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Why Federated Learning? (Ch.19)</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Centralized ML: collect all raw data to cloud — privacy, GDPR, bandwidth, latency risks</a:t>
            </a:r>
          </a:p>
          <a:p>
            <a:pPr>
              <a:lnSpc>
                <a:spcPct val="115000"/>
              </a:lnSpc>
              <a:spcAft>
                <a:spcPts val="500"/>
              </a:spcAft>
              <a:defRPr sz="1600" b="0">
                <a:solidFill>
                  <a:srgbClr val="37474F"/>
                </a:solidFill>
                <a:latin typeface="Calibri"/>
              </a:defRPr>
            </a:pPr>
            <a:r>
              <a:t>▸  FL: train collaboratively — raw data never leaves edge devices or local storage</a:t>
            </a:r>
          </a:p>
          <a:p>
            <a:pPr>
              <a:lnSpc>
                <a:spcPct val="115000"/>
              </a:lnSpc>
              <a:spcAft>
                <a:spcPts val="500"/>
              </a:spcAft>
              <a:defRPr sz="1600" b="0">
                <a:solidFill>
                  <a:srgbClr val="37474F"/>
                </a:solidFill>
                <a:latin typeface="Calibri"/>
              </a:defRPr>
            </a:pPr>
            <a:r>
              <a:t>▸  Only model weight updates (gradients/parameters) sent to aggregation server each round</a:t>
            </a:r>
          </a:p>
          <a:p>
            <a:pPr>
              <a:lnSpc>
                <a:spcPct val="115000"/>
              </a:lnSpc>
              <a:spcAft>
                <a:spcPts val="500"/>
              </a:spcAft>
              <a:defRPr sz="1600" b="0">
                <a:solidFill>
                  <a:srgbClr val="37474F"/>
                </a:solidFill>
                <a:latin typeface="Calibri"/>
              </a:defRPr>
            </a:pPr>
            <a:r>
              <a:t>▸  Critical for healthcare, finance, smart cities, IoT fleets with sensitive local data</a:t>
            </a:r>
          </a:p>
          <a:p>
            <a:pPr>
              <a:lnSpc>
                <a:spcPct val="115000"/>
              </a:lnSpc>
              <a:spcAft>
                <a:spcPts val="500"/>
              </a:spcAft>
              <a:defRPr sz="1600" b="0">
                <a:solidFill>
                  <a:srgbClr val="37474F"/>
                </a:solidFill>
                <a:latin typeface="Calibri"/>
              </a:defRPr>
            </a:pPr>
            <a:r>
              <a:t>▸  Regulatory frameworks (GDPR, DPDP, HIPAA) restrict data centralization — FL enables compliance</a:t>
            </a:r>
          </a:p>
          <a:p>
            <a:pPr>
              <a:lnSpc>
                <a:spcPct val="115000"/>
              </a:lnSpc>
              <a:spcAft>
                <a:spcPts val="500"/>
              </a:spcAft>
              <a:defRPr sz="1600" b="0">
                <a:solidFill>
                  <a:srgbClr val="37474F"/>
                </a:solidFill>
                <a:latin typeface="Calibri"/>
              </a:defRPr>
            </a:pPr>
            <a:r>
              <a:t>▸  Book motivation section cites real-world cases: hospitals, banks, cross-device IoT</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Ch.19 · centralized vs federated comparison</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Centralized vs federated — operational contrast (Ch.19)</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Centralized: ETL pipeline uploads datasets → single GPU cluster trains monolithic model</a:t>
            </a:r>
          </a:p>
          <a:p>
            <a:pPr>
              <a:lnSpc>
                <a:spcPct val="115000"/>
              </a:lnSpc>
              <a:spcAft>
                <a:spcPts val="500"/>
              </a:spcAft>
              <a:defRPr sz="1600" b="0">
                <a:solidFill>
                  <a:srgbClr val="37474F"/>
                </a:solidFill>
                <a:latin typeface="Calibri"/>
              </a:defRPr>
            </a:pPr>
            <a:r>
              <a:t>▸  Federated: N clients train locally → server aggregates → global model improves iteratively</a:t>
            </a:r>
          </a:p>
          <a:p>
            <a:pPr>
              <a:lnSpc>
                <a:spcPct val="115000"/>
              </a:lnSpc>
              <a:spcAft>
                <a:spcPts val="500"/>
              </a:spcAft>
              <a:defRPr sz="1600" b="0">
                <a:solidFill>
                  <a:srgbClr val="37474F"/>
                </a:solidFill>
                <a:latin typeface="Calibri"/>
              </a:defRPr>
            </a:pPr>
            <a:r>
              <a:t>▸  Centralized bottleneck: network upload of full dataset from each edge site</a:t>
            </a:r>
          </a:p>
          <a:p>
            <a:pPr>
              <a:lnSpc>
                <a:spcPct val="115000"/>
              </a:lnSpc>
              <a:spcAft>
                <a:spcPts val="500"/>
              </a:spcAft>
              <a:defRPr sz="1600" b="0">
                <a:solidFill>
                  <a:srgbClr val="37474F"/>
                </a:solidFill>
                <a:latin typeface="Calibri"/>
              </a:defRPr>
            </a:pPr>
            <a:r>
              <a:t>▸  Federated bottleneck: straggler clients, non-IID data distribution, communication rounds</a:t>
            </a:r>
          </a:p>
          <a:p>
            <a:pPr>
              <a:lnSpc>
                <a:spcPct val="115000"/>
              </a:lnSpc>
              <a:spcAft>
                <a:spcPts val="500"/>
              </a:spcAft>
              <a:defRPr sz="1600" b="0">
                <a:solidFill>
                  <a:srgbClr val="37474F"/>
                </a:solidFill>
                <a:latin typeface="Calibri"/>
              </a:defRPr>
            </a:pPr>
            <a:r>
              <a:t>▸  S4T value proposition: IoTronic deploys FL client plugin to fleet — operational layer for FL</a:t>
            </a:r>
          </a:p>
          <a:p>
            <a:pPr>
              <a:lnSpc>
                <a:spcPct val="115000"/>
              </a:lnSpc>
              <a:spcAft>
                <a:spcPts val="500"/>
              </a:spcAft>
              <a:defRPr sz="1600" b="0">
                <a:solidFill>
                  <a:srgbClr val="37474F"/>
                </a:solidFill>
                <a:latin typeface="Calibri"/>
              </a:defRPr>
            </a:pPr>
            <a:r>
              <a:t>▸  Lab demo: 3 boards, 3 CSV files, 1 Flower server — minimal horizontal FL topology</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Ch.19 · fig:chap19:federated_learning_architecture · listing server.py</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FL architecture components (Ch.19)</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Server (Flower in lab): orchestrates rounds, aggregates updates (FedAvg algorithm)</a:t>
            </a:r>
          </a:p>
          <a:p>
            <a:pPr>
              <a:lnSpc>
                <a:spcPct val="115000"/>
              </a:lnSpc>
              <a:spcAft>
                <a:spcPts val="500"/>
              </a:spcAft>
              <a:defRPr sz="1600" b="0">
                <a:solidFill>
                  <a:srgbClr val="37474F"/>
                </a:solidFill>
                <a:latin typeface="Calibri"/>
              </a:defRPr>
            </a:pPr>
            <a:r>
              <a:t>▸  Clients: local training on board-resident dataset — heart_1/2/3.csv in ch19 demo</a:t>
            </a:r>
          </a:p>
          <a:p>
            <a:pPr>
              <a:lnSpc>
                <a:spcPct val="115000"/>
              </a:lnSpc>
              <a:spcAft>
                <a:spcPts val="500"/>
              </a:spcAft>
              <a:defRPr sz="1600" b="0">
                <a:solidFill>
                  <a:srgbClr val="37474F"/>
                </a:solidFill>
                <a:latin typeface="Calibri"/>
              </a:defRPr>
            </a:pPr>
            <a:r>
              <a:t>▸  Stack4Things: async plugin injected on each board via IoTronic — Worker connects to server</a:t>
            </a:r>
          </a:p>
          <a:p>
            <a:pPr>
              <a:lnSpc>
                <a:spcPct val="115000"/>
              </a:lnSpc>
              <a:spcAft>
                <a:spcPts val="500"/>
              </a:spcAft>
              <a:defRPr sz="1600" b="0">
                <a:solidFill>
                  <a:srgbClr val="37474F"/>
                </a:solidFill>
                <a:latin typeface="Calibri"/>
              </a:defRPr>
            </a:pPr>
            <a:r>
              <a:t>▸  Direct TCP to Flower server on VM host — lightweight for lab; MQTT optional in field</a:t>
            </a:r>
          </a:p>
          <a:p>
            <a:pPr>
              <a:lnSpc>
                <a:spcPct val="115000"/>
              </a:lnSpc>
              <a:spcAft>
                <a:spcPts val="500"/>
              </a:spcAft>
              <a:defRPr sz="1600" b="0">
                <a:solidFill>
                  <a:srgbClr val="37474F"/>
                </a:solidFill>
                <a:latin typeface="Calibri"/>
              </a:defRPr>
            </a:pPr>
            <a:r>
              <a:t>▸  Book figure: fig:chap19:federated_learning_architecture — 3 clients + 1 server</a:t>
            </a:r>
          </a:p>
          <a:p>
            <a:pPr>
              <a:lnSpc>
                <a:spcPct val="115000"/>
              </a:lnSpc>
              <a:spcAft>
                <a:spcPts val="500"/>
              </a:spcAft>
              <a:defRPr sz="1600" b="0">
                <a:solidFill>
                  <a:srgbClr val="37474F"/>
                </a:solidFill>
                <a:latin typeface="Calibri"/>
              </a:defRPr>
            </a:pPr>
            <a:r>
              <a:t>▸  Each client runs local epochs before sending weight update — not every mini-batch</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Ch.19 · FedAvg · Flower framework references</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FedAvg aggregation algorithm (Ch.19)</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Federated Averaging: server computes weighted average of client model parameters</a:t>
            </a:r>
          </a:p>
          <a:p>
            <a:pPr>
              <a:lnSpc>
                <a:spcPct val="115000"/>
              </a:lnSpc>
              <a:spcAft>
                <a:spcPts val="500"/>
              </a:spcAft>
              <a:defRPr sz="1600" b="0">
                <a:solidFill>
                  <a:srgbClr val="37474F"/>
                </a:solidFill>
                <a:latin typeface="Calibri"/>
              </a:defRPr>
            </a:pPr>
            <a:r>
              <a:t>▸  Weight proportional to local dataset size — larger datasets influence global model more</a:t>
            </a:r>
          </a:p>
          <a:p>
            <a:pPr>
              <a:lnSpc>
                <a:spcPct val="115000"/>
              </a:lnSpc>
              <a:spcAft>
                <a:spcPts val="500"/>
              </a:spcAft>
              <a:defRPr sz="1600" b="0">
                <a:solidFill>
                  <a:srgbClr val="37474F"/>
                </a:solidFill>
                <a:latin typeface="Calibri"/>
              </a:defRPr>
            </a:pPr>
            <a:r>
              <a:t>▸  Round k: server broadcasts global model → clients train locally → clients send updates</a:t>
            </a:r>
          </a:p>
          <a:p>
            <a:pPr>
              <a:lnSpc>
                <a:spcPct val="115000"/>
              </a:lnSpc>
              <a:spcAft>
                <a:spcPts val="500"/>
              </a:spcAft>
              <a:defRPr sz="1600" b="0">
                <a:solidFill>
                  <a:srgbClr val="37474F"/>
                </a:solidFill>
                <a:latin typeface="Calibri"/>
              </a:defRPr>
            </a:pPr>
            <a:r>
              <a:t>▸  Server aggregates → broadcasts updated global model → repeat for FL_ROUNDS iterations</a:t>
            </a:r>
          </a:p>
          <a:p>
            <a:pPr>
              <a:lnSpc>
                <a:spcPct val="115000"/>
              </a:lnSpc>
              <a:spcAft>
                <a:spcPts val="500"/>
              </a:spcAft>
              <a:defRPr sz="1600" b="0">
                <a:solidFill>
                  <a:srgbClr val="37474F"/>
                </a:solidFill>
                <a:latin typeface="Calibri"/>
              </a:defRPr>
            </a:pPr>
            <a:r>
              <a:t>▸  Convergence depends on data IID-ness — lab CSVs designed with compatible schema</a:t>
            </a:r>
          </a:p>
          <a:p>
            <a:pPr>
              <a:lnSpc>
                <a:spcPct val="115000"/>
              </a:lnSpc>
              <a:spcAft>
                <a:spcPts val="500"/>
              </a:spcAft>
              <a:defRPr sz="1600" b="0">
                <a:solidFill>
                  <a:srgbClr val="37474F"/>
                </a:solidFill>
                <a:latin typeface="Calibri"/>
              </a:defRPr>
            </a:pPr>
            <a:r>
              <a:t>▸  Flower framework abstracts transport — same FedAvg logic in lab and production</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Ch.19 · FL types · horizontal vs vertical</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FL taxonomy — four categories (Ch.19)</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Horizontal FL: same features, different samples — hospitals, IoT boards (lab demo type)</a:t>
            </a:r>
          </a:p>
          <a:p>
            <a:pPr>
              <a:lnSpc>
                <a:spcPct val="115000"/>
              </a:lnSpc>
              <a:spcAft>
                <a:spcPts val="500"/>
              </a:spcAft>
              <a:defRPr sz="1600" b="0">
                <a:solidFill>
                  <a:srgbClr val="37474F"/>
                </a:solidFill>
                <a:latin typeface="Calibri"/>
              </a:defRPr>
            </a:pPr>
            <a:r>
              <a:t>▸  Vertical FL: different features, same samples — bank + credit card company collaboration</a:t>
            </a:r>
          </a:p>
          <a:p>
            <a:pPr>
              <a:lnSpc>
                <a:spcPct val="115000"/>
              </a:lnSpc>
              <a:spcAft>
                <a:spcPts val="500"/>
              </a:spcAft>
              <a:defRPr sz="1600" b="0">
                <a:solidFill>
                  <a:srgbClr val="37474F"/>
                </a:solidFill>
                <a:latin typeface="Calibri"/>
              </a:defRPr>
            </a:pPr>
            <a:r>
              <a:t>▸  Cross-silo: organizations with stable connectivity and rich local datasets</a:t>
            </a:r>
          </a:p>
          <a:p>
            <a:pPr>
              <a:lnSpc>
                <a:spcPct val="115000"/>
              </a:lnSpc>
              <a:spcAft>
                <a:spcPts val="500"/>
              </a:spcAft>
              <a:defRPr sz="1600" b="0">
                <a:solidFill>
                  <a:srgbClr val="37474F"/>
                </a:solidFill>
                <a:latin typeface="Calibri"/>
              </a:defRPr>
            </a:pPr>
            <a:r>
              <a:t>▸  Cross-device: many mobile/IoT clients, intermittent connectivity, small local data</a:t>
            </a:r>
          </a:p>
          <a:p>
            <a:pPr>
              <a:lnSpc>
                <a:spcPct val="115000"/>
              </a:lnSpc>
              <a:spcAft>
                <a:spcPts val="500"/>
              </a:spcAft>
              <a:defRPr sz="1600" b="0">
                <a:solidFill>
                  <a:srgbClr val="37474F"/>
                </a:solidFill>
                <a:latin typeface="Calibri"/>
              </a:defRPr>
            </a:pPr>
            <a:r>
              <a:t>▸  Lab demo: horizontal cross-silo — 3 boards, same CSV schema, different row samples</a:t>
            </a:r>
          </a:p>
          <a:p>
            <a:pPr>
              <a:lnSpc>
                <a:spcPct val="115000"/>
              </a:lnSpc>
              <a:spcAft>
                <a:spcPts val="500"/>
              </a:spcAft>
              <a:defRPr sz="1600" b="0">
                <a:solidFill>
                  <a:srgbClr val="37474F"/>
                </a:solidFill>
                <a:latin typeface="Calibri"/>
              </a:defRPr>
            </a:pPr>
            <a:r>
              <a:t>▸  Book taxonomy table helps students classify real-world FL deployment scenarios</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Ch.19 · non-IID discussion · advanced FL algorithms footnote</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Non-IID data challenges (Ch.19)</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Real edge data often non-IID: each board sees different distribution of sensor readings</a:t>
            </a:r>
          </a:p>
          <a:p>
            <a:pPr>
              <a:lnSpc>
                <a:spcPct val="115000"/>
              </a:lnSpc>
              <a:spcAft>
                <a:spcPts val="500"/>
              </a:spcAft>
              <a:defRPr sz="1600" b="0">
                <a:solidFill>
                  <a:srgbClr val="37474F"/>
                </a:solidFill>
                <a:latin typeface="Calibri"/>
              </a:defRPr>
            </a:pPr>
            <a:r>
              <a:t>▸  Non-IID slows convergence — may require more FL_ROUNDS or specialized aggregation</a:t>
            </a:r>
          </a:p>
          <a:p>
            <a:pPr>
              <a:lnSpc>
                <a:spcPct val="115000"/>
              </a:lnSpc>
              <a:spcAft>
                <a:spcPts val="500"/>
              </a:spcAft>
              <a:defRPr sz="1600" b="0">
                <a:solidFill>
                  <a:srgbClr val="37474F"/>
                </a:solidFill>
                <a:latin typeface="Calibri"/>
              </a:defRPr>
            </a:pPr>
            <a:r>
              <a:t>▸  Lab heart CSVs are mildly non-IID by design — demonstrates realistic edge heterogeneity</a:t>
            </a:r>
          </a:p>
          <a:p>
            <a:pPr>
              <a:lnSpc>
                <a:spcPct val="115000"/>
              </a:lnSpc>
              <a:spcAft>
                <a:spcPts val="500"/>
              </a:spcAft>
              <a:defRPr sz="1600" b="0">
                <a:solidFill>
                  <a:srgbClr val="37474F"/>
                </a:solidFill>
                <a:latin typeface="Calibri"/>
              </a:defRPr>
            </a:pPr>
            <a:r>
              <a:t>▸  Production mitigations: FedProx, SCAFFOLD, personalization layers — beyond lab scope</a:t>
            </a:r>
          </a:p>
          <a:p>
            <a:pPr>
              <a:lnSpc>
                <a:spcPct val="115000"/>
              </a:lnSpc>
              <a:spcAft>
                <a:spcPts val="500"/>
              </a:spcAft>
              <a:defRPr sz="1600" b="0">
                <a:solidFill>
                  <a:srgbClr val="37474F"/>
                </a:solidFill>
                <a:latin typeface="Calibri"/>
              </a:defRPr>
            </a:pPr>
            <a:r>
              <a:t>▸  Students should observe per-round accuracy variance in Flower server log output</a:t>
            </a:r>
          </a:p>
          <a:p>
            <a:pPr>
              <a:lnSpc>
                <a:spcPct val="115000"/>
              </a:lnSpc>
              <a:spcAft>
                <a:spcPts val="500"/>
              </a:spcAft>
              <a:defRPr sz="1600" b="0">
                <a:solidFill>
                  <a:srgbClr val="37474F"/>
                </a:solidFill>
                <a:latin typeface="Calibri"/>
              </a:defRPr>
            </a:pPr>
            <a:r>
              <a:t>▸  Module D fleet heterogeneity (3 boards) mirrors cross-silo non-IID scenario</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Ch.19 · ch19 repo plugin + server.py listing</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S4T + FL integration — plugin model (Ch.19)</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Async plugin Worker in client.py connects to Flower server as FL client process</a:t>
            </a:r>
          </a:p>
          <a:p>
            <a:pPr>
              <a:lnSpc>
                <a:spcPct val="115000"/>
              </a:lnSpc>
              <a:spcAft>
                <a:spcPts val="500"/>
              </a:spcAft>
              <a:defRPr sz="1600" b="0">
                <a:solidFill>
                  <a:srgbClr val="37474F"/>
                </a:solidFill>
                <a:latin typeface="Calibri"/>
              </a:defRPr>
            </a:pPr>
            <a:r>
              <a:t>▸  Local training loop: read CSV → train epochs → send weight update via Flower gRPC</a:t>
            </a:r>
          </a:p>
          <a:p>
            <a:pPr>
              <a:lnSpc>
                <a:spcPct val="115000"/>
              </a:lnSpc>
              <a:spcAft>
                <a:spcPts val="500"/>
              </a:spcAft>
              <a:defRPr sz="1600" b="0">
                <a:solidFill>
                  <a:srgbClr val="37474F"/>
                </a:solidFill>
                <a:latin typeface="Calibri"/>
              </a:defRPr>
            </a:pPr>
            <a:r>
              <a:t>▸  Server-side evaluation: centralized loss/accuracy view printed each aggregation round</a:t>
            </a:r>
          </a:p>
          <a:p>
            <a:pPr>
              <a:lnSpc>
                <a:spcPct val="115000"/>
              </a:lnSpc>
              <a:spcAft>
                <a:spcPts val="500"/>
              </a:spcAft>
              <a:defRPr sz="1600" b="0">
                <a:solidFill>
                  <a:srgbClr val="37474F"/>
                </a:solidFill>
                <a:latin typeface="Calibri"/>
              </a:defRPr>
            </a:pPr>
            <a:r>
              <a:t>▸  Plugin lifecycle: create in IoTronic → inject per board → Start while server running</a:t>
            </a:r>
          </a:p>
          <a:p>
            <a:pPr>
              <a:lnSpc>
                <a:spcPct val="115000"/>
              </a:lnSpc>
              <a:spcAft>
                <a:spcPts val="500"/>
              </a:spcAft>
              <a:defRPr sz="1600" b="0">
                <a:solidFill>
                  <a:srgbClr val="37474F"/>
                </a:solidFill>
                <a:latin typeface="Calibri"/>
              </a:defRPr>
            </a:pPr>
            <a:r>
              <a:t>▸  Different CSV per board: heart_1.csv on alpha, heart_2.csv on beta, heart_3.csv on gamma</a:t>
            </a:r>
          </a:p>
          <a:p>
            <a:pPr>
              <a:lnSpc>
                <a:spcPct val="115000"/>
              </a:lnSpc>
              <a:spcAft>
                <a:spcPts val="500"/>
              </a:spcAft>
              <a:defRPr sz="1600" b="0">
                <a:solidFill>
                  <a:srgbClr val="37474F"/>
                </a:solidFill>
                <a:latin typeface="Calibri"/>
              </a:defRPr>
            </a:pPr>
            <a:r>
              <a:t>▸  Repo: training/repos/ch19 — server.py + client.py + sample datasets</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Ch.19 · regulatory compliance · privacy-preserving FL footnote</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Privacy and regulatory framing (Ch.19)</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GDPR Article 25: data protection by design — FL keeps raw data at edge by default</a:t>
            </a:r>
          </a:p>
          <a:p>
            <a:pPr>
              <a:lnSpc>
                <a:spcPct val="115000"/>
              </a:lnSpc>
              <a:spcAft>
                <a:spcPts val="500"/>
              </a:spcAft>
              <a:defRPr sz="1600" b="0">
                <a:solidFill>
                  <a:srgbClr val="37474F"/>
                </a:solidFill>
                <a:latin typeface="Calibri"/>
              </a:defRPr>
            </a:pPr>
            <a:r>
              <a:t>▸  DPDP (India), HIPAA (US healthcare): restrict cross-border raw data transfer</a:t>
            </a:r>
          </a:p>
          <a:p>
            <a:pPr>
              <a:lnSpc>
                <a:spcPct val="115000"/>
              </a:lnSpc>
              <a:spcAft>
                <a:spcPts val="500"/>
              </a:spcAft>
              <a:defRPr sz="1600" b="0">
                <a:solidFill>
                  <a:srgbClr val="37474F"/>
                </a:solidFill>
                <a:latin typeface="Calibri"/>
              </a:defRPr>
            </a:pPr>
            <a:r>
              <a:t>▸  FL enables smarter systems while data stays on edge nodes under local jurisdiction</a:t>
            </a:r>
          </a:p>
          <a:p>
            <a:pPr>
              <a:lnSpc>
                <a:spcPct val="115000"/>
              </a:lnSpc>
              <a:spcAft>
                <a:spcPts val="500"/>
              </a:spcAft>
              <a:defRPr sz="1600" b="0">
                <a:solidFill>
                  <a:srgbClr val="37474F"/>
                </a:solidFill>
                <a:latin typeface="Calibri"/>
              </a:defRPr>
            </a:pPr>
            <a:r>
              <a:t>▸  S4T provides deployment vehicle (IoTronic inject) — FL provides training methodology</a:t>
            </a:r>
          </a:p>
          <a:p>
            <a:pPr>
              <a:lnSpc>
                <a:spcPct val="115000"/>
              </a:lnSpc>
              <a:spcAft>
                <a:spcPts val="500"/>
              </a:spcAft>
              <a:defRPr sz="1600" b="0">
                <a:solidFill>
                  <a:srgbClr val="37474F"/>
                </a:solidFill>
                <a:latin typeface="Calibri"/>
              </a:defRPr>
            </a:pPr>
            <a:r>
              <a:t>▸  Production extensions: differential privacy noise on updates, secure aggregation (crypto)</a:t>
            </a:r>
          </a:p>
          <a:p>
            <a:pPr>
              <a:lnSpc>
                <a:spcPct val="115000"/>
              </a:lnSpc>
              <a:spcAft>
                <a:spcPts val="500"/>
              </a:spcAft>
              <a:defRPr sz="1600" b="0">
                <a:solidFill>
                  <a:srgbClr val="37474F"/>
                </a:solidFill>
                <a:latin typeface="Calibri"/>
              </a:defRPr>
            </a:pPr>
            <a:r>
              <a:t>▸  Lab scope: demonstrate FL workflow — not production-grade privacy guarantees</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Ch.19 § Challenges and open issues · FedProx · secure aggregation foot</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FL challenges and open issues (Ch.19)</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System heterogeneity: boards differ in CPU, RAM, bandwidth — stragglers delay aggregation rounds.</a:t>
            </a:r>
          </a:p>
          <a:p>
            <a:pPr>
              <a:lnSpc>
                <a:spcPct val="115000"/>
              </a:lnSpc>
              <a:spcAft>
                <a:spcPts val="500"/>
              </a:spcAft>
              <a:defRPr sz="1600" b="0">
                <a:solidFill>
                  <a:srgbClr val="37474F"/>
                </a:solidFill>
                <a:latin typeface="Calibri"/>
              </a:defRPr>
            </a:pPr>
            <a:r>
              <a:t>▸  Client availability: intermittent connectivity reduces effective participants per round.</a:t>
            </a:r>
          </a:p>
          <a:p>
            <a:pPr>
              <a:lnSpc>
                <a:spcPct val="115000"/>
              </a:lnSpc>
              <a:spcAft>
                <a:spcPts val="500"/>
              </a:spcAft>
              <a:defRPr sz="1600" b="0">
                <a:solidFill>
                  <a:srgbClr val="37474F"/>
                </a:solidFill>
                <a:latin typeface="Calibri"/>
              </a:defRPr>
            </a:pPr>
            <a:r>
              <a:t>▸  Model heterogeneity: incompatible architectures complicate weight merging and convergence.</a:t>
            </a:r>
          </a:p>
          <a:p>
            <a:pPr>
              <a:lnSpc>
                <a:spcPct val="115000"/>
              </a:lnSpc>
              <a:spcAft>
                <a:spcPts val="500"/>
              </a:spcAft>
              <a:defRPr sz="1600" b="0">
                <a:solidFill>
                  <a:srgbClr val="37474F"/>
                </a:solidFill>
                <a:latin typeface="Calibri"/>
              </a:defRPr>
            </a:pPr>
            <a:r>
              <a:t>▸  Statistical heterogeneity (Non-IID): skewed local data degrades global model accuracy.</a:t>
            </a:r>
          </a:p>
          <a:p>
            <a:pPr>
              <a:lnSpc>
                <a:spcPct val="115000"/>
              </a:lnSpc>
              <a:spcAft>
                <a:spcPts val="500"/>
              </a:spcAft>
              <a:defRPr sz="1600" b="0">
                <a:solidFill>
                  <a:srgbClr val="37474F"/>
                </a:solidFill>
                <a:latin typeface="Calibri"/>
              </a:defRPr>
            </a:pPr>
            <a:r>
              <a:t>▸  Model update security: poisoning and backdoor attacks via malicious local training data.</a:t>
            </a:r>
          </a:p>
          <a:p>
            <a:pPr>
              <a:lnSpc>
                <a:spcPct val="115000"/>
              </a:lnSpc>
              <a:spcAft>
                <a:spcPts val="500"/>
              </a:spcAft>
              <a:defRPr sz="1600" b="0">
                <a:solidFill>
                  <a:srgbClr val="37474F"/>
                </a:solidFill>
                <a:latin typeface="Calibri"/>
              </a:defRPr>
            </a:pPr>
            <a:r>
              <a:t>▸  Mitigations include FedProx, secure aggregation, differential privacy — research beyond lab scope.</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Ch.19 § Core requirements · tools and frameworks</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FL platform landscape (Ch.19)</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Open source: TensorFlow Federated, Flower (lab choice), PySyft, LEAF benchmarks, FedML.</a:t>
            </a:r>
          </a:p>
          <a:p>
            <a:pPr>
              <a:lnSpc>
                <a:spcPct val="115000"/>
              </a:lnSpc>
              <a:spcAft>
                <a:spcPts val="500"/>
              </a:spcAft>
              <a:defRPr sz="1600" b="0">
                <a:solidFill>
                  <a:srgbClr val="37474F"/>
                </a:solidFill>
                <a:latin typeface="Calibri"/>
              </a:defRPr>
            </a:pPr>
            <a:r>
              <a:t>▸  Enterprise: NVIDIA FLARE, IBM FL — production orchestration and compliance tooling.</a:t>
            </a:r>
          </a:p>
          <a:p>
            <a:pPr>
              <a:lnSpc>
                <a:spcPct val="115000"/>
              </a:lnSpc>
              <a:spcAft>
                <a:spcPts val="500"/>
              </a:spcAft>
              <a:defRPr sz="1600" b="0">
                <a:solidFill>
                  <a:srgbClr val="37474F"/>
                </a:solidFill>
                <a:latin typeface="Calibri"/>
              </a:defRPr>
            </a:pPr>
            <a:r>
              <a:t>▸  Flower chosen in ch19 repo for lightweight Python server + edge client plugin integration.</a:t>
            </a:r>
          </a:p>
          <a:p>
            <a:pPr>
              <a:lnSpc>
                <a:spcPct val="115000"/>
              </a:lnSpc>
              <a:spcAft>
                <a:spcPts val="500"/>
              </a:spcAft>
              <a:defRPr sz="1600" b="0">
                <a:solidFill>
                  <a:srgbClr val="37474F"/>
                </a:solidFill>
                <a:latin typeface="Calibri"/>
              </a:defRPr>
            </a:pPr>
            <a:r>
              <a:t>▸  Platform choice depends on scale, privacy requirements, and edge hardware constraints.</a:t>
            </a:r>
          </a:p>
          <a:p>
            <a:pPr>
              <a:lnSpc>
                <a:spcPct val="115000"/>
              </a:lnSpc>
              <a:spcAft>
                <a:spcPts val="500"/>
              </a:spcAft>
              <a:defRPr sz="1600" b="0">
                <a:solidFill>
                  <a:srgbClr val="37474F"/>
                </a:solidFill>
                <a:latin typeface="Calibri"/>
              </a:defRPr>
            </a:pPr>
            <a:r>
              <a:t>▸  S4T contribution: same IoTronic inject lifecycle deploys FL client Workers on real boards.</a:t>
            </a:r>
          </a:p>
          <a:p>
            <a:pPr>
              <a:lnSpc>
                <a:spcPct val="115000"/>
              </a:lnSpc>
              <a:spcAft>
                <a:spcPts val="500"/>
              </a:spcAft>
              <a:defRPr sz="1600" b="0">
                <a:solidFill>
                  <a:srgbClr val="37474F"/>
                </a:solidFill>
                <a:latin typeface="Calibri"/>
              </a:defRPr>
            </a:pPr>
            <a:r>
              <a:t>▸  Google/Apple on-device FL cited in book as industry validation of federated approach.</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972800" cy="868680"/>
          </a:xfrm>
          <a:prstGeom prst="rect">
            <a:avLst/>
          </a:prstGeom>
          <a:noFill/>
        </p:spPr>
        <p:txBody>
          <a:bodyPr wrap="none">
            <a:spAutoFit/>
          </a:bodyPr>
          <a:lstStyle/>
          <a:p>
            <a:pPr>
              <a:defRPr sz="2200" b="1">
                <a:solidFill>
                  <a:srgbClr val="0D2B45"/>
                </a:solidFill>
                <a:latin typeface="Calibri"/>
              </a:defRPr>
            </a:pPr>
            <a:r>
              <a:t>FL architecture — 3 edge clients</a:t>
            </a:r>
          </a:p>
        </p:txBody>
      </p:sp>
      <p:sp>
        <p:nvSpPr>
          <p:cNvPr id="4" name="Rounded Rectangle 3"/>
          <p:cNvSpPr/>
          <p:nvPr/>
        </p:nvSpPr>
        <p:spPr>
          <a:xfrm>
            <a:off x="1120368" y="1298448"/>
            <a:ext cx="9950958" cy="5733288"/>
          </a:xfrm>
          <a:prstGeom prst="roundRect">
            <a:avLst/>
          </a:prstGeom>
          <a:solidFill>
            <a:srgbClr val="FFFFFF"/>
          </a:solidFill>
          <a:ln w="12700">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l-architecture.png"/>
          <p:cNvPicPr>
            <a:picLocks noChangeAspect="1"/>
          </p:cNvPicPr>
          <p:nvPr/>
        </p:nvPicPr>
        <p:blipFill>
          <a:blip r:embed="rId2"/>
          <a:stretch>
            <a:fillRect/>
          </a:stretch>
        </p:blipFill>
        <p:spPr>
          <a:xfrm>
            <a:off x="1175232" y="1353312"/>
            <a:ext cx="9841230" cy="5623560"/>
          </a:xfrm>
          <a:prstGeom prst="rect">
            <a:avLst/>
          </a:prstGeom>
        </p:spPr>
      </p:pic>
      <p:sp>
        <p:nvSpPr>
          <p:cNvPr id="6" name="TextBox 5"/>
          <p:cNvSpPr txBox="1"/>
          <p:nvPr/>
        </p:nvSpPr>
        <p:spPr>
          <a:xfrm>
            <a:off x="594360" y="7168896"/>
            <a:ext cx="10972800" cy="411480"/>
          </a:xfrm>
          <a:prstGeom prst="rect">
            <a:avLst/>
          </a:prstGeom>
          <a:noFill/>
        </p:spPr>
        <p:txBody>
          <a:bodyPr wrap="none">
            <a:spAutoFit/>
          </a:bodyPr>
          <a:lstStyle/>
          <a:p>
            <a:pPr>
              <a:defRPr sz="1200" b="0">
                <a:solidFill>
                  <a:srgbClr val="37474F"/>
                </a:solidFill>
                <a:latin typeface="Calibri"/>
              </a:defRPr>
            </a:pPr>
            <a:r>
              <a:t>Flower server on VM host + 3 LR clients on :1474/:1475/:1476 (Module D)</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Diagram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972800" cy="868680"/>
          </a:xfrm>
          <a:prstGeom prst="rect">
            <a:avLst/>
          </a:prstGeom>
          <a:noFill/>
        </p:spPr>
        <p:txBody>
          <a:bodyPr wrap="none">
            <a:spAutoFit/>
          </a:bodyPr>
          <a:lstStyle/>
          <a:p>
            <a:pPr>
              <a:defRPr sz="2200" b="1">
                <a:solidFill>
                  <a:srgbClr val="0D2B45"/>
                </a:solidFill>
                <a:latin typeface="Calibri"/>
              </a:defRPr>
            </a:pPr>
            <a:r>
              <a:t>UML sequence — Federated Learning round (Module G)</a:t>
            </a:r>
          </a:p>
        </p:txBody>
      </p:sp>
      <p:sp>
        <p:nvSpPr>
          <p:cNvPr id="4" name="Rounded Rectangle 3"/>
          <p:cNvSpPr/>
          <p:nvPr/>
        </p:nvSpPr>
        <p:spPr>
          <a:xfrm>
            <a:off x="1240383" y="1298448"/>
            <a:ext cx="9710928" cy="5733288"/>
          </a:xfrm>
          <a:prstGeom prst="roundRect">
            <a:avLst/>
          </a:prstGeom>
          <a:solidFill>
            <a:srgbClr val="FFFFFF"/>
          </a:solidFill>
          <a:ln w="12700">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eq-fl-round.png"/>
          <p:cNvPicPr>
            <a:picLocks noChangeAspect="1"/>
          </p:cNvPicPr>
          <p:nvPr/>
        </p:nvPicPr>
        <p:blipFill>
          <a:blip r:embed="rId2"/>
          <a:stretch>
            <a:fillRect/>
          </a:stretch>
        </p:blipFill>
        <p:spPr>
          <a:xfrm>
            <a:off x="1295247" y="1353312"/>
            <a:ext cx="9601200" cy="5623560"/>
          </a:xfrm>
          <a:prstGeom prst="rect">
            <a:avLst/>
          </a:prstGeom>
        </p:spPr>
      </p:pic>
      <p:sp>
        <p:nvSpPr>
          <p:cNvPr id="6" name="TextBox 5"/>
          <p:cNvSpPr txBox="1"/>
          <p:nvPr/>
        </p:nvSpPr>
        <p:spPr>
          <a:xfrm>
            <a:off x="594360" y="7168896"/>
            <a:ext cx="10972800" cy="411480"/>
          </a:xfrm>
          <a:prstGeom prst="rect">
            <a:avLst/>
          </a:prstGeom>
          <a:noFill/>
        </p:spPr>
        <p:txBody>
          <a:bodyPr wrap="none">
            <a:spAutoFit/>
          </a:bodyPr>
          <a:lstStyle/>
          <a:p>
            <a:pPr>
              <a:defRPr sz="1200" b="0">
                <a:solidFill>
                  <a:srgbClr val="37474F"/>
                </a:solidFill>
                <a:latin typeface="Calibri"/>
              </a:defRPr>
            </a:pPr>
            <a:r>
              <a:t>Broadcast weights → local train → upload gradients → FedAvg</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Diagram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1A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Module G — learning objectives</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Explain FL motivation, FedAvg, and horizontal cross-silo taxonomy (Ch.19)</a:t>
            </a:r>
          </a:p>
          <a:p>
            <a:pPr>
              <a:lnSpc>
                <a:spcPct val="115000"/>
              </a:lnSpc>
              <a:spcAft>
                <a:spcPts val="800"/>
              </a:spcAft>
              <a:defRPr sz="1900" b="0">
                <a:solidFill>
                  <a:srgbClr val="37474F"/>
                </a:solidFill>
                <a:latin typeface="Calibri"/>
              </a:defRPr>
            </a:pPr>
            <a:r>
              <a:t>▸  Deploy Flower aggregation server on VM host</a:t>
            </a:r>
          </a:p>
          <a:p>
            <a:pPr>
              <a:lnSpc>
                <a:spcPct val="115000"/>
              </a:lnSpc>
              <a:spcAft>
                <a:spcPts val="800"/>
              </a:spcAft>
              <a:defRPr sz="1900" b="0">
                <a:solidFill>
                  <a:srgbClr val="37474F"/>
                </a:solidFill>
                <a:latin typeface="Calibri"/>
              </a:defRPr>
            </a:pPr>
            <a:r>
              <a:t>▸  Inject FL async client plugin on 3 Active boards with distinct CSV datasets</a:t>
            </a:r>
          </a:p>
          <a:p>
            <a:pPr>
              <a:lnSpc>
                <a:spcPct val="115000"/>
              </a:lnSpc>
              <a:spcAft>
                <a:spcPts val="800"/>
              </a:spcAft>
              <a:defRPr sz="1900" b="0">
                <a:solidFill>
                  <a:srgbClr val="37474F"/>
                </a:solidFill>
                <a:latin typeface="Calibri"/>
              </a:defRPr>
            </a:pPr>
            <a:r>
              <a:t>▸  Pass validate-lab-fl.sh — bridge Ch.19 AI methodology with Ch.13–14 S4T stack</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8E1"/>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F5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868680" cy="310896"/>
          </a:xfrm>
          <a:prstGeom prst="roundRect">
            <a:avLst/>
          </a:prstGeom>
          <a:solidFill>
            <a:srgbClr val="F5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DEMO</a:t>
            </a:r>
          </a:p>
        </p:txBody>
      </p:sp>
      <p:sp>
        <p:nvSpPr>
          <p:cNvPr id="4" name="TextBox 3"/>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What the FL demo proves — demo goals</a:t>
            </a:r>
          </a:p>
        </p:txBody>
      </p:sp>
      <p:sp>
        <p:nvSpPr>
          <p:cNvPr id="5" name="Rounded Rectangle 4"/>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Edge boards participate in distributed ML without sharing raw CSV data across boards</a:t>
            </a:r>
          </a:p>
          <a:p>
            <a:pPr>
              <a:lnSpc>
                <a:spcPct val="115000"/>
              </a:lnSpc>
              <a:spcAft>
                <a:spcPts val="500"/>
              </a:spcAft>
              <a:defRPr sz="1600" b="0">
                <a:solidFill>
                  <a:srgbClr val="37474F"/>
                </a:solidFill>
                <a:latin typeface="Calibri"/>
              </a:defRPr>
            </a:pPr>
            <a:r>
              <a:t>▸  IoTronic deploys identical FL client plugin code to heterogeneous Active boards</a:t>
            </a:r>
          </a:p>
          <a:p>
            <a:pPr>
              <a:lnSpc>
                <a:spcPct val="115000"/>
              </a:lnSpc>
              <a:spcAft>
                <a:spcPts val="500"/>
              </a:spcAft>
              <a:defRPr sz="1600" b="0">
                <a:solidFill>
                  <a:srgbClr val="37474F"/>
                </a:solidFill>
                <a:latin typeface="Calibri"/>
              </a:defRPr>
            </a:pPr>
            <a:r>
              <a:t>▸  Aggregation improves global model accuracy over successive rounds (FL_ROUNDS=2 in class)</a:t>
            </a:r>
          </a:p>
          <a:p>
            <a:pPr>
              <a:lnSpc>
                <a:spcPct val="115000"/>
              </a:lnSpc>
              <a:spcAft>
                <a:spcPts val="500"/>
              </a:spcAft>
              <a:defRPr sz="1600" b="0">
                <a:solidFill>
                  <a:srgbClr val="37474F"/>
                </a:solidFill>
                <a:latin typeface="Calibri"/>
              </a:defRPr>
            </a:pPr>
            <a:r>
              <a:t>▸  Bridges Ch.19 AI methodology with Ch.13–14 S4T operational stack (inject + Start)</a:t>
            </a:r>
          </a:p>
          <a:p>
            <a:pPr>
              <a:lnSpc>
                <a:spcPct val="115000"/>
              </a:lnSpc>
              <a:spcAft>
                <a:spcPts val="500"/>
              </a:spcAft>
              <a:defRPr sz="1600" b="0">
                <a:solidFill>
                  <a:srgbClr val="37474F"/>
                </a:solidFill>
                <a:latin typeface="Calibri"/>
              </a:defRPr>
            </a:pPr>
            <a:r>
              <a:t>▸  Students can classify lab setup as horizontal cross-silo FL from Ch.19 taxonomy</a:t>
            </a:r>
          </a:p>
          <a:p>
            <a:pPr>
              <a:lnSpc>
                <a:spcPct val="115000"/>
              </a:lnSpc>
              <a:spcAft>
                <a:spcPts val="500"/>
              </a:spcAft>
              <a:defRPr sz="1600" b="0">
                <a:solidFill>
                  <a:srgbClr val="37474F"/>
                </a:solidFill>
                <a:latin typeface="Calibri"/>
              </a:defRPr>
            </a:pPr>
            <a:r>
              <a:t>▸  Flower server log shows round completion — tangible evidence of federated aggregation</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Demo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1A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Prerequisites &amp; resource constraints</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Module D complete — 3 Active boards on {{VM_IP}}:1474/:1475/:1476</a:t>
            </a:r>
          </a:p>
          <a:p>
            <a:pPr>
              <a:lnSpc>
                <a:spcPct val="115000"/>
              </a:lnSpc>
              <a:spcAft>
                <a:spcPts val="800"/>
              </a:spcAft>
              <a:defRPr sz="1900" b="0">
                <a:solidFill>
                  <a:srgbClr val="37474F"/>
                </a:solidFill>
                <a:latin typeface="Calibri"/>
              </a:defRPr>
            </a:pPr>
            <a:r>
              <a:t>▸  Repo: training/repos/ch19 (server.py, client.py, heart_*.csv)</a:t>
            </a:r>
          </a:p>
          <a:p>
            <a:pPr>
              <a:lnSpc>
                <a:spcPct val="115000"/>
              </a:lnSpc>
              <a:spcAft>
                <a:spcPts val="800"/>
              </a:spcAft>
              <a:defRPr sz="1900" b="0">
                <a:solidFill>
                  <a:srgbClr val="37474F"/>
                </a:solidFill>
                <a:latin typeface="Calibri"/>
              </a:defRPr>
            </a:pPr>
            <a:r>
              <a:t>▸  Do NOT run simultaneously with Module H K3s — RAM gate: free -h ≥ 2 GB during FL</a:t>
            </a:r>
          </a:p>
          <a:p>
            <a:pPr>
              <a:lnSpc>
                <a:spcPct val="115000"/>
              </a:lnSpc>
              <a:spcAft>
                <a:spcPts val="800"/>
              </a:spcAft>
              <a:defRPr sz="1900" b="0">
                <a:solidFill>
                  <a:srgbClr val="37474F"/>
                </a:solidFill>
                <a:latin typeface="Calibri"/>
              </a:defRPr>
            </a:pPr>
            <a:r>
              <a:t>▸  Horizon admin / s4t · LR dashboards me / arancino on all three instances</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Lab: Flower server setup</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Install dependencies + start aggregation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Install Flower and ML dependencies</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400" b="0">
                <a:solidFill>
                  <a:srgbClr val="0D2B45"/>
                </a:solidFill>
                <a:latin typeface="Consolas"/>
              </a:defRPr>
            </a:pPr>
            <a:r>
              <a:t>$ pip install flwr torch pandas scikit-learn</a:t>
            </a:r>
          </a:p>
          <a:p>
            <a:pPr>
              <a:lnSpc>
                <a:spcPct val="115000"/>
              </a:lnSpc>
              <a:spcAft>
                <a:spcPts val="800"/>
              </a:spcAft>
              <a:defRPr sz="1900" b="0">
                <a:solidFill>
                  <a:srgbClr val="37474F"/>
                </a:solidFill>
                <a:latin typeface="Calibri"/>
              </a:defRPr>
            </a:pPr>
            <a:r>
              <a:t>▸  # Or use helper: training/experiments/federated-learning/start-server.sh</a:t>
            </a:r>
          </a:p>
          <a:p>
            <a:pPr>
              <a:lnSpc>
                <a:spcPct val="115000"/>
              </a:lnSpc>
              <a:spcAft>
                <a:spcPts val="800"/>
              </a:spcAft>
              <a:defRPr sz="1900" b="0">
                <a:solidFill>
                  <a:srgbClr val="37474F"/>
                </a:solidFill>
                <a:latin typeface="Calibri"/>
              </a:defRPr>
            </a:pPr>
            <a:r>
              <a:t>▸  Verify: python3 -c "import flwr; print(flwr.__version__)"</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Ch.19 · server.py listing · Flower ServerConfig</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Flower server configuration (Ch.19)</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700" b="0">
                <a:solidFill>
                  <a:srgbClr val="37474F"/>
                </a:solidFill>
                <a:latin typeface="Calibri"/>
              </a:defRPr>
            </a:pPr>
            <a:r>
              <a:t>▸  server.py in ch19 repo: configures FedAvg strategy and number of rounds</a:t>
            </a:r>
          </a:p>
          <a:p>
            <a:pPr>
              <a:lnSpc>
                <a:spcPct val="115000"/>
              </a:lnSpc>
              <a:spcAft>
                <a:spcPts val="500"/>
              </a:spcAft>
              <a:defRPr sz="1700" b="0">
                <a:solidFill>
                  <a:srgbClr val="37474F"/>
                </a:solidFill>
                <a:latin typeface="Calibri"/>
              </a:defRPr>
            </a:pPr>
            <a:r>
              <a:t>▸  FL_ROUNDS env var controls aggregation iterations — set to 2 for classroom demo</a:t>
            </a:r>
          </a:p>
          <a:p>
            <a:pPr>
              <a:lnSpc>
                <a:spcPct val="115000"/>
              </a:lnSpc>
              <a:spcAft>
                <a:spcPts val="500"/>
              </a:spcAft>
              <a:defRPr sz="1700" b="0">
                <a:solidFill>
                  <a:srgbClr val="37474F"/>
                </a:solidFill>
                <a:latin typeface="Calibri"/>
              </a:defRPr>
            </a:pPr>
            <a:r>
              <a:t>▸  Server binds all interfaces on port 8080 — must be reachable from LR Docker containers</a:t>
            </a:r>
          </a:p>
          <a:p>
            <a:pPr>
              <a:lnSpc>
                <a:spcPct val="115000"/>
              </a:lnSpc>
              <a:spcAft>
                <a:spcPts val="500"/>
              </a:spcAft>
              <a:defRPr sz="1700" b="0">
                <a:solidFill>
                  <a:srgbClr val="37474F"/>
                </a:solidFill>
                <a:latin typeface="Calibri"/>
              </a:defRPr>
            </a:pPr>
            <a:r>
              <a:t>▸  LR containers reach VM host via docker bridge gateway IP or host network mode</a:t>
            </a:r>
          </a:p>
          <a:p>
            <a:pPr>
              <a:lnSpc>
                <a:spcPct val="115000"/>
              </a:lnSpc>
              <a:spcAft>
                <a:spcPts val="500"/>
              </a:spcAft>
              <a:defRPr sz="1700" b="0">
                <a:solidFill>
                  <a:srgbClr val="37474F"/>
                </a:solidFill>
                <a:latin typeface="Calibri"/>
              </a:defRPr>
            </a:pPr>
            <a:r>
              <a:t>▸  Minimum clients: 3 (matches 3 boards from Module D) — server waits for all before round</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Start Flower aggregation server</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400" b="0">
                <a:solidFill>
                  <a:srgbClr val="0D2B45"/>
                </a:solidFill>
                <a:latin typeface="Consolas"/>
              </a:defRPr>
            </a:pPr>
            <a:r>
              <a:t>$ cd training/repos/ch19</a:t>
            </a:r>
          </a:p>
          <a:p>
            <a:pPr>
              <a:lnSpc>
                <a:spcPct val="115000"/>
              </a:lnSpc>
              <a:spcAft>
                <a:spcPts val="800"/>
              </a:spcAft>
              <a:defRPr sz="1400" b="0">
                <a:solidFill>
                  <a:srgbClr val="0D2B45"/>
                </a:solidFill>
                <a:latin typeface="Consolas"/>
              </a:defRPr>
            </a:pPr>
            <a:r>
              <a:t>$ FL_ROUNDS=2 python3 server.py</a:t>
            </a:r>
          </a:p>
          <a:p>
            <a:pPr>
              <a:lnSpc>
                <a:spcPct val="115000"/>
              </a:lnSpc>
              <a:spcAft>
                <a:spcPts val="800"/>
              </a:spcAft>
              <a:defRPr sz="1900" b="0">
                <a:solidFill>
                  <a:srgbClr val="37474F"/>
                </a:solidFill>
                <a:latin typeface="Calibri"/>
              </a:defRPr>
            </a:pPr>
            <a:r>
              <a:t>▸  Keep terminal open — server must run while client plugins connect</a:t>
            </a:r>
          </a:p>
          <a:p>
            <a:pPr>
              <a:lnSpc>
                <a:spcPct val="115000"/>
              </a:lnSpc>
              <a:spcAft>
                <a:spcPts val="800"/>
              </a:spcAft>
              <a:defRPr sz="1900" b="0">
                <a:solidFill>
                  <a:srgbClr val="37474F"/>
                </a:solidFill>
                <a:latin typeface="Calibri"/>
              </a:defRPr>
            </a:pPr>
            <a:r>
              <a:t>▸  Expected: waiting for clients message, then round 1/2 aggregation output</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Lab: deploy FL client plugins</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One async plugin per board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Create and inject FL client plugin</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Horizon → Plugins → Create async plugin from ch19 client.py template</a:t>
            </a:r>
          </a:p>
          <a:p>
            <a:pPr>
              <a:lnSpc>
                <a:spcPct val="115000"/>
              </a:lnSpc>
              <a:spcAft>
                <a:spcPts val="800"/>
              </a:spcAft>
              <a:defRPr sz="1900" b="0">
                <a:solidFill>
                  <a:srgbClr val="37474F"/>
                </a:solidFill>
                <a:latin typeface="Calibri"/>
              </a:defRPr>
            </a:pPr>
            <a:r>
              <a:t>▸  Create three plugin instances OR one plugin injected on three boards</a:t>
            </a:r>
          </a:p>
          <a:p>
            <a:pPr>
              <a:lnSpc>
                <a:spcPct val="115000"/>
              </a:lnSpc>
              <a:spcAft>
                <a:spcPts val="800"/>
              </a:spcAft>
              <a:defRPr sz="1900" b="0">
                <a:solidFill>
                  <a:srgbClr val="37474F"/>
                </a:solidFill>
                <a:latin typeface="Calibri"/>
              </a:defRPr>
            </a:pPr>
            <a:r>
              <a:t>▸  Configure dataset path: heart_1.csv on alpha, heart_2.csv on beta, heart_3.csv on gamma</a:t>
            </a:r>
          </a:p>
          <a:p>
            <a:pPr>
              <a:lnSpc>
                <a:spcPct val="115000"/>
              </a:lnSpc>
              <a:spcAft>
                <a:spcPts val="800"/>
              </a:spcAft>
              <a:defRPr sz="1900" b="0">
                <a:solidFill>
                  <a:srgbClr val="37474F"/>
                </a:solidFill>
                <a:latin typeface="Calibri"/>
              </a:defRPr>
            </a:pPr>
            <a:r>
              <a:t>▸  Server address in plugin params: {{VM_IP}}:8080 (Flower server on VM host)</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D2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972800" cy="868680"/>
          </a:xfrm>
          <a:prstGeom prst="rect">
            <a:avLst/>
          </a:prstGeom>
          <a:noFill/>
        </p:spPr>
        <p:txBody>
          <a:bodyPr wrap="none">
            <a:spAutoFit/>
          </a:bodyPr>
          <a:lstStyle/>
          <a:p>
            <a:pPr>
              <a:defRPr sz="2200" b="1">
                <a:solidFill>
                  <a:srgbClr val="0D2B45"/>
                </a:solidFill>
                <a:latin typeface="Calibri"/>
              </a:defRPr>
            </a:pPr>
            <a:r>
              <a:t>Horizon IoT — Plugins dashboard (FL client deploy)</a:t>
            </a:r>
          </a:p>
        </p:txBody>
      </p:sp>
      <p:sp>
        <p:nvSpPr>
          <p:cNvPr id="4" name="Rounded Rectangle 3"/>
          <p:cNvSpPr/>
          <p:nvPr/>
        </p:nvSpPr>
        <p:spPr>
          <a:xfrm>
            <a:off x="1667103" y="1298448"/>
            <a:ext cx="8857488" cy="5733288"/>
          </a:xfrm>
          <a:prstGeom prst="roundRect">
            <a:avLst/>
          </a:prstGeom>
          <a:solidFill>
            <a:srgbClr val="FFFFFF"/>
          </a:solidFill>
          <a:ln w="12700">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horizon-plugins-dashboard.png"/>
          <p:cNvPicPr>
            <a:picLocks noChangeAspect="1"/>
          </p:cNvPicPr>
          <p:nvPr/>
        </p:nvPicPr>
        <p:blipFill>
          <a:blip r:embed="rId2"/>
          <a:stretch>
            <a:fillRect/>
          </a:stretch>
        </p:blipFill>
        <p:spPr>
          <a:xfrm>
            <a:off x="1721967" y="1353312"/>
            <a:ext cx="8747760" cy="5623560"/>
          </a:xfrm>
          <a:prstGeom prst="rect">
            <a:avLst/>
          </a:prstGeom>
        </p:spPr>
      </p:pic>
      <p:sp>
        <p:nvSpPr>
          <p:cNvPr id="6" name="TextBox 5"/>
          <p:cNvSpPr txBox="1"/>
          <p:nvPr/>
        </p:nvSpPr>
        <p:spPr>
          <a:xfrm>
            <a:off x="594360" y="7168896"/>
            <a:ext cx="10972800" cy="411480"/>
          </a:xfrm>
          <a:prstGeom prst="rect">
            <a:avLst/>
          </a:prstGeom>
          <a:noFill/>
        </p:spPr>
        <p:txBody>
          <a:bodyPr wrap="none">
            <a:spAutoFit/>
          </a:bodyPr>
          <a:lstStyle/>
          <a:p>
            <a:pPr>
              <a:defRPr sz="1200" b="0">
                <a:solidFill>
                  <a:srgbClr val="37474F"/>
                </a:solidFill>
                <a:latin typeface="Calibri"/>
              </a:defRPr>
            </a:pPr>
            <a:r>
              <a:t>Three async plugins — Callable=OFF → use Start action · login admin / s4t</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Screenshot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972800" cy="868680"/>
          </a:xfrm>
          <a:prstGeom prst="rect">
            <a:avLst/>
          </a:prstGeom>
          <a:noFill/>
        </p:spPr>
        <p:txBody>
          <a:bodyPr wrap="none">
            <a:spAutoFit/>
          </a:bodyPr>
          <a:lstStyle/>
          <a:p>
            <a:pPr>
              <a:defRPr sz="2200" b="1">
                <a:solidFill>
                  <a:srgbClr val="0D2B45"/>
                </a:solidFill>
                <a:latin typeface="Calibri"/>
              </a:defRPr>
            </a:pPr>
            <a:r>
              <a:t>Multi-board topology for FL clients</a:t>
            </a:r>
          </a:p>
        </p:txBody>
      </p:sp>
      <p:sp>
        <p:nvSpPr>
          <p:cNvPr id="4" name="Rounded Rectangle 3"/>
          <p:cNvSpPr/>
          <p:nvPr/>
        </p:nvSpPr>
        <p:spPr>
          <a:xfrm>
            <a:off x="1120368" y="1298448"/>
            <a:ext cx="9950958" cy="5733288"/>
          </a:xfrm>
          <a:prstGeom prst="roundRect">
            <a:avLst/>
          </a:prstGeom>
          <a:solidFill>
            <a:srgbClr val="FFFFFF"/>
          </a:solidFill>
          <a:ln w="12700">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ultiboard-fleet.png"/>
          <p:cNvPicPr>
            <a:picLocks noChangeAspect="1"/>
          </p:cNvPicPr>
          <p:nvPr/>
        </p:nvPicPr>
        <p:blipFill>
          <a:blip r:embed="rId2"/>
          <a:stretch>
            <a:fillRect/>
          </a:stretch>
        </p:blipFill>
        <p:spPr>
          <a:xfrm>
            <a:off x="1175232" y="1353312"/>
            <a:ext cx="9841230" cy="5623560"/>
          </a:xfrm>
          <a:prstGeom prst="rect">
            <a:avLst/>
          </a:prstGeom>
        </p:spPr>
      </p:pic>
      <p:sp>
        <p:nvSpPr>
          <p:cNvPr id="6" name="TextBox 5"/>
          <p:cNvSpPr txBox="1"/>
          <p:nvPr/>
        </p:nvSpPr>
        <p:spPr>
          <a:xfrm>
            <a:off x="594360" y="7168896"/>
            <a:ext cx="10972800" cy="411480"/>
          </a:xfrm>
          <a:prstGeom prst="rect">
            <a:avLst/>
          </a:prstGeom>
          <a:noFill/>
        </p:spPr>
        <p:txBody>
          <a:bodyPr wrap="none">
            <a:spAutoFit/>
          </a:bodyPr>
          <a:lstStyle/>
          <a:p>
            <a:pPr>
              <a:defRPr sz="1200" b="0">
                <a:solidFill>
                  <a:srgbClr val="37474F"/>
                </a:solidFill>
                <a:latin typeface="Calibri"/>
              </a:defRPr>
            </a:pPr>
            <a:r>
              <a:t>3 LR clients :1474/:1475/:1476 → single Flower server {{VM_IP}}:8080</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Diagram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Start FL clients on all three boards</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While Flower server is running: Plugins → FL client → Start on board-alpha</a:t>
            </a:r>
          </a:p>
          <a:p>
            <a:pPr>
              <a:lnSpc>
                <a:spcPct val="115000"/>
              </a:lnSpc>
              <a:spcAft>
                <a:spcPts val="800"/>
              </a:spcAft>
              <a:defRPr sz="1900" b="0">
                <a:solidFill>
                  <a:srgbClr val="37474F"/>
                </a:solidFill>
                <a:latin typeface="Calibri"/>
              </a:defRPr>
            </a:pPr>
            <a:r>
              <a:t>▸  Start on board-beta · Start on board-gamma</a:t>
            </a:r>
          </a:p>
          <a:p>
            <a:pPr>
              <a:lnSpc>
                <a:spcPct val="115000"/>
              </a:lnSpc>
              <a:spcAft>
                <a:spcPts val="800"/>
              </a:spcAft>
              <a:defRPr sz="1900" b="0">
                <a:solidFill>
                  <a:srgbClr val="37474F"/>
                </a:solidFill>
                <a:latin typeface="Calibri"/>
              </a:defRPr>
            </a:pPr>
            <a:r>
              <a:t>▸  Watch server terminal: clients connect → round 1 begins → aggregation → round 2</a:t>
            </a:r>
          </a:p>
          <a:p>
            <a:pPr>
              <a:lnSpc>
                <a:spcPct val="115000"/>
              </a:lnSpc>
              <a:spcAft>
                <a:spcPts val="800"/>
              </a:spcAft>
              <a:defRPr sz="1900" b="0">
                <a:solidFill>
                  <a:srgbClr val="37474F"/>
                </a:solidFill>
                <a:latin typeface="Calibri"/>
              </a:defRPr>
            </a:pPr>
            <a:r>
              <a:t>▸  Each LR log: docker logs lightning-rod-2 — local training progress messages</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Ch.19 · client.py Worker class · async plugin pattern</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Client plugin execution flow (Ch.19)</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Start action launches async Worker — connects to Flower server via gRPC/TCP</a:t>
            </a:r>
          </a:p>
          <a:p>
            <a:pPr>
              <a:lnSpc>
                <a:spcPct val="115000"/>
              </a:lnSpc>
              <a:spcAft>
                <a:spcPts val="500"/>
              </a:spcAft>
              <a:defRPr sz="1600" b="0">
                <a:solidFill>
                  <a:srgbClr val="37474F"/>
                </a:solidFill>
                <a:latin typeface="Calibri"/>
              </a:defRPr>
            </a:pPr>
            <a:r>
              <a:t>▸  Worker loads local CSV — initializes model with global weights from server</a:t>
            </a:r>
          </a:p>
          <a:p>
            <a:pPr>
              <a:lnSpc>
                <a:spcPct val="115000"/>
              </a:lnSpc>
              <a:spcAft>
                <a:spcPts val="500"/>
              </a:spcAft>
              <a:defRPr sz="1600" b="0">
                <a:solidFill>
                  <a:srgbClr val="37474F"/>
                </a:solidFill>
                <a:latin typeface="Calibri"/>
              </a:defRPr>
            </a:pPr>
            <a:r>
              <a:t>▸  Local training: N local epochs on board CPU — sends weight delta to server</a:t>
            </a:r>
          </a:p>
          <a:p>
            <a:pPr>
              <a:lnSpc>
                <a:spcPct val="115000"/>
              </a:lnSpc>
              <a:spcAft>
                <a:spcPts val="500"/>
              </a:spcAft>
              <a:defRPr sz="1600" b="0">
                <a:solidFill>
                  <a:srgbClr val="37474F"/>
                </a:solidFill>
                <a:latin typeface="Calibri"/>
              </a:defRPr>
            </a:pPr>
            <a:r>
              <a:t>▸  Server aggregates all 3 client updates — broadcasts new global weights</a:t>
            </a:r>
          </a:p>
          <a:p>
            <a:pPr>
              <a:lnSpc>
                <a:spcPct val="115000"/>
              </a:lnSpc>
              <a:spcAft>
                <a:spcPts val="500"/>
              </a:spcAft>
              <a:defRPr sz="1600" b="0">
                <a:solidFill>
                  <a:srgbClr val="37474F"/>
                </a:solidFill>
                <a:latin typeface="Calibri"/>
              </a:defRPr>
            </a:pPr>
            <a:r>
              <a:t>▸  Round 2: clients receive updated global model — repeat local training</a:t>
            </a:r>
          </a:p>
          <a:p>
            <a:pPr>
              <a:lnSpc>
                <a:spcPct val="115000"/>
              </a:lnSpc>
              <a:spcAft>
                <a:spcPts val="500"/>
              </a:spcAft>
              <a:defRPr sz="1600" b="0">
                <a:solidFill>
                  <a:srgbClr val="37474F"/>
                </a:solidFill>
                <a:latin typeface="Calibri"/>
              </a:defRPr>
            </a:pPr>
            <a:r>
              <a:t>▸  Stop: Interrupt plugin on each board after rounds complete — clean shutdown</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training/experiments/federated-learning/ · validate-lab-fl.sh</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Troubleshooting FL connectivity (Ch.19 lab)</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Clients cannot connect: verify Flower server IP reachable from LR container network</a:t>
            </a:r>
          </a:p>
          <a:p>
            <a:pPr>
              <a:lnSpc>
                <a:spcPct val="115000"/>
              </a:lnSpc>
              <a:spcAft>
                <a:spcPts val="500"/>
              </a:spcAft>
              <a:defRPr sz="1600" b="0">
                <a:solidFill>
                  <a:srgbClr val="37474F"/>
                </a:solidFill>
                <a:latin typeface="Calibri"/>
              </a:defRPr>
            </a:pPr>
            <a:r>
              <a:t>▸  Use docker bridge gateway IP if {{VM_IP}}:8080 not reachable from inside containers</a:t>
            </a:r>
          </a:p>
          <a:p>
            <a:pPr>
              <a:lnSpc>
                <a:spcPct val="115000"/>
              </a:lnSpc>
              <a:spcAft>
                <a:spcPts val="500"/>
              </a:spcAft>
              <a:defRPr sz="1600" b="0">
                <a:solidFill>
                  <a:srgbClr val="37474F"/>
                </a:solidFill>
                <a:latin typeface="Calibri"/>
              </a:defRPr>
            </a:pPr>
            <a:r>
              <a:t>▸  Server stuck waiting: ensure all 3 Start actions fired — minimum client count not met</a:t>
            </a:r>
          </a:p>
          <a:p>
            <a:pPr>
              <a:lnSpc>
                <a:spcPct val="115000"/>
              </a:lnSpc>
              <a:spcAft>
                <a:spcPts val="500"/>
              </a:spcAft>
              <a:defRPr sz="1600" b="0">
                <a:solidFill>
                  <a:srgbClr val="37474F"/>
                </a:solidFill>
                <a:latin typeface="Calibri"/>
              </a:defRPr>
            </a:pPr>
            <a:r>
              <a:t>▸  OOM on board: reduce local epochs in client.py params — edge boards have limited RAM</a:t>
            </a:r>
          </a:p>
          <a:p>
            <a:pPr>
              <a:lnSpc>
                <a:spcPct val="115000"/>
              </a:lnSpc>
              <a:spcAft>
                <a:spcPts val="500"/>
              </a:spcAft>
              <a:defRPr sz="1600" b="0">
                <a:solidFill>
                  <a:srgbClr val="37474F"/>
                </a:solidFill>
                <a:latin typeface="Calibri"/>
              </a:defRPr>
            </a:pPr>
            <a:r>
              <a:t>▸  Plugin error on Start: check client.py syntax and flwr/torch installed in LR image</a:t>
            </a:r>
          </a:p>
          <a:p>
            <a:pPr>
              <a:lnSpc>
                <a:spcPct val="115000"/>
              </a:lnSpc>
              <a:spcAft>
                <a:spcPts val="500"/>
              </a:spcAft>
              <a:defRPr sz="1600" b="0">
                <a:solidFill>
                  <a:srgbClr val="37474F"/>
                </a:solidFill>
                <a:latin typeface="Calibri"/>
              </a:defRPr>
            </a:pPr>
            <a:r>
              <a:t>▸  validate-lab-fl.sh automates connectivity and round-completion checks</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Ch.19 + Ch.11 Type 4 · SLICES RI FL experiment pattern</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FL in the Cloud Continuum research context (Ch.19 + Ch.11)</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Ch.11 Type 4 experiments: AI/ML workflows including federated learning at edge</a:t>
            </a:r>
          </a:p>
          <a:p>
            <a:pPr>
              <a:lnSpc>
                <a:spcPct val="115000"/>
              </a:lnSpc>
              <a:spcAft>
                <a:spcPts val="500"/>
              </a:spcAft>
              <a:defRPr sz="1600" b="0">
                <a:solidFill>
                  <a:srgbClr val="37474F"/>
                </a:solidFill>
                <a:latin typeface="Calibri"/>
              </a:defRPr>
            </a:pPr>
            <a:r>
              <a:t>▸  SLICES RI multi-site FL: clients on different European sites, server on cloud slice</a:t>
            </a:r>
          </a:p>
          <a:p>
            <a:pPr>
              <a:lnSpc>
                <a:spcPct val="115000"/>
              </a:lnSpc>
              <a:spcAft>
                <a:spcPts val="500"/>
              </a:spcAft>
              <a:defRPr sz="1600" b="0">
                <a:solidFill>
                  <a:srgbClr val="37474F"/>
                </a:solidFill>
                <a:latin typeface="Calibri"/>
              </a:defRPr>
            </a:pPr>
            <a:r>
              <a:t>▸  S4T IoTronic inject scales FL client deployment — same pattern as Module D fleet ops</a:t>
            </a:r>
          </a:p>
          <a:p>
            <a:pPr>
              <a:lnSpc>
                <a:spcPct val="115000"/>
              </a:lnSpc>
              <a:spcAft>
                <a:spcPts val="500"/>
              </a:spcAft>
              <a:defRPr sz="1600" b="0">
                <a:solidFill>
                  <a:srgbClr val="37474F"/>
                </a:solidFill>
                <a:latin typeface="Calibri"/>
              </a:defRPr>
            </a:pPr>
            <a:r>
              <a:t>▸  Crossplane Workflow CRD could declare FL experiment: server + N client plugins + datasets</a:t>
            </a:r>
          </a:p>
          <a:p>
            <a:pPr>
              <a:lnSpc>
                <a:spcPct val="115000"/>
              </a:lnSpc>
              <a:spcAft>
                <a:spcPts val="500"/>
              </a:spcAft>
              <a:defRPr sz="1600" b="0">
                <a:solidFill>
                  <a:srgbClr val="37474F"/>
                </a:solidFill>
                <a:latin typeface="Calibri"/>
              </a:defRPr>
            </a:pPr>
            <a:r>
              <a:t>▸  Edge-board FL preserves data sovereignty requirements of SLICES partner institutions</a:t>
            </a:r>
          </a:p>
          <a:p>
            <a:pPr>
              <a:lnSpc>
                <a:spcPct val="115000"/>
              </a:lnSpc>
              <a:spcAft>
                <a:spcPts val="500"/>
              </a:spcAft>
              <a:defRPr sz="1600" b="0">
                <a:solidFill>
                  <a:srgbClr val="37474F"/>
                </a:solidFill>
                <a:latin typeface="Calibri"/>
              </a:defRPr>
            </a:pPr>
            <a:r>
              <a:t>▸  Lab on {{VM_IP}} is minimal horizontal FL — production scales to cross-silo federation</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Validate &amp; wrap-up</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Confirm aggregation + Module H exclusion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Validate FL lab</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400" b="0">
                <a:solidFill>
                  <a:srgbClr val="0D2B45"/>
                </a:solidFill>
                <a:latin typeface="Consolas"/>
              </a:defRPr>
            </a:pPr>
            <a:r>
              <a:t>$ cd training &amp;&amp; ./validate-lab-fl.sh</a:t>
            </a:r>
          </a:p>
          <a:p>
            <a:pPr>
              <a:lnSpc>
                <a:spcPct val="115000"/>
              </a:lnSpc>
              <a:spcAft>
                <a:spcPts val="800"/>
              </a:spcAft>
              <a:defRPr sz="1900" b="0">
                <a:solidFill>
                  <a:srgbClr val="37474F"/>
                </a:solidFill>
                <a:latin typeface="Calibri"/>
              </a:defRPr>
            </a:pPr>
            <a:r>
              <a:t>▸  Watch server log for: Round 1 complete · Round 2 complete · final accuracy</a:t>
            </a:r>
          </a:p>
          <a:p>
            <a:pPr>
              <a:lnSpc>
                <a:spcPct val="115000"/>
              </a:lnSpc>
              <a:spcAft>
                <a:spcPts val="800"/>
              </a:spcAft>
              <a:defRPr sz="1900" b="0">
                <a:solidFill>
                  <a:srgbClr val="37474F"/>
                </a:solidFill>
                <a:latin typeface="Calibri"/>
              </a:defRPr>
            </a:pPr>
            <a:r>
              <a:t>▸  Interrupt FL plugins on all boards after successful validation</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1A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Module G checklist &amp; resource note</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 Flower server shows 2 aggregation rounds completing with 3 clients</a:t>
            </a:r>
          </a:p>
          <a:p>
            <a:pPr>
              <a:lnSpc>
                <a:spcPct val="115000"/>
              </a:lnSpc>
              <a:spcAft>
                <a:spcPts val="800"/>
              </a:spcAft>
              <a:defRPr sz="1900" b="0">
                <a:solidFill>
                  <a:srgbClr val="37474F"/>
                </a:solidFill>
                <a:latin typeface="Calibri"/>
              </a:defRPr>
            </a:pPr>
            <a:r>
              <a:t>▸  □ Three board plugins connected and contributed weight updates</a:t>
            </a:r>
          </a:p>
          <a:p>
            <a:pPr>
              <a:lnSpc>
                <a:spcPct val="115000"/>
              </a:lnSpc>
              <a:spcAft>
                <a:spcPts val="800"/>
              </a:spcAft>
              <a:defRPr sz="1900" b="0">
                <a:solidFill>
                  <a:srgbClr val="37474F"/>
                </a:solidFill>
                <a:latin typeface="Calibri"/>
              </a:defRPr>
            </a:pPr>
            <a:r>
              <a:t>▸  □ validate-lab-fl.sh passes</a:t>
            </a:r>
          </a:p>
          <a:p>
            <a:pPr>
              <a:lnSpc>
                <a:spcPct val="115000"/>
              </a:lnSpc>
              <a:spcAft>
                <a:spcPts val="800"/>
              </a:spcAft>
              <a:defRPr sz="1900" b="0">
                <a:solidFill>
                  <a:srgbClr val="37474F"/>
                </a:solidFill>
                <a:latin typeface="Calibri"/>
              </a:defRPr>
            </a:pPr>
            <a:r>
              <a:t>▸  □ free -h ≥ 2 GB during FL — do NOT run K3s Blueprint (Module H) concurrently</a:t>
            </a:r>
          </a:p>
          <a:p>
            <a:pPr>
              <a:lnSpc>
                <a:spcPct val="115000"/>
              </a:lnSpc>
              <a:spcAft>
                <a:spcPts val="800"/>
              </a:spcAft>
              <a:defRPr sz="1900" b="0">
                <a:solidFill>
                  <a:srgbClr val="37474F"/>
                </a:solidFill>
                <a:latin typeface="Calibri"/>
              </a:defRPr>
            </a:pPr>
            <a:r>
              <a:t>▸  □ Students articulate horizontal cross-silo FL classification from Ch.19 taxonomy</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