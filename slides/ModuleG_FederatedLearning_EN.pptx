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75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75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75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75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75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75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75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75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75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75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75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75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75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75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75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75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75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6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75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6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75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6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75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75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6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75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75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75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75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6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[ADV] 75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02920"/>
            <a:ext cx="2011680" cy="347472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S4T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Calibri"/>
              </a:defRPr>
            </a:pPr>
            <a:r>
              <a:t>Module G — Federated Learning on the 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52044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B2EBF2"/>
                </a:solidFill>
                <a:latin typeface="Calibri"/>
              </a:defRPr>
            </a:pPr>
            <a:r>
              <a:t>Ch.19 · Advanced · VM {{VM_IP}}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0A4AE"/>
                </a:solidFill>
                <a:latin typeface="Calibri"/>
              </a:defRPr>
            </a:pPr>
            <a:r>
              <a:t>Advanced · Ch.19 — Federated Learning · requires Module D (3 Active boards)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394960"/>
            <a:ext cx="3200400" cy="36576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Federated Learning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Ch.19 — motivation, architecture, taxonomy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Ch.19 · FL motivation · regulatory compliance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Why Federated Learning? (Ch.19)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Centralized ML: collect all raw data to cloud — privacy, GDPR, bandwidth, latency risks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FL: train collaboratively — raw data never leaves edge devices or local storage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Only model weight updates (gradients/parameters) sent to aggregation server each round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Critical for healthcare, finance, smart cities, IoT fleets with sensitive local data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Regulatory frameworks (GDPR, DPDP, HIPAA) restrict data centralization — FL enables compliance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Book motivation section cites real-world cases: hospitals, banks, cross-device IoT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Ch.19 · centralized vs federated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Centralized vs federated — operational contrast (Ch.19)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Centralized: ETL pipeline uploads datasets → single GPU cluster trains monolithic model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Federated: N clients train locally → server aggregates → global model improves iteratively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Centralized bottleneck: network upload of full dataset from each edge site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Federated bottleneck: straggler clients, non-IID data distribution, communication rounds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S4T value proposition: IoTronic deploys FL client plugin to fleet — operational layer for FL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Lab demo: 3 boards, 3 CSV files, 1 Flower server — minimal horizontal FL topology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Ch.19 · fig:chap19:federated_learning_architecture · listing server.py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FL architecture components (Ch.19)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Server (Flower in lab): orchestrates rounds, aggregates updates (FedAvg algorithm)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Clients: local training on board-resident dataset — heart_1/2/3.csv in ch19 demo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Stack4Things: async plugin injected on each board via IoTronic — Worker connects to server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Direct TCP to Flower server on VM host — lightweight for lab; MQTT optional in field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Book figure: fig:chap19:federated_learning_architecture — 3 clients + 1 server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Each client runs local epochs before sending weight update — not every mini-batch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Ch.19 · FedAvg · Flower framework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FedAvg aggregation algorithm (Ch.19)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Federated Averaging: server computes weighted average of client model parameters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Weight proportional to local dataset size — larger datasets influence global model more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Round k: server broadcasts global model → clients train locally → clients send updates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Server aggregates → broadcasts updated global model → repeat for FL_ROUNDS iterations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Convergence depends on data IID-ness — lab CSVs designed with compatible schema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Flower framework abstracts transport — same FedAvg logic in lab and production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Ch.19 · FL types · horizontal vs vertical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FL taxonomy — four categories (Ch.19)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Horizontal FL: same features, different samples — hospitals, IoT boards (lab demo type)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Vertical FL: different features, same samples — bank + credit card company collaboration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Cross-silo: organizations with stable connectivity and rich local datasets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Cross-device: many mobile/IoT clients, intermittent connectivity, small local data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Lab demo: horizontal cross-silo — 3 boards, same CSV schema, different row samples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Book taxonomy table helps students classify real-world FL deployment scenarios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Ch.19 · non-IID discussion · advanced FL algorithms footnote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Non-IID data challenges (Ch.19)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Real edge data often non-IID: each board sees different distribution of sensor readings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Non-IID slows convergence — may require more FL_ROUNDS or specialized aggregation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Lab heart CSVs are mildly non-IID by design — demonstrates realistic edge heterogeneity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Production mitigations: FedProx, SCAFFOLD, personalization layers — beyond lab scope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Students should observe per-round accuracy variance in Flower server log output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Module D fleet heterogeneity (3 boards) mirrors cross-silo non-IID scenario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Ch.19 · ch19 repo plugin + server.py listing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S4T + FL integration — plugin model (Ch.19)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Async plugin Worker in client.py connects to Flower server as FL client process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Local training loop: read CSV → train epochs → send weight update via Flower gRPC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Server-side evaluation: centralized loss/accuracy view printed each aggregation round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Plugin lifecycle: create in IoTronic → inject per board → Start while server running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Different CSV per board: heart_1.csv on alpha, heart_2.csv on beta, heart_3.csv on gamma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Repo: training/repos/ch19 — server.py + client.py + sample datasets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Ch.19 · regulatory compliance · privacy-preserving FL footnote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Privacy and regulatory framing (Ch.19)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GDPR Article 25: data protection by design — FL keeps raw data at edge by default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DPDP (India), HIPAA (US healthcare): restrict cross-border raw data transfer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FL enables smarter systems while data stays on edge nodes under local jurisdiction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S4T provides deployment vehicle (IoTronic inject) — FL provides training methodology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Production extensions: differential privacy noise on updates, secure aggregation (crypto)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Lab scope: demonstrate FL workflow — not production-grade privacy guarantees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Ch.19 § Challenges and open issues · FedProx · secure aggregation foot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FL challenges and open issues (Ch.19)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System heterogeneity: boards differ in CPU, RAM, bandwidth — stragglers delay aggregation rounds.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Client availability: intermittent connectivity reduces effective participants per round.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Model heterogeneity: incompatible architectures complicate weight merging and convergence.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Statistical heterogeneity (Non-IID): skewed local data degrades global model accuracy.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Model update security: poisoning and backdoor attacks via malicious local training data.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Mitigations include FedProx, secure aggregation, differential privacy — research beyond lab scope.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Ch.19 § Core requirements · tools and 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FL platform landscape (Ch.19)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Open source: TensorFlow Federated, Flower (lab choice), PySyft, LEAF benchmarks, FedML.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Enterprise: NVIDIA FLARE, IBM FL — production orchestration and compliance tooling.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Flower chosen in ch19 repo for lightweight Python server + edge client plugin integration.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Platform choice depends on scale, privacy requirements, and edge hardware constraints.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S4T contribution: same IoTronic inject lifecycle deploys FL client Workers on real boards.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Google/Apple on-device FL cited in book as industry validation of federated approach.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FL architecture — 3 edge clients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42260" y="1426464"/>
            <a:ext cx="7107173" cy="4123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l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412" y="1499616"/>
            <a:ext cx="6960869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6875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7474F"/>
                </a:solidFill>
                <a:latin typeface="Calibri"/>
              </a:defRPr>
            </a:pPr>
            <a:r>
              <a:t>Flower server on VM host + 3 LR clients on :1474/:1475/:1476 (Module D)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Diagram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UML sequence — Federated Learning round (Module 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27149" y="1426464"/>
            <a:ext cx="6937396" cy="4123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q-fl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301" y="1499616"/>
            <a:ext cx="6791092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6875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7474F"/>
                </a:solidFill>
                <a:latin typeface="Calibri"/>
              </a:defRPr>
            </a:pPr>
            <a:r>
              <a:t>Broadcast weights → local train → upload gradients → FedAvg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Diagram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Module G — learning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Explain FL motivation, FedAvg, and horizontal cross-silo taxonomy (Ch.19)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Deploy Flower aggregation server on VM host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Inject FL async client plugin on 3 Active boards with distinct CSV datasets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Observe ≥2 aggregation rounds complete (FL_ROUNDS=2 classroom pacing)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Pass validate-lab-fl.sh — bridge Ch.19 AI methodology with Ch.13–14 S4T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868680" cy="310896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What the FL demo proves — demo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Edge boards participate in distributed ML without sharing raw CSV data across boards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IoTronic deploys identical FL client plugin code to heterogeneous Active boards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Aggregation improves global model accuracy over successive rounds (FL_ROUNDS=2 in class)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Bridges Ch.19 AI methodology with Ch.13–14 S4T operational stack (inject + Start)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Students can classify lab setup as horizontal cross-silo FL from Ch.19 taxonomy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Flower server log shows round completion — tangible evidence of federated aggregation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Demo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Prerequisites &amp; resource constraints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Module D complete — 3 Active boards on {{VM_IP}}:1474/:1475/:1476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Repo: training/repos/ch19 (server.py, client.py, heart_*.csv)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Classroom pacing: FL_ROUNDS=2 — keeps session within 60 minutes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Do NOT run simultaneously with Module H K3s — RAM gate: free -h ≥ 2 GB during FL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Horizon admin / s4t · LR dashboards me / arancino on all three instances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Lab: Flower server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Install dependencies + start aggregation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Install Flower and ML dependencies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16916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1508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300" b="0">
                <a:solidFill>
                  <a:srgbClr val="0D2B45"/>
                </a:solidFill>
                <a:latin typeface="Consolas"/>
              </a:defRPr>
            </a:pPr>
            <a:r>
              <a:t>$ pip install flwr torch pandas scikit-learn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# Or use helper: training/experiments/federated-learning/start-server.sh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Verify: python3 -c "import flwr; print(flwr.__version__)"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Ch.19 · server.py listing · Flower ServerConfig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Flower server configuration (Ch.19)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server.py in ch19 repo: configures FedAvg strategy and number of rounds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FL_ROUNDS env var controls aggregation iterations — set to 2 for classroom demo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Server binds all interfaces on port 8080 — must be reachable from LR Docker containers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LR containers reach VM host via docker bridge gateway IP or host network mode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Minimum clients: 3 (matches 3 boards from Module D) — server waits for all before round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Start Flower aggregation 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300" b="0">
                <a:solidFill>
                  <a:srgbClr val="0D2B45"/>
                </a:solidFill>
                <a:latin typeface="Consolas"/>
              </a:defRPr>
            </a:pPr>
            <a:r>
              <a:t>$ cd training/repos/ch19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 b="0">
                <a:solidFill>
                  <a:srgbClr val="0D2B45"/>
                </a:solidFill>
                <a:latin typeface="Consolas"/>
              </a:defRPr>
            </a:pPr>
            <a:r>
              <a:t>$ FL_ROUNDS=2 python3 server.py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Keep terminal open — server must run while client plugins connect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Expected: waiting for clients message, then round 1/2 aggregation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Lab: deploy FL client plugins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One async plugin per board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Create and inject FL client plugin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Horizon → Plugins → Create async plugin from ch19 client.py template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Create three plugin instances OR one plugin injected on three boards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Configure dataset path: heart_1.csv on alpha, heart_2.csv on beta, heart_3.csv on gamma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Server address in plugin params: {{VM_IP}}:8080 (Flower server on VM host)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Horizon IoT — Plugins dashboard (FL client deploy)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8975" y="1426464"/>
            <a:ext cx="6333744" cy="4123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orizon-plugins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127" y="1499616"/>
            <a:ext cx="6187440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6875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7474F"/>
                </a:solidFill>
                <a:latin typeface="Calibri"/>
              </a:defRPr>
            </a:pPr>
            <a:r>
              <a:t>Three async plugins — Callable=OFF → use Start action · login admin / s4t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Multi-board topology for FL clients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42260" y="1426464"/>
            <a:ext cx="7107173" cy="4123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ultiboard-fl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412" y="1499616"/>
            <a:ext cx="6960869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6875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7474F"/>
                </a:solidFill>
                <a:latin typeface="Calibri"/>
              </a:defRPr>
            </a:pPr>
            <a:r>
              <a:t>3 LR clients :1474/:1475/:1476 → single Flower server {{VM_IP}}:8080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Diagram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Start FL clients on all three boards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While Flower server is running: Plugins → FL client → Start on board-alpha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Start on board-beta · Start on board-gamma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Watch server terminal: clients connect → round 1 begins → aggregation → round 2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Each LR log: docker logs lightning-rod-2 — local training progress messages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Ch.19 · client.py Worker class · async plugin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Client plugin execution flow (Ch.19)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Start action launches async Worker — connects to Flower server via gRPC/TCP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Worker loads local CSV — initializes model with global weights from server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Local training: N local epochs on board CPU — sends weight delta to server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Server aggregates all 3 client updates — broadcasts new global weights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Round 2: clients receive updated global model — repeat local training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Stop: Interrupt plugin on each board after rounds complete — clean shutdown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training/experiments/federated-learning/ · validate-lab-fl.sh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Troubleshooting FL connectivity (Ch.19 lab)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Clients cannot connect: verify Flower server IP reachable from LR container network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Use docker bridge gateway IP if {{VM_IP}}:8080 not reachable from inside containers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Server stuck waiting: ensure all 3 Start actions fired — minimum client count not met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OOM on board: reduce local epochs in client.py params — edge boards have limited RAM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Plugin error on Start: check client.py syntax and flwr/torch installed in LR image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validate-lab-fl.sh automates connectivity and round-completion checks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Ch.19 + Ch.11 Type 4 · SLICES RI FL experiment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FL in the Cloud Continuum research context (Ch.19 + Ch.11)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Ch.11 Type 4 experiments: AI/ML workflows including federated learning at edge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SLICES RI multi-site FL: clients on different European sites, server on cloud slice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S4T IoTronic inject scales FL client deployment — same pattern as Module D fleet ops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Crossplane Workflow CRD could declare FL experiment: server + N client plugins + datasets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Edge-board FL preserves data sovereignty requirements of SLICES partner institutions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Lab on {{VM_IP}} is minimal horizontal FL — production scales to cross-silo federation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Validate &amp;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Confirm aggregation + Module H exclusion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Validate FL lab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16916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1508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300" b="0">
                <a:solidFill>
                  <a:srgbClr val="0D2B45"/>
                </a:solidFill>
                <a:latin typeface="Consolas"/>
              </a:defRPr>
            </a:pPr>
            <a:r>
              <a:t>$ cd training &amp;&amp; ./validate-lab-fl.sh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Watch server log for: Round 1 complete · Round 2 complete · final accuracy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Interrupt FL plugins on all boards after successful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Module G checklist &amp; resource note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□ Flower server shows 2 aggregation rounds completing with 3 clients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□ Three board plugins connected and contributed weight updates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□ validate-lab-fl.sh passes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□ free -h ≥ 2 GB during FL — do NOT run K3s Blueprint (Module H) concurrently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□ Students articulate horizontal cross-silo FL classification from Ch.19 taxonomy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