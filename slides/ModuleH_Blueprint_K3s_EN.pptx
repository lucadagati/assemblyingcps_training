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50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502920"/>
            <a:ext cx="2011680" cy="347472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S4T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Calibri"/>
              </a:defRPr>
            </a:pPr>
            <a:r>
              <a:t>Module H — SLICES Cloud Continuum Blueprint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52044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000" b="0">
                <a:solidFill>
                  <a:srgbClr val="B2EBF2"/>
                </a:solidFill>
                <a:latin typeface="Calibri"/>
              </a:defRPr>
            </a:pPr>
            <a:r>
              <a:t>Ch.11 · Advanced · VM {{VM_IP}}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623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90A4AE"/>
                </a:solidFill>
                <a:latin typeface="Calibri"/>
              </a:defRPr>
            </a:pPr>
            <a:r>
              <a:t>Advanced · Ch.11 — Blueprint &amp; K3s · do NOT run with Module G FL simultaneously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394960"/>
            <a:ext cx="3200400" cy="36576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Blueprint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Ch.11 — Crossplane + K8s + S4T before kubectl hands-on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Ch.11 · SLICES Blueprint chapter · abstract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SLICES Cloud Continuum Blueprint (Ch.11 abstract)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Replicable software + hardware + methodologies for distributed edge–fog–cloud experiments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Three resource layers: Infrastructure / Service / Workflow (application/experiment)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Crossplane: Kubernetes-native control plane provisioning internal + external resources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Enables reproducible experiments on SLICES RI testbeds across European research sites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Blueprint decouples experiment definition (YAML) from underlying infrastructure provider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chapter bridges Part I Cloud Continuum theory (Ch.2–3) with Part II S4T ops (Ch.13+)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Ch.11 § methodology · three-layer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Three resource layers explained (Ch.11)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Infrastructure layer: compute, network, storage — physical machines or virtual instances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Service layer: system features — Pub/Sub overlay, inter-cluster L3, distributed storage access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Workflow layer: application/experiment workloads — echo services, FL pipelines, IoT plugins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Decoupling lets experimenters compose environments declaratively without manual provisioning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Crossplane Composite Resources (XRs) map layers to provider-specific implementations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Same Blueprint manifest deploys on SLICES site A or lab VM with provider config change only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Ch.11 · Infrastructure layer · K3s edge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Infrastructure layer detail (Ch.11)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Compute: VMs, bare metal, K3s worker nodes — including S4T edge boards as K3s agents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Network: Neutron overlays (Ch.5), Istio service mesh, MetalLB load balancer IPs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Storage: Ceph, Longhorn, or local PV for experiment artifact persistence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Crossplane Provider Config connects to OpenStack, AWS, or local K3s API endpoint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Lab Module H: K3s on {{VM_IP}} provides Infrastructure layer substrate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Docker Compose S4T (Modules A–F) coexists as separate runtime on same VM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Ch.11 · Service layer · CEP echo demo listing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Service layer detail (Ch.11)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Pub/Sub overlay: Crossbar WAMP in S4T stack — already running in Docker compose lab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Inter-cluster L3: Neutron + Istio enable pod-to-board connectivity across clusters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Identity: Keystone in OpenStack S4T; Kubernetes RBAC + OIDC/Keycloak in Blueprint deploy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Service layer resources defined as Crossplane Compositions — reusable across experiments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CEP (Cloud Edge Platform) echo demo in ch11 repo validates service layer connectivity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Students map Module A Crossbar service to Service layer in three-layer taxonomy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Ch.11 · Workflow layer · experiment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Workflow layer detail (Ch.11)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Experiment workloads: IoT plugin injection, FL training job, environmental publisher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Workflow manifests reference Service + Infrastructure outputs as dependencies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GitOps: workflow YAML in git repo → Crossplane reconciles desired state continuously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Ch.14 plugin CRD: inject HelloName on fleet defined as Kubernetes custom resource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Ch.19 FL workflow: Flower server + client plugins as Workflow layer composition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Module H demo: kubectl apply S4T K3s manifests → Workflow-ready cluster substrate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Ch.11 § four experiment categories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Experiment type taxonomy (Ch.11)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Type 1: architectural paradigms — hybrid cloud, edge-cloud, serverless, microservices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Type 2: performance &amp; optimization — latency, autoscaling, data placement strategies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Type 3: security &amp; trust — RBAC, OIDC/Keycloak, multi-tenant isolation patterns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Type 4: AI/ML workflows — federated learning, inference at edge, model serving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Training modules map: G=Type4, I=Type1 serverless, D+F=Type1 microservices at edge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Blueprint lets researchers declare experiment type in metadata for reproducibility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Ch.11 § Keycloak · OIDC · experiment groups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Keycloak / OIDC identity for experiments (Ch.11)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Blueprint integrates Keycloak as OpenID Connect provider for experiment access control.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Experiment groups map to Kubernetes RBAC roles — who may apply Crossplane CRDs.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OIDC tokens authenticate researchers against SLICES-RI Resource Catalogue entries.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Contrasts with lab Docker Compose: Keystone provides Horizon auth in Modules A–F.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Production Blueprint deploys Keycloak alongside Crossplane on the K3s control plane.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Enables multi-tenant experiment namespaces with federated identity across SLICES sites.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Ch.11 · CEP echo demo · ch11_s4t-k3s-deploy README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CEP echo demo — Cloud Edge Platform (Ch.11)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CEP (Cloud Edge Platform) provider orchestrates multi-cluster echo services.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Reference implementation validates Service layer connectivity across experiment sites.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Echo pods prove L3 reachability between cloud VM and edge board before S4T workload.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Repo ch11_s4t-k3s-deploy includes CEP-related manifests for classroom YAML review.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Lab Module H: review manifests + optional kubectl apply when K3s is pre-provisioned.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Workflow layer experiments (plugins, FL) assume CEP-validated network substrate.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Ch.11 · Crossplane provider footnote · ch11_xplane-provider-for-s4t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Crossplane + S4T provider (Ch.11)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Crossplane Provider for S4T: boards, plugins, fleets as Kubernetes CRDs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Declarative manifests → provider controller translates to IoTronic REST API calls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Repo: github.com/AssemblingSmartCPS/ch11_xplane-provider-for-s4t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Enables GitOps-style IoT fleet management from kubectl apply -f fleet.yaml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Provider watches CRD status — reports Active/Error analogous to Horizon board status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Bridges Kubernetes ecosystem (Helm, ArgoCD) with S4T IoTronic operational 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Ch.11 · Stack4Things IoTronic on K8s · ch11_s4t-k3s-deploy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S4T on Kubernetes — full stack (Ch.11)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Complete S4T stack as K8s pods: conductor, UI, Crossbar, WSTUN, MariaDB, WAgent, …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K3s: lightweight Kubernetes — single binary, suitable for edge/single-node lab deployments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MetalLB: bare-metal load balancer — assigns external IPs to K8s Services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Istio: service mesh — mTLS, traffic management between S4T microservices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Repo: github.com/AssemblingSmartCPS/ch11_s4t-k3s-deploy — YAML manifests + README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Lab: light deploy verifies pod scheduling — full Istio/MetalLB optional for classroom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Ch.10 SLICES RI · Ch.11 CEP echo demo · Slice Central Controller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SLICES RI integration (Ch.10–11 bridge)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SLICES: distributed research infrastructure across European academic/industry sites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Resource Catalogue + Slice Central Controller coordinate multi-site experiment setup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CIP/CEP Crossplane providers provision experiment namespaces on SLICES nodes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IoT boards join experiments via S4T plugin CRD injection at runtime on edge sites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Blueprint ensures experiment reproducibility: same YAML on SLICES-IT and SLICES-FR sites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Module H lab on {{VM_IP}} simulates single-site Blueprint deployment pattern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Ch.11 + Ch.14 K3s lifecycle plugin · edge worker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K3s lifecycle plugin for IoT boards (Ch.11 + 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Ch.14 documents K3s join plugin — attaches physical boards as K3s worker nodes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Board runs k3s agent — registers with K3s server on cloud/edge controller node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Enables running Kubernetes pods directly on IoT hardware at the edge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Blueprint Workflow layer can schedule pods onto board-workers by node label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Theory→ops bridge: Module D fleet boards could become K3s workers in advanced setup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Not fully exercised in classroom lab — documented for research/experiment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Blueprint three layers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42260" y="1426464"/>
            <a:ext cx="7107173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ueprint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412" y="1499616"/>
            <a:ext cx="6960869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Infrastructure / Service / Workflow — Crossplane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Diagram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Module H — learning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Explain Ch.11 three-layer Blueprint model and four experiment type categories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Understand Crossplane + S4T provider CRD mapping to IoTronic API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Install K3s and verify kubectl get nodes shows Ready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Optional: kubectl apply S4T K3s manifests — observe pods Running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Articulate Docker Compose S4T vs K3s S4T coexistence on same VM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868680" cy="310896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What Module H demonstrates — demo goals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Same VM hosts Docker S4T (Modules A–F) AND K3s (separate containerd runtime)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kubectl apply from ch11 manifests deploys S4T microservices as Kubernetes pods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Crossplane CRDs bridge K8s GitOps workflow with IoTronic REST API operations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K3s lifecycle plugin (Ch.14) theory connects IoT boards to K8s worker model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Students classify training modules within Ch.11 experiment type taxonomy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Blueprint provides research-grade reproducibility framework beyond Docker lab compose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Demo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Reference repos &amp; RAM gate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github.com/AssemblingSmartCPS/ch11_xplane-provider-for-s4t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github.com/AssemblingSmartCPS/ch11_s4t-k3s-deploy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RAM: ≥ 8 GB recommended for K3s + Docker S4T coexistence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Do NOT run Module G FL and Module H K3s on same VM simultaneously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K3s cluster can be pre-provisioned before the session to save install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Lab: K3s prerequisite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RAM gate before cluster install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RAM gate + prerequisite check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1691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508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free -h # ≥ 8 GB recommended; stop Module G FL if running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training/experiments/blueprint/k3s-prereq.sh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If RAM insufficient: use dedicated VM for Blueprint or skip optional pod deploy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Ch.11 + instructor playbook · resource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Docker S4T vs K3s S4T on same VM (Ch.11)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Docker Compose S4T uses dockerd; K3s uses containerd — separate container runtimes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Both can coexist on {{VM_IP}} — but compete for RAM and CPU during class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Recommended classroom pattern: Docker stack during Modules A–F; K3s demo in Module H only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Alternative: dedicated VM for Blueprint module — cleaner resource isolation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Port conflicts: K3s API :6443, Docker S4T services unchanged on existing ports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Pre-provision K3s overnight when session time is limited.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Lab: K3s install and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Single-node cluster on training VM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Install K3s (instructor pre-step if needed)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curl -sfL https://get.k3s.io | sh -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export KUBECONFIG=/etc/rancher/k3s/k3s.yaml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kubectl get nodes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Expected: single node Ready — hostname of {{VM_IP}} lab VM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Verify cluster health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1691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508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kubectl get pods -A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Expected: kube-system pods Running (coredns, metrics-server, local-path-provisioner)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kubectl cluster-info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Lab: optional S4T K3s light deploy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Follow ch11_s4t-k3s-deploy README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Light deploy S4T pods (optional)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cd training/repos/ch11_s4t-k3s-deploy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# Follow README: kubectl apply -f yaml_file/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kubectl get pods -A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Look for S4T conductor, crossbar, or UI pods — Running status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ch11_xplane-provider-for-s4t · ProviderConfig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Crossplane provider demo workflow (Ch.11)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Install Crossplane on K3s: helm install crossplane — namespace crossplane-system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Install Provider S4T: kubectl apply provider.yaml from ch11_xplane-provider-for-s4t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Apply Board CRD manifest: kubectl apply -f examples/board-alpha.yaml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Provider controller calls IoTronic API at {{VM_IP}}:8812 — creates board resource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Status field on CRD reflects Active/Error — parallel to Horizon board panel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Full provider demo optional — theory slides sufficient if time constrained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Ch.11 · GitOps · Crossplane composition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GitOps workflow for IoT fleets (Ch.11)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Fleet YAML in git: defines board members + plugin inject specifications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ArgoCD or Flux watches git repo — reconciles cluster state on every commit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Change plugin version in git → Crossplane provider re-injects on all fleet members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Audit trail: git history records who changed fleet configuration and when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Production SLICES sites use this pattern for multi-site experiment reproducibility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Contrasts with Horizon manual inject in Module D — operational maturity step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Validate &amp;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K3s Ready + optional pods Running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Blueprint module validation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1691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508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training/experiments/blueprint/k3s-prereq.sh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kubectl get nodes -o wide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Document: K3s Ready + (optional) S4T pods Running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Module H checklist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k3s-prereq.sh passes · free -h shows adequate RAM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kubectl get nodes shows Ready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(Optional) S4T pods Running in K3s cluster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Student can explain three Blueprint layers with S4T examples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Do NOT run with Module G FL simultaneously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Reference: github.com/AssemblingSmartCPS/ch11_xplane-provider-for-s4t · ch11_s4t-k3s-deploy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