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In this module we will work through Module H — SLICES Cloud Continuum Blueprint.</a:t>
            </a:r>
          </a:p>
          <a:p/>
          <a:p>
            <a:r>
              <a:t>Ch.11 · Advanced · VM {{VM_IP}}</a:t>
            </a:r>
          </a:p>
          <a:p/>
          <a:p>
            <a:r>
              <a:t>The session alternates theory from the book with live exercises on the Stack4Things lab VM. Replace the placeholder IP with the address of the machine you are using.</a:t>
            </a:r>
          </a:p>
          <a:p/>
          <a:p>
            <a:r>
              <a:t>Advanced · Ch.11 — Blueprint &amp; K3s · do NOT run with Module G FL simultaneously.</a:t>
            </a:r>
          </a:p>
          <a:p/>
          <a:p>
            <a:r>
              <a:t>When you're ready, advance to the first section.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now begin a new section: Blueprint theory. Ch.11 — Crossplane + K8s + S4T before kubectl hands-on. In the next slides, listen for whether we are in theory mode or hands-on mode, and open your terminal when the slides turn to lab 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SLICES Cloud Continuum Blueprint (Ch.11 abstract). This material is covered in Ch.11 · SLICES Blueprint chapter · abstract.</a:t>
            </a:r>
          </a:p>
          <a:p/>
          <a:p>
            <a:r>
              <a:t>First, Replicable software + hardware + methodologies for distributed edge–fog–cloud experiments. Next, regarding three resource layers, infrastructure / Service / Workflow (application/experiment).</a:t>
            </a:r>
          </a:p>
          <a:p/>
          <a:p>
            <a:r>
              <a:t>By contrast, regarding crossplane, kubernetes-native control plane provisioning internal + external resources. We should also consider that Enables reproducible experiments on SLICES RI testbeds across European research sites.</a:t>
            </a:r>
          </a:p>
          <a:p/>
          <a:p>
            <a:r>
              <a:t>Another key point is that Blueprint decouples experiment definition (YAML) from underlying infrastructure provider. Furthermore, Book chapter bridges Part I Cloud Continuum theory (Ch.2–3) with Part II S4T ops (Ch.13+).</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Three resource layers explained (Ch.11). This material is covered in Ch.11 § methodology · three-layer model.</a:t>
            </a:r>
          </a:p>
          <a:p/>
          <a:p>
            <a:r>
              <a:t>First, regarding infrastructure layer, compute, network, storage — physical machines or virtual instances. Next, regarding service layer, system features — Pub/Sub overlay, inter-cluster L3, distributed storage access.</a:t>
            </a:r>
          </a:p>
          <a:p/>
          <a:p>
            <a:r>
              <a:t>By contrast, regarding workflow layer, application/experiment workloads — echo services, FL pipelines, IoT plugins. We should also consider that Decoupling lets experimenters compose environments declaratively without manual provisioning.</a:t>
            </a:r>
          </a:p>
          <a:p/>
          <a:p>
            <a:r>
              <a:t>Another key point is that Crossplane Composite Resources (XRs) map layers to provider-specific implementations. Furthermore, Same Blueprint manifest deploys on SLICES site A or lab VM with provider config change only.</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Infrastructure layer detail (Ch.11). This material is covered in Ch.11 · Infrastructure layer · K3s edge deployment.</a:t>
            </a:r>
          </a:p>
          <a:p/>
          <a:p>
            <a:r>
              <a:t>First, regarding compute, VMs, bare metal, K3s worker nodes — including S4T edge boards as K3s agents. Next, regarding network, neutron overlays (Ch.5), Istio service mesh, MetalLB load balancer IPs.</a:t>
            </a:r>
          </a:p>
          <a:p/>
          <a:p>
            <a:r>
              <a:t>By contrast, regarding storage, ceph, Longhorn, or local PV for experiment artifact persistence. We should also consider that Crossplane Provider Config connects to OpenStack, AWS, or local K3s API endpoint.</a:t>
            </a:r>
          </a:p>
          <a:p/>
          <a:p>
            <a:r>
              <a:t>Another key point is that regarding lab module h, k3s on {{VM_IP}} provides Infrastructure layer substrate. Furthermore, Docker Compose S4T (Modules A–F) coexists as separate runtime on same VM.</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Service layer detail (Ch.11). This material is covered in Ch.11 · Service layer · CEP echo demo listing.</a:t>
            </a:r>
          </a:p>
          <a:p/>
          <a:p>
            <a:r>
              <a:t>First, regarding pub/sub overlay, crossbar WAMP in S4T stack — already running in Docker compose lab. Next, regarding inter-cluster l3, neutron + Istio enable pod-to-board connectivity across clusters.</a:t>
            </a:r>
          </a:p>
          <a:p/>
          <a:p>
            <a:r>
              <a:t>By contrast, regarding identity, keystone in OpenStack S4T; Kubernetes RBAC + OIDC/Keycloak in Blueprint deploy. We should also consider that Service layer resources defined as Crossplane Compositions — reusable across experiments.</a:t>
            </a:r>
          </a:p>
          <a:p/>
          <a:p>
            <a:r>
              <a:t>Another key point is that CEP (Cloud Edge Platform) echo demo in ch11 repo validates service layer connectivity. Furthermore, Students map Module A Crossbar service to Service layer in three-layer taxonomy.</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Workflow layer detail (Ch.11). This material is covered in Ch.11 · Workflow layer · experiment composition.</a:t>
            </a:r>
          </a:p>
          <a:p/>
          <a:p>
            <a:r>
              <a:t>First, regarding experiment workloads, ioT plugin injection, FL training job, environmental publisher. Next, Workflow manifests reference Service + Infrastructure outputs as dependencies.</a:t>
            </a:r>
          </a:p>
          <a:p/>
          <a:p>
            <a:r>
              <a:t>By contrast, regarding gitops, workflow YAML in git repo, then Crossplane reconciles desired state continuously. We should also consider that regarding ch.14 plugin crd, inject HelloName on fleet defined as Kubernetes custom resource.</a:t>
            </a:r>
          </a:p>
          <a:p/>
          <a:p>
            <a:r>
              <a:t>Another key point is that regarding ch.19 fl workflow, flower server + client plugins as Workflow layer composition. Furthermore, regarding module h demo, kubectl apply S4T K3s manifests, then Workflow-ready cluster substrate.</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Experiment type taxonomy (Ch.11). This material is covered in Ch.11 § four experiment categories.</a:t>
            </a:r>
          </a:p>
          <a:p/>
          <a:p>
            <a:r>
              <a:t>First, regarding type 1, architectural paradigms — hybrid cloud, edge-cloud, serverless, microservices. Next, regarding type 2, performance &amp; optimization — latency, autoscaling, data placement strategies.</a:t>
            </a:r>
          </a:p>
          <a:p/>
          <a:p>
            <a:r>
              <a:t>By contrast, regarding type 3, security &amp; trust — RBAC, OIDC/Keycloak, multi-tenant isolation patterns. We should also consider that regarding type 4, AI/ML workflows — federated learning, inference at edge, model serving.</a:t>
            </a:r>
          </a:p>
          <a:p/>
          <a:p>
            <a:r>
              <a:t>Another key point is that regarding training modules map, g=Type4, I=Type1 serverless, D+F=Type1 microservices at edge. Furthermore, Blueprint lets researchers declare experiment type in metadata for reproducibility.</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Keycloak / OIDC identity for experiments (Ch.11). This material is covered in Ch.11 § Keycloak · OIDC · experiment groups.</a:t>
            </a:r>
          </a:p>
          <a:p/>
          <a:p>
            <a:r>
              <a:t>First, Blueprint integrates Keycloak as OpenID Connect provider for experiment access control. Next, Experiment groups map to Kubernetes RBAC roles — who may apply Crossplane CRDs.</a:t>
            </a:r>
          </a:p>
          <a:p/>
          <a:p>
            <a:r>
              <a:t>By contrast, OIDC tokens authenticate researchers against SLICES-RI Resource Catalogue entries. We should also consider that regarding contrasts with lab docker compose, keystone provides Horizon auth in Modules A–F.</a:t>
            </a:r>
          </a:p>
          <a:p/>
          <a:p>
            <a:r>
              <a:t>Another key point is that Production Blueprint deploys Keycloak alongside Crossplane on the K3s control plane. Furthermore, Enables multi-tenant experiment namespaces with federated identity across SLICES sites.</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CEP echo demo — Cloud Edge Platform (Ch.11). This material is covered in Ch.11 · CEP echo demo · ch11_s4t-k3s-deploy README.</a:t>
            </a:r>
          </a:p>
          <a:p/>
          <a:p>
            <a:r>
              <a:t>First, CEP (Cloud Edge Platform) provider orchestrates multi-cluster echo services. Next, Reference implementation validates Service layer connectivity across experiment sites.</a:t>
            </a:r>
          </a:p>
          <a:p/>
          <a:p>
            <a:r>
              <a:t>By contrast, Echo pods prove L3 reachability between cloud VM and edge board before S4T workload. We should also consider that Repo ch11_s4t-k3s-deploy includes CEP-related manifests for classroom YAML review.</a:t>
            </a:r>
          </a:p>
          <a:p/>
          <a:p>
            <a:r>
              <a:t>Another key point is that regarding lab module h, review manifests + optional kubectl apply when K3s is pre-provisioned. Furthermore, Workflow layer experiments (plugins, FL) assume CEP-validated network substrate.</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Crossplane + S4T provider (Ch.11). This material is covered in Ch.11 · Crossplane provider footnote · ch11_xplane-provider-for-s4t.</a:t>
            </a:r>
          </a:p>
          <a:p/>
          <a:p>
            <a:r>
              <a:t>First, regarding crossplane provider for s4t, boards, plugins, fleets as Kubernetes CRDs. Next, Declarative manifests, then provider controller translates to IoTronic REST API calls.</a:t>
            </a:r>
          </a:p>
          <a:p/>
          <a:p>
            <a:r>
              <a:t>By contrast, regarding repo, github.com/AssemblingSmartCPS/ch11_xplane-provider-for-s4t. We should also consider that Enables GitOps-style IoT fleet management from kubectl apply -f fleet.yaml.</a:t>
            </a:r>
          </a:p>
          <a:p/>
          <a:p>
            <a:r>
              <a:t>Another key point is that Provider watches CRD status — reports Active/Error analogous to Horizon board status. Furthermore, Bridges Kubernetes ecosystem (Helm, ArgoCD) with S4T IoTronic operational model.</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S4T on Kubernetes — full stack (Ch.11). This material is covered in Ch.11 · Stack4Things IoTronic on K8s · ch11_s4t-k3s-deploy.</a:t>
            </a:r>
          </a:p>
          <a:p/>
          <a:p>
            <a:r>
              <a:t>First, regarding complete s4t stack as k8s pods, conductor, UI, Crossbar, WSTUN, MariaDB, WAgent, …. Next, regarding k3s, lightweight Kubernetes — single binary, suitable for edge/single-node lab deployments.</a:t>
            </a:r>
          </a:p>
          <a:p/>
          <a:p>
            <a:r>
              <a:t>By contrast, regarding metallb, bare-metal load balancer — assigns external IPs to K8s Services. We should also consider that regarding istio, service mesh — mTLS, traffic management between S4T microservices.</a:t>
            </a:r>
          </a:p>
          <a:p/>
          <a:p>
            <a:r>
              <a:t>Another key point is that regarding repo, github.com/AssemblingSmartCPS/ch11_s4t-k3s-deploy — YAML manifests + README. Furthermore, regarding lab, light deploy verifies pod scheduling — full Istio/MetalLB optional for classroom.</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SLICES RI integration (Ch.10–11 bridge). This material is covered in Ch.10 SLICES RI · Ch.11 CEP echo demo · Slice Central Controller.</a:t>
            </a:r>
          </a:p>
          <a:p/>
          <a:p>
            <a:r>
              <a:t>First, regarding slices, distributed research infrastructure across European academic/industry sites. Next, Resource Catalogue + Slice Central Controller coordinate multi-site experiment setup.</a:t>
            </a:r>
          </a:p>
          <a:p/>
          <a:p>
            <a:r>
              <a:t>By contrast, CIP/CEP Crossplane providers provision experiment namespaces on SLICES nodes. We should also consider that IoT boards join experiments via S4T plugin CRD injection at runtime on edge sites.</a:t>
            </a:r>
          </a:p>
          <a:p/>
          <a:p>
            <a:r>
              <a:t>Another key point is that regarding blueprint ensures experiment reproducibility, same YAML on SLICES-IT and SLICES-FR sites. Furthermore, Module H lab on {{VM_IP}} simulates single-site Blueprint deployment pattern.</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K3s lifecycle plugin for IoT boards (Ch.11 + Ch.14). This material is covered in Ch.11 + Ch.14 K3s lifecycle plugin · edge worker pattern.</a:t>
            </a:r>
          </a:p>
          <a:p/>
          <a:p>
            <a:r>
              <a:t>First, Ch.14 documents K3s join plugin — attaches physical boards as K3s worker nodes. Next, Board runs k3s agent — registers with K3s server on cloud/edge controller node.</a:t>
            </a:r>
          </a:p>
          <a:p/>
          <a:p>
            <a:r>
              <a:t>By contrast, Enables running Kubernetes pods directly on IoT hardware at the edge. We should also consider that Blueprint Workflow layer can schedule pods onto board-workers by node label.</a:t>
            </a:r>
          </a:p>
          <a:p/>
          <a:p>
            <a:r>
              <a:t>Another key point is that regarding theory→ops bridge, module D fleet boards could become K3s workers in advanced setup. Furthermore, Not fully exercised in classroom lab — documented for research/experiment context.</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Please look at the diagram on screen: Blueprint three layers. Describe the main boxes and arrows. Relate each element to a Docker service or API you have already seen. In particular, note the following: Infrastructure / Service / Workflow — Crossplane orchestration. Take a few seconds to orient before we continue.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this slide, Module H — learning objectives.</a:t>
            </a:r>
          </a:p>
          <a:p/>
          <a:p>
            <a:r>
              <a:t>First, Explain Ch.11 three-layer Blueprint model and four experiment type categories. Next, Understand Crossplane + S4T provider CRD mapping to IoTronic API.</a:t>
            </a:r>
          </a:p>
          <a:p/>
          <a:p>
            <a:r>
              <a:t>By contrast, Install K3s and verify kubectl get nodes shows Ready. We should also consider that regarding optional, kubectl apply S4T K3s manifests — observe pods Running.</a:t>
            </a:r>
          </a:p>
          <a:p/>
          <a:p>
            <a:r>
              <a:t>Another key point is that Articulate Docker Compose S4T vs K3s S4T coexistence on same VM.</a:t>
            </a:r>
          </a:p>
          <a:p/>
          <a:p>
            <a:r>
              <a:t>If these objectives are clear, we can proceed.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demonstration, What Module H demonstrates — demo goals.</a:t>
            </a:r>
          </a:p>
          <a:p/>
          <a:p>
            <a:r>
              <a:t>First, Same VM hosts Docker S4T (Modules A–F) AND K3s (separate containerd runtime). Next, Kubectl apply from ch11 manifests deploys S4T microservices as Kubernetes pods.</a:t>
            </a:r>
          </a:p>
          <a:p/>
          <a:p>
            <a:r>
              <a:t>By contrast, Crossplane CRDs bridge K8s GitOps workflow with IoTronic REST API operations. We should also consider that K3s lifecycle plugin (Ch.14) theory connects IoT boards to K8s worker model.</a:t>
            </a:r>
          </a:p>
          <a:p/>
          <a:p>
            <a:r>
              <a:t>Another key point is that Students classify training modules within Ch.11 experiment type taxonomy. Furthermore, Blueprint provides research-grade reproducibility framework beyond Docker lab compose.</a:t>
            </a:r>
          </a:p>
          <a:p/>
          <a:p>
            <a:r>
              <a:t>Check that your screen matches what we showed before moving on.</a:t>
            </a:r>
          </a:p>
          <a:p/>
          <a:p>
            <a:r>
              <a:t>Session timing — Module H — 50-minute timeline: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this slide, Reference repos &amp; RAM gate.</a:t>
            </a:r>
          </a:p>
          <a:p/>
          <a:p>
            <a:r>
              <a:t>First, Github.com/AssemblingSmartCPS/ch11_xplane-provider-for-s4t. Next, Github.com/AssemblingSmartCPS/ch11_s4t-k3s-deploy.</a:t>
            </a:r>
          </a:p>
          <a:p/>
          <a:p>
            <a:r>
              <a:t>By contrast, regarding ram, ≥ 8 GB recommended for K3s + Docker S4T coexistence. We should also consider that Do NOT run Module G FL and Module H K3s on same VM simultaneously.</a:t>
            </a:r>
          </a:p>
          <a:p/>
          <a:p>
            <a:r>
              <a:t>Another key point is that K3s cluster can be pre-provisioned before the session to save install time.</a:t>
            </a:r>
          </a:p>
          <a:p/>
          <a:p>
            <a:r>
              <a:t>If these objectives are clear, we can proceed.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now begin a new section: Lab: K3s prerequisite check. RAM gate before cluster install. In the next slides, listen for whether we are in theory mode or hands-on mode, and open your terminal when the slides turn to lab work.</a:t>
            </a:r>
          </a:p>
          <a:p/>
          <a:p>
            <a:r>
              <a:t>Instructor timing (title): Hands-on — K3s prerequisite check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move to the hands-on part: RAM gate + prerequisite check. Open your lab VM and follow along.</a:t>
            </a:r>
          </a:p>
          <a:p/>
          <a:p>
            <a:r>
              <a:t>Please run the following command on your VM: free -h # ≥ 8 GB recommended; stop Module G FL if running. Wait until you see a sensible result before continuing. Please run the following command on your VM: training/experiments/blueprint/k3s-prereq.sh. Wait until you see a sensible result before continuing.</a:t>
            </a:r>
          </a:p>
          <a:p/>
          <a:p>
            <a:r>
              <a:t>By contrast, regarding if ram insufficient, use dedicated VM for Blueprint or skip optional pod deploy.</a:t>
            </a:r>
          </a:p>
          <a:p/>
          <a:p>
            <a:r>
              <a:t>Raise your hand if you're stuck — we'll wait until most of you are done.</a:t>
            </a:r>
          </a:p>
          <a:p/>
          <a:p>
            <a:r>
              <a:t>Instructor timing (title): Step 1 — RAM gate + prerequisite check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Docker S4T vs K3s S4T on same VM (Ch.11). This material is covered in Ch.11 + instructor playbook · resource planning.</a:t>
            </a:r>
          </a:p>
          <a:p/>
          <a:p>
            <a:r>
              <a:t>First, Docker Compose S4T uses dockerd; K3s uses containerd — separate container runtimes. Next, Both can coexist on {{VM_IP}} — but compete for RAM and CPU during class.</a:t>
            </a:r>
          </a:p>
          <a:p/>
          <a:p>
            <a:r>
              <a:t>By contrast, regarding recommended classroom pattern, docker stack during Modules A–F; K3s demo in Module H only. We should also consider that regarding alternative, dedicated VM for Blueprint module — cleaner resource isolation.</a:t>
            </a:r>
          </a:p>
          <a:p/>
          <a:p>
            <a:r>
              <a:t>Another key point is that regarding port conflicts, k3s API :6443, Docker S4T services unchanged on existing ports. Furthermore, Pre-provision K3s overnight when session time is limited.</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now begin a new section: Lab: K3s install and verify. Single-node cluster on training VM. In the next slides, listen for whether we are in theory mode or hands-on mode, and open your terminal when the slides turn to lab work.</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move to the hands-on part: Install K3s (instructor pre-step if needed). Open your lab VM and follow along.</a:t>
            </a:r>
          </a:p>
          <a:p/>
          <a:p>
            <a:r>
              <a:t>Please run the following command on your VM: curl -sfL https://get.k3s.io | sh -. Wait until you see a sensible result before continuing. Please run the following command on your VM: export KUBECONFIG=/etc/rancher/k3s/k3s.yaml. Wait until you see a sensible result before continuing.</a:t>
            </a:r>
          </a:p>
          <a:p/>
          <a:p>
            <a:r>
              <a:t>Please run the following command on your VM: kubectl get nodes. Wait until you see a sensible result before continuing. We should also consider that regarding expected, single node Ready — hostname of {{VM_IP}} lab VM.</a:t>
            </a:r>
          </a:p>
          <a:p/>
          <a:p>
            <a:r>
              <a:t>Raise your hand if you're stuck — we'll wait until most of you are done.</a:t>
            </a:r>
          </a:p>
          <a:p/>
          <a:p>
            <a:r>
              <a:t>Instructor timing (title): Step 2 — Install K3s (instructor pre-step if needed)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move to the hands-on part: Verify cluster health. Open your lab VM and follow along.</a:t>
            </a:r>
          </a:p>
          <a:p/>
          <a:p>
            <a:r>
              <a:t>Please run the following command on your VM: kubectl get pods -A. Wait until you see a sensible result before continuing. Next, regarding expected, kube-system pods Running (coredns, metrics-server, local-path-provisioner).</a:t>
            </a:r>
          </a:p>
          <a:p/>
          <a:p>
            <a:r>
              <a:t>Please run the following command on your VM: kubectl cluster-info. Wait until you see a sensible result before continuing.</a:t>
            </a:r>
          </a:p>
          <a:p/>
          <a:p>
            <a:r>
              <a:t>Raise your hand if you're stuck — we'll wait until most of you are done.</a:t>
            </a:r>
          </a:p>
          <a:p/>
          <a:p>
            <a:r>
              <a:t>Instructor timing (title): Step 3 — Verify cluster health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now begin a new section: Lab: optional S4T K3s light deploy. Follow ch11_s4t-k3s-deploy README. In the next slides, listen for whether we are in theory mode or hands-on mode, and open your terminal when the slides turn to lab work.</a:t>
            </a:r>
          </a:p>
          <a:p/>
          <a:p>
            <a:r>
              <a:t>Instructor timing (title): Hands-on — optional S4T K3s light deploy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move to the hands-on part: Light deploy S4T pods (optional). Open your lab VM and follow along.</a:t>
            </a:r>
          </a:p>
          <a:p/>
          <a:p>
            <a:r>
              <a:t>Please run the following command on your VM: cd training/repos/ch11_s4t-k3s-deploy. Wait until you see a sensible result before continuing. Next, regarding # follow readme, kubectl apply -f yaml_file/.</a:t>
            </a:r>
          </a:p>
          <a:p/>
          <a:p>
            <a:r>
              <a:t>Please run the following command on your VM: kubectl get pods -A. Wait until you see a sensible result before continuing. We should also consider that Look for S4T conductor, crossbar, or UI pods — Running status.</a:t>
            </a:r>
          </a:p>
          <a:p/>
          <a:p>
            <a:r>
              <a:t>Raise your hand if you're stuck — we'll wait until most of you are done.</a:t>
            </a:r>
          </a:p>
          <a:p/>
          <a:p>
            <a:r>
              <a:t>Instructor timing (title): Step 4 — Light deploy S4T pods (optional)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Crossplane provider demo workflow (Ch.11). This material is covered in ch11_xplane-provider-for-s4t · ProviderConfig example.</a:t>
            </a:r>
          </a:p>
          <a:p/>
          <a:p>
            <a:r>
              <a:t>First, regarding install crossplane on k3s, helm install crossplane — namespace crossplane-system. Next, regarding install provider s4t, kubectl apply provider.yaml from ch11_xplane-provider-for-s4t.</a:t>
            </a:r>
          </a:p>
          <a:p/>
          <a:p>
            <a:r>
              <a:t>By contrast, regarding apply board crd manifest, kubectl apply -f examples/board-alpha.yaml. We should also consider that Provider controller calls IoTronic API at {{VM_IP}}:8812 — creates board resource.</a:t>
            </a:r>
          </a:p>
          <a:p/>
          <a:p>
            <a:r>
              <a:t>Another key point is that Status field on CRD reflects Active/Error — parallel to Horizon board panel. Furthermore, Full provider demo optional — theory slides sufficient if time constrained.</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cover GitOps workflow for IoT fleets (Ch.11). This material is covered in Ch.11 · GitOps · Crossplane composition pattern.</a:t>
            </a:r>
          </a:p>
          <a:p/>
          <a:p>
            <a:r>
              <a:t>First, regarding fleet yaml in git, defines board members + plugin inject specifications. Next, ArgoCD or Flux watches git repo — reconciles cluster state on every commit.</a:t>
            </a:r>
          </a:p>
          <a:p/>
          <a:p>
            <a:r>
              <a:t>By contrast, Change plugin version in git, then Crossplane provider re-injects on all fleet members. We should also consider that regarding audit trail, git history records who changed fleet configuration and when.</a:t>
            </a:r>
          </a:p>
          <a:p/>
          <a:p>
            <a:r>
              <a:t>Another key point is that Production SLICES sites use this pattern for multi-site experiment reproducibility. Furthermore, Contrasts with Horizon manual inject in Module D — operational maturity step.</a:t>
            </a:r>
          </a:p>
          <a:p/>
          <a:p>
            <a:r>
              <a:t>I'll pause here for questions, then we'll continue.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now begin a new section: Validate &amp; wrap-up. K3s Ready + optional pods Running. In the next slides, listen for whether we are in theory mode or hands-on mode, and open your terminal when the slides turn to lab work.</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move to the hands-on part: Blueprint module validation. Open your lab VM and follow along.</a:t>
            </a:r>
          </a:p>
          <a:p/>
          <a:p>
            <a:r>
              <a:t>Please run the following command on your VM: training/experiments/blueprint/k3s-prereq.sh. Wait until you see a sensible result before continuing. Please run the following command on your VM: kubectl get nodes -o wide. Wait until you see a sensible result before continuing.</a:t>
            </a:r>
          </a:p>
          <a:p/>
          <a:p>
            <a:r>
              <a:t>By contrast, regarding document, k3s Ready + (optional) S4T pods Running.</a:t>
            </a:r>
          </a:p>
          <a:p/>
          <a:p>
            <a:r>
              <a:t>Raise your hand if you're stuck — we'll wait until most of you are done.</a:t>
            </a:r>
          </a:p>
          <a:p/>
          <a:p>
            <a:r>
              <a:t>Instructor timing (title): Step 5 — Blueprint module validation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this slide, Module H checklist.</a:t>
            </a:r>
          </a:p>
          <a:p/>
          <a:p>
            <a:r>
              <a:t>First, □ k3s-prereq.sh passes · free -h shows adequate RAM. Next, □ kubectl get nodes shows Ready.</a:t>
            </a:r>
          </a:p>
          <a:p/>
          <a:p>
            <a:r>
              <a:t>By contrast, □ (Optional) S4T pods Running in K3s cluster. We should also consider that □ Student can explain three Blueprint layers with S4T examples.</a:t>
            </a:r>
          </a:p>
          <a:p/>
          <a:p>
            <a:r>
              <a:t>Another key point is that □ Do NOT run with Module G FL simultaneously. Furthermore, regarding reference, github.com/AssemblingSmartCPS/ch11_xplane-provider-for-s4t · ch11_s4t-k3s-deploy.</a:t>
            </a:r>
          </a:p>
          <a:p/>
          <a:p>
            <a:r>
              <a:t>If these objectives are clear, we can proceed.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2B4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A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502920"/>
            <a:ext cx="2011680" cy="347472"/>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S4T TRAINING</a:t>
            </a:r>
          </a:p>
        </p:txBody>
      </p:sp>
      <p:sp>
        <p:nvSpPr>
          <p:cNvPr id="5" name="TextBox 4"/>
          <p:cNvSpPr txBox="1"/>
          <p:nvPr/>
        </p:nvSpPr>
        <p:spPr>
          <a:xfrm>
            <a:off x="685800" y="1828800"/>
            <a:ext cx="10789920" cy="1645920"/>
          </a:xfrm>
          <a:prstGeom prst="rect">
            <a:avLst/>
          </a:prstGeom>
          <a:noFill/>
        </p:spPr>
        <p:txBody>
          <a:bodyPr wrap="none">
            <a:spAutoFit/>
          </a:bodyPr>
          <a:lstStyle/>
          <a:p>
            <a:pPr>
              <a:defRPr sz="4000" b="1">
                <a:solidFill>
                  <a:srgbClr val="FFFFFF"/>
                </a:solidFill>
                <a:latin typeface="Calibri"/>
              </a:defRPr>
            </a:pPr>
            <a:r>
              <a:t>Module H — SLICES Cloud Continuum Blueprint</a:t>
            </a:r>
          </a:p>
        </p:txBody>
      </p:sp>
      <p:sp>
        <p:nvSpPr>
          <p:cNvPr id="6" name="TextBox 5"/>
          <p:cNvSpPr txBox="1"/>
          <p:nvPr/>
        </p:nvSpPr>
        <p:spPr>
          <a:xfrm>
            <a:off x="685800" y="3520440"/>
            <a:ext cx="10515600" cy="1280160"/>
          </a:xfrm>
          <a:prstGeom prst="rect">
            <a:avLst/>
          </a:prstGeom>
          <a:noFill/>
        </p:spPr>
        <p:txBody>
          <a:bodyPr wrap="none">
            <a:spAutoFit/>
          </a:bodyPr>
          <a:lstStyle/>
          <a:p>
            <a:pPr>
              <a:spcAft>
                <a:spcPts val="400"/>
              </a:spcAft>
              <a:defRPr sz="2200" b="0">
                <a:solidFill>
                  <a:srgbClr val="B2EBF2"/>
                </a:solidFill>
                <a:latin typeface="Calibri"/>
              </a:defRPr>
            </a:pPr>
            <a:r>
              <a:t>Ch.11 · Advanced · VM {{VM_IP}}</a:t>
            </a:r>
          </a:p>
        </p:txBody>
      </p:sp>
      <p:sp>
        <p:nvSpPr>
          <p:cNvPr id="7" name="TextBox 6"/>
          <p:cNvSpPr txBox="1"/>
          <p:nvPr/>
        </p:nvSpPr>
        <p:spPr>
          <a:xfrm>
            <a:off x="685800" y="5623560"/>
            <a:ext cx="10515600" cy="548640"/>
          </a:xfrm>
          <a:prstGeom prst="rect">
            <a:avLst/>
          </a:prstGeom>
          <a:noFill/>
        </p:spPr>
        <p:txBody>
          <a:bodyPr wrap="none">
            <a:spAutoFit/>
          </a:bodyPr>
          <a:lstStyle/>
          <a:p>
            <a:pPr>
              <a:defRPr sz="1400" b="0">
                <a:solidFill>
                  <a:srgbClr val="90A4AE"/>
                </a:solidFill>
                <a:latin typeface="Calibri"/>
              </a:defRPr>
            </a:pPr>
            <a:r>
              <a:t>Advanced · Ch.11 — Blueprint &amp; K3s · do NOT run with Module G FL simultaneously</a:t>
            </a:r>
          </a:p>
        </p:txBody>
      </p:sp>
      <p:sp>
        <p:nvSpPr>
          <p:cNvPr id="8" name="Rectangle 7"/>
          <p:cNvSpPr/>
          <p:nvPr/>
        </p:nvSpPr>
        <p:spPr>
          <a:xfrm>
            <a:off x="685800" y="5394960"/>
            <a:ext cx="3200400" cy="36576"/>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2B45"/>
        </a:solidFill>
        <a:effectLst/>
      </p:bgPr>
    </p:bg>
    <p:spTree>
      <p:nvGrpSpPr>
        <p:cNvPr id="1" name=""/>
        <p:cNvGrpSpPr/>
        <p:nvPr/>
      </p:nvGrpSpPr>
      <p:grpSpPr/>
      <p:sp>
        <p:nvSpPr>
          <p:cNvPr id="2" name="Rectangle 1"/>
          <p:cNvSpPr/>
          <p:nvPr/>
        </p:nvSpPr>
        <p:spPr>
          <a:xfrm>
            <a:off x="0" y="3063240"/>
            <a:ext cx="12191695" cy="54864"/>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148840"/>
            <a:ext cx="10515600" cy="1097280"/>
          </a:xfrm>
          <a:prstGeom prst="rect">
            <a:avLst/>
          </a:prstGeom>
          <a:noFill/>
        </p:spPr>
        <p:txBody>
          <a:bodyPr wrap="none">
            <a:spAutoFit/>
          </a:bodyPr>
          <a:lstStyle/>
          <a:p>
            <a:pPr algn="ctr">
              <a:defRPr sz="3800" b="1">
                <a:solidFill>
                  <a:srgbClr val="FFFFFF"/>
                </a:solidFill>
                <a:latin typeface="Calibri"/>
              </a:defRPr>
            </a:pPr>
            <a:r>
              <a:t>Blueprint theory</a:t>
            </a:r>
          </a:p>
        </p:txBody>
      </p:sp>
      <p:sp>
        <p:nvSpPr>
          <p:cNvPr id="4" name="TextBox 3"/>
          <p:cNvSpPr txBox="1"/>
          <p:nvPr/>
        </p:nvSpPr>
        <p:spPr>
          <a:xfrm>
            <a:off x="731520" y="3337560"/>
            <a:ext cx="10515600" cy="822960"/>
          </a:xfrm>
          <a:prstGeom prst="rect">
            <a:avLst/>
          </a:prstGeom>
          <a:noFill/>
        </p:spPr>
        <p:txBody>
          <a:bodyPr wrap="none">
            <a:spAutoFit/>
          </a:bodyPr>
          <a:lstStyle/>
          <a:p>
            <a:pPr algn="ctr">
              <a:defRPr sz="2200" b="0">
                <a:solidFill>
                  <a:srgbClr val="B2EBF2"/>
                </a:solidFill>
                <a:latin typeface="Calibri"/>
              </a:defRPr>
            </a:pPr>
            <a:r>
              <a:t>Ch.11 — Crossplane + K8s + S4T before kubectl hands-on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Ch.11 · SLICES Blueprint chapter · abstract</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SLICES Cloud Continuum Blueprint (Ch.11 abstract)</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Replicable software + hardware + methodologies for distributed edge–fog–cloud experiments</a:t>
            </a:r>
          </a:p>
          <a:p>
            <a:pPr>
              <a:lnSpc>
                <a:spcPct val="115000"/>
              </a:lnSpc>
              <a:spcAft>
                <a:spcPts val="500"/>
              </a:spcAft>
              <a:defRPr sz="1600" b="0">
                <a:solidFill>
                  <a:srgbClr val="37474F"/>
                </a:solidFill>
                <a:latin typeface="Calibri"/>
              </a:defRPr>
            </a:pPr>
            <a:r>
              <a:t>▸  Three resource layers: Infrastructure / Service / Workflow (application/experiment)</a:t>
            </a:r>
          </a:p>
          <a:p>
            <a:pPr>
              <a:lnSpc>
                <a:spcPct val="115000"/>
              </a:lnSpc>
              <a:spcAft>
                <a:spcPts val="500"/>
              </a:spcAft>
              <a:defRPr sz="1600" b="0">
                <a:solidFill>
                  <a:srgbClr val="37474F"/>
                </a:solidFill>
                <a:latin typeface="Calibri"/>
              </a:defRPr>
            </a:pPr>
            <a:r>
              <a:t>▸  Crossplane: Kubernetes-native control plane provisioning internal + external resources</a:t>
            </a:r>
          </a:p>
          <a:p>
            <a:pPr>
              <a:lnSpc>
                <a:spcPct val="115000"/>
              </a:lnSpc>
              <a:spcAft>
                <a:spcPts val="500"/>
              </a:spcAft>
              <a:defRPr sz="1600" b="0">
                <a:solidFill>
                  <a:srgbClr val="37474F"/>
                </a:solidFill>
                <a:latin typeface="Calibri"/>
              </a:defRPr>
            </a:pPr>
            <a:r>
              <a:t>▸  Enables reproducible experiments on SLICES RI testbeds across European research sites</a:t>
            </a:r>
          </a:p>
          <a:p>
            <a:pPr>
              <a:lnSpc>
                <a:spcPct val="115000"/>
              </a:lnSpc>
              <a:spcAft>
                <a:spcPts val="500"/>
              </a:spcAft>
              <a:defRPr sz="1600" b="0">
                <a:solidFill>
                  <a:srgbClr val="37474F"/>
                </a:solidFill>
                <a:latin typeface="Calibri"/>
              </a:defRPr>
            </a:pPr>
            <a:r>
              <a:t>▸  Blueprint decouples experiment definition (YAML) from underlying infrastructure provider</a:t>
            </a:r>
          </a:p>
          <a:p>
            <a:pPr>
              <a:lnSpc>
                <a:spcPct val="115000"/>
              </a:lnSpc>
              <a:spcAft>
                <a:spcPts val="500"/>
              </a:spcAft>
              <a:defRPr sz="1600" b="0">
                <a:solidFill>
                  <a:srgbClr val="37474F"/>
                </a:solidFill>
                <a:latin typeface="Calibri"/>
              </a:defRPr>
            </a:pPr>
            <a:r>
              <a:t>▸  Book chapter bridges Part I Cloud Continuum theory (Ch.2–3) with Part II S4T ops (Ch.13+)</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Ch.11 § methodology · three-layer model</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Three resource layers explained (Ch.11)</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Infrastructure layer: compute, network, storage — physical machines or virtual instances</a:t>
            </a:r>
          </a:p>
          <a:p>
            <a:pPr>
              <a:lnSpc>
                <a:spcPct val="115000"/>
              </a:lnSpc>
              <a:spcAft>
                <a:spcPts val="500"/>
              </a:spcAft>
              <a:defRPr sz="1600" b="0">
                <a:solidFill>
                  <a:srgbClr val="37474F"/>
                </a:solidFill>
                <a:latin typeface="Calibri"/>
              </a:defRPr>
            </a:pPr>
            <a:r>
              <a:t>▸  Service layer: system features — Pub/Sub overlay, inter-cluster L3, distributed storage access</a:t>
            </a:r>
          </a:p>
          <a:p>
            <a:pPr>
              <a:lnSpc>
                <a:spcPct val="115000"/>
              </a:lnSpc>
              <a:spcAft>
                <a:spcPts val="500"/>
              </a:spcAft>
              <a:defRPr sz="1600" b="0">
                <a:solidFill>
                  <a:srgbClr val="37474F"/>
                </a:solidFill>
                <a:latin typeface="Calibri"/>
              </a:defRPr>
            </a:pPr>
            <a:r>
              <a:t>▸  Workflow layer: application/experiment workloads — echo services, FL pipelines, IoT plugins</a:t>
            </a:r>
          </a:p>
          <a:p>
            <a:pPr>
              <a:lnSpc>
                <a:spcPct val="115000"/>
              </a:lnSpc>
              <a:spcAft>
                <a:spcPts val="500"/>
              </a:spcAft>
              <a:defRPr sz="1600" b="0">
                <a:solidFill>
                  <a:srgbClr val="37474F"/>
                </a:solidFill>
                <a:latin typeface="Calibri"/>
              </a:defRPr>
            </a:pPr>
            <a:r>
              <a:t>▸  Decoupling lets experimenters compose environments declaratively without manual provisioning</a:t>
            </a:r>
          </a:p>
          <a:p>
            <a:pPr>
              <a:lnSpc>
                <a:spcPct val="115000"/>
              </a:lnSpc>
              <a:spcAft>
                <a:spcPts val="500"/>
              </a:spcAft>
              <a:defRPr sz="1600" b="0">
                <a:solidFill>
                  <a:srgbClr val="37474F"/>
                </a:solidFill>
                <a:latin typeface="Calibri"/>
              </a:defRPr>
            </a:pPr>
            <a:r>
              <a:t>▸  Crossplane Composite Resources (XRs) map layers to provider-specific implementations</a:t>
            </a:r>
          </a:p>
          <a:p>
            <a:pPr>
              <a:lnSpc>
                <a:spcPct val="115000"/>
              </a:lnSpc>
              <a:spcAft>
                <a:spcPts val="500"/>
              </a:spcAft>
              <a:defRPr sz="1600" b="0">
                <a:solidFill>
                  <a:srgbClr val="37474F"/>
                </a:solidFill>
                <a:latin typeface="Calibri"/>
              </a:defRPr>
            </a:pPr>
            <a:r>
              <a:t>▸  Same Blueprint manifest deploys on SLICES site A or lab VM with provider config change only</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Ch.11 · Infrastructure layer · K3s edge deployment</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Infrastructure layer detail (Ch.11)</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Compute: VMs, bare metal, K3s worker nodes — including S4T edge boards as K3s agents</a:t>
            </a:r>
          </a:p>
          <a:p>
            <a:pPr>
              <a:lnSpc>
                <a:spcPct val="115000"/>
              </a:lnSpc>
              <a:spcAft>
                <a:spcPts val="500"/>
              </a:spcAft>
              <a:defRPr sz="1600" b="0">
                <a:solidFill>
                  <a:srgbClr val="37474F"/>
                </a:solidFill>
                <a:latin typeface="Calibri"/>
              </a:defRPr>
            </a:pPr>
            <a:r>
              <a:t>▸  Network: Neutron overlays (Ch.5), Istio service mesh, MetalLB load balancer IPs</a:t>
            </a:r>
          </a:p>
          <a:p>
            <a:pPr>
              <a:lnSpc>
                <a:spcPct val="115000"/>
              </a:lnSpc>
              <a:spcAft>
                <a:spcPts val="500"/>
              </a:spcAft>
              <a:defRPr sz="1600" b="0">
                <a:solidFill>
                  <a:srgbClr val="37474F"/>
                </a:solidFill>
                <a:latin typeface="Calibri"/>
              </a:defRPr>
            </a:pPr>
            <a:r>
              <a:t>▸  Storage: Ceph, Longhorn, or local PV for experiment artifact persistence</a:t>
            </a:r>
          </a:p>
          <a:p>
            <a:pPr>
              <a:lnSpc>
                <a:spcPct val="115000"/>
              </a:lnSpc>
              <a:spcAft>
                <a:spcPts val="500"/>
              </a:spcAft>
              <a:defRPr sz="1600" b="0">
                <a:solidFill>
                  <a:srgbClr val="37474F"/>
                </a:solidFill>
                <a:latin typeface="Calibri"/>
              </a:defRPr>
            </a:pPr>
            <a:r>
              <a:t>▸  Crossplane Provider Config connects to OpenStack, AWS, or local K3s API endpoint</a:t>
            </a:r>
          </a:p>
          <a:p>
            <a:pPr>
              <a:lnSpc>
                <a:spcPct val="115000"/>
              </a:lnSpc>
              <a:spcAft>
                <a:spcPts val="500"/>
              </a:spcAft>
              <a:defRPr sz="1600" b="0">
                <a:solidFill>
                  <a:srgbClr val="37474F"/>
                </a:solidFill>
                <a:latin typeface="Calibri"/>
              </a:defRPr>
            </a:pPr>
            <a:r>
              <a:t>▸  Lab Module H: K3s on {{VM_IP}} provides Infrastructure layer substrate</a:t>
            </a:r>
          </a:p>
          <a:p>
            <a:pPr>
              <a:lnSpc>
                <a:spcPct val="115000"/>
              </a:lnSpc>
              <a:spcAft>
                <a:spcPts val="500"/>
              </a:spcAft>
              <a:defRPr sz="1600" b="0">
                <a:solidFill>
                  <a:srgbClr val="37474F"/>
                </a:solidFill>
                <a:latin typeface="Calibri"/>
              </a:defRPr>
            </a:pPr>
            <a:r>
              <a:t>▸  Docker Compose S4T (Modules A–F) coexists as separate runtime on same VM</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Ch.11 · Service layer · CEP echo demo listing</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Service layer detail (Ch.11)</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Pub/Sub overlay: Crossbar WAMP in S4T stack — already running in Docker compose lab</a:t>
            </a:r>
          </a:p>
          <a:p>
            <a:pPr>
              <a:lnSpc>
                <a:spcPct val="115000"/>
              </a:lnSpc>
              <a:spcAft>
                <a:spcPts val="500"/>
              </a:spcAft>
              <a:defRPr sz="1600" b="0">
                <a:solidFill>
                  <a:srgbClr val="37474F"/>
                </a:solidFill>
                <a:latin typeface="Calibri"/>
              </a:defRPr>
            </a:pPr>
            <a:r>
              <a:t>▸  Inter-cluster L3: Neutron + Istio enable pod-to-board connectivity across clusters</a:t>
            </a:r>
          </a:p>
          <a:p>
            <a:pPr>
              <a:lnSpc>
                <a:spcPct val="115000"/>
              </a:lnSpc>
              <a:spcAft>
                <a:spcPts val="500"/>
              </a:spcAft>
              <a:defRPr sz="1600" b="0">
                <a:solidFill>
                  <a:srgbClr val="37474F"/>
                </a:solidFill>
                <a:latin typeface="Calibri"/>
              </a:defRPr>
            </a:pPr>
            <a:r>
              <a:t>▸  Identity: Keystone in OpenStack S4T; Kubernetes RBAC + OIDC/Keycloak in Blueprint deploy</a:t>
            </a:r>
          </a:p>
          <a:p>
            <a:pPr>
              <a:lnSpc>
                <a:spcPct val="115000"/>
              </a:lnSpc>
              <a:spcAft>
                <a:spcPts val="500"/>
              </a:spcAft>
              <a:defRPr sz="1600" b="0">
                <a:solidFill>
                  <a:srgbClr val="37474F"/>
                </a:solidFill>
                <a:latin typeface="Calibri"/>
              </a:defRPr>
            </a:pPr>
            <a:r>
              <a:t>▸  Service layer resources defined as Crossplane Compositions — reusable across experiments</a:t>
            </a:r>
          </a:p>
          <a:p>
            <a:pPr>
              <a:lnSpc>
                <a:spcPct val="115000"/>
              </a:lnSpc>
              <a:spcAft>
                <a:spcPts val="500"/>
              </a:spcAft>
              <a:defRPr sz="1600" b="0">
                <a:solidFill>
                  <a:srgbClr val="37474F"/>
                </a:solidFill>
                <a:latin typeface="Calibri"/>
              </a:defRPr>
            </a:pPr>
            <a:r>
              <a:t>▸  CEP (Cloud Edge Platform) echo demo in ch11 repo validates service layer connectivity</a:t>
            </a:r>
          </a:p>
          <a:p>
            <a:pPr>
              <a:lnSpc>
                <a:spcPct val="115000"/>
              </a:lnSpc>
              <a:spcAft>
                <a:spcPts val="500"/>
              </a:spcAft>
              <a:defRPr sz="1600" b="0">
                <a:solidFill>
                  <a:srgbClr val="37474F"/>
                </a:solidFill>
                <a:latin typeface="Calibri"/>
              </a:defRPr>
            </a:pPr>
            <a:r>
              <a:t>▸  Students map Module A Crossbar service to Service layer in three-layer taxonomy</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Ch.11 · Workflow layer · experiment composition</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Workflow layer detail (Ch.11)</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Experiment workloads: IoT plugin injection, FL training job, environmental publisher</a:t>
            </a:r>
          </a:p>
          <a:p>
            <a:pPr>
              <a:lnSpc>
                <a:spcPct val="115000"/>
              </a:lnSpc>
              <a:spcAft>
                <a:spcPts val="500"/>
              </a:spcAft>
              <a:defRPr sz="1600" b="0">
                <a:solidFill>
                  <a:srgbClr val="37474F"/>
                </a:solidFill>
                <a:latin typeface="Calibri"/>
              </a:defRPr>
            </a:pPr>
            <a:r>
              <a:t>▸  Workflow manifests reference Service + Infrastructure outputs as dependencies</a:t>
            </a:r>
          </a:p>
          <a:p>
            <a:pPr>
              <a:lnSpc>
                <a:spcPct val="115000"/>
              </a:lnSpc>
              <a:spcAft>
                <a:spcPts val="500"/>
              </a:spcAft>
              <a:defRPr sz="1600" b="0">
                <a:solidFill>
                  <a:srgbClr val="37474F"/>
                </a:solidFill>
                <a:latin typeface="Calibri"/>
              </a:defRPr>
            </a:pPr>
            <a:r>
              <a:t>▸  GitOps: workflow YAML in git repo → Crossplane reconciles desired state continuously</a:t>
            </a:r>
          </a:p>
          <a:p>
            <a:pPr>
              <a:lnSpc>
                <a:spcPct val="115000"/>
              </a:lnSpc>
              <a:spcAft>
                <a:spcPts val="500"/>
              </a:spcAft>
              <a:defRPr sz="1600" b="0">
                <a:solidFill>
                  <a:srgbClr val="37474F"/>
                </a:solidFill>
                <a:latin typeface="Calibri"/>
              </a:defRPr>
            </a:pPr>
            <a:r>
              <a:t>▸  Ch.14 plugin CRD: inject HelloName on fleet defined as Kubernetes custom resource</a:t>
            </a:r>
          </a:p>
          <a:p>
            <a:pPr>
              <a:lnSpc>
                <a:spcPct val="115000"/>
              </a:lnSpc>
              <a:spcAft>
                <a:spcPts val="500"/>
              </a:spcAft>
              <a:defRPr sz="1600" b="0">
                <a:solidFill>
                  <a:srgbClr val="37474F"/>
                </a:solidFill>
                <a:latin typeface="Calibri"/>
              </a:defRPr>
            </a:pPr>
            <a:r>
              <a:t>▸  Ch.19 FL workflow: Flower server + client plugins as Workflow layer composition</a:t>
            </a:r>
          </a:p>
          <a:p>
            <a:pPr>
              <a:lnSpc>
                <a:spcPct val="115000"/>
              </a:lnSpc>
              <a:spcAft>
                <a:spcPts val="500"/>
              </a:spcAft>
              <a:defRPr sz="1600" b="0">
                <a:solidFill>
                  <a:srgbClr val="37474F"/>
                </a:solidFill>
                <a:latin typeface="Calibri"/>
              </a:defRPr>
            </a:pPr>
            <a:r>
              <a:t>▸  Module H demo: kubectl apply S4T K3s manifests → Workflow-ready cluster substrate</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Ch.11 § four experiment categories</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Experiment type taxonomy (Ch.11)</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Type 1: architectural paradigms — hybrid cloud, edge-cloud, serverless, microservices</a:t>
            </a:r>
          </a:p>
          <a:p>
            <a:pPr>
              <a:lnSpc>
                <a:spcPct val="115000"/>
              </a:lnSpc>
              <a:spcAft>
                <a:spcPts val="500"/>
              </a:spcAft>
              <a:defRPr sz="1600" b="0">
                <a:solidFill>
                  <a:srgbClr val="37474F"/>
                </a:solidFill>
                <a:latin typeface="Calibri"/>
              </a:defRPr>
            </a:pPr>
            <a:r>
              <a:t>▸  Type 2: performance &amp; optimization — latency, autoscaling, data placement strategies</a:t>
            </a:r>
          </a:p>
          <a:p>
            <a:pPr>
              <a:lnSpc>
                <a:spcPct val="115000"/>
              </a:lnSpc>
              <a:spcAft>
                <a:spcPts val="500"/>
              </a:spcAft>
              <a:defRPr sz="1600" b="0">
                <a:solidFill>
                  <a:srgbClr val="37474F"/>
                </a:solidFill>
                <a:latin typeface="Calibri"/>
              </a:defRPr>
            </a:pPr>
            <a:r>
              <a:t>▸  Type 3: security &amp; trust — RBAC, OIDC/Keycloak, multi-tenant isolation patterns</a:t>
            </a:r>
          </a:p>
          <a:p>
            <a:pPr>
              <a:lnSpc>
                <a:spcPct val="115000"/>
              </a:lnSpc>
              <a:spcAft>
                <a:spcPts val="500"/>
              </a:spcAft>
              <a:defRPr sz="1600" b="0">
                <a:solidFill>
                  <a:srgbClr val="37474F"/>
                </a:solidFill>
                <a:latin typeface="Calibri"/>
              </a:defRPr>
            </a:pPr>
            <a:r>
              <a:t>▸  Type 4: AI/ML workflows — federated learning, inference at edge, model serving</a:t>
            </a:r>
          </a:p>
          <a:p>
            <a:pPr>
              <a:lnSpc>
                <a:spcPct val="115000"/>
              </a:lnSpc>
              <a:spcAft>
                <a:spcPts val="500"/>
              </a:spcAft>
              <a:defRPr sz="1600" b="0">
                <a:solidFill>
                  <a:srgbClr val="37474F"/>
                </a:solidFill>
                <a:latin typeface="Calibri"/>
              </a:defRPr>
            </a:pPr>
            <a:r>
              <a:t>▸  Training modules map: G=Type4, I=Type1 serverless, D+F=Type1 microservices at edge</a:t>
            </a:r>
          </a:p>
          <a:p>
            <a:pPr>
              <a:lnSpc>
                <a:spcPct val="115000"/>
              </a:lnSpc>
              <a:spcAft>
                <a:spcPts val="500"/>
              </a:spcAft>
              <a:defRPr sz="1600" b="0">
                <a:solidFill>
                  <a:srgbClr val="37474F"/>
                </a:solidFill>
                <a:latin typeface="Calibri"/>
              </a:defRPr>
            </a:pPr>
            <a:r>
              <a:t>▸  Blueprint lets researchers declare experiment type in metadata for reproducibility</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Ch.11 § Keycloak · OIDC · experiment groups</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Keycloak / OIDC identity for experiments (Ch.11)</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Blueprint integrates Keycloak as OpenID Connect provider for experiment access control.</a:t>
            </a:r>
          </a:p>
          <a:p>
            <a:pPr>
              <a:lnSpc>
                <a:spcPct val="115000"/>
              </a:lnSpc>
              <a:spcAft>
                <a:spcPts val="500"/>
              </a:spcAft>
              <a:defRPr sz="1600" b="0">
                <a:solidFill>
                  <a:srgbClr val="37474F"/>
                </a:solidFill>
                <a:latin typeface="Calibri"/>
              </a:defRPr>
            </a:pPr>
            <a:r>
              <a:t>▸  Experiment groups map to Kubernetes RBAC roles — who may apply Crossplane CRDs.</a:t>
            </a:r>
          </a:p>
          <a:p>
            <a:pPr>
              <a:lnSpc>
                <a:spcPct val="115000"/>
              </a:lnSpc>
              <a:spcAft>
                <a:spcPts val="500"/>
              </a:spcAft>
              <a:defRPr sz="1600" b="0">
                <a:solidFill>
                  <a:srgbClr val="37474F"/>
                </a:solidFill>
                <a:latin typeface="Calibri"/>
              </a:defRPr>
            </a:pPr>
            <a:r>
              <a:t>▸  OIDC tokens authenticate researchers against SLICES-RI Resource Catalogue entries.</a:t>
            </a:r>
          </a:p>
          <a:p>
            <a:pPr>
              <a:lnSpc>
                <a:spcPct val="115000"/>
              </a:lnSpc>
              <a:spcAft>
                <a:spcPts val="500"/>
              </a:spcAft>
              <a:defRPr sz="1600" b="0">
                <a:solidFill>
                  <a:srgbClr val="37474F"/>
                </a:solidFill>
                <a:latin typeface="Calibri"/>
              </a:defRPr>
            </a:pPr>
            <a:r>
              <a:t>▸  Contrasts with lab Docker Compose: Keystone provides Horizon auth in Modules A–F.</a:t>
            </a:r>
          </a:p>
          <a:p>
            <a:pPr>
              <a:lnSpc>
                <a:spcPct val="115000"/>
              </a:lnSpc>
              <a:spcAft>
                <a:spcPts val="500"/>
              </a:spcAft>
              <a:defRPr sz="1600" b="0">
                <a:solidFill>
                  <a:srgbClr val="37474F"/>
                </a:solidFill>
                <a:latin typeface="Calibri"/>
              </a:defRPr>
            </a:pPr>
            <a:r>
              <a:t>▸  Production Blueprint deploys Keycloak alongside Crossplane on the K3s control plane.</a:t>
            </a:r>
          </a:p>
          <a:p>
            <a:pPr>
              <a:lnSpc>
                <a:spcPct val="115000"/>
              </a:lnSpc>
              <a:spcAft>
                <a:spcPts val="500"/>
              </a:spcAft>
              <a:defRPr sz="1600" b="0">
                <a:solidFill>
                  <a:srgbClr val="37474F"/>
                </a:solidFill>
                <a:latin typeface="Calibri"/>
              </a:defRPr>
            </a:pPr>
            <a:r>
              <a:t>▸  Enables multi-tenant experiment namespaces with federated identity across SLICES sites.</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Ch.11 · CEP echo demo · ch11_s4t-k3s-deploy README</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CEP echo demo — Cloud Edge Platform (Ch.11)</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CEP (Cloud Edge Platform) provider orchestrates multi-cluster echo services.</a:t>
            </a:r>
          </a:p>
          <a:p>
            <a:pPr>
              <a:lnSpc>
                <a:spcPct val="115000"/>
              </a:lnSpc>
              <a:spcAft>
                <a:spcPts val="500"/>
              </a:spcAft>
              <a:defRPr sz="1600" b="0">
                <a:solidFill>
                  <a:srgbClr val="37474F"/>
                </a:solidFill>
                <a:latin typeface="Calibri"/>
              </a:defRPr>
            </a:pPr>
            <a:r>
              <a:t>▸  Reference implementation validates Service layer connectivity across experiment sites.</a:t>
            </a:r>
          </a:p>
          <a:p>
            <a:pPr>
              <a:lnSpc>
                <a:spcPct val="115000"/>
              </a:lnSpc>
              <a:spcAft>
                <a:spcPts val="500"/>
              </a:spcAft>
              <a:defRPr sz="1600" b="0">
                <a:solidFill>
                  <a:srgbClr val="37474F"/>
                </a:solidFill>
                <a:latin typeface="Calibri"/>
              </a:defRPr>
            </a:pPr>
            <a:r>
              <a:t>▸  Echo pods prove L3 reachability between cloud VM and edge board before S4T workload.</a:t>
            </a:r>
          </a:p>
          <a:p>
            <a:pPr>
              <a:lnSpc>
                <a:spcPct val="115000"/>
              </a:lnSpc>
              <a:spcAft>
                <a:spcPts val="500"/>
              </a:spcAft>
              <a:defRPr sz="1600" b="0">
                <a:solidFill>
                  <a:srgbClr val="37474F"/>
                </a:solidFill>
                <a:latin typeface="Calibri"/>
              </a:defRPr>
            </a:pPr>
            <a:r>
              <a:t>▸  Repo ch11_s4t-k3s-deploy includes CEP-related manifests for classroom YAML review.</a:t>
            </a:r>
          </a:p>
          <a:p>
            <a:pPr>
              <a:lnSpc>
                <a:spcPct val="115000"/>
              </a:lnSpc>
              <a:spcAft>
                <a:spcPts val="500"/>
              </a:spcAft>
              <a:defRPr sz="1600" b="0">
                <a:solidFill>
                  <a:srgbClr val="37474F"/>
                </a:solidFill>
                <a:latin typeface="Calibri"/>
              </a:defRPr>
            </a:pPr>
            <a:r>
              <a:t>▸  Lab Module H: review manifests + optional kubectl apply when K3s is pre-provisioned.</a:t>
            </a:r>
          </a:p>
          <a:p>
            <a:pPr>
              <a:lnSpc>
                <a:spcPct val="115000"/>
              </a:lnSpc>
              <a:spcAft>
                <a:spcPts val="500"/>
              </a:spcAft>
              <a:defRPr sz="1600" b="0">
                <a:solidFill>
                  <a:srgbClr val="37474F"/>
                </a:solidFill>
                <a:latin typeface="Calibri"/>
              </a:defRPr>
            </a:pPr>
            <a:r>
              <a:t>▸  Workflow layer experiments (plugins, FL) assume CEP-validated network substrate.</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Ch.11 · Crossplane provider footnote · ch11_xplane-provider-for-s4t</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Crossplane + S4T provider (Ch.11)</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Crossplane Provider for S4T: boards, plugins, fleets as Kubernetes CRDs</a:t>
            </a:r>
          </a:p>
          <a:p>
            <a:pPr>
              <a:lnSpc>
                <a:spcPct val="115000"/>
              </a:lnSpc>
              <a:spcAft>
                <a:spcPts val="500"/>
              </a:spcAft>
              <a:defRPr sz="1600" b="0">
                <a:solidFill>
                  <a:srgbClr val="37474F"/>
                </a:solidFill>
                <a:latin typeface="Calibri"/>
              </a:defRPr>
            </a:pPr>
            <a:r>
              <a:t>▸  Declarative manifests → provider controller translates to IoTronic REST API calls</a:t>
            </a:r>
          </a:p>
          <a:p>
            <a:pPr>
              <a:lnSpc>
                <a:spcPct val="115000"/>
              </a:lnSpc>
              <a:spcAft>
                <a:spcPts val="500"/>
              </a:spcAft>
              <a:defRPr sz="1600" b="0">
                <a:solidFill>
                  <a:srgbClr val="37474F"/>
                </a:solidFill>
                <a:latin typeface="Calibri"/>
              </a:defRPr>
            </a:pPr>
            <a:r>
              <a:t>▸  Repo: github.com/AssemblingSmartCPS/ch11_xplane-provider-for-s4t</a:t>
            </a:r>
          </a:p>
          <a:p>
            <a:pPr>
              <a:lnSpc>
                <a:spcPct val="115000"/>
              </a:lnSpc>
              <a:spcAft>
                <a:spcPts val="500"/>
              </a:spcAft>
              <a:defRPr sz="1600" b="0">
                <a:solidFill>
                  <a:srgbClr val="37474F"/>
                </a:solidFill>
                <a:latin typeface="Calibri"/>
              </a:defRPr>
            </a:pPr>
            <a:r>
              <a:t>▸  Enables GitOps-style IoT fleet management from kubectl apply -f fleet.yaml</a:t>
            </a:r>
          </a:p>
          <a:p>
            <a:pPr>
              <a:lnSpc>
                <a:spcPct val="115000"/>
              </a:lnSpc>
              <a:spcAft>
                <a:spcPts val="500"/>
              </a:spcAft>
              <a:defRPr sz="1600" b="0">
                <a:solidFill>
                  <a:srgbClr val="37474F"/>
                </a:solidFill>
                <a:latin typeface="Calibri"/>
              </a:defRPr>
            </a:pPr>
            <a:r>
              <a:t>▸  Provider watches CRD status — reports Active/Error analogous to Horizon board status</a:t>
            </a:r>
          </a:p>
          <a:p>
            <a:pPr>
              <a:lnSpc>
                <a:spcPct val="115000"/>
              </a:lnSpc>
              <a:spcAft>
                <a:spcPts val="500"/>
              </a:spcAft>
              <a:defRPr sz="1600" b="0">
                <a:solidFill>
                  <a:srgbClr val="37474F"/>
                </a:solidFill>
                <a:latin typeface="Calibri"/>
              </a:defRPr>
            </a:pPr>
            <a:r>
              <a:t>▸  Bridges Kubernetes ecosystem (Helm, ArgoCD) with S4T IoTronic operational model</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Ch.11 · Stack4Things IoTronic on K8s · ch11_s4t-k3s-deploy</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S4T on Kubernetes — full stack (Ch.11)</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Complete S4T stack as K8s pods: conductor, UI, Crossbar, WSTUN, MariaDB, WAgent, …</a:t>
            </a:r>
          </a:p>
          <a:p>
            <a:pPr>
              <a:lnSpc>
                <a:spcPct val="115000"/>
              </a:lnSpc>
              <a:spcAft>
                <a:spcPts val="500"/>
              </a:spcAft>
              <a:defRPr sz="1600" b="0">
                <a:solidFill>
                  <a:srgbClr val="37474F"/>
                </a:solidFill>
                <a:latin typeface="Calibri"/>
              </a:defRPr>
            </a:pPr>
            <a:r>
              <a:t>▸  K3s: lightweight Kubernetes — single binary, suitable for edge/single-node lab deployments</a:t>
            </a:r>
          </a:p>
          <a:p>
            <a:pPr>
              <a:lnSpc>
                <a:spcPct val="115000"/>
              </a:lnSpc>
              <a:spcAft>
                <a:spcPts val="500"/>
              </a:spcAft>
              <a:defRPr sz="1600" b="0">
                <a:solidFill>
                  <a:srgbClr val="37474F"/>
                </a:solidFill>
                <a:latin typeface="Calibri"/>
              </a:defRPr>
            </a:pPr>
            <a:r>
              <a:t>▸  MetalLB: bare-metal load balancer — assigns external IPs to K8s Services</a:t>
            </a:r>
          </a:p>
          <a:p>
            <a:pPr>
              <a:lnSpc>
                <a:spcPct val="115000"/>
              </a:lnSpc>
              <a:spcAft>
                <a:spcPts val="500"/>
              </a:spcAft>
              <a:defRPr sz="1600" b="0">
                <a:solidFill>
                  <a:srgbClr val="37474F"/>
                </a:solidFill>
                <a:latin typeface="Calibri"/>
              </a:defRPr>
            </a:pPr>
            <a:r>
              <a:t>▸  Istio: service mesh — mTLS, traffic management between S4T microservices</a:t>
            </a:r>
          </a:p>
          <a:p>
            <a:pPr>
              <a:lnSpc>
                <a:spcPct val="115000"/>
              </a:lnSpc>
              <a:spcAft>
                <a:spcPts val="500"/>
              </a:spcAft>
              <a:defRPr sz="1600" b="0">
                <a:solidFill>
                  <a:srgbClr val="37474F"/>
                </a:solidFill>
                <a:latin typeface="Calibri"/>
              </a:defRPr>
            </a:pPr>
            <a:r>
              <a:t>▸  Repo: github.com/AssemblingSmartCPS/ch11_s4t-k3s-deploy — YAML manifests + README</a:t>
            </a:r>
          </a:p>
          <a:p>
            <a:pPr>
              <a:lnSpc>
                <a:spcPct val="115000"/>
              </a:lnSpc>
              <a:spcAft>
                <a:spcPts val="500"/>
              </a:spcAft>
              <a:defRPr sz="1600" b="0">
                <a:solidFill>
                  <a:srgbClr val="37474F"/>
                </a:solidFill>
                <a:latin typeface="Calibri"/>
              </a:defRPr>
            </a:pPr>
            <a:r>
              <a:t>▸  Lab: light deploy verifies pod scheduling — full Istio/MetalLB optional for classroom</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Ch.10 SLICES RI · Ch.11 CEP echo demo · Slice Central Controller</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SLICES RI integration (Ch.10–11 bridge)</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SLICES: distributed research infrastructure across European academic/industry sites</a:t>
            </a:r>
          </a:p>
          <a:p>
            <a:pPr>
              <a:lnSpc>
                <a:spcPct val="115000"/>
              </a:lnSpc>
              <a:spcAft>
                <a:spcPts val="500"/>
              </a:spcAft>
              <a:defRPr sz="1600" b="0">
                <a:solidFill>
                  <a:srgbClr val="37474F"/>
                </a:solidFill>
                <a:latin typeface="Calibri"/>
              </a:defRPr>
            </a:pPr>
            <a:r>
              <a:t>▸  Resource Catalogue + Slice Central Controller coordinate multi-site experiment setup</a:t>
            </a:r>
          </a:p>
          <a:p>
            <a:pPr>
              <a:lnSpc>
                <a:spcPct val="115000"/>
              </a:lnSpc>
              <a:spcAft>
                <a:spcPts val="500"/>
              </a:spcAft>
              <a:defRPr sz="1600" b="0">
                <a:solidFill>
                  <a:srgbClr val="37474F"/>
                </a:solidFill>
                <a:latin typeface="Calibri"/>
              </a:defRPr>
            </a:pPr>
            <a:r>
              <a:t>▸  CIP/CEP Crossplane providers provision experiment namespaces on SLICES nodes</a:t>
            </a:r>
          </a:p>
          <a:p>
            <a:pPr>
              <a:lnSpc>
                <a:spcPct val="115000"/>
              </a:lnSpc>
              <a:spcAft>
                <a:spcPts val="500"/>
              </a:spcAft>
              <a:defRPr sz="1600" b="0">
                <a:solidFill>
                  <a:srgbClr val="37474F"/>
                </a:solidFill>
                <a:latin typeface="Calibri"/>
              </a:defRPr>
            </a:pPr>
            <a:r>
              <a:t>▸  IoT boards join experiments via S4T plugin CRD injection at runtime on edge sites</a:t>
            </a:r>
          </a:p>
          <a:p>
            <a:pPr>
              <a:lnSpc>
                <a:spcPct val="115000"/>
              </a:lnSpc>
              <a:spcAft>
                <a:spcPts val="500"/>
              </a:spcAft>
              <a:defRPr sz="1600" b="0">
                <a:solidFill>
                  <a:srgbClr val="37474F"/>
                </a:solidFill>
                <a:latin typeface="Calibri"/>
              </a:defRPr>
            </a:pPr>
            <a:r>
              <a:t>▸  Blueprint ensures experiment reproducibility: same YAML on SLICES-IT and SLICES-FR sites</a:t>
            </a:r>
          </a:p>
          <a:p>
            <a:pPr>
              <a:lnSpc>
                <a:spcPct val="115000"/>
              </a:lnSpc>
              <a:spcAft>
                <a:spcPts val="500"/>
              </a:spcAft>
              <a:defRPr sz="1600" b="0">
                <a:solidFill>
                  <a:srgbClr val="37474F"/>
                </a:solidFill>
                <a:latin typeface="Calibri"/>
              </a:defRPr>
            </a:pPr>
            <a:r>
              <a:t>▸  Module H lab on {{VM_IP}} simulates single-site Blueprint deployment pattern</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Ch.11 + Ch.14 K3s lifecycle plugin · edge worker pattern</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K3s lifecycle plugin for IoT boards (Ch.11 + Ch.14)</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Ch.14 documents K3s join plugin — attaches physical boards as K3s worker nodes</a:t>
            </a:r>
          </a:p>
          <a:p>
            <a:pPr>
              <a:lnSpc>
                <a:spcPct val="115000"/>
              </a:lnSpc>
              <a:spcAft>
                <a:spcPts val="500"/>
              </a:spcAft>
              <a:defRPr sz="1600" b="0">
                <a:solidFill>
                  <a:srgbClr val="37474F"/>
                </a:solidFill>
                <a:latin typeface="Calibri"/>
              </a:defRPr>
            </a:pPr>
            <a:r>
              <a:t>▸  Board runs k3s agent — registers with K3s server on cloud/edge controller node</a:t>
            </a:r>
          </a:p>
          <a:p>
            <a:pPr>
              <a:lnSpc>
                <a:spcPct val="115000"/>
              </a:lnSpc>
              <a:spcAft>
                <a:spcPts val="500"/>
              </a:spcAft>
              <a:defRPr sz="1600" b="0">
                <a:solidFill>
                  <a:srgbClr val="37474F"/>
                </a:solidFill>
                <a:latin typeface="Calibri"/>
              </a:defRPr>
            </a:pPr>
            <a:r>
              <a:t>▸  Enables running Kubernetes pods directly on IoT hardware at the edge</a:t>
            </a:r>
          </a:p>
          <a:p>
            <a:pPr>
              <a:lnSpc>
                <a:spcPct val="115000"/>
              </a:lnSpc>
              <a:spcAft>
                <a:spcPts val="500"/>
              </a:spcAft>
              <a:defRPr sz="1600" b="0">
                <a:solidFill>
                  <a:srgbClr val="37474F"/>
                </a:solidFill>
                <a:latin typeface="Calibri"/>
              </a:defRPr>
            </a:pPr>
            <a:r>
              <a:t>▸  Blueprint Workflow layer can schedule pods onto board-workers by node label</a:t>
            </a:r>
          </a:p>
          <a:p>
            <a:pPr>
              <a:lnSpc>
                <a:spcPct val="115000"/>
              </a:lnSpc>
              <a:spcAft>
                <a:spcPts val="500"/>
              </a:spcAft>
              <a:defRPr sz="1600" b="0">
                <a:solidFill>
                  <a:srgbClr val="37474F"/>
                </a:solidFill>
                <a:latin typeface="Calibri"/>
              </a:defRPr>
            </a:pPr>
            <a:r>
              <a:t>▸  Theory→ops bridge: Module D fleet boards could become K3s workers in advanced setup</a:t>
            </a:r>
          </a:p>
          <a:p>
            <a:pPr>
              <a:lnSpc>
                <a:spcPct val="115000"/>
              </a:lnSpc>
              <a:spcAft>
                <a:spcPts val="500"/>
              </a:spcAft>
              <a:defRPr sz="1600" b="0">
                <a:solidFill>
                  <a:srgbClr val="37474F"/>
                </a:solidFill>
                <a:latin typeface="Calibri"/>
              </a:defRPr>
            </a:pPr>
            <a:r>
              <a:t>▸  Not fully exercised in classroom lab — documented for research/experiment context</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972800" cy="868680"/>
          </a:xfrm>
          <a:prstGeom prst="rect">
            <a:avLst/>
          </a:prstGeom>
          <a:noFill/>
        </p:spPr>
        <p:txBody>
          <a:bodyPr wrap="none">
            <a:spAutoFit/>
          </a:bodyPr>
          <a:lstStyle/>
          <a:p>
            <a:pPr>
              <a:defRPr sz="2200" b="1">
                <a:solidFill>
                  <a:srgbClr val="0D2B45"/>
                </a:solidFill>
                <a:latin typeface="Calibri"/>
              </a:defRPr>
            </a:pPr>
            <a:r>
              <a:t>Blueprint three layers</a:t>
            </a:r>
          </a:p>
        </p:txBody>
      </p:sp>
      <p:sp>
        <p:nvSpPr>
          <p:cNvPr id="4" name="Rounded Rectangle 3"/>
          <p:cNvSpPr/>
          <p:nvPr/>
        </p:nvSpPr>
        <p:spPr>
          <a:xfrm>
            <a:off x="1120368" y="1298448"/>
            <a:ext cx="9950958" cy="5733288"/>
          </a:xfrm>
          <a:prstGeom prst="roundRect">
            <a:avLst/>
          </a:prstGeom>
          <a:solidFill>
            <a:srgbClr val="FFFFFF"/>
          </a:solidFill>
          <a:ln w="12700">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lueprint-layers.png"/>
          <p:cNvPicPr>
            <a:picLocks noChangeAspect="1"/>
          </p:cNvPicPr>
          <p:nvPr/>
        </p:nvPicPr>
        <p:blipFill>
          <a:blip r:embed="rId2"/>
          <a:stretch>
            <a:fillRect/>
          </a:stretch>
        </p:blipFill>
        <p:spPr>
          <a:xfrm>
            <a:off x="1175232" y="1353312"/>
            <a:ext cx="9841230" cy="5623560"/>
          </a:xfrm>
          <a:prstGeom prst="rect">
            <a:avLst/>
          </a:prstGeom>
        </p:spPr>
      </p:pic>
      <p:sp>
        <p:nvSpPr>
          <p:cNvPr id="6" name="TextBox 5"/>
          <p:cNvSpPr txBox="1"/>
          <p:nvPr/>
        </p:nvSpPr>
        <p:spPr>
          <a:xfrm>
            <a:off x="594360" y="7168896"/>
            <a:ext cx="10972800" cy="411480"/>
          </a:xfrm>
          <a:prstGeom prst="rect">
            <a:avLst/>
          </a:prstGeom>
          <a:noFill/>
        </p:spPr>
        <p:txBody>
          <a:bodyPr wrap="none">
            <a:spAutoFit/>
          </a:bodyPr>
          <a:lstStyle/>
          <a:p>
            <a:pPr>
              <a:defRPr sz="1200" b="0">
                <a:solidFill>
                  <a:srgbClr val="37474F"/>
                </a:solidFill>
                <a:latin typeface="Calibri"/>
              </a:defRPr>
            </a:pPr>
            <a:r>
              <a:t>Infrastructure / Service / Workflow — Crossplane orchestration</a:t>
            </a:r>
          </a:p>
        </p:txBody>
      </p:sp>
      <p:sp>
        <p:nvSpPr>
          <p:cNvPr id="7" name="Rectangle 6"/>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9" name="TextBox 8"/>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Diagram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A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02920"/>
            <a:ext cx="10972800" cy="868680"/>
          </a:xfrm>
          <a:prstGeom prst="rect">
            <a:avLst/>
          </a:prstGeom>
          <a:noFill/>
        </p:spPr>
        <p:txBody>
          <a:bodyPr wrap="none">
            <a:spAutoFit/>
          </a:bodyPr>
          <a:lstStyle/>
          <a:p>
            <a:pPr>
              <a:defRPr sz="3000" b="1">
                <a:solidFill>
                  <a:srgbClr val="0D2B45"/>
                </a:solidFill>
                <a:latin typeface="Calibri"/>
              </a:defRPr>
            </a:pPr>
            <a:r>
              <a:t>Module H — learning objectives</a:t>
            </a:r>
          </a:p>
        </p:txBody>
      </p:sp>
      <p:sp>
        <p:nvSpPr>
          <p:cNvPr id="4" name="Rounded Rectangle 3"/>
          <p:cNvSpPr/>
          <p:nvPr/>
        </p:nvSpPr>
        <p:spPr>
          <a:xfrm>
            <a:off x="502920" y="1344168"/>
            <a:ext cx="11155680" cy="5010912"/>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463040"/>
            <a:ext cx="10424160" cy="4782312"/>
          </a:xfrm>
          <a:prstGeom prst="rect">
            <a:avLst/>
          </a:prstGeom>
          <a:noFill/>
        </p:spPr>
        <p:txBody>
          <a:bodyPr wrap="square">
            <a:spAutoFit/>
          </a:bodyPr>
          <a:lstStyle/>
          <a:p>
            <a:pPr>
              <a:lnSpc>
                <a:spcPct val="115000"/>
              </a:lnSpc>
              <a:spcAft>
                <a:spcPts val="800"/>
              </a:spcAft>
              <a:defRPr sz="1900" b="0">
                <a:solidFill>
                  <a:srgbClr val="37474F"/>
                </a:solidFill>
                <a:latin typeface="Calibri"/>
              </a:defRPr>
            </a:pPr>
            <a:r>
              <a:t>▸  Explain Ch.11 three-layer Blueprint model and four experiment type categories</a:t>
            </a:r>
          </a:p>
          <a:p>
            <a:pPr>
              <a:lnSpc>
                <a:spcPct val="115000"/>
              </a:lnSpc>
              <a:spcAft>
                <a:spcPts val="800"/>
              </a:spcAft>
              <a:defRPr sz="1900" b="0">
                <a:solidFill>
                  <a:srgbClr val="37474F"/>
                </a:solidFill>
                <a:latin typeface="Calibri"/>
              </a:defRPr>
            </a:pPr>
            <a:r>
              <a:t>▸  Understand Crossplane + S4T provider CRD mapping to IoTronic API</a:t>
            </a:r>
          </a:p>
          <a:p>
            <a:pPr>
              <a:lnSpc>
                <a:spcPct val="115000"/>
              </a:lnSpc>
              <a:spcAft>
                <a:spcPts val="800"/>
              </a:spcAft>
              <a:defRPr sz="1900" b="0">
                <a:solidFill>
                  <a:srgbClr val="37474F"/>
                </a:solidFill>
                <a:latin typeface="Calibri"/>
              </a:defRPr>
            </a:pPr>
            <a:r>
              <a:t>▸  Install K3s and verify kubectl get nodes shows Ready</a:t>
            </a:r>
          </a:p>
          <a:p>
            <a:pPr>
              <a:lnSpc>
                <a:spcPct val="115000"/>
              </a:lnSpc>
              <a:spcAft>
                <a:spcPts val="800"/>
              </a:spcAft>
              <a:defRPr sz="1900" b="0">
                <a:solidFill>
                  <a:srgbClr val="37474F"/>
                </a:solidFill>
                <a:latin typeface="Calibri"/>
              </a:defRPr>
            </a:pPr>
            <a:r>
              <a:t>▸  Optional: kubectl apply S4T K3s manifests — observe pods Running</a:t>
            </a:r>
          </a:p>
          <a:p>
            <a:pPr>
              <a:lnSpc>
                <a:spcPct val="115000"/>
              </a:lnSpc>
              <a:spcAft>
                <a:spcPts val="800"/>
              </a:spcAft>
              <a:defRPr sz="1900" b="0">
                <a:solidFill>
                  <a:srgbClr val="37474F"/>
                </a:solidFill>
                <a:latin typeface="Calibri"/>
              </a:defRPr>
            </a:pPr>
            <a:r>
              <a:t>▸  Articulate Docker Compose S4T vs K3s S4T coexistence on same VM</a:t>
            </a:r>
          </a:p>
        </p:txBody>
      </p:sp>
      <p:sp>
        <p:nvSpPr>
          <p:cNvPr id="6" name="Rectangle 5"/>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1"/>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868680" cy="310896"/>
          </a:xfrm>
          <a:prstGeom prst="roundRect">
            <a:avLst/>
          </a:prstGeom>
          <a:solidFill>
            <a:srgbClr val="F5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DEMO</a:t>
            </a:r>
          </a:p>
        </p:txBody>
      </p:sp>
      <p:sp>
        <p:nvSpPr>
          <p:cNvPr id="4" name="TextBox 3"/>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What Module H demonstrates — demo goals</a:t>
            </a:r>
          </a:p>
        </p:txBody>
      </p:sp>
      <p:sp>
        <p:nvSpPr>
          <p:cNvPr id="5" name="Rounded Rectangle 4"/>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Same VM hosts Docker S4T (Modules A–F) AND K3s (separate containerd runtime)</a:t>
            </a:r>
          </a:p>
          <a:p>
            <a:pPr>
              <a:lnSpc>
                <a:spcPct val="115000"/>
              </a:lnSpc>
              <a:spcAft>
                <a:spcPts val="500"/>
              </a:spcAft>
              <a:defRPr sz="1600" b="0">
                <a:solidFill>
                  <a:srgbClr val="37474F"/>
                </a:solidFill>
                <a:latin typeface="Calibri"/>
              </a:defRPr>
            </a:pPr>
            <a:r>
              <a:t>▸  kubectl apply from ch11 manifests deploys S4T microservices as Kubernetes pods</a:t>
            </a:r>
          </a:p>
          <a:p>
            <a:pPr>
              <a:lnSpc>
                <a:spcPct val="115000"/>
              </a:lnSpc>
              <a:spcAft>
                <a:spcPts val="500"/>
              </a:spcAft>
              <a:defRPr sz="1600" b="0">
                <a:solidFill>
                  <a:srgbClr val="37474F"/>
                </a:solidFill>
                <a:latin typeface="Calibri"/>
              </a:defRPr>
            </a:pPr>
            <a:r>
              <a:t>▸  Crossplane CRDs bridge K8s GitOps workflow with IoTronic REST API operations</a:t>
            </a:r>
          </a:p>
          <a:p>
            <a:pPr>
              <a:lnSpc>
                <a:spcPct val="115000"/>
              </a:lnSpc>
              <a:spcAft>
                <a:spcPts val="500"/>
              </a:spcAft>
              <a:defRPr sz="1600" b="0">
                <a:solidFill>
                  <a:srgbClr val="37474F"/>
                </a:solidFill>
                <a:latin typeface="Calibri"/>
              </a:defRPr>
            </a:pPr>
            <a:r>
              <a:t>▸  K3s lifecycle plugin (Ch.14) theory connects IoT boards to K8s worker model</a:t>
            </a:r>
          </a:p>
          <a:p>
            <a:pPr>
              <a:lnSpc>
                <a:spcPct val="115000"/>
              </a:lnSpc>
              <a:spcAft>
                <a:spcPts val="500"/>
              </a:spcAft>
              <a:defRPr sz="1600" b="0">
                <a:solidFill>
                  <a:srgbClr val="37474F"/>
                </a:solidFill>
                <a:latin typeface="Calibri"/>
              </a:defRPr>
            </a:pPr>
            <a:r>
              <a:t>▸  Students classify training modules within Ch.11 experiment type taxonomy</a:t>
            </a:r>
          </a:p>
          <a:p>
            <a:pPr>
              <a:lnSpc>
                <a:spcPct val="115000"/>
              </a:lnSpc>
              <a:spcAft>
                <a:spcPts val="500"/>
              </a:spcAft>
              <a:defRPr sz="1600" b="0">
                <a:solidFill>
                  <a:srgbClr val="37474F"/>
                </a:solidFill>
                <a:latin typeface="Calibri"/>
              </a:defRPr>
            </a:pPr>
            <a:r>
              <a:t>▸  Blueprint provides research-grade reproducibility framework beyond Docker lab compose</a:t>
            </a:r>
          </a:p>
        </p:txBody>
      </p:sp>
      <p:sp>
        <p:nvSpPr>
          <p:cNvPr id="7" name="Rectangle 6"/>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9" name="TextBox 8"/>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Demo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A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02920"/>
            <a:ext cx="10972800" cy="868680"/>
          </a:xfrm>
          <a:prstGeom prst="rect">
            <a:avLst/>
          </a:prstGeom>
          <a:noFill/>
        </p:spPr>
        <p:txBody>
          <a:bodyPr wrap="none">
            <a:spAutoFit/>
          </a:bodyPr>
          <a:lstStyle/>
          <a:p>
            <a:pPr>
              <a:defRPr sz="3000" b="1">
                <a:solidFill>
                  <a:srgbClr val="0D2B45"/>
                </a:solidFill>
                <a:latin typeface="Calibri"/>
              </a:defRPr>
            </a:pPr>
            <a:r>
              <a:t>Reference repos &amp; RAM gate</a:t>
            </a:r>
          </a:p>
        </p:txBody>
      </p:sp>
      <p:sp>
        <p:nvSpPr>
          <p:cNvPr id="4" name="Rounded Rectangle 3"/>
          <p:cNvSpPr/>
          <p:nvPr/>
        </p:nvSpPr>
        <p:spPr>
          <a:xfrm>
            <a:off x="502920" y="1344168"/>
            <a:ext cx="11155680" cy="5010912"/>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463040"/>
            <a:ext cx="10424160" cy="4782312"/>
          </a:xfrm>
          <a:prstGeom prst="rect">
            <a:avLst/>
          </a:prstGeom>
          <a:noFill/>
        </p:spPr>
        <p:txBody>
          <a:bodyPr wrap="square">
            <a:spAutoFit/>
          </a:bodyPr>
          <a:lstStyle/>
          <a:p>
            <a:pPr>
              <a:lnSpc>
                <a:spcPct val="115000"/>
              </a:lnSpc>
              <a:spcAft>
                <a:spcPts val="800"/>
              </a:spcAft>
              <a:defRPr sz="1900" b="0">
                <a:solidFill>
                  <a:srgbClr val="37474F"/>
                </a:solidFill>
                <a:latin typeface="Calibri"/>
              </a:defRPr>
            </a:pPr>
            <a:r>
              <a:t>▸  github.com/AssemblingSmartCPS/ch11_xplane-provider-for-s4t</a:t>
            </a:r>
          </a:p>
          <a:p>
            <a:pPr>
              <a:lnSpc>
                <a:spcPct val="115000"/>
              </a:lnSpc>
              <a:spcAft>
                <a:spcPts val="800"/>
              </a:spcAft>
              <a:defRPr sz="1900" b="0">
                <a:solidFill>
                  <a:srgbClr val="37474F"/>
                </a:solidFill>
                <a:latin typeface="Calibri"/>
              </a:defRPr>
            </a:pPr>
            <a:r>
              <a:t>▸  github.com/AssemblingSmartCPS/ch11_s4t-k3s-deploy</a:t>
            </a:r>
          </a:p>
          <a:p>
            <a:pPr>
              <a:lnSpc>
                <a:spcPct val="115000"/>
              </a:lnSpc>
              <a:spcAft>
                <a:spcPts val="800"/>
              </a:spcAft>
              <a:defRPr sz="1900" b="0">
                <a:solidFill>
                  <a:srgbClr val="37474F"/>
                </a:solidFill>
                <a:latin typeface="Calibri"/>
              </a:defRPr>
            </a:pPr>
            <a:r>
              <a:t>▸  RAM: ≥ 8 GB recommended for K3s + Docker S4T coexistence</a:t>
            </a:r>
          </a:p>
          <a:p>
            <a:pPr>
              <a:lnSpc>
                <a:spcPct val="115000"/>
              </a:lnSpc>
              <a:spcAft>
                <a:spcPts val="800"/>
              </a:spcAft>
              <a:defRPr sz="1900" b="0">
                <a:solidFill>
                  <a:srgbClr val="37474F"/>
                </a:solidFill>
                <a:latin typeface="Calibri"/>
              </a:defRPr>
            </a:pPr>
            <a:r>
              <a:t>▸  Do NOT run Module G FL and Module H K3s on same VM simultaneously</a:t>
            </a:r>
          </a:p>
          <a:p>
            <a:pPr>
              <a:lnSpc>
                <a:spcPct val="115000"/>
              </a:lnSpc>
              <a:spcAft>
                <a:spcPts val="800"/>
              </a:spcAft>
              <a:defRPr sz="1900" b="0">
                <a:solidFill>
                  <a:srgbClr val="37474F"/>
                </a:solidFill>
                <a:latin typeface="Calibri"/>
              </a:defRPr>
            </a:pPr>
            <a:r>
              <a:t>▸  K3s cluster can be pre-provisioned before the session to save install time.</a:t>
            </a:r>
          </a:p>
        </p:txBody>
      </p:sp>
      <p:sp>
        <p:nvSpPr>
          <p:cNvPr id="6" name="Rectangle 5"/>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D2B45"/>
        </a:solidFill>
        <a:effectLst/>
      </p:bgPr>
    </p:bg>
    <p:spTree>
      <p:nvGrpSpPr>
        <p:cNvPr id="1" name=""/>
        <p:cNvGrpSpPr/>
        <p:nvPr/>
      </p:nvGrpSpPr>
      <p:grpSpPr/>
      <p:sp>
        <p:nvSpPr>
          <p:cNvPr id="2" name="Rectangle 1"/>
          <p:cNvSpPr/>
          <p:nvPr/>
        </p:nvSpPr>
        <p:spPr>
          <a:xfrm>
            <a:off x="0" y="3063240"/>
            <a:ext cx="12191695" cy="54864"/>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148840"/>
            <a:ext cx="10515600" cy="1097280"/>
          </a:xfrm>
          <a:prstGeom prst="rect">
            <a:avLst/>
          </a:prstGeom>
          <a:noFill/>
        </p:spPr>
        <p:txBody>
          <a:bodyPr wrap="none">
            <a:spAutoFit/>
          </a:bodyPr>
          <a:lstStyle/>
          <a:p>
            <a:pPr algn="ctr">
              <a:defRPr sz="3800" b="1">
                <a:solidFill>
                  <a:srgbClr val="FFFFFF"/>
                </a:solidFill>
                <a:latin typeface="Calibri"/>
              </a:defRPr>
            </a:pPr>
            <a:r>
              <a:t>Lab: K3s prerequisite check</a:t>
            </a:r>
          </a:p>
        </p:txBody>
      </p:sp>
      <p:sp>
        <p:nvSpPr>
          <p:cNvPr id="4" name="TextBox 3"/>
          <p:cNvSpPr txBox="1"/>
          <p:nvPr/>
        </p:nvSpPr>
        <p:spPr>
          <a:xfrm>
            <a:off x="731520" y="3337560"/>
            <a:ext cx="10515600" cy="822960"/>
          </a:xfrm>
          <a:prstGeom prst="rect">
            <a:avLst/>
          </a:prstGeom>
          <a:noFill/>
        </p:spPr>
        <p:txBody>
          <a:bodyPr wrap="none">
            <a:spAutoFit/>
          </a:bodyPr>
          <a:lstStyle/>
          <a:p>
            <a:pPr algn="ctr">
              <a:defRPr sz="2200" b="0">
                <a:solidFill>
                  <a:srgbClr val="B2EBF2"/>
                </a:solidFill>
                <a:latin typeface="Calibri"/>
              </a:defRPr>
            </a:pPr>
            <a:r>
              <a:t>RAM gate before cluster install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02920"/>
            <a:ext cx="10972800" cy="868680"/>
          </a:xfrm>
          <a:prstGeom prst="rect">
            <a:avLst/>
          </a:prstGeom>
          <a:noFill/>
        </p:spPr>
        <p:txBody>
          <a:bodyPr wrap="none">
            <a:spAutoFit/>
          </a:bodyPr>
          <a:lstStyle/>
          <a:p>
            <a:pPr>
              <a:defRPr sz="3000" b="1">
                <a:solidFill>
                  <a:srgbClr val="0D2B45"/>
                </a:solidFill>
                <a:latin typeface="Calibri"/>
              </a:defRPr>
            </a:pPr>
            <a:r>
              <a:t>RAM gate + prerequisite check</a:t>
            </a:r>
          </a:p>
        </p:txBody>
      </p:sp>
      <p:sp>
        <p:nvSpPr>
          <p:cNvPr id="4" name="Rounded Rectangle 3"/>
          <p:cNvSpPr/>
          <p:nvPr/>
        </p:nvSpPr>
        <p:spPr>
          <a:xfrm>
            <a:off x="502920" y="1344168"/>
            <a:ext cx="11155680" cy="5010912"/>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463040"/>
            <a:ext cx="10424160" cy="4782312"/>
          </a:xfrm>
          <a:prstGeom prst="rect">
            <a:avLst/>
          </a:prstGeom>
          <a:noFill/>
        </p:spPr>
        <p:txBody>
          <a:bodyPr wrap="square">
            <a:spAutoFit/>
          </a:bodyPr>
          <a:lstStyle/>
          <a:p>
            <a:pPr>
              <a:lnSpc>
                <a:spcPct val="115000"/>
              </a:lnSpc>
              <a:spcAft>
                <a:spcPts val="800"/>
              </a:spcAft>
              <a:defRPr sz="1400" b="0">
                <a:solidFill>
                  <a:srgbClr val="0D2B45"/>
                </a:solidFill>
                <a:latin typeface="Consolas"/>
              </a:defRPr>
            </a:pPr>
            <a:r>
              <a:t>$ free -h # ≥ 8 GB recommended; stop Module G FL if running</a:t>
            </a:r>
          </a:p>
          <a:p>
            <a:pPr>
              <a:lnSpc>
                <a:spcPct val="115000"/>
              </a:lnSpc>
              <a:spcAft>
                <a:spcPts val="800"/>
              </a:spcAft>
              <a:defRPr sz="1400" b="0">
                <a:solidFill>
                  <a:srgbClr val="0D2B45"/>
                </a:solidFill>
                <a:latin typeface="Consolas"/>
              </a:defRPr>
            </a:pPr>
            <a:r>
              <a:t>$ training/experiments/blueprint/k3s-prereq.sh</a:t>
            </a:r>
          </a:p>
          <a:p>
            <a:pPr>
              <a:lnSpc>
                <a:spcPct val="115000"/>
              </a:lnSpc>
              <a:spcAft>
                <a:spcPts val="800"/>
              </a:spcAft>
              <a:defRPr sz="1900" b="0">
                <a:solidFill>
                  <a:srgbClr val="37474F"/>
                </a:solidFill>
                <a:latin typeface="Calibri"/>
              </a:defRPr>
            </a:pPr>
            <a:r>
              <a:t>▸  If RAM insufficient: use dedicated VM for Blueprint or skip optional pod deploy</a:t>
            </a:r>
          </a:p>
        </p:txBody>
      </p:sp>
      <p:sp>
        <p:nvSpPr>
          <p:cNvPr id="6" name="Rectangle 5"/>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Ch.11 + instructor playbook · resource planning</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Docker S4T vs K3s S4T on same VM (Ch.11)</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Docker Compose S4T uses dockerd; K3s uses containerd — separate container runtimes</a:t>
            </a:r>
          </a:p>
          <a:p>
            <a:pPr>
              <a:lnSpc>
                <a:spcPct val="115000"/>
              </a:lnSpc>
              <a:spcAft>
                <a:spcPts val="500"/>
              </a:spcAft>
              <a:defRPr sz="1600" b="0">
                <a:solidFill>
                  <a:srgbClr val="37474F"/>
                </a:solidFill>
                <a:latin typeface="Calibri"/>
              </a:defRPr>
            </a:pPr>
            <a:r>
              <a:t>▸  Both can coexist on {{VM_IP}} — but compete for RAM and CPU during class</a:t>
            </a:r>
          </a:p>
          <a:p>
            <a:pPr>
              <a:lnSpc>
                <a:spcPct val="115000"/>
              </a:lnSpc>
              <a:spcAft>
                <a:spcPts val="500"/>
              </a:spcAft>
              <a:defRPr sz="1600" b="0">
                <a:solidFill>
                  <a:srgbClr val="37474F"/>
                </a:solidFill>
                <a:latin typeface="Calibri"/>
              </a:defRPr>
            </a:pPr>
            <a:r>
              <a:t>▸  Recommended classroom pattern: Docker stack during Modules A–F; K3s demo in Module H only</a:t>
            </a:r>
          </a:p>
          <a:p>
            <a:pPr>
              <a:lnSpc>
                <a:spcPct val="115000"/>
              </a:lnSpc>
              <a:spcAft>
                <a:spcPts val="500"/>
              </a:spcAft>
              <a:defRPr sz="1600" b="0">
                <a:solidFill>
                  <a:srgbClr val="37474F"/>
                </a:solidFill>
                <a:latin typeface="Calibri"/>
              </a:defRPr>
            </a:pPr>
            <a:r>
              <a:t>▸  Alternative: dedicated VM for Blueprint module — cleaner resource isolation</a:t>
            </a:r>
          </a:p>
          <a:p>
            <a:pPr>
              <a:lnSpc>
                <a:spcPct val="115000"/>
              </a:lnSpc>
              <a:spcAft>
                <a:spcPts val="500"/>
              </a:spcAft>
              <a:defRPr sz="1600" b="0">
                <a:solidFill>
                  <a:srgbClr val="37474F"/>
                </a:solidFill>
                <a:latin typeface="Calibri"/>
              </a:defRPr>
            </a:pPr>
            <a:r>
              <a:t>▸  Port conflicts: K3s API :6443, Docker S4T services unchanged on existing ports</a:t>
            </a:r>
          </a:p>
          <a:p>
            <a:pPr>
              <a:lnSpc>
                <a:spcPct val="115000"/>
              </a:lnSpc>
              <a:spcAft>
                <a:spcPts val="500"/>
              </a:spcAft>
              <a:defRPr sz="1600" b="0">
                <a:solidFill>
                  <a:srgbClr val="37474F"/>
                </a:solidFill>
                <a:latin typeface="Calibri"/>
              </a:defRPr>
            </a:pPr>
            <a:r>
              <a:t>▸  Pre-provision K3s overnight when session time is limited.</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D2B45"/>
        </a:solidFill>
        <a:effectLst/>
      </p:bgPr>
    </p:bg>
    <p:spTree>
      <p:nvGrpSpPr>
        <p:cNvPr id="1" name=""/>
        <p:cNvGrpSpPr/>
        <p:nvPr/>
      </p:nvGrpSpPr>
      <p:grpSpPr/>
      <p:sp>
        <p:nvSpPr>
          <p:cNvPr id="2" name="Rectangle 1"/>
          <p:cNvSpPr/>
          <p:nvPr/>
        </p:nvSpPr>
        <p:spPr>
          <a:xfrm>
            <a:off x="0" y="3063240"/>
            <a:ext cx="12191695" cy="54864"/>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148840"/>
            <a:ext cx="10515600" cy="1097280"/>
          </a:xfrm>
          <a:prstGeom prst="rect">
            <a:avLst/>
          </a:prstGeom>
          <a:noFill/>
        </p:spPr>
        <p:txBody>
          <a:bodyPr wrap="none">
            <a:spAutoFit/>
          </a:bodyPr>
          <a:lstStyle/>
          <a:p>
            <a:pPr algn="ctr">
              <a:defRPr sz="3800" b="1">
                <a:solidFill>
                  <a:srgbClr val="FFFFFF"/>
                </a:solidFill>
                <a:latin typeface="Calibri"/>
              </a:defRPr>
            </a:pPr>
            <a:r>
              <a:t>Lab: K3s install and verify</a:t>
            </a:r>
          </a:p>
        </p:txBody>
      </p:sp>
      <p:sp>
        <p:nvSpPr>
          <p:cNvPr id="4" name="TextBox 3"/>
          <p:cNvSpPr txBox="1"/>
          <p:nvPr/>
        </p:nvSpPr>
        <p:spPr>
          <a:xfrm>
            <a:off x="731520" y="3337560"/>
            <a:ext cx="10515600" cy="822960"/>
          </a:xfrm>
          <a:prstGeom prst="rect">
            <a:avLst/>
          </a:prstGeom>
          <a:noFill/>
        </p:spPr>
        <p:txBody>
          <a:bodyPr wrap="none">
            <a:spAutoFit/>
          </a:bodyPr>
          <a:lstStyle/>
          <a:p>
            <a:pPr algn="ctr">
              <a:defRPr sz="2200" b="0">
                <a:solidFill>
                  <a:srgbClr val="B2EBF2"/>
                </a:solidFill>
                <a:latin typeface="Calibri"/>
              </a:defRPr>
            </a:pPr>
            <a:r>
              <a:t>Single-node cluster on training VM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02920"/>
            <a:ext cx="10972800" cy="868680"/>
          </a:xfrm>
          <a:prstGeom prst="rect">
            <a:avLst/>
          </a:prstGeom>
          <a:noFill/>
        </p:spPr>
        <p:txBody>
          <a:bodyPr wrap="none">
            <a:spAutoFit/>
          </a:bodyPr>
          <a:lstStyle/>
          <a:p>
            <a:pPr>
              <a:defRPr sz="3000" b="1">
                <a:solidFill>
                  <a:srgbClr val="0D2B45"/>
                </a:solidFill>
                <a:latin typeface="Calibri"/>
              </a:defRPr>
            </a:pPr>
            <a:r>
              <a:t>Install K3s (instructor pre-step if needed)</a:t>
            </a:r>
          </a:p>
        </p:txBody>
      </p:sp>
      <p:sp>
        <p:nvSpPr>
          <p:cNvPr id="4" name="Rounded Rectangle 3"/>
          <p:cNvSpPr/>
          <p:nvPr/>
        </p:nvSpPr>
        <p:spPr>
          <a:xfrm>
            <a:off x="502920" y="1344168"/>
            <a:ext cx="11155680" cy="5010912"/>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463040"/>
            <a:ext cx="10424160" cy="4782312"/>
          </a:xfrm>
          <a:prstGeom prst="rect">
            <a:avLst/>
          </a:prstGeom>
          <a:noFill/>
        </p:spPr>
        <p:txBody>
          <a:bodyPr wrap="square">
            <a:spAutoFit/>
          </a:bodyPr>
          <a:lstStyle/>
          <a:p>
            <a:pPr>
              <a:lnSpc>
                <a:spcPct val="115000"/>
              </a:lnSpc>
              <a:spcAft>
                <a:spcPts val="800"/>
              </a:spcAft>
              <a:defRPr sz="1400" b="0">
                <a:solidFill>
                  <a:srgbClr val="0D2B45"/>
                </a:solidFill>
                <a:latin typeface="Consolas"/>
              </a:defRPr>
            </a:pPr>
            <a:r>
              <a:t>$ curl -sfL https://get.k3s.io | sh -</a:t>
            </a:r>
          </a:p>
          <a:p>
            <a:pPr>
              <a:lnSpc>
                <a:spcPct val="115000"/>
              </a:lnSpc>
              <a:spcAft>
                <a:spcPts val="800"/>
              </a:spcAft>
              <a:defRPr sz="1400" b="0">
                <a:solidFill>
                  <a:srgbClr val="0D2B45"/>
                </a:solidFill>
                <a:latin typeface="Consolas"/>
              </a:defRPr>
            </a:pPr>
            <a:r>
              <a:t>$ export KUBECONFIG=/etc/rancher/k3s/k3s.yaml</a:t>
            </a:r>
          </a:p>
          <a:p>
            <a:pPr>
              <a:lnSpc>
                <a:spcPct val="115000"/>
              </a:lnSpc>
              <a:spcAft>
                <a:spcPts val="800"/>
              </a:spcAft>
              <a:defRPr sz="1400" b="0">
                <a:solidFill>
                  <a:srgbClr val="0D2B45"/>
                </a:solidFill>
                <a:latin typeface="Consolas"/>
              </a:defRPr>
            </a:pPr>
            <a:r>
              <a:t>$ kubectl get nodes</a:t>
            </a:r>
          </a:p>
          <a:p>
            <a:pPr>
              <a:lnSpc>
                <a:spcPct val="115000"/>
              </a:lnSpc>
              <a:spcAft>
                <a:spcPts val="800"/>
              </a:spcAft>
              <a:defRPr sz="1900" b="0">
                <a:solidFill>
                  <a:srgbClr val="37474F"/>
                </a:solidFill>
                <a:latin typeface="Calibri"/>
              </a:defRPr>
            </a:pPr>
            <a:r>
              <a:t>▸  Expected: single node Ready — hostname of {{VM_IP}} lab VM</a:t>
            </a:r>
          </a:p>
        </p:txBody>
      </p:sp>
      <p:sp>
        <p:nvSpPr>
          <p:cNvPr id="6" name="Rectangle 5"/>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02920"/>
            <a:ext cx="10972800" cy="868680"/>
          </a:xfrm>
          <a:prstGeom prst="rect">
            <a:avLst/>
          </a:prstGeom>
          <a:noFill/>
        </p:spPr>
        <p:txBody>
          <a:bodyPr wrap="none">
            <a:spAutoFit/>
          </a:bodyPr>
          <a:lstStyle/>
          <a:p>
            <a:pPr>
              <a:defRPr sz="3000" b="1">
                <a:solidFill>
                  <a:srgbClr val="0D2B45"/>
                </a:solidFill>
                <a:latin typeface="Calibri"/>
              </a:defRPr>
            </a:pPr>
            <a:r>
              <a:t>Verify cluster health</a:t>
            </a:r>
          </a:p>
        </p:txBody>
      </p:sp>
      <p:sp>
        <p:nvSpPr>
          <p:cNvPr id="4" name="Rounded Rectangle 3"/>
          <p:cNvSpPr/>
          <p:nvPr/>
        </p:nvSpPr>
        <p:spPr>
          <a:xfrm>
            <a:off x="502920" y="1344168"/>
            <a:ext cx="11155680" cy="5010912"/>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463040"/>
            <a:ext cx="10424160" cy="4782312"/>
          </a:xfrm>
          <a:prstGeom prst="rect">
            <a:avLst/>
          </a:prstGeom>
          <a:noFill/>
        </p:spPr>
        <p:txBody>
          <a:bodyPr wrap="square">
            <a:spAutoFit/>
          </a:bodyPr>
          <a:lstStyle/>
          <a:p>
            <a:pPr>
              <a:lnSpc>
                <a:spcPct val="115000"/>
              </a:lnSpc>
              <a:spcAft>
                <a:spcPts val="800"/>
              </a:spcAft>
              <a:defRPr sz="1400" b="0">
                <a:solidFill>
                  <a:srgbClr val="0D2B45"/>
                </a:solidFill>
                <a:latin typeface="Consolas"/>
              </a:defRPr>
            </a:pPr>
            <a:r>
              <a:t>$ kubectl get pods -A</a:t>
            </a:r>
          </a:p>
          <a:p>
            <a:pPr>
              <a:lnSpc>
                <a:spcPct val="115000"/>
              </a:lnSpc>
              <a:spcAft>
                <a:spcPts val="800"/>
              </a:spcAft>
              <a:defRPr sz="1900" b="0">
                <a:solidFill>
                  <a:srgbClr val="37474F"/>
                </a:solidFill>
                <a:latin typeface="Calibri"/>
              </a:defRPr>
            </a:pPr>
            <a:r>
              <a:t>▸  Expected: kube-system pods Running (coredns, metrics-server, local-path-provisioner)</a:t>
            </a:r>
          </a:p>
          <a:p>
            <a:pPr>
              <a:lnSpc>
                <a:spcPct val="115000"/>
              </a:lnSpc>
              <a:spcAft>
                <a:spcPts val="800"/>
              </a:spcAft>
              <a:defRPr sz="1400" b="0">
                <a:solidFill>
                  <a:srgbClr val="0D2B45"/>
                </a:solidFill>
                <a:latin typeface="Consolas"/>
              </a:defRPr>
            </a:pPr>
            <a:r>
              <a:t>$ kubectl cluster-info</a:t>
            </a:r>
          </a:p>
        </p:txBody>
      </p:sp>
      <p:sp>
        <p:nvSpPr>
          <p:cNvPr id="6" name="Rectangle 5"/>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D2B45"/>
        </a:solidFill>
        <a:effectLst/>
      </p:bgPr>
    </p:bg>
    <p:spTree>
      <p:nvGrpSpPr>
        <p:cNvPr id="1" name=""/>
        <p:cNvGrpSpPr/>
        <p:nvPr/>
      </p:nvGrpSpPr>
      <p:grpSpPr/>
      <p:sp>
        <p:nvSpPr>
          <p:cNvPr id="2" name="Rectangle 1"/>
          <p:cNvSpPr/>
          <p:nvPr/>
        </p:nvSpPr>
        <p:spPr>
          <a:xfrm>
            <a:off x="0" y="3063240"/>
            <a:ext cx="12191695" cy="54864"/>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148840"/>
            <a:ext cx="10515600" cy="1097280"/>
          </a:xfrm>
          <a:prstGeom prst="rect">
            <a:avLst/>
          </a:prstGeom>
          <a:noFill/>
        </p:spPr>
        <p:txBody>
          <a:bodyPr wrap="none">
            <a:spAutoFit/>
          </a:bodyPr>
          <a:lstStyle/>
          <a:p>
            <a:pPr algn="ctr">
              <a:defRPr sz="3800" b="1">
                <a:solidFill>
                  <a:srgbClr val="FFFFFF"/>
                </a:solidFill>
                <a:latin typeface="Calibri"/>
              </a:defRPr>
            </a:pPr>
            <a:r>
              <a:t>Lab: optional S4T K3s light deploy</a:t>
            </a:r>
          </a:p>
        </p:txBody>
      </p:sp>
      <p:sp>
        <p:nvSpPr>
          <p:cNvPr id="4" name="TextBox 3"/>
          <p:cNvSpPr txBox="1"/>
          <p:nvPr/>
        </p:nvSpPr>
        <p:spPr>
          <a:xfrm>
            <a:off x="731520" y="3337560"/>
            <a:ext cx="10515600" cy="822960"/>
          </a:xfrm>
          <a:prstGeom prst="rect">
            <a:avLst/>
          </a:prstGeom>
          <a:noFill/>
        </p:spPr>
        <p:txBody>
          <a:bodyPr wrap="none">
            <a:spAutoFit/>
          </a:bodyPr>
          <a:lstStyle/>
          <a:p>
            <a:pPr algn="ctr">
              <a:defRPr sz="2200" b="0">
                <a:solidFill>
                  <a:srgbClr val="B2EBF2"/>
                </a:solidFill>
                <a:latin typeface="Calibri"/>
              </a:defRPr>
            </a:pPr>
            <a:r>
              <a:t>Follow ch11_s4t-k3s-deploy README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02920"/>
            <a:ext cx="10972800" cy="868680"/>
          </a:xfrm>
          <a:prstGeom prst="rect">
            <a:avLst/>
          </a:prstGeom>
          <a:noFill/>
        </p:spPr>
        <p:txBody>
          <a:bodyPr wrap="none">
            <a:spAutoFit/>
          </a:bodyPr>
          <a:lstStyle/>
          <a:p>
            <a:pPr>
              <a:defRPr sz="3000" b="1">
                <a:solidFill>
                  <a:srgbClr val="0D2B45"/>
                </a:solidFill>
                <a:latin typeface="Calibri"/>
              </a:defRPr>
            </a:pPr>
            <a:r>
              <a:t>Light deploy S4T pods (optional)</a:t>
            </a:r>
          </a:p>
        </p:txBody>
      </p:sp>
      <p:sp>
        <p:nvSpPr>
          <p:cNvPr id="4" name="Rounded Rectangle 3"/>
          <p:cNvSpPr/>
          <p:nvPr/>
        </p:nvSpPr>
        <p:spPr>
          <a:xfrm>
            <a:off x="502920" y="1344168"/>
            <a:ext cx="11155680" cy="5010912"/>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463040"/>
            <a:ext cx="10424160" cy="4782312"/>
          </a:xfrm>
          <a:prstGeom prst="rect">
            <a:avLst/>
          </a:prstGeom>
          <a:noFill/>
        </p:spPr>
        <p:txBody>
          <a:bodyPr wrap="square">
            <a:spAutoFit/>
          </a:bodyPr>
          <a:lstStyle/>
          <a:p>
            <a:pPr>
              <a:lnSpc>
                <a:spcPct val="115000"/>
              </a:lnSpc>
              <a:spcAft>
                <a:spcPts val="800"/>
              </a:spcAft>
              <a:defRPr sz="1400" b="0">
                <a:solidFill>
                  <a:srgbClr val="0D2B45"/>
                </a:solidFill>
                <a:latin typeface="Consolas"/>
              </a:defRPr>
            </a:pPr>
            <a:r>
              <a:t>$ cd training/repos/ch11_s4t-k3s-deploy</a:t>
            </a:r>
          </a:p>
          <a:p>
            <a:pPr>
              <a:lnSpc>
                <a:spcPct val="115000"/>
              </a:lnSpc>
              <a:spcAft>
                <a:spcPts val="800"/>
              </a:spcAft>
              <a:defRPr sz="1900" b="0">
                <a:solidFill>
                  <a:srgbClr val="37474F"/>
                </a:solidFill>
                <a:latin typeface="Calibri"/>
              </a:defRPr>
            </a:pPr>
            <a:r>
              <a:t>▸  # Follow README: kubectl apply -f yaml_file/</a:t>
            </a:r>
          </a:p>
          <a:p>
            <a:pPr>
              <a:lnSpc>
                <a:spcPct val="115000"/>
              </a:lnSpc>
              <a:spcAft>
                <a:spcPts val="800"/>
              </a:spcAft>
              <a:defRPr sz="1400" b="0">
                <a:solidFill>
                  <a:srgbClr val="0D2B45"/>
                </a:solidFill>
                <a:latin typeface="Consolas"/>
              </a:defRPr>
            </a:pPr>
            <a:r>
              <a:t>$ kubectl get pods -A</a:t>
            </a:r>
          </a:p>
          <a:p>
            <a:pPr>
              <a:lnSpc>
                <a:spcPct val="115000"/>
              </a:lnSpc>
              <a:spcAft>
                <a:spcPts val="800"/>
              </a:spcAft>
              <a:defRPr sz="1900" b="0">
                <a:solidFill>
                  <a:srgbClr val="37474F"/>
                </a:solidFill>
                <a:latin typeface="Calibri"/>
              </a:defRPr>
            </a:pPr>
            <a:r>
              <a:t>▸  Look for S4T conductor, crossbar, or UI pods — Running status</a:t>
            </a:r>
          </a:p>
        </p:txBody>
      </p:sp>
      <p:sp>
        <p:nvSpPr>
          <p:cNvPr id="6" name="Rectangle 5"/>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ch11_xplane-provider-for-s4t · ProviderConfig example</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Crossplane provider demo workflow (Ch.11)</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Install Crossplane on K3s: helm install crossplane — namespace crossplane-system</a:t>
            </a:r>
          </a:p>
          <a:p>
            <a:pPr>
              <a:lnSpc>
                <a:spcPct val="115000"/>
              </a:lnSpc>
              <a:spcAft>
                <a:spcPts val="500"/>
              </a:spcAft>
              <a:defRPr sz="1600" b="0">
                <a:solidFill>
                  <a:srgbClr val="37474F"/>
                </a:solidFill>
                <a:latin typeface="Calibri"/>
              </a:defRPr>
            </a:pPr>
            <a:r>
              <a:t>▸  Install Provider S4T: kubectl apply provider.yaml from ch11_xplane-provider-for-s4t</a:t>
            </a:r>
          </a:p>
          <a:p>
            <a:pPr>
              <a:lnSpc>
                <a:spcPct val="115000"/>
              </a:lnSpc>
              <a:spcAft>
                <a:spcPts val="500"/>
              </a:spcAft>
              <a:defRPr sz="1600" b="0">
                <a:solidFill>
                  <a:srgbClr val="37474F"/>
                </a:solidFill>
                <a:latin typeface="Calibri"/>
              </a:defRPr>
            </a:pPr>
            <a:r>
              <a:t>▸  Apply Board CRD manifest: kubectl apply -f examples/board-alpha.yaml</a:t>
            </a:r>
          </a:p>
          <a:p>
            <a:pPr>
              <a:lnSpc>
                <a:spcPct val="115000"/>
              </a:lnSpc>
              <a:spcAft>
                <a:spcPts val="500"/>
              </a:spcAft>
              <a:defRPr sz="1600" b="0">
                <a:solidFill>
                  <a:srgbClr val="37474F"/>
                </a:solidFill>
                <a:latin typeface="Calibri"/>
              </a:defRPr>
            </a:pPr>
            <a:r>
              <a:t>▸  Provider controller calls IoTronic API at {{VM_IP}}:8812 — creates board resource</a:t>
            </a:r>
          </a:p>
          <a:p>
            <a:pPr>
              <a:lnSpc>
                <a:spcPct val="115000"/>
              </a:lnSpc>
              <a:spcAft>
                <a:spcPts val="500"/>
              </a:spcAft>
              <a:defRPr sz="1600" b="0">
                <a:solidFill>
                  <a:srgbClr val="37474F"/>
                </a:solidFill>
                <a:latin typeface="Calibri"/>
              </a:defRPr>
            </a:pPr>
            <a:r>
              <a:t>▸  Status field on CRD reflects Active/Error — parallel to Horizon board panel</a:t>
            </a:r>
          </a:p>
          <a:p>
            <a:pPr>
              <a:lnSpc>
                <a:spcPct val="115000"/>
              </a:lnSpc>
              <a:spcAft>
                <a:spcPts val="500"/>
              </a:spcAft>
              <a:defRPr sz="1600" b="0">
                <a:solidFill>
                  <a:srgbClr val="37474F"/>
                </a:solidFill>
                <a:latin typeface="Calibri"/>
              </a:defRPr>
            </a:pPr>
            <a:r>
              <a:t>▸  Full provider demo optional — theory slides sufficient if time constrained</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0F9F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92608"/>
            <a:ext cx="2011680" cy="310896"/>
          </a:xfrm>
          <a:prstGeom prst="round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THEORY</a:t>
            </a:r>
          </a:p>
        </p:txBody>
      </p:sp>
      <p:sp>
        <p:nvSpPr>
          <p:cNvPr id="4" name="TextBox 3"/>
          <p:cNvSpPr txBox="1"/>
          <p:nvPr/>
        </p:nvSpPr>
        <p:spPr>
          <a:xfrm>
            <a:off x="7772400" y="292608"/>
            <a:ext cx="4114800" cy="411480"/>
          </a:xfrm>
          <a:prstGeom prst="rect">
            <a:avLst/>
          </a:prstGeom>
          <a:noFill/>
        </p:spPr>
        <p:txBody>
          <a:bodyPr wrap="none">
            <a:spAutoFit/>
          </a:bodyPr>
          <a:lstStyle/>
          <a:p>
            <a:pPr algn="r">
              <a:defRPr sz="1100" b="0">
                <a:solidFill>
                  <a:srgbClr val="78909C"/>
                </a:solidFill>
                <a:latin typeface="Calibri"/>
              </a:defRPr>
            </a:pPr>
            <a:r>
              <a:t>Ch.11 · GitOps · Crossplane composition pattern</a:t>
            </a:r>
          </a:p>
        </p:txBody>
      </p:sp>
      <p:sp>
        <p:nvSpPr>
          <p:cNvPr id="5" name="TextBox 4"/>
          <p:cNvSpPr txBox="1"/>
          <p:nvPr/>
        </p:nvSpPr>
        <p:spPr>
          <a:xfrm>
            <a:off x="594360" y="713232"/>
            <a:ext cx="10972800" cy="868680"/>
          </a:xfrm>
          <a:prstGeom prst="rect">
            <a:avLst/>
          </a:prstGeom>
          <a:noFill/>
        </p:spPr>
        <p:txBody>
          <a:bodyPr wrap="none">
            <a:spAutoFit/>
          </a:bodyPr>
          <a:lstStyle/>
          <a:p>
            <a:pPr>
              <a:defRPr sz="2600" b="1">
                <a:solidFill>
                  <a:srgbClr val="0D2B45"/>
                </a:solidFill>
                <a:latin typeface="Calibri"/>
              </a:defRPr>
            </a:pPr>
            <a:r>
              <a:t>GitOps workflow for IoT fleets (Ch.11)</a:t>
            </a:r>
          </a:p>
        </p:txBody>
      </p:sp>
      <p:sp>
        <p:nvSpPr>
          <p:cNvPr id="6" name="Rounded Rectangle 5"/>
          <p:cNvSpPr/>
          <p:nvPr/>
        </p:nvSpPr>
        <p:spPr>
          <a:xfrm>
            <a:off x="502920" y="1554480"/>
            <a:ext cx="11155680" cy="4800600"/>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73352"/>
            <a:ext cx="10424160" cy="4572000"/>
          </a:xfrm>
          <a:prstGeom prst="rect">
            <a:avLst/>
          </a:prstGeom>
          <a:noFill/>
        </p:spPr>
        <p:txBody>
          <a:bodyPr wrap="square">
            <a:spAutoFit/>
          </a:bodyPr>
          <a:lstStyle/>
          <a:p>
            <a:pPr>
              <a:lnSpc>
                <a:spcPct val="115000"/>
              </a:lnSpc>
              <a:spcAft>
                <a:spcPts val="500"/>
              </a:spcAft>
              <a:defRPr sz="1600" b="0">
                <a:solidFill>
                  <a:srgbClr val="37474F"/>
                </a:solidFill>
                <a:latin typeface="Calibri"/>
              </a:defRPr>
            </a:pPr>
            <a:r>
              <a:t>▸  Fleet YAML in git: defines board members + plugin inject specifications</a:t>
            </a:r>
          </a:p>
          <a:p>
            <a:pPr>
              <a:lnSpc>
                <a:spcPct val="115000"/>
              </a:lnSpc>
              <a:spcAft>
                <a:spcPts val="500"/>
              </a:spcAft>
              <a:defRPr sz="1600" b="0">
                <a:solidFill>
                  <a:srgbClr val="37474F"/>
                </a:solidFill>
                <a:latin typeface="Calibri"/>
              </a:defRPr>
            </a:pPr>
            <a:r>
              <a:t>▸  ArgoCD or Flux watches git repo — reconciles cluster state on every commit</a:t>
            </a:r>
          </a:p>
          <a:p>
            <a:pPr>
              <a:lnSpc>
                <a:spcPct val="115000"/>
              </a:lnSpc>
              <a:spcAft>
                <a:spcPts val="500"/>
              </a:spcAft>
              <a:defRPr sz="1600" b="0">
                <a:solidFill>
                  <a:srgbClr val="37474F"/>
                </a:solidFill>
                <a:latin typeface="Calibri"/>
              </a:defRPr>
            </a:pPr>
            <a:r>
              <a:t>▸  Change plugin version in git → Crossplane provider re-injects on all fleet members</a:t>
            </a:r>
          </a:p>
          <a:p>
            <a:pPr>
              <a:lnSpc>
                <a:spcPct val="115000"/>
              </a:lnSpc>
              <a:spcAft>
                <a:spcPts val="500"/>
              </a:spcAft>
              <a:defRPr sz="1600" b="0">
                <a:solidFill>
                  <a:srgbClr val="37474F"/>
                </a:solidFill>
                <a:latin typeface="Calibri"/>
              </a:defRPr>
            </a:pPr>
            <a:r>
              <a:t>▸  Audit trail: git history records who changed fleet configuration and when</a:t>
            </a:r>
          </a:p>
          <a:p>
            <a:pPr>
              <a:lnSpc>
                <a:spcPct val="115000"/>
              </a:lnSpc>
              <a:spcAft>
                <a:spcPts val="500"/>
              </a:spcAft>
              <a:defRPr sz="1600" b="0">
                <a:solidFill>
                  <a:srgbClr val="37474F"/>
                </a:solidFill>
                <a:latin typeface="Calibri"/>
              </a:defRPr>
            </a:pPr>
            <a:r>
              <a:t>▸  Production SLICES sites use this pattern for multi-site experiment reproducibility</a:t>
            </a:r>
          </a:p>
          <a:p>
            <a:pPr>
              <a:lnSpc>
                <a:spcPct val="115000"/>
              </a:lnSpc>
              <a:spcAft>
                <a:spcPts val="500"/>
              </a:spcAft>
              <a:defRPr sz="1600" b="0">
                <a:solidFill>
                  <a:srgbClr val="37474F"/>
                </a:solidFill>
                <a:latin typeface="Calibri"/>
              </a:defRPr>
            </a:pPr>
            <a:r>
              <a:t>▸  Contrasts with Horizon manual inject in Module D — operational maturity step</a:t>
            </a:r>
          </a:p>
        </p:txBody>
      </p:sp>
      <p:sp>
        <p:nvSpPr>
          <p:cNvPr id="8" name="Rectangle 7"/>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
        <p:nvSpPr>
          <p:cNvPr id="10" name="TextBox 9"/>
          <p:cNvSpPr txBox="1"/>
          <p:nvPr/>
        </p:nvSpPr>
        <p:spPr>
          <a:xfrm>
            <a:off x="9326880" y="6455664"/>
            <a:ext cx="2377440" cy="320040"/>
          </a:xfrm>
          <a:prstGeom prst="rect">
            <a:avLst/>
          </a:prstGeom>
          <a:noFill/>
        </p:spPr>
        <p:txBody>
          <a:bodyPr wrap="none">
            <a:spAutoFit/>
          </a:bodyPr>
          <a:lstStyle/>
          <a:p>
            <a:pPr algn="r">
              <a:defRPr sz="900" b="1">
                <a:solidFill>
                  <a:srgbClr val="008B9A"/>
                </a:solidFill>
                <a:latin typeface="Calibri"/>
              </a:defRPr>
            </a:pPr>
            <a:r>
              <a:t>Theory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D2B45"/>
        </a:solidFill>
        <a:effectLst/>
      </p:bgPr>
    </p:bg>
    <p:spTree>
      <p:nvGrpSpPr>
        <p:cNvPr id="1" name=""/>
        <p:cNvGrpSpPr/>
        <p:nvPr/>
      </p:nvGrpSpPr>
      <p:grpSpPr/>
      <p:sp>
        <p:nvSpPr>
          <p:cNvPr id="2" name="Rectangle 1"/>
          <p:cNvSpPr/>
          <p:nvPr/>
        </p:nvSpPr>
        <p:spPr>
          <a:xfrm>
            <a:off x="0" y="3063240"/>
            <a:ext cx="12191695" cy="54864"/>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148840"/>
            <a:ext cx="10515600" cy="1097280"/>
          </a:xfrm>
          <a:prstGeom prst="rect">
            <a:avLst/>
          </a:prstGeom>
          <a:noFill/>
        </p:spPr>
        <p:txBody>
          <a:bodyPr wrap="none">
            <a:spAutoFit/>
          </a:bodyPr>
          <a:lstStyle/>
          <a:p>
            <a:pPr algn="ctr">
              <a:defRPr sz="3800" b="1">
                <a:solidFill>
                  <a:srgbClr val="FFFFFF"/>
                </a:solidFill>
                <a:latin typeface="Calibri"/>
              </a:defRPr>
            </a:pPr>
            <a:r>
              <a:t>Validate &amp; wrap-up</a:t>
            </a:r>
          </a:p>
        </p:txBody>
      </p:sp>
      <p:sp>
        <p:nvSpPr>
          <p:cNvPr id="4" name="TextBox 3"/>
          <p:cNvSpPr txBox="1"/>
          <p:nvPr/>
        </p:nvSpPr>
        <p:spPr>
          <a:xfrm>
            <a:off x="731520" y="3337560"/>
            <a:ext cx="10515600" cy="822960"/>
          </a:xfrm>
          <a:prstGeom prst="rect">
            <a:avLst/>
          </a:prstGeom>
          <a:noFill/>
        </p:spPr>
        <p:txBody>
          <a:bodyPr wrap="none">
            <a:spAutoFit/>
          </a:bodyPr>
          <a:lstStyle/>
          <a:p>
            <a:pPr algn="ctr">
              <a:defRPr sz="2200" b="0">
                <a:solidFill>
                  <a:srgbClr val="B2EBF2"/>
                </a:solidFill>
                <a:latin typeface="Calibri"/>
              </a:defRPr>
            </a:pPr>
            <a:r>
              <a:t>K3s Ready + optional pods Running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02920"/>
            <a:ext cx="10972800" cy="868680"/>
          </a:xfrm>
          <a:prstGeom prst="rect">
            <a:avLst/>
          </a:prstGeom>
          <a:noFill/>
        </p:spPr>
        <p:txBody>
          <a:bodyPr wrap="none">
            <a:spAutoFit/>
          </a:bodyPr>
          <a:lstStyle/>
          <a:p>
            <a:pPr>
              <a:defRPr sz="3000" b="1">
                <a:solidFill>
                  <a:srgbClr val="0D2B45"/>
                </a:solidFill>
                <a:latin typeface="Calibri"/>
              </a:defRPr>
            </a:pPr>
            <a:r>
              <a:t>Blueprint module validation</a:t>
            </a:r>
          </a:p>
        </p:txBody>
      </p:sp>
      <p:sp>
        <p:nvSpPr>
          <p:cNvPr id="4" name="Rounded Rectangle 3"/>
          <p:cNvSpPr/>
          <p:nvPr/>
        </p:nvSpPr>
        <p:spPr>
          <a:xfrm>
            <a:off x="502920" y="1344168"/>
            <a:ext cx="11155680" cy="5010912"/>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463040"/>
            <a:ext cx="10424160" cy="4782312"/>
          </a:xfrm>
          <a:prstGeom prst="rect">
            <a:avLst/>
          </a:prstGeom>
          <a:noFill/>
        </p:spPr>
        <p:txBody>
          <a:bodyPr wrap="square">
            <a:spAutoFit/>
          </a:bodyPr>
          <a:lstStyle/>
          <a:p>
            <a:pPr>
              <a:lnSpc>
                <a:spcPct val="115000"/>
              </a:lnSpc>
              <a:spcAft>
                <a:spcPts val="800"/>
              </a:spcAft>
              <a:defRPr sz="1400" b="0">
                <a:solidFill>
                  <a:srgbClr val="0D2B45"/>
                </a:solidFill>
                <a:latin typeface="Consolas"/>
              </a:defRPr>
            </a:pPr>
            <a:r>
              <a:t>$ training/experiments/blueprint/k3s-prereq.sh</a:t>
            </a:r>
          </a:p>
          <a:p>
            <a:pPr>
              <a:lnSpc>
                <a:spcPct val="115000"/>
              </a:lnSpc>
              <a:spcAft>
                <a:spcPts val="800"/>
              </a:spcAft>
              <a:defRPr sz="1400" b="0">
                <a:solidFill>
                  <a:srgbClr val="0D2B45"/>
                </a:solidFill>
                <a:latin typeface="Consolas"/>
              </a:defRPr>
            </a:pPr>
            <a:r>
              <a:t>$ kubectl get nodes -o wide</a:t>
            </a:r>
          </a:p>
          <a:p>
            <a:pPr>
              <a:lnSpc>
                <a:spcPct val="115000"/>
              </a:lnSpc>
              <a:spcAft>
                <a:spcPts val="800"/>
              </a:spcAft>
              <a:defRPr sz="1900" b="0">
                <a:solidFill>
                  <a:srgbClr val="37474F"/>
                </a:solidFill>
                <a:latin typeface="Calibri"/>
              </a:defRPr>
            </a:pPr>
            <a:r>
              <a:t>▸  Document: K3s Ready + (optional) S4T pods Running</a:t>
            </a:r>
          </a:p>
        </p:txBody>
      </p:sp>
      <p:sp>
        <p:nvSpPr>
          <p:cNvPr id="6" name="Rectangle 5"/>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A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02920"/>
            <a:ext cx="10972800" cy="868680"/>
          </a:xfrm>
          <a:prstGeom prst="rect">
            <a:avLst/>
          </a:prstGeom>
          <a:noFill/>
        </p:spPr>
        <p:txBody>
          <a:bodyPr wrap="none">
            <a:spAutoFit/>
          </a:bodyPr>
          <a:lstStyle/>
          <a:p>
            <a:pPr>
              <a:defRPr sz="3000" b="1">
                <a:solidFill>
                  <a:srgbClr val="0D2B45"/>
                </a:solidFill>
                <a:latin typeface="Calibri"/>
              </a:defRPr>
            </a:pPr>
            <a:r>
              <a:t>Module H checklist</a:t>
            </a:r>
          </a:p>
        </p:txBody>
      </p:sp>
      <p:sp>
        <p:nvSpPr>
          <p:cNvPr id="4" name="Rounded Rectangle 3"/>
          <p:cNvSpPr/>
          <p:nvPr/>
        </p:nvSpPr>
        <p:spPr>
          <a:xfrm>
            <a:off x="502920" y="1344168"/>
            <a:ext cx="11155680" cy="5010912"/>
          </a:xfrm>
          <a:prstGeom prst="roundRect">
            <a:avLst/>
          </a:prstGeom>
          <a:solidFill>
            <a:srgbClr val="FFFFFF"/>
          </a:solidFill>
          <a:ln w="9525">
            <a:solidFill>
              <a:srgbClr val="B2EB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463040"/>
            <a:ext cx="10424160" cy="4782312"/>
          </a:xfrm>
          <a:prstGeom prst="rect">
            <a:avLst/>
          </a:prstGeom>
          <a:noFill/>
        </p:spPr>
        <p:txBody>
          <a:bodyPr wrap="square">
            <a:spAutoFit/>
          </a:bodyPr>
          <a:lstStyle/>
          <a:p>
            <a:pPr>
              <a:lnSpc>
                <a:spcPct val="115000"/>
              </a:lnSpc>
              <a:spcAft>
                <a:spcPts val="800"/>
              </a:spcAft>
              <a:defRPr sz="1700" b="0">
                <a:solidFill>
                  <a:srgbClr val="37474F"/>
                </a:solidFill>
                <a:latin typeface="Calibri"/>
              </a:defRPr>
            </a:pPr>
            <a:r>
              <a:t>▸  □ k3s-prereq.sh passes · free -h shows adequate RAM</a:t>
            </a:r>
          </a:p>
          <a:p>
            <a:pPr>
              <a:lnSpc>
                <a:spcPct val="115000"/>
              </a:lnSpc>
              <a:spcAft>
                <a:spcPts val="800"/>
              </a:spcAft>
              <a:defRPr sz="1700" b="0">
                <a:solidFill>
                  <a:srgbClr val="37474F"/>
                </a:solidFill>
                <a:latin typeface="Calibri"/>
              </a:defRPr>
            </a:pPr>
            <a:r>
              <a:t>▸  □ kubectl get nodes shows Ready</a:t>
            </a:r>
          </a:p>
          <a:p>
            <a:pPr>
              <a:lnSpc>
                <a:spcPct val="115000"/>
              </a:lnSpc>
              <a:spcAft>
                <a:spcPts val="800"/>
              </a:spcAft>
              <a:defRPr sz="1700" b="0">
                <a:solidFill>
                  <a:srgbClr val="37474F"/>
                </a:solidFill>
                <a:latin typeface="Calibri"/>
              </a:defRPr>
            </a:pPr>
            <a:r>
              <a:t>▸  □ (Optional) S4T pods Running in K3s cluster</a:t>
            </a:r>
          </a:p>
          <a:p>
            <a:pPr>
              <a:lnSpc>
                <a:spcPct val="115000"/>
              </a:lnSpc>
              <a:spcAft>
                <a:spcPts val="800"/>
              </a:spcAft>
              <a:defRPr sz="1700" b="0">
                <a:solidFill>
                  <a:srgbClr val="37474F"/>
                </a:solidFill>
                <a:latin typeface="Calibri"/>
              </a:defRPr>
            </a:pPr>
            <a:r>
              <a:t>▸  □ Student can explain three Blueprint layers with S4T examples</a:t>
            </a:r>
          </a:p>
          <a:p>
            <a:pPr>
              <a:lnSpc>
                <a:spcPct val="115000"/>
              </a:lnSpc>
              <a:spcAft>
                <a:spcPts val="800"/>
              </a:spcAft>
              <a:defRPr sz="1700" b="0">
                <a:solidFill>
                  <a:srgbClr val="37474F"/>
                </a:solidFill>
                <a:latin typeface="Calibri"/>
              </a:defRPr>
            </a:pPr>
            <a:r>
              <a:t>▸  □ Do NOT run with Module G FL simultaneously</a:t>
            </a:r>
          </a:p>
          <a:p>
            <a:pPr>
              <a:lnSpc>
                <a:spcPct val="115000"/>
              </a:lnSpc>
              <a:spcAft>
                <a:spcPts val="800"/>
              </a:spcAft>
              <a:defRPr sz="1700" b="0">
                <a:solidFill>
                  <a:srgbClr val="37474F"/>
                </a:solidFill>
                <a:latin typeface="Calibri"/>
              </a:defRPr>
            </a:pPr>
            <a:r>
              <a:t>▸  Reference: github.com/AssemblingSmartCPS/ch11_xplane-provider-for-s4t · ch11_s4t-k3s-deploy</a:t>
            </a:r>
          </a:p>
        </p:txBody>
      </p:sp>
      <p:sp>
        <p:nvSpPr>
          <p:cNvPr id="6" name="Rectangle 5"/>
          <p:cNvSpPr/>
          <p:nvPr/>
        </p:nvSpPr>
        <p:spPr>
          <a:xfrm>
            <a:off x="457200" y="6446520"/>
            <a:ext cx="11274552" cy="18288"/>
          </a:xfrm>
          <a:prstGeom prst="rect">
            <a:avLst/>
          </a:prstGeom>
          <a:solidFill>
            <a:srgbClr val="B2E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7315200" cy="320040"/>
          </a:xfrm>
          <a:prstGeom prst="rect">
            <a:avLst/>
          </a:prstGeom>
          <a:noFill/>
        </p:spPr>
        <p:txBody>
          <a:bodyPr wrap="none">
            <a:spAutoFit/>
          </a:bodyPr>
          <a:lstStyle/>
          <a:p>
            <a:pPr>
              <a:defRPr sz="900" b="0">
                <a:solidFill>
                  <a:srgbClr val="90A4AE"/>
                </a:solidFill>
                <a:latin typeface="Calibri"/>
              </a:defRPr>
            </a:pPr>
            <a:r>
              <a:t>Assembling Smart CPS · Stack4Things Training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