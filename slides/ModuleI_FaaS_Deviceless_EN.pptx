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this module we will work through Module I — FaaS &amp; the Deviceless Paradigm.</a:t>
            </a:r>
          </a:p>
          <a:p/>
          <a:p>
            <a:r>
              <a:t>Ch.7 · Advanced · VM {{VM_IP}}</a:t>
            </a:r>
          </a:p>
          <a:p/>
          <a:p>
            <a:r>
              <a:t>The session alternates theory from the book with live exercises on the Stack4Things lab VM. Replace the placeholder IP with the address of the machine you are using.</a:t>
            </a:r>
          </a:p>
          <a:p/>
          <a:p>
            <a:r>
              <a:t>Advanced · Ch.7 — FaaS &amp; Deviceless · contrasts Modules B, C, F.</a:t>
            </a:r>
          </a:p>
          <a:p/>
          <a:p>
            <a:r>
              <a:t>When you're ready, advance to the first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Deviceless &amp; serverless theory. Ch.7 — before side-by-side plugin demos. In the next slides, listen for whether we are in theory mode or hands-on mode, and open your terminal when the slides turn to lab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Deviceless paradigm (Ch.7). This material is covered in Ch.7 · The Deviceless paradigm · chapter abstract.</a:t>
            </a:r>
          </a:p>
          <a:p/>
          <a:p>
            <a:r>
              <a:t>First, Physical devices abstracted as composable virtual Web resources with stable DNS names. Next, Developers interact with Things via HTTP URIs — not device-specific SDKs or serial protocols.</a:t>
            </a:r>
          </a:p>
          <a:p/>
          <a:p>
            <a:r>
              <a:t>By contrast, regarding geographic distribution transparent, wot.sensor-barcelona.example.com just works. We should also consider that Deviceless = operational realization of WoT vision (Ch.6) at Cloud Continuum scale.</a:t>
            </a:r>
          </a:p>
          <a:p/>
          <a:p>
            <a:r>
              <a:t>Another key point is that S4T Module F WSTUN/Designate exposure is the lab step toward Deviceless naming. Furthermore, Book abstract positions Deviceless as key enabler for programmable CPS infrastructure.</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From devices to Web resources (Ch.7). This material is covered in Ch.7 · device abstraction · WoT cross-reference Ch.6.</a:t>
            </a:r>
          </a:p>
          <a:p/>
          <a:p>
            <a:r>
              <a:t>First, regarding traditional iot, developer learns board SDK, GPIO libraries, firmware toolchain. Next, regarding deviceless, developer consumes OpenAPI/REST contract — implementation opaque.</a:t>
            </a:r>
          </a:p>
          <a:p/>
          <a:p>
            <a:r>
              <a:t>By contrast, regarding dns stability, service moves from board A to board B — URL unchanged for consumers. We should also consider that regarding compose (ch.6 layer), mashup apps combine Deviceless resources without owning hardware.</a:t>
            </a:r>
          </a:p>
          <a:p/>
          <a:p>
            <a:r>
              <a:t>Another key point is that Stack4Things IoTronic + Designate + NGINX implement Deviceless naming infrastructure. Furthermore, Module I connects abstract Ch.7 taxonomy to concrete Ch.14 plugin modes in lab.</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PaaS vs FaaS vs Deviceless (Ch.7). This material is covered in Ch.7 · serverless on OpenStack · Qinling · OpenWhisk-Light.</a:t>
            </a:r>
          </a:p>
          <a:p/>
          <a:p>
            <a:r>
              <a:t>First, regarding paas, long-running platform service — always-on process or container on cloud/edge. Next, regarding faas, event-driven function — invoke, execute, return result, scale to zero between calls.</a:t>
            </a:r>
          </a:p>
          <a:p/>
          <a:p>
            <a:r>
              <a:t>By contrast, regarding deviceless, device capability exposed as callable Web resource with DNS name — not a function runtime per se. We should also consider that regarding openstack qinling, serverless functions on OpenStack cloud infrastructure (Zun containers).</a:t>
            </a:r>
          </a:p>
          <a:p/>
          <a:p>
            <a:r>
              <a:t>Another key point is that OpenWhisk-Light referenced in book as lightweight FaaS research platform. Furthermore, All three coexist in Cloud Continuum — choice depends on workload lifetime and trigger pattern.</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FaaS characteristics in detail (Ch.7). This material is covered in Ch.7 · FaaS properties · edge serverless discussion.</a:t>
            </a:r>
          </a:p>
          <a:p/>
          <a:p>
            <a:r>
              <a:t>First, regarding event-triggered, HTTP request, message queue event, scheduled cron — not continuous loop. Next, regarding stateless execution, function instance holds no persistent state between invocations.</a:t>
            </a:r>
          </a:p>
          <a:p/>
          <a:p>
            <a:r>
              <a:t>By contrast, regarding scale to zero, no cost/resources when idle — cold start latency trade-off. We should also consider that regarding managed runtime, platform handles packaging, scaling, logging — developer supplies handler code.</a:t>
            </a:r>
          </a:p>
          <a:p/>
          <a:p>
            <a:r>
              <a:t>Another key point is that regarding billing model, per-invocation + execution duration — vs PaaS always-on provisioning. Furthermore, regarding edge faas (ch.7 + ch.11), functions deployed near data sources in K3s/Knative substrate.</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PaaS characteristics in detail (Ch.7). This material is covered in Ch.7 · PaaS at the edge · Module C cross-reference.</a:t>
            </a:r>
          </a:p>
          <a:p/>
          <a:p>
            <a:r>
              <a:t>First, regarding long-running service, process starts once, serves many requests over hours/days/months. Next, regarding stateful acceptable, in-memory caches, connection pools, persistent background threads.</a:t>
            </a:r>
          </a:p>
          <a:p/>
          <a:p>
            <a:r>
              <a:t>By contrast, regarding always-on cost, container/VM provisioned continuously — even during idle periods. We should also consider that regarding edge paas example, environmental_data async plugin (Module C) — 30 s publish loop.</a:t>
            </a:r>
          </a:p>
          <a:p/>
          <a:p>
            <a:r>
              <a:t>Another key point is that regarding docker plugin (module b optional), deploys containerized service on edge on demand. Furthermore, PaaS appropriate when continuous monitoring/actuation required — not one-shot queries.</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Mapping book concepts to S4T lab demos (Ch.7 applied). This material is covered in Ch.7 applied to Part II labs · Ch.14 plugin modes.</a:t>
            </a:r>
          </a:p>
          <a:p/>
          <a:p>
            <a:r>
              <a:t>First, regarding helloname plugin call (module b) ≈ faas-like, one shot invocation, immediate JSON result. Next, Environmental_data async plugin (Module C) ≈ PaaS-like: continuous microservice loop.</a:t>
            </a:r>
          </a:p>
          <a:p/>
          <a:p>
            <a:r>
              <a:t>By contrast, Docker plugin run (Module B optional) ≈ deploying containerized PaaS on edge on demand. We should also consider that WoT HTTP exposure via WSTUN (Module F) ≈ Deviceless: board service as Web resource.</a:t>
            </a:r>
          </a:p>
          <a:p/>
          <a:p>
            <a:r>
              <a:t>Another key point is that Sync vs async plugin modes (Ch.14) directly encode FaaS-like vs PaaS-like behaviour. Furthermore, Module I makes taxonomy explicit — students re-label demos they already executed.</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Serverless at the continuum edge (Ch.7 + Ch.11). This material is covered in Ch.7 + Ch.11 Type 1 serverless experiments.</a:t>
            </a:r>
          </a:p>
          <a:p/>
          <a:p>
            <a:r>
              <a:t>First, Function-as-a-Service models extend toward edge nodes in Cloud Continuum architecture. Next, K8s + Knative or Qinling can host ephemeral functions near IoT data sources.</a:t>
            </a:r>
          </a:p>
          <a:p/>
          <a:p>
            <a:r>
              <a:t>By contrast, S4T callable sync plugins are stepping stone — no Qinling in current Docker lab compose. We should also consider that Blueprint Module H K3s substrate enables future FaaS integration via Crossplane CRDs.</a:t>
            </a:r>
          </a:p>
          <a:p/>
          <a:p>
            <a:r>
              <a:t>Another key point is that Ch.11 Type 1 experiments include serverless architectural paradigm category. Furthermore, regarding research direction, IoTronic inject deploys function handler instead of long-running Worker.</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Qinling and OpenStack serverless (Ch.7). This material is covered in Ch.7 · Qinling references · OpenStack serverless roadmap.</a:t>
            </a:r>
          </a:p>
          <a:p/>
          <a:p>
            <a:r>
              <a:t>First, regarding qinling, openStack project for function lifecycle management on Zun containers. Next, Functions packaged as containers — triggered by HTTP or message bus events.</a:t>
            </a:r>
          </a:p>
          <a:p/>
          <a:p>
            <a:r>
              <a:t>By contrast, Integrates with Keystone auth, Designate DNS — full OpenStack ecosystem fit. We should also consider that Not deployed in current training Docker compose — documented as research/production direction.</a:t>
            </a:r>
          </a:p>
          <a:p/>
          <a:p>
            <a:r>
              <a:t>Another key point is that Would enable true scale-to-zero functions managed like other OpenStack services. Furthermore, Deviceless DNS + Qinling functions = full Ch.7 vision operational on S4T stack.</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Zun — OpenStack container service (Ch.7). This material is covered in Ch.7 § Zun · fig:chap07:zun-system.</a:t>
            </a:r>
          </a:p>
          <a:p/>
          <a:p>
            <a:r>
              <a:t>First, regarding zun-api, REST/WSGI entry point from Horizon or CLI for container lifecycle. Next, regarding zun-compute, agent on compute nodes — hides Docker runtime operations from users.</a:t>
            </a:r>
          </a:p>
          <a:p/>
          <a:p>
            <a:r>
              <a:t>By contrast, regarding zun-wsproxy, interactive shell and log streaming into running containers. We should also consider that regarding zun-scheduler, filters (RAM, CPU, labels) select host for new container placement.</a:t>
            </a:r>
          </a:p>
          <a:p/>
          <a:p>
            <a:r>
              <a:t>Another key point is that regarding zun networking driver, assigns reachability — Neutron in cloud, IoTronic WSTUN at edge. Furthermore, regarding capsule ≈ kubernetes pod, runtime + sidecar + pause containers sharing network namespace.</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Deviceless edge reachability — Zun + WSTUN (Ch.7). This material is covered in Ch.7 § Implementation aspects · fig:chap07:devless-cloud-arch.</a:t>
            </a:r>
          </a:p>
          <a:p/>
          <a:p>
            <a:r>
              <a:t>First, IoT nodes act as Zun compute hosts — containers run on boards, not only in datacenter. Next, Standard Neutron overlay cannot reach NAT-bound edge capsules — custom driver required.</a:t>
            </a:r>
          </a:p>
          <a:p/>
          <a:p>
            <a:r>
              <a:t>By contrast, New Zun networking driver maps each public cloud port to a remote container via WSTUN. We should also consider that HostnameFilter scheduler policy targets a specific board by name/id for function placement.</a:t>
            </a:r>
          </a:p>
          <a:p/>
          <a:p>
            <a:r>
              <a:t>Another key point is that regarding qinling runtime creation on edge, qinling, then Zun capsule, then IoTronic tunnel, then reachable URL. Furthermore, Same WSTUN infrastructure as Module F — Deviceless adds serverless function semantics on top.</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Node-RED and flow-based Deviceless (Ch.7). This material is covered in Ch.7 § Flow-based development · Node-RED · sec:use-cases.</a:t>
            </a:r>
          </a:p>
          <a:p/>
          <a:p>
            <a:r>
              <a:t>First, Node-RED provides visual flow programming — wires connect HTTP, MQTT, and function nodes. Next, Deviceless extends flows across cloud and edge without installing Node-RED on every board.</a:t>
            </a:r>
          </a:p>
          <a:p/>
          <a:p>
            <a:r>
              <a:t>By contrast, Qinling function nodes invoke edge runtimes — distributed logic with Web-native triggers. We should also consider that regarding contrasts with openwhisk-light, limited to local-only triggers on a single node.</a:t>
            </a:r>
          </a:p>
          <a:p/>
          <a:p>
            <a:r>
              <a:t>Another key point is that Book use cases show remote wires linking cloud dashboards to edge sensor preprocessing. Furthermore, Module I conceptual bridge — lab uses sync/async plugins instead of Qinling functions today.</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diagram on screen: Serverless-like vs long-running contrast. Describe the main boxes and arrows. Relate each element to a Docker service or API you have already seen. In particular, note the following: HelloName sync Plugin Call (FaaS-like) vs environmental async (PaaS-like).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Module I — learning objectives.</a:t>
            </a:r>
          </a:p>
          <a:p/>
          <a:p>
            <a:r>
              <a:t>First, Define Deviceless, FaaS, and PaaS from Ch.7 with S4T lab examples. Next, Execute side-by-side Demo 1 (HelloName Plugin Call) and Demo 2 (environmental Start).</a:t>
            </a:r>
          </a:p>
          <a:p/>
          <a:p>
            <a:r>
              <a:t>By contrast, Articulate which book category each existing module demo represents. We should also consider that Connect Module F WoT exposure to Deviceless Web resource naming.</a:t>
            </a:r>
          </a:p>
          <a:p/>
          <a:p>
            <a:r>
              <a:t>Another key point is that Identify Qinling/K3s as future FaaS integration path (Ch.7 + Ch.11).</a:t>
            </a:r>
          </a:p>
          <a:p/>
          <a:p>
            <a:r>
              <a:t>If these objectives are clear, we can proceed.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demonstration, Side-by-side demo goals (Ch.7 applied to lab).</a:t>
            </a:r>
          </a:p>
          <a:p/>
          <a:p>
            <a:r>
              <a:t>First, regarding demo 1, helloName Plugin Call — atomic invocation, zero persistent background state. Next, regarding demo 2, environmental_data Start — long-running loop, continuous InfluxDB time-series output.</a:t>
            </a:r>
          </a:p>
          <a:p/>
          <a:p>
            <a:r>
              <a:t>By contrast, regarding students label each demo, faaS-like, PaaS-like, or Deviceless (Module F exposure layer). We should also consider that No new containers or plugins — reuses Modules B and C artefacts on {{VM_IP}} lab.</a:t>
            </a:r>
          </a:p>
          <a:p/>
          <a:p>
            <a:r>
              <a:t>Another key point is that regarding discussion prompts, which billing model fits each pattern? Which has cold start? Which is stateful? Furthermore, Connects abstract Ch.7 taxonomy to concrete Ch.14 plugin sync/async modes already learned.</a:t>
            </a:r>
          </a:p>
          <a:p/>
          <a:p>
            <a:r>
              <a:t>Check that your screen matches what we showed before moving on.</a:t>
            </a:r>
          </a:p>
          <a:p/>
          <a:p>
            <a:r>
              <a:t>Session timing — Module I — 35-minute timeline: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Demo 1 — FaaS-like Plugin Call. HelloName synchronous invocation. In the next slides, listen for whether we are in theory mode or hands-on mode, and open your terminal when the slides turn to lab work.</a:t>
            </a:r>
          </a:p>
          <a:p/>
          <a:p>
            <a:r>
              <a:t>Instructor timing (title): Hands-on Demo 1 — FaaS-like Plugin Call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Demo 1 — atomic Plugin Call (serverless-like). Open your lab VM and follow along.</a:t>
            </a:r>
          </a:p>
          <a:p/>
          <a:p>
            <a:r>
              <a:t>First, regarding open http, //{{VM_IP}}/horizon/iot/ — login admin / s4t. Next, Plugins, then HelloName (from Module B), then Plugin Call.</a:t>
            </a:r>
          </a:p>
          <a:p/>
          <a:p>
            <a:r>
              <a:t>By contrast, regarding {"name", "FaaS-demo"}. We should also consider that Single invocation, then immediate JSON result — no background process persists.</a:t>
            </a:r>
          </a:p>
          <a:p/>
          <a:p>
            <a:r>
              <a:t>Another key point is that regarding contrast, no Start/Stop lifecycle — function-equivalent behaviour.</a:t>
            </a:r>
          </a:p>
          <a:p/>
          <a:p>
            <a:r>
              <a:t>Raise your hand if you're stuck — we'll wait until most of you are done.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Horizon IoT — Plugins (sync Plugin Call). Walk the class through what they see in the interface. Connect each panel and button to a component we already deployed in the stack. In particular, note the following: Callable=ON → one-shot invocation · HelloName sync plugin.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Why HelloName is FaaS-like (Ch.7 + Ch.14). This material is covered in Ch.14 §14.1.2 sync pipeline · Ch.7 FaaS mapping.</a:t>
            </a:r>
          </a:p>
          <a:p/>
          <a:p>
            <a:r>
              <a:t>First, Dormant until Plugin Call trigger — no CPU consumed while idle on board. Next, Single input JSON, then single output JSON — request/response function signature.</a:t>
            </a:r>
          </a:p>
          <a:p/>
          <a:p>
            <a:r>
              <a:t>By contrast, No persistent state between calls — each Plugin Call is independent invocation. We should also consider that regarding execution duration, milliseconds — matches FaaS short-lived handler pattern.</a:t>
            </a:r>
          </a:p>
          <a:p/>
          <a:p>
            <a:r>
              <a:t>Another key point is that regarding missing faas features in lab, auto-scale, cold start metrics, per-invocation billing. Furthermore, Closest lab analog to Ch.7 FaaS without deploying Qinling infrastructure.</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Demo 2 — PaaS-like async service. environmental_data continuous publisher. In the next slides, listen for whether we are in theory mode or hands-on mode, and open your terminal when the slides turn to lab work.</a:t>
            </a:r>
          </a:p>
          <a:p/>
          <a:p>
            <a:r>
              <a:t>Instructor timing (title): Hands-on Demo 2 — PaaS-like async service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Demo 2 — long-running async plugin (PaaS-like). Open your lab VM and follow along.</a:t>
            </a:r>
          </a:p>
          <a:p/>
          <a:p>
            <a:r>
              <a:t>First, Start environmental_data plugin from Module C (or restart if stopped). Next, Observe continuous InfluxDB writes every 30 s at http://{{VM_IP}}:8086.</a:t>
            </a:r>
          </a:p>
          <a:p/>
          <a:p>
            <a:r>
              <a:t>By contrast, regarding contrast, no Plugin Call per iteration — persistent _is_running background loop. We should also consider that Stop/Interrupt required to halt — unlike one-shot HelloName Plugin Call.</a:t>
            </a:r>
          </a:p>
          <a:p/>
          <a:p>
            <a:r>
              <a:t>Raise your hand if you're stuck — we'll wait until most of you are done.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InfluxDB — continuous async output. Walk the class through what they see in the interface. Connect each panel and button to a component we already deployed in the stack. In particular, note the following: Time-series grows while plugin runs — PaaS-style always-on edge service.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Why environmental_data is PaaS-like (Ch.7 + Ch.15). This material is covered in Ch.15 async environmental plugin · Ch.7 PaaS mapping.</a:t>
            </a:r>
          </a:p>
          <a:p/>
          <a:p>
            <a:r>
              <a:t>First, Long-running background thread — active for minutes/hours during class session. Next, regarding stateful loop, maintains sensor read schedule and InfluxDB connection context.</a:t>
            </a:r>
          </a:p>
          <a:p/>
          <a:p>
            <a:r>
              <a:t>By contrast, Always-on resource consumption on board while plugin Started — no scale to zero. We should also consider that Continuous output stream — not event-triggered single response pattern.</a:t>
            </a:r>
          </a:p>
          <a:p/>
          <a:p>
            <a:r>
              <a:t>Another key point is that Matches edge microservice/PaaS deployment model from Ch.15 environmental publisher. Furthermore, regarding production, would run 24/7 on edge gateway — FaaS inappropriate for this pattern.</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Deviceless layer — Module F connection (Ch.7 + Ch.6). This material is covered in Ch.7 Deviceless · Ch.6 WoT · Module F cross-reference.</a:t>
            </a:r>
          </a:p>
          <a:p/>
          <a:p>
            <a:r>
              <a:t>First, Module F WSTUN exposes board HTTP service at {{VM_IP}}:public_port — Web resource URI. Next, regarding production designate path, stable DNS name independent of board physical location.</a:t>
            </a:r>
          </a:p>
          <a:p/>
          <a:p>
            <a:r>
              <a:t>By contrast, regarding deviceless consumer, curl https://wot.board.example.com/temperature — no LR SDK needed. We should also consider that regarding faas handler behind deviceless url, function invoked via HTTP POST to named endpoint.</a:t>
            </a:r>
          </a:p>
          <a:p/>
          <a:p>
            <a:r>
              <a:t>Another key point is that regarding three-layer stack, deviceless (naming) + FaaS/PaaS (execution model) + WoT (API contract). Furthermore, regarding module i completes taxonomy, helloName=FaaS-like, environmental=PaaS-like, WSTUN=Deviceless enabler.</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Wrap-up &amp; future directions. Qinling + K3s + Course Map link. In the next slides, listen for whether we are in theory mode or hands-on mode, and open your terminal when the slides turn to lab work.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Future work — full Ch.7 vision on S4T (Ch.7 + Ch.11). This material is covered in Ch.7 · future directions · Ch.11 K3s substrate.</a:t>
            </a:r>
          </a:p>
          <a:p/>
          <a:p>
            <a:r>
              <a:t>First, regarding qinling on openstack s4t, true scale-to-zero functions with Keystone auth. Next, regarding knative on module h k3s, kubernetes-native FaaS with auto-scaling pods.</a:t>
            </a:r>
          </a:p>
          <a:p/>
          <a:p>
            <a:r>
              <a:t>By contrast, regarding crossplane crd, declare function + Deviceless DNS + board target in single YAML. We should also consider that regarding iotronic inject, deploy function handler container instead of persistent Worker class.</a:t>
            </a:r>
          </a:p>
          <a:p/>
          <a:p>
            <a:r>
              <a:t>Another key point is that Research papers cited in Ch.7 on edge serverless latency and cold-start optimization. Furthermore, regarding current training lab, conceptual bridge complete — infrastructure evolution is next step.</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Module I wrap-up checklist.</a:t>
            </a:r>
          </a:p>
          <a:p/>
          <a:p>
            <a:r>
              <a:t>First, regarding □ demo 1 executed, helloName Plugin Call labelled FaaS-like by students. Next, regarding □ demo 2 executed, environmental_data Start labelled PaaS-like by students.</a:t>
            </a:r>
          </a:p>
          <a:p/>
          <a:p>
            <a:r>
              <a:t>By contrast, □ Student explains Deviceless connection to Module F WoT/WSTUN exposure. We should also consider that □ Student identifies Qinling/K3s as production FaaS path (Ch.7 + Ch.11).</a:t>
            </a:r>
          </a:p>
          <a:p/>
          <a:p>
            <a:r>
              <a:t>Another key point is that regarding return to course map — full 9h path complete, A, then I modules covered.</a:t>
            </a:r>
          </a:p>
          <a:p/>
          <a:p>
            <a:r>
              <a:t>If these objectives are clear, we can proceed.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502920"/>
            <a:ext cx="2011680" cy="347472"/>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S4T TRAINING</a:t>
            </a:r>
          </a:p>
        </p:txBody>
      </p:sp>
      <p:sp>
        <p:nvSpPr>
          <p:cNvPr id="5" name="TextBox 4"/>
          <p:cNvSpPr txBox="1"/>
          <p:nvPr/>
        </p:nvSpPr>
        <p:spPr>
          <a:xfrm>
            <a:off x="685800" y="1828800"/>
            <a:ext cx="10789920" cy="1645920"/>
          </a:xfrm>
          <a:prstGeom prst="rect">
            <a:avLst/>
          </a:prstGeom>
          <a:noFill/>
        </p:spPr>
        <p:txBody>
          <a:bodyPr wrap="none">
            <a:spAutoFit/>
          </a:bodyPr>
          <a:lstStyle/>
          <a:p>
            <a:pPr>
              <a:defRPr sz="4000" b="1">
                <a:solidFill>
                  <a:srgbClr val="FFFFFF"/>
                </a:solidFill>
                <a:latin typeface="Calibri"/>
              </a:defRPr>
            </a:pPr>
            <a:r>
              <a:t>Module I — FaaS &amp; the Deviceless Paradigm</a:t>
            </a:r>
          </a:p>
        </p:txBody>
      </p:sp>
      <p:sp>
        <p:nvSpPr>
          <p:cNvPr id="6" name="TextBox 5"/>
          <p:cNvSpPr txBox="1"/>
          <p:nvPr/>
        </p:nvSpPr>
        <p:spPr>
          <a:xfrm>
            <a:off x="685800" y="3520440"/>
            <a:ext cx="10515600" cy="1280160"/>
          </a:xfrm>
          <a:prstGeom prst="rect">
            <a:avLst/>
          </a:prstGeom>
          <a:noFill/>
        </p:spPr>
        <p:txBody>
          <a:bodyPr wrap="none">
            <a:spAutoFit/>
          </a:bodyPr>
          <a:lstStyle/>
          <a:p>
            <a:pPr>
              <a:spcAft>
                <a:spcPts val="400"/>
              </a:spcAft>
              <a:defRPr sz="2200" b="0">
                <a:solidFill>
                  <a:srgbClr val="B2EBF2"/>
                </a:solidFill>
                <a:latin typeface="Calibri"/>
              </a:defRPr>
            </a:pPr>
            <a:r>
              <a:t>Ch.7 · Advanced · VM {{VM_IP}}</a:t>
            </a:r>
          </a:p>
        </p:txBody>
      </p:sp>
      <p:sp>
        <p:nvSpPr>
          <p:cNvPr id="7" name="TextBox 6"/>
          <p:cNvSpPr txBox="1"/>
          <p:nvPr/>
        </p:nvSpPr>
        <p:spPr>
          <a:xfrm>
            <a:off x="685800" y="5623560"/>
            <a:ext cx="10515600" cy="548640"/>
          </a:xfrm>
          <a:prstGeom prst="rect">
            <a:avLst/>
          </a:prstGeom>
          <a:noFill/>
        </p:spPr>
        <p:txBody>
          <a:bodyPr wrap="none">
            <a:spAutoFit/>
          </a:bodyPr>
          <a:lstStyle/>
          <a:p>
            <a:pPr>
              <a:defRPr sz="1400" b="0">
                <a:solidFill>
                  <a:srgbClr val="90A4AE"/>
                </a:solidFill>
                <a:latin typeface="Calibri"/>
              </a:defRPr>
            </a:pPr>
            <a:r>
              <a:t>Advanced · Ch.7 — FaaS &amp; Deviceless · contrasts Modules B, C, F</a:t>
            </a:r>
          </a:p>
        </p:txBody>
      </p:sp>
      <p:sp>
        <p:nvSpPr>
          <p:cNvPr id="8" name="Rectangle 7"/>
          <p:cNvSpPr/>
          <p:nvPr/>
        </p:nvSpPr>
        <p:spPr>
          <a:xfrm>
            <a:off x="685800" y="5394960"/>
            <a:ext cx="3200400" cy="36576"/>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Deviceless &amp; serverless theory</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Ch.7 — before side-by-side plugin demos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The Deviceless paradigm · chapter abstract</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Deviceless paradigm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Physical devices abstracted as composable virtual Web resources with stable DNS names</a:t>
            </a:r>
          </a:p>
          <a:p>
            <a:pPr>
              <a:lnSpc>
                <a:spcPct val="115000"/>
              </a:lnSpc>
              <a:spcAft>
                <a:spcPts val="500"/>
              </a:spcAft>
              <a:defRPr sz="1600" b="0">
                <a:solidFill>
                  <a:srgbClr val="37474F"/>
                </a:solidFill>
                <a:latin typeface="Calibri"/>
              </a:defRPr>
            </a:pPr>
            <a:r>
              <a:t>▸  Developers interact with Things via HTTP URIs — not device-specific SDKs or serial protocols</a:t>
            </a:r>
          </a:p>
          <a:p>
            <a:pPr>
              <a:lnSpc>
                <a:spcPct val="115000"/>
              </a:lnSpc>
              <a:spcAft>
                <a:spcPts val="500"/>
              </a:spcAft>
              <a:defRPr sz="1600" b="0">
                <a:solidFill>
                  <a:srgbClr val="37474F"/>
                </a:solidFill>
                <a:latin typeface="Calibri"/>
              </a:defRPr>
            </a:pPr>
            <a:r>
              <a:t>▸  Geographic distribution transparent: wot.sensor-barcelona.example.com just works</a:t>
            </a:r>
          </a:p>
          <a:p>
            <a:pPr>
              <a:lnSpc>
                <a:spcPct val="115000"/>
              </a:lnSpc>
              <a:spcAft>
                <a:spcPts val="500"/>
              </a:spcAft>
              <a:defRPr sz="1600" b="0">
                <a:solidFill>
                  <a:srgbClr val="37474F"/>
                </a:solidFill>
                <a:latin typeface="Calibri"/>
              </a:defRPr>
            </a:pPr>
            <a:r>
              <a:t>▸  Deviceless = operational realization of WoT vision (Ch.6) at Cloud Continuum scale</a:t>
            </a:r>
          </a:p>
          <a:p>
            <a:pPr>
              <a:lnSpc>
                <a:spcPct val="115000"/>
              </a:lnSpc>
              <a:spcAft>
                <a:spcPts val="500"/>
              </a:spcAft>
              <a:defRPr sz="1600" b="0">
                <a:solidFill>
                  <a:srgbClr val="37474F"/>
                </a:solidFill>
                <a:latin typeface="Calibri"/>
              </a:defRPr>
            </a:pPr>
            <a:r>
              <a:t>▸  S4T Module F WSTUN/Designate exposure is the lab step toward Deviceless naming</a:t>
            </a:r>
          </a:p>
          <a:p>
            <a:pPr>
              <a:lnSpc>
                <a:spcPct val="115000"/>
              </a:lnSpc>
              <a:spcAft>
                <a:spcPts val="500"/>
              </a:spcAft>
              <a:defRPr sz="1600" b="0">
                <a:solidFill>
                  <a:srgbClr val="37474F"/>
                </a:solidFill>
                <a:latin typeface="Calibri"/>
              </a:defRPr>
            </a:pPr>
            <a:r>
              <a:t>▸  Book abstract positions Deviceless as key enabler for programmable CPS infrastructure</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device abstraction · WoT cross-reference Ch.6</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From devices to Web resources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Traditional IoT: developer learns board SDK, GPIO libraries, firmware toolchain</a:t>
            </a:r>
          </a:p>
          <a:p>
            <a:pPr>
              <a:lnSpc>
                <a:spcPct val="115000"/>
              </a:lnSpc>
              <a:spcAft>
                <a:spcPts val="500"/>
              </a:spcAft>
              <a:defRPr sz="1600" b="0">
                <a:solidFill>
                  <a:srgbClr val="37474F"/>
                </a:solidFill>
                <a:latin typeface="Calibri"/>
              </a:defRPr>
            </a:pPr>
            <a:r>
              <a:t>▸  Deviceless: developer consumes OpenAPI/REST contract — implementation opaque</a:t>
            </a:r>
          </a:p>
          <a:p>
            <a:pPr>
              <a:lnSpc>
                <a:spcPct val="115000"/>
              </a:lnSpc>
              <a:spcAft>
                <a:spcPts val="500"/>
              </a:spcAft>
              <a:defRPr sz="1600" b="0">
                <a:solidFill>
                  <a:srgbClr val="37474F"/>
                </a:solidFill>
                <a:latin typeface="Calibri"/>
              </a:defRPr>
            </a:pPr>
            <a:r>
              <a:t>▸  DNS stability: service moves from board A to board B — URL unchanged for consumers</a:t>
            </a:r>
          </a:p>
          <a:p>
            <a:pPr>
              <a:lnSpc>
                <a:spcPct val="115000"/>
              </a:lnSpc>
              <a:spcAft>
                <a:spcPts val="500"/>
              </a:spcAft>
              <a:defRPr sz="1600" b="0">
                <a:solidFill>
                  <a:srgbClr val="37474F"/>
                </a:solidFill>
                <a:latin typeface="Calibri"/>
              </a:defRPr>
            </a:pPr>
            <a:r>
              <a:t>▸  Compose (Ch.6 layer): mashup apps combine Deviceless resources without owning hardware</a:t>
            </a:r>
          </a:p>
          <a:p>
            <a:pPr>
              <a:lnSpc>
                <a:spcPct val="115000"/>
              </a:lnSpc>
              <a:spcAft>
                <a:spcPts val="500"/>
              </a:spcAft>
              <a:defRPr sz="1600" b="0">
                <a:solidFill>
                  <a:srgbClr val="37474F"/>
                </a:solidFill>
                <a:latin typeface="Calibri"/>
              </a:defRPr>
            </a:pPr>
            <a:r>
              <a:t>▸  Stack4Things IoTronic + Designate + NGINX implement Deviceless naming infrastructure</a:t>
            </a:r>
          </a:p>
          <a:p>
            <a:pPr>
              <a:lnSpc>
                <a:spcPct val="115000"/>
              </a:lnSpc>
              <a:spcAft>
                <a:spcPts val="500"/>
              </a:spcAft>
              <a:defRPr sz="1600" b="0">
                <a:solidFill>
                  <a:srgbClr val="37474F"/>
                </a:solidFill>
                <a:latin typeface="Calibri"/>
              </a:defRPr>
            </a:pPr>
            <a:r>
              <a:t>▸  Module I connects abstract Ch.7 taxonomy to concrete Ch.14 plugin modes in lab</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serverless on OpenStack · Qinling · OpenWhisk-Light</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PaaS vs FaaS vs Deviceless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PaaS: long-running platform service — always-on process or container on cloud/edge</a:t>
            </a:r>
          </a:p>
          <a:p>
            <a:pPr>
              <a:lnSpc>
                <a:spcPct val="115000"/>
              </a:lnSpc>
              <a:spcAft>
                <a:spcPts val="500"/>
              </a:spcAft>
              <a:defRPr sz="1600" b="0">
                <a:solidFill>
                  <a:srgbClr val="37474F"/>
                </a:solidFill>
                <a:latin typeface="Calibri"/>
              </a:defRPr>
            </a:pPr>
            <a:r>
              <a:t>▸  FaaS: event-driven function — invoke, execute, return result, scale to zero between calls</a:t>
            </a:r>
          </a:p>
          <a:p>
            <a:pPr>
              <a:lnSpc>
                <a:spcPct val="115000"/>
              </a:lnSpc>
              <a:spcAft>
                <a:spcPts val="500"/>
              </a:spcAft>
              <a:defRPr sz="1600" b="0">
                <a:solidFill>
                  <a:srgbClr val="37474F"/>
                </a:solidFill>
                <a:latin typeface="Calibri"/>
              </a:defRPr>
            </a:pPr>
            <a:r>
              <a:t>▸  Deviceless: device capability exposed as callable Web resource with DNS name — not a function runtime per se</a:t>
            </a:r>
          </a:p>
          <a:p>
            <a:pPr>
              <a:lnSpc>
                <a:spcPct val="115000"/>
              </a:lnSpc>
              <a:spcAft>
                <a:spcPts val="500"/>
              </a:spcAft>
              <a:defRPr sz="1600" b="0">
                <a:solidFill>
                  <a:srgbClr val="37474F"/>
                </a:solidFill>
                <a:latin typeface="Calibri"/>
              </a:defRPr>
            </a:pPr>
            <a:r>
              <a:t>▸  OpenStack Qinling: serverless functions on OpenStack cloud infrastructure (Zun containers)</a:t>
            </a:r>
          </a:p>
          <a:p>
            <a:pPr>
              <a:lnSpc>
                <a:spcPct val="115000"/>
              </a:lnSpc>
              <a:spcAft>
                <a:spcPts val="500"/>
              </a:spcAft>
              <a:defRPr sz="1600" b="0">
                <a:solidFill>
                  <a:srgbClr val="37474F"/>
                </a:solidFill>
                <a:latin typeface="Calibri"/>
              </a:defRPr>
            </a:pPr>
            <a:r>
              <a:t>▸  OpenWhisk-Light referenced in book as lightweight FaaS research platform</a:t>
            </a:r>
          </a:p>
          <a:p>
            <a:pPr>
              <a:lnSpc>
                <a:spcPct val="115000"/>
              </a:lnSpc>
              <a:spcAft>
                <a:spcPts val="500"/>
              </a:spcAft>
              <a:defRPr sz="1600" b="0">
                <a:solidFill>
                  <a:srgbClr val="37474F"/>
                </a:solidFill>
                <a:latin typeface="Calibri"/>
              </a:defRPr>
            </a:pPr>
            <a:r>
              <a:t>▸  All three coexist in Cloud Continuum — choice depends on workload lifetime and trigger pattern</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FaaS properties · edge serverless discussion</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FaaS characteristics in detail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Event-triggered: HTTP request, message queue event, scheduled cron — not continuous loop</a:t>
            </a:r>
          </a:p>
          <a:p>
            <a:pPr>
              <a:lnSpc>
                <a:spcPct val="115000"/>
              </a:lnSpc>
              <a:spcAft>
                <a:spcPts val="500"/>
              </a:spcAft>
              <a:defRPr sz="1600" b="0">
                <a:solidFill>
                  <a:srgbClr val="37474F"/>
                </a:solidFill>
                <a:latin typeface="Calibri"/>
              </a:defRPr>
            </a:pPr>
            <a:r>
              <a:t>▸  Stateless execution: function instance holds no persistent state between invocations</a:t>
            </a:r>
          </a:p>
          <a:p>
            <a:pPr>
              <a:lnSpc>
                <a:spcPct val="115000"/>
              </a:lnSpc>
              <a:spcAft>
                <a:spcPts val="500"/>
              </a:spcAft>
              <a:defRPr sz="1600" b="0">
                <a:solidFill>
                  <a:srgbClr val="37474F"/>
                </a:solidFill>
                <a:latin typeface="Calibri"/>
              </a:defRPr>
            </a:pPr>
            <a:r>
              <a:t>▸  Scale to zero: no cost/resources when idle — cold start latency trade-off</a:t>
            </a:r>
          </a:p>
          <a:p>
            <a:pPr>
              <a:lnSpc>
                <a:spcPct val="115000"/>
              </a:lnSpc>
              <a:spcAft>
                <a:spcPts val="500"/>
              </a:spcAft>
              <a:defRPr sz="1600" b="0">
                <a:solidFill>
                  <a:srgbClr val="37474F"/>
                </a:solidFill>
                <a:latin typeface="Calibri"/>
              </a:defRPr>
            </a:pPr>
            <a:r>
              <a:t>▸  Managed runtime: platform handles packaging, scaling, logging — developer supplies handler code</a:t>
            </a:r>
          </a:p>
          <a:p>
            <a:pPr>
              <a:lnSpc>
                <a:spcPct val="115000"/>
              </a:lnSpc>
              <a:spcAft>
                <a:spcPts val="500"/>
              </a:spcAft>
              <a:defRPr sz="1600" b="0">
                <a:solidFill>
                  <a:srgbClr val="37474F"/>
                </a:solidFill>
                <a:latin typeface="Calibri"/>
              </a:defRPr>
            </a:pPr>
            <a:r>
              <a:t>▸  Billing model: per-invocation + execution duration — vs PaaS always-on provisioning</a:t>
            </a:r>
          </a:p>
          <a:p>
            <a:pPr>
              <a:lnSpc>
                <a:spcPct val="115000"/>
              </a:lnSpc>
              <a:spcAft>
                <a:spcPts val="500"/>
              </a:spcAft>
              <a:defRPr sz="1600" b="0">
                <a:solidFill>
                  <a:srgbClr val="37474F"/>
                </a:solidFill>
                <a:latin typeface="Calibri"/>
              </a:defRPr>
            </a:pPr>
            <a:r>
              <a:t>▸  Edge FaaS (Ch.7 + Ch.11): functions deployed near data sources in K3s/Knative substrate</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PaaS at the edge · Module C cross-reference</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PaaS characteristics in detail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Long-running service: process starts once, serves many requests over hours/days/months</a:t>
            </a:r>
          </a:p>
          <a:p>
            <a:pPr>
              <a:lnSpc>
                <a:spcPct val="115000"/>
              </a:lnSpc>
              <a:spcAft>
                <a:spcPts val="500"/>
              </a:spcAft>
              <a:defRPr sz="1600" b="0">
                <a:solidFill>
                  <a:srgbClr val="37474F"/>
                </a:solidFill>
                <a:latin typeface="Calibri"/>
              </a:defRPr>
            </a:pPr>
            <a:r>
              <a:t>▸  Stateful acceptable: in-memory caches, connection pools, persistent background threads</a:t>
            </a:r>
          </a:p>
          <a:p>
            <a:pPr>
              <a:lnSpc>
                <a:spcPct val="115000"/>
              </a:lnSpc>
              <a:spcAft>
                <a:spcPts val="500"/>
              </a:spcAft>
              <a:defRPr sz="1600" b="0">
                <a:solidFill>
                  <a:srgbClr val="37474F"/>
                </a:solidFill>
                <a:latin typeface="Calibri"/>
              </a:defRPr>
            </a:pPr>
            <a:r>
              <a:t>▸  Always-on cost: container/VM provisioned continuously — even during idle periods</a:t>
            </a:r>
          </a:p>
          <a:p>
            <a:pPr>
              <a:lnSpc>
                <a:spcPct val="115000"/>
              </a:lnSpc>
              <a:spcAft>
                <a:spcPts val="500"/>
              </a:spcAft>
              <a:defRPr sz="1600" b="0">
                <a:solidFill>
                  <a:srgbClr val="37474F"/>
                </a:solidFill>
                <a:latin typeface="Calibri"/>
              </a:defRPr>
            </a:pPr>
            <a:r>
              <a:t>▸  Edge PaaS example: environmental_data async plugin (Module C) — 30 s publish loop</a:t>
            </a:r>
          </a:p>
          <a:p>
            <a:pPr>
              <a:lnSpc>
                <a:spcPct val="115000"/>
              </a:lnSpc>
              <a:spcAft>
                <a:spcPts val="500"/>
              </a:spcAft>
              <a:defRPr sz="1600" b="0">
                <a:solidFill>
                  <a:srgbClr val="37474F"/>
                </a:solidFill>
                <a:latin typeface="Calibri"/>
              </a:defRPr>
            </a:pPr>
            <a:r>
              <a:t>▸  Docker plugin (Module B optional): deploys containerized service on edge on demand</a:t>
            </a:r>
          </a:p>
          <a:p>
            <a:pPr>
              <a:lnSpc>
                <a:spcPct val="115000"/>
              </a:lnSpc>
              <a:spcAft>
                <a:spcPts val="500"/>
              </a:spcAft>
              <a:defRPr sz="1600" b="0">
                <a:solidFill>
                  <a:srgbClr val="37474F"/>
                </a:solidFill>
                <a:latin typeface="Calibri"/>
              </a:defRPr>
            </a:pPr>
            <a:r>
              <a:t>▸  PaaS appropriate when continuous monitoring/actuation required — not one-shot queries</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applied to Part II labs · Ch.14 plugin modes</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Mapping book concepts to S4T lab demos (Ch.7 applied)</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HelloName Plugin Call (Module B) ≈ FaaS-like: one shot invocation, immediate JSON result</a:t>
            </a:r>
          </a:p>
          <a:p>
            <a:pPr>
              <a:lnSpc>
                <a:spcPct val="115000"/>
              </a:lnSpc>
              <a:spcAft>
                <a:spcPts val="500"/>
              </a:spcAft>
              <a:defRPr sz="1600" b="0">
                <a:solidFill>
                  <a:srgbClr val="37474F"/>
                </a:solidFill>
                <a:latin typeface="Calibri"/>
              </a:defRPr>
            </a:pPr>
            <a:r>
              <a:t>▸  environmental_data async plugin (Module C) ≈ PaaS-like: continuous microservice loop</a:t>
            </a:r>
          </a:p>
          <a:p>
            <a:pPr>
              <a:lnSpc>
                <a:spcPct val="115000"/>
              </a:lnSpc>
              <a:spcAft>
                <a:spcPts val="500"/>
              </a:spcAft>
              <a:defRPr sz="1600" b="0">
                <a:solidFill>
                  <a:srgbClr val="37474F"/>
                </a:solidFill>
                <a:latin typeface="Calibri"/>
              </a:defRPr>
            </a:pPr>
            <a:r>
              <a:t>▸  Docker plugin run (Module B optional) ≈ deploying containerized PaaS on edge on demand</a:t>
            </a:r>
          </a:p>
          <a:p>
            <a:pPr>
              <a:lnSpc>
                <a:spcPct val="115000"/>
              </a:lnSpc>
              <a:spcAft>
                <a:spcPts val="500"/>
              </a:spcAft>
              <a:defRPr sz="1600" b="0">
                <a:solidFill>
                  <a:srgbClr val="37474F"/>
                </a:solidFill>
                <a:latin typeface="Calibri"/>
              </a:defRPr>
            </a:pPr>
            <a:r>
              <a:t>▸  WoT HTTP exposure via WSTUN (Module F) ≈ Deviceless: board service as Web resource</a:t>
            </a:r>
          </a:p>
          <a:p>
            <a:pPr>
              <a:lnSpc>
                <a:spcPct val="115000"/>
              </a:lnSpc>
              <a:spcAft>
                <a:spcPts val="500"/>
              </a:spcAft>
              <a:defRPr sz="1600" b="0">
                <a:solidFill>
                  <a:srgbClr val="37474F"/>
                </a:solidFill>
                <a:latin typeface="Calibri"/>
              </a:defRPr>
            </a:pPr>
            <a:r>
              <a:t>▸  Sync vs async plugin modes (Ch.14) directly encode FaaS-like vs PaaS-like behaviour</a:t>
            </a:r>
          </a:p>
          <a:p>
            <a:pPr>
              <a:lnSpc>
                <a:spcPct val="115000"/>
              </a:lnSpc>
              <a:spcAft>
                <a:spcPts val="500"/>
              </a:spcAft>
              <a:defRPr sz="1600" b="0">
                <a:solidFill>
                  <a:srgbClr val="37474F"/>
                </a:solidFill>
                <a:latin typeface="Calibri"/>
              </a:defRPr>
            </a:pPr>
            <a:r>
              <a:t>▸  Module I makes taxonomy explicit — students re-label demos they already executed</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Ch.11 Type 1 serverless experiments</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Serverless at the continuum edge (Ch.7 +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Function-as-a-Service models extend toward edge nodes in Cloud Continuum architecture</a:t>
            </a:r>
          </a:p>
          <a:p>
            <a:pPr>
              <a:lnSpc>
                <a:spcPct val="115000"/>
              </a:lnSpc>
              <a:spcAft>
                <a:spcPts val="500"/>
              </a:spcAft>
              <a:defRPr sz="1600" b="0">
                <a:solidFill>
                  <a:srgbClr val="37474F"/>
                </a:solidFill>
                <a:latin typeface="Calibri"/>
              </a:defRPr>
            </a:pPr>
            <a:r>
              <a:t>▸  K8s + Knative or Qinling can host ephemeral functions near IoT data sources</a:t>
            </a:r>
          </a:p>
          <a:p>
            <a:pPr>
              <a:lnSpc>
                <a:spcPct val="115000"/>
              </a:lnSpc>
              <a:spcAft>
                <a:spcPts val="500"/>
              </a:spcAft>
              <a:defRPr sz="1600" b="0">
                <a:solidFill>
                  <a:srgbClr val="37474F"/>
                </a:solidFill>
                <a:latin typeface="Calibri"/>
              </a:defRPr>
            </a:pPr>
            <a:r>
              <a:t>▸  S4T callable sync plugins are stepping stone — no Qinling in current Docker lab compose</a:t>
            </a:r>
          </a:p>
          <a:p>
            <a:pPr>
              <a:lnSpc>
                <a:spcPct val="115000"/>
              </a:lnSpc>
              <a:spcAft>
                <a:spcPts val="500"/>
              </a:spcAft>
              <a:defRPr sz="1600" b="0">
                <a:solidFill>
                  <a:srgbClr val="37474F"/>
                </a:solidFill>
                <a:latin typeface="Calibri"/>
              </a:defRPr>
            </a:pPr>
            <a:r>
              <a:t>▸  Blueprint Module H K3s substrate enables future FaaS integration via Crossplane CRDs</a:t>
            </a:r>
          </a:p>
          <a:p>
            <a:pPr>
              <a:lnSpc>
                <a:spcPct val="115000"/>
              </a:lnSpc>
              <a:spcAft>
                <a:spcPts val="500"/>
              </a:spcAft>
              <a:defRPr sz="1600" b="0">
                <a:solidFill>
                  <a:srgbClr val="37474F"/>
                </a:solidFill>
                <a:latin typeface="Calibri"/>
              </a:defRPr>
            </a:pPr>
            <a:r>
              <a:t>▸  Ch.11 Type 1 experiments include serverless architectural paradigm category</a:t>
            </a:r>
          </a:p>
          <a:p>
            <a:pPr>
              <a:lnSpc>
                <a:spcPct val="115000"/>
              </a:lnSpc>
              <a:spcAft>
                <a:spcPts val="500"/>
              </a:spcAft>
              <a:defRPr sz="1600" b="0">
                <a:solidFill>
                  <a:srgbClr val="37474F"/>
                </a:solidFill>
                <a:latin typeface="Calibri"/>
              </a:defRPr>
            </a:pPr>
            <a:r>
              <a:t>▸  Research direction: IoTronic inject deploys function handler instead of long-running Worker</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Qinling references · OpenStack serverless roadmap</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Qinling and OpenStack serverless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Qinling: OpenStack project for function lifecycle management on Zun containers</a:t>
            </a:r>
          </a:p>
          <a:p>
            <a:pPr>
              <a:lnSpc>
                <a:spcPct val="115000"/>
              </a:lnSpc>
              <a:spcAft>
                <a:spcPts val="500"/>
              </a:spcAft>
              <a:defRPr sz="1600" b="0">
                <a:solidFill>
                  <a:srgbClr val="37474F"/>
                </a:solidFill>
                <a:latin typeface="Calibri"/>
              </a:defRPr>
            </a:pPr>
            <a:r>
              <a:t>▸  Functions packaged as containers — triggered by HTTP or message bus events</a:t>
            </a:r>
          </a:p>
          <a:p>
            <a:pPr>
              <a:lnSpc>
                <a:spcPct val="115000"/>
              </a:lnSpc>
              <a:spcAft>
                <a:spcPts val="500"/>
              </a:spcAft>
              <a:defRPr sz="1600" b="0">
                <a:solidFill>
                  <a:srgbClr val="37474F"/>
                </a:solidFill>
                <a:latin typeface="Calibri"/>
              </a:defRPr>
            </a:pPr>
            <a:r>
              <a:t>▸  Integrates with Keystone auth, Designate DNS — full OpenStack ecosystem fit</a:t>
            </a:r>
          </a:p>
          <a:p>
            <a:pPr>
              <a:lnSpc>
                <a:spcPct val="115000"/>
              </a:lnSpc>
              <a:spcAft>
                <a:spcPts val="500"/>
              </a:spcAft>
              <a:defRPr sz="1600" b="0">
                <a:solidFill>
                  <a:srgbClr val="37474F"/>
                </a:solidFill>
                <a:latin typeface="Calibri"/>
              </a:defRPr>
            </a:pPr>
            <a:r>
              <a:t>▸  Not deployed in current training Docker compose — documented as research/production direction</a:t>
            </a:r>
          </a:p>
          <a:p>
            <a:pPr>
              <a:lnSpc>
                <a:spcPct val="115000"/>
              </a:lnSpc>
              <a:spcAft>
                <a:spcPts val="500"/>
              </a:spcAft>
              <a:defRPr sz="1600" b="0">
                <a:solidFill>
                  <a:srgbClr val="37474F"/>
                </a:solidFill>
                <a:latin typeface="Calibri"/>
              </a:defRPr>
            </a:pPr>
            <a:r>
              <a:t>▸  Would enable true scale-to-zero functions managed like other OpenStack services</a:t>
            </a:r>
          </a:p>
          <a:p>
            <a:pPr>
              <a:lnSpc>
                <a:spcPct val="115000"/>
              </a:lnSpc>
              <a:spcAft>
                <a:spcPts val="500"/>
              </a:spcAft>
              <a:defRPr sz="1600" b="0">
                <a:solidFill>
                  <a:srgbClr val="37474F"/>
                </a:solidFill>
                <a:latin typeface="Calibri"/>
              </a:defRPr>
            </a:pPr>
            <a:r>
              <a:t>▸  Deviceless DNS + Qinling functions = full Ch.7 vision operational on S4T stack</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Zun · fig:chap07:zun-system</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Zun — OpenStack container service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Zun-api: REST/WSGI entry point from Horizon or CLI for container lifecycle.</a:t>
            </a:r>
          </a:p>
          <a:p>
            <a:pPr>
              <a:lnSpc>
                <a:spcPct val="115000"/>
              </a:lnSpc>
              <a:spcAft>
                <a:spcPts val="500"/>
              </a:spcAft>
              <a:defRPr sz="1600" b="0">
                <a:solidFill>
                  <a:srgbClr val="37474F"/>
                </a:solidFill>
                <a:latin typeface="Calibri"/>
              </a:defRPr>
            </a:pPr>
            <a:r>
              <a:t>▸  Zun-compute: agent on compute nodes — hides Docker runtime operations from users.</a:t>
            </a:r>
          </a:p>
          <a:p>
            <a:pPr>
              <a:lnSpc>
                <a:spcPct val="115000"/>
              </a:lnSpc>
              <a:spcAft>
                <a:spcPts val="500"/>
              </a:spcAft>
              <a:defRPr sz="1600" b="0">
                <a:solidFill>
                  <a:srgbClr val="37474F"/>
                </a:solidFill>
                <a:latin typeface="Calibri"/>
              </a:defRPr>
            </a:pPr>
            <a:r>
              <a:t>▸  Zun-wsproxy: interactive shell and log streaming into running containers.</a:t>
            </a:r>
          </a:p>
          <a:p>
            <a:pPr>
              <a:lnSpc>
                <a:spcPct val="115000"/>
              </a:lnSpc>
              <a:spcAft>
                <a:spcPts val="500"/>
              </a:spcAft>
              <a:defRPr sz="1600" b="0">
                <a:solidFill>
                  <a:srgbClr val="37474F"/>
                </a:solidFill>
                <a:latin typeface="Calibri"/>
              </a:defRPr>
            </a:pPr>
            <a:r>
              <a:t>▸  Zun-scheduler: filters (RAM, CPU, labels) select host for new container placement.</a:t>
            </a:r>
          </a:p>
          <a:p>
            <a:pPr>
              <a:lnSpc>
                <a:spcPct val="115000"/>
              </a:lnSpc>
              <a:spcAft>
                <a:spcPts val="500"/>
              </a:spcAft>
              <a:defRPr sz="1600" b="0">
                <a:solidFill>
                  <a:srgbClr val="37474F"/>
                </a:solidFill>
                <a:latin typeface="Calibri"/>
              </a:defRPr>
            </a:pPr>
            <a:r>
              <a:t>▸  Zun networking driver: assigns reachability — Neutron in cloud, IoTronic WSTUN at edge.</a:t>
            </a:r>
          </a:p>
          <a:p>
            <a:pPr>
              <a:lnSpc>
                <a:spcPct val="115000"/>
              </a:lnSpc>
              <a:spcAft>
                <a:spcPts val="500"/>
              </a:spcAft>
              <a:defRPr sz="1600" b="0">
                <a:solidFill>
                  <a:srgbClr val="37474F"/>
                </a:solidFill>
                <a:latin typeface="Calibri"/>
              </a:defRPr>
            </a:pPr>
            <a:r>
              <a:t>▸  Capsule ≈ Kubernetes Pod: runtime + sidecar + pause containers sharing network namespace.</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Implementation aspects · fig:chap07:devless-cloud-arch</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Deviceless edge reachability — Zun + WSTUN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IoT nodes act as Zun compute hosts — containers run on boards, not only in datacenter.</a:t>
            </a:r>
          </a:p>
          <a:p>
            <a:pPr>
              <a:lnSpc>
                <a:spcPct val="115000"/>
              </a:lnSpc>
              <a:spcAft>
                <a:spcPts val="500"/>
              </a:spcAft>
              <a:defRPr sz="1600" b="0">
                <a:solidFill>
                  <a:srgbClr val="37474F"/>
                </a:solidFill>
                <a:latin typeface="Calibri"/>
              </a:defRPr>
            </a:pPr>
            <a:r>
              <a:t>▸  Standard Neutron overlay cannot reach NAT-bound edge capsules — custom driver required.</a:t>
            </a:r>
          </a:p>
          <a:p>
            <a:pPr>
              <a:lnSpc>
                <a:spcPct val="115000"/>
              </a:lnSpc>
              <a:spcAft>
                <a:spcPts val="500"/>
              </a:spcAft>
              <a:defRPr sz="1600" b="0">
                <a:solidFill>
                  <a:srgbClr val="37474F"/>
                </a:solidFill>
                <a:latin typeface="Calibri"/>
              </a:defRPr>
            </a:pPr>
            <a:r>
              <a:t>▸  New Zun networking driver maps each public cloud port to a remote container via WSTUN.</a:t>
            </a:r>
          </a:p>
          <a:p>
            <a:pPr>
              <a:lnSpc>
                <a:spcPct val="115000"/>
              </a:lnSpc>
              <a:spcAft>
                <a:spcPts val="500"/>
              </a:spcAft>
              <a:defRPr sz="1600" b="0">
                <a:solidFill>
                  <a:srgbClr val="37474F"/>
                </a:solidFill>
                <a:latin typeface="Calibri"/>
              </a:defRPr>
            </a:pPr>
            <a:r>
              <a:t>▸  HostnameFilter scheduler policy targets a specific board by name/id for function placement.</a:t>
            </a:r>
          </a:p>
          <a:p>
            <a:pPr>
              <a:lnSpc>
                <a:spcPct val="115000"/>
              </a:lnSpc>
              <a:spcAft>
                <a:spcPts val="500"/>
              </a:spcAft>
              <a:defRPr sz="1600" b="0">
                <a:solidFill>
                  <a:srgbClr val="37474F"/>
                </a:solidFill>
                <a:latin typeface="Calibri"/>
              </a:defRPr>
            </a:pPr>
            <a:r>
              <a:t>▸  Qinling runtime creation on edge: Qinling → Zun capsule → IoTronic tunnel → reachable URL.</a:t>
            </a:r>
          </a:p>
          <a:p>
            <a:pPr>
              <a:lnSpc>
                <a:spcPct val="115000"/>
              </a:lnSpc>
              <a:spcAft>
                <a:spcPts val="500"/>
              </a:spcAft>
              <a:defRPr sz="1600" b="0">
                <a:solidFill>
                  <a:srgbClr val="37474F"/>
                </a:solidFill>
                <a:latin typeface="Calibri"/>
              </a:defRPr>
            </a:pPr>
            <a:r>
              <a:t>▸  Same WSTUN infrastructure as Module F — Deviceless adds serverless function semantics on top.</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Flow-based development · Node-RED · sec:use-cases</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Node-RED and flow-based Deviceless (Ch.7)</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Node-RED provides visual flow programming — wires connect HTTP, MQTT, and function nodes.</a:t>
            </a:r>
          </a:p>
          <a:p>
            <a:pPr>
              <a:lnSpc>
                <a:spcPct val="115000"/>
              </a:lnSpc>
              <a:spcAft>
                <a:spcPts val="500"/>
              </a:spcAft>
              <a:defRPr sz="1600" b="0">
                <a:solidFill>
                  <a:srgbClr val="37474F"/>
                </a:solidFill>
                <a:latin typeface="Calibri"/>
              </a:defRPr>
            </a:pPr>
            <a:r>
              <a:t>▸  Deviceless extends flows across cloud and edge without installing Node-RED on every board.</a:t>
            </a:r>
          </a:p>
          <a:p>
            <a:pPr>
              <a:lnSpc>
                <a:spcPct val="115000"/>
              </a:lnSpc>
              <a:spcAft>
                <a:spcPts val="500"/>
              </a:spcAft>
              <a:defRPr sz="1600" b="0">
                <a:solidFill>
                  <a:srgbClr val="37474F"/>
                </a:solidFill>
                <a:latin typeface="Calibri"/>
              </a:defRPr>
            </a:pPr>
            <a:r>
              <a:t>▸  Qinling function nodes invoke edge runtimes — distributed logic with Web-native triggers.</a:t>
            </a:r>
          </a:p>
          <a:p>
            <a:pPr>
              <a:lnSpc>
                <a:spcPct val="115000"/>
              </a:lnSpc>
              <a:spcAft>
                <a:spcPts val="500"/>
              </a:spcAft>
              <a:defRPr sz="1600" b="0">
                <a:solidFill>
                  <a:srgbClr val="37474F"/>
                </a:solidFill>
                <a:latin typeface="Calibri"/>
              </a:defRPr>
            </a:pPr>
            <a:r>
              <a:t>▸  Contrasts with OpenWhisk-Light: limited to local-only triggers on a single node.</a:t>
            </a:r>
          </a:p>
          <a:p>
            <a:pPr>
              <a:lnSpc>
                <a:spcPct val="115000"/>
              </a:lnSpc>
              <a:spcAft>
                <a:spcPts val="500"/>
              </a:spcAft>
              <a:defRPr sz="1600" b="0">
                <a:solidFill>
                  <a:srgbClr val="37474F"/>
                </a:solidFill>
                <a:latin typeface="Calibri"/>
              </a:defRPr>
            </a:pPr>
            <a:r>
              <a:t>▸  Book use cases show remote wires linking cloud dashboards to edge sensor preprocessing.</a:t>
            </a:r>
          </a:p>
          <a:p>
            <a:pPr>
              <a:lnSpc>
                <a:spcPct val="115000"/>
              </a:lnSpc>
              <a:spcAft>
                <a:spcPts val="500"/>
              </a:spcAft>
              <a:defRPr sz="1600" b="0">
                <a:solidFill>
                  <a:srgbClr val="37474F"/>
                </a:solidFill>
                <a:latin typeface="Calibri"/>
              </a:defRPr>
            </a:pPr>
            <a:r>
              <a:t>▸  Module I conceptual bridge — lab uses sync/async plugins instead of Qinling functions today.</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Serverless-like vs long-running contrast</a:t>
            </a:r>
          </a:p>
        </p:txBody>
      </p:sp>
      <p:sp>
        <p:nvSpPr>
          <p:cNvPr id="4" name="Rounded Rectangle 3"/>
          <p:cNvSpPr/>
          <p:nvPr/>
        </p:nvSpPr>
        <p:spPr>
          <a:xfrm>
            <a:off x="1120368" y="1298448"/>
            <a:ext cx="995095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as-contrast.png"/>
          <p:cNvPicPr>
            <a:picLocks noChangeAspect="1"/>
          </p:cNvPicPr>
          <p:nvPr/>
        </p:nvPicPr>
        <p:blipFill>
          <a:blip r:embed="rId2"/>
          <a:stretch>
            <a:fillRect/>
          </a:stretch>
        </p:blipFill>
        <p:spPr>
          <a:xfrm>
            <a:off x="1175232" y="1353312"/>
            <a:ext cx="984123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HelloName sync Plugin Call (FaaS-like) vs environmental async (PaaS-like)</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Diagram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Module I — learning objectives</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Define Deviceless, FaaS, and PaaS from Ch.7 with S4T lab examples</a:t>
            </a:r>
          </a:p>
          <a:p>
            <a:pPr>
              <a:lnSpc>
                <a:spcPct val="115000"/>
              </a:lnSpc>
              <a:spcAft>
                <a:spcPts val="800"/>
              </a:spcAft>
              <a:defRPr sz="1900" b="0">
                <a:solidFill>
                  <a:srgbClr val="37474F"/>
                </a:solidFill>
                <a:latin typeface="Calibri"/>
              </a:defRPr>
            </a:pPr>
            <a:r>
              <a:t>▸  Execute side-by-side Demo 1 (HelloName Plugin Call) and Demo 2 (environmental Start)</a:t>
            </a:r>
          </a:p>
          <a:p>
            <a:pPr>
              <a:lnSpc>
                <a:spcPct val="115000"/>
              </a:lnSpc>
              <a:spcAft>
                <a:spcPts val="800"/>
              </a:spcAft>
              <a:defRPr sz="1900" b="0">
                <a:solidFill>
                  <a:srgbClr val="37474F"/>
                </a:solidFill>
                <a:latin typeface="Calibri"/>
              </a:defRPr>
            </a:pPr>
            <a:r>
              <a:t>▸  Articulate which book category each existing module demo represents</a:t>
            </a:r>
          </a:p>
          <a:p>
            <a:pPr>
              <a:lnSpc>
                <a:spcPct val="115000"/>
              </a:lnSpc>
              <a:spcAft>
                <a:spcPts val="800"/>
              </a:spcAft>
              <a:defRPr sz="1900" b="0">
                <a:solidFill>
                  <a:srgbClr val="37474F"/>
                </a:solidFill>
                <a:latin typeface="Calibri"/>
              </a:defRPr>
            </a:pPr>
            <a:r>
              <a:t>▸  Connect Module F WoT exposure to Deviceless Web resource naming</a:t>
            </a:r>
          </a:p>
          <a:p>
            <a:pPr>
              <a:lnSpc>
                <a:spcPct val="115000"/>
              </a:lnSpc>
              <a:spcAft>
                <a:spcPts val="800"/>
              </a:spcAft>
              <a:defRPr sz="1900" b="0">
                <a:solidFill>
                  <a:srgbClr val="37474F"/>
                </a:solidFill>
                <a:latin typeface="Calibri"/>
              </a:defRPr>
            </a:pPr>
            <a:r>
              <a:t>▸  Identify Qinling/K3s as future FaaS integration path (Ch.7 + Ch.11)</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1"/>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868680" cy="310896"/>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DEMO</a:t>
            </a:r>
          </a:p>
        </p:txBody>
      </p:sp>
      <p:sp>
        <p:nvSpPr>
          <p:cNvPr id="4" name="TextBox 3"/>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Side-by-side demo goals (Ch.7 applied to lab)</a:t>
            </a:r>
          </a:p>
        </p:txBody>
      </p:sp>
      <p:sp>
        <p:nvSpPr>
          <p:cNvPr id="5" name="Rounded Rectangle 4"/>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Demo 1: HelloName Plugin Call — atomic invocation, zero persistent background state</a:t>
            </a:r>
          </a:p>
          <a:p>
            <a:pPr>
              <a:lnSpc>
                <a:spcPct val="115000"/>
              </a:lnSpc>
              <a:spcAft>
                <a:spcPts val="500"/>
              </a:spcAft>
              <a:defRPr sz="1600" b="0">
                <a:solidFill>
                  <a:srgbClr val="37474F"/>
                </a:solidFill>
                <a:latin typeface="Calibri"/>
              </a:defRPr>
            </a:pPr>
            <a:r>
              <a:t>▸  Demo 2: environmental_data Start — long-running loop, continuous InfluxDB time-series output</a:t>
            </a:r>
          </a:p>
          <a:p>
            <a:pPr>
              <a:lnSpc>
                <a:spcPct val="115000"/>
              </a:lnSpc>
              <a:spcAft>
                <a:spcPts val="500"/>
              </a:spcAft>
              <a:defRPr sz="1600" b="0">
                <a:solidFill>
                  <a:srgbClr val="37474F"/>
                </a:solidFill>
                <a:latin typeface="Calibri"/>
              </a:defRPr>
            </a:pPr>
            <a:r>
              <a:t>▸  Students label each demo: FaaS-like, PaaS-like, or Deviceless (Module F exposure layer)</a:t>
            </a:r>
          </a:p>
          <a:p>
            <a:pPr>
              <a:lnSpc>
                <a:spcPct val="115000"/>
              </a:lnSpc>
              <a:spcAft>
                <a:spcPts val="500"/>
              </a:spcAft>
              <a:defRPr sz="1600" b="0">
                <a:solidFill>
                  <a:srgbClr val="37474F"/>
                </a:solidFill>
                <a:latin typeface="Calibri"/>
              </a:defRPr>
            </a:pPr>
            <a:r>
              <a:t>▸  No new containers or plugins — reuses Modules B and C artefacts on {{VM_IP}} lab</a:t>
            </a:r>
          </a:p>
          <a:p>
            <a:pPr>
              <a:lnSpc>
                <a:spcPct val="115000"/>
              </a:lnSpc>
              <a:spcAft>
                <a:spcPts val="500"/>
              </a:spcAft>
              <a:defRPr sz="1600" b="0">
                <a:solidFill>
                  <a:srgbClr val="37474F"/>
                </a:solidFill>
                <a:latin typeface="Calibri"/>
              </a:defRPr>
            </a:pPr>
            <a:r>
              <a:t>▸  Discussion prompts: Which billing model fits each pattern? Which has cold start? Which is stateful?</a:t>
            </a:r>
          </a:p>
          <a:p>
            <a:pPr>
              <a:lnSpc>
                <a:spcPct val="115000"/>
              </a:lnSpc>
              <a:spcAft>
                <a:spcPts val="500"/>
              </a:spcAft>
              <a:defRPr sz="1600" b="0">
                <a:solidFill>
                  <a:srgbClr val="37474F"/>
                </a:solidFill>
                <a:latin typeface="Calibri"/>
              </a:defRPr>
            </a:pPr>
            <a:r>
              <a:t>▸  Connects abstract Ch.7 taxonomy to concrete Ch.14 plugin sync/async modes already learned</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Demo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Demo 1 — FaaS-like Plugin Call</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HelloName synchronous invocation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Demo 1 — atomic Plugin Call (serverless-like)</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Open http://{{VM_IP}}/horizon/iot/ — login admin / s4t</a:t>
            </a:r>
          </a:p>
          <a:p>
            <a:pPr>
              <a:lnSpc>
                <a:spcPct val="115000"/>
              </a:lnSpc>
              <a:spcAft>
                <a:spcPts val="800"/>
              </a:spcAft>
              <a:defRPr sz="1900" b="0">
                <a:solidFill>
                  <a:srgbClr val="37474F"/>
                </a:solidFill>
                <a:latin typeface="Calibri"/>
              </a:defRPr>
            </a:pPr>
            <a:r>
              <a:t>▸  Plugins → HelloName (from Module B) → Plugin Call</a:t>
            </a:r>
          </a:p>
          <a:p>
            <a:pPr>
              <a:lnSpc>
                <a:spcPct val="115000"/>
              </a:lnSpc>
              <a:spcAft>
                <a:spcPts val="800"/>
              </a:spcAft>
              <a:defRPr sz="1900" b="0">
                <a:solidFill>
                  <a:srgbClr val="37474F"/>
                </a:solidFill>
                <a:latin typeface="Calibri"/>
              </a:defRPr>
            </a:pPr>
            <a:r>
              <a:t>▸  {"name": "FaaS-demo"}</a:t>
            </a:r>
          </a:p>
          <a:p>
            <a:pPr>
              <a:lnSpc>
                <a:spcPct val="115000"/>
              </a:lnSpc>
              <a:spcAft>
                <a:spcPts val="800"/>
              </a:spcAft>
              <a:defRPr sz="1900" b="0">
                <a:solidFill>
                  <a:srgbClr val="37474F"/>
                </a:solidFill>
                <a:latin typeface="Calibri"/>
              </a:defRPr>
            </a:pPr>
            <a:r>
              <a:t>▸  Single invocation → immediate JSON result — no background process persists</a:t>
            </a:r>
          </a:p>
          <a:p>
            <a:pPr>
              <a:lnSpc>
                <a:spcPct val="115000"/>
              </a:lnSpc>
              <a:spcAft>
                <a:spcPts val="800"/>
              </a:spcAft>
              <a:defRPr sz="1900" b="0">
                <a:solidFill>
                  <a:srgbClr val="37474F"/>
                </a:solidFill>
                <a:latin typeface="Calibri"/>
              </a:defRPr>
            </a:pPr>
            <a:r>
              <a:t>▸  Contrast: no Start/Stop lifecycle — function-equivalent behaviour</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Horizon IoT — Plugins (sync Plugin Call)</a:t>
            </a:r>
          </a:p>
        </p:txBody>
      </p:sp>
      <p:sp>
        <p:nvSpPr>
          <p:cNvPr id="4" name="Rounded Rectangle 3"/>
          <p:cNvSpPr/>
          <p:nvPr/>
        </p:nvSpPr>
        <p:spPr>
          <a:xfrm>
            <a:off x="1667103" y="1298448"/>
            <a:ext cx="885748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orizon-plugins-dashboard.png"/>
          <p:cNvPicPr>
            <a:picLocks noChangeAspect="1"/>
          </p:cNvPicPr>
          <p:nvPr/>
        </p:nvPicPr>
        <p:blipFill>
          <a:blip r:embed="rId2"/>
          <a:stretch>
            <a:fillRect/>
          </a:stretch>
        </p:blipFill>
        <p:spPr>
          <a:xfrm>
            <a:off x="1721967" y="1353312"/>
            <a:ext cx="874776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Callable=ON → one-shot invocation · HelloName sync plugin</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Ch.14 §14.1.2 sync pipeline · Ch.7 FaaS mapping</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Why HelloName is FaaS-like (Ch.7 + Ch.14)</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Dormant until Plugin Call trigger — no CPU consumed while idle on board</a:t>
            </a:r>
          </a:p>
          <a:p>
            <a:pPr>
              <a:lnSpc>
                <a:spcPct val="115000"/>
              </a:lnSpc>
              <a:spcAft>
                <a:spcPts val="500"/>
              </a:spcAft>
              <a:defRPr sz="1600" b="0">
                <a:solidFill>
                  <a:srgbClr val="37474F"/>
                </a:solidFill>
                <a:latin typeface="Calibri"/>
              </a:defRPr>
            </a:pPr>
            <a:r>
              <a:t>▸  Single input JSON → single output JSON — request/response function signature</a:t>
            </a:r>
          </a:p>
          <a:p>
            <a:pPr>
              <a:lnSpc>
                <a:spcPct val="115000"/>
              </a:lnSpc>
              <a:spcAft>
                <a:spcPts val="500"/>
              </a:spcAft>
              <a:defRPr sz="1600" b="0">
                <a:solidFill>
                  <a:srgbClr val="37474F"/>
                </a:solidFill>
                <a:latin typeface="Calibri"/>
              </a:defRPr>
            </a:pPr>
            <a:r>
              <a:t>▸  No persistent state between calls — each Plugin Call is independent invocation</a:t>
            </a:r>
          </a:p>
          <a:p>
            <a:pPr>
              <a:lnSpc>
                <a:spcPct val="115000"/>
              </a:lnSpc>
              <a:spcAft>
                <a:spcPts val="500"/>
              </a:spcAft>
              <a:defRPr sz="1600" b="0">
                <a:solidFill>
                  <a:srgbClr val="37474F"/>
                </a:solidFill>
                <a:latin typeface="Calibri"/>
              </a:defRPr>
            </a:pPr>
            <a:r>
              <a:t>▸  Execution duration: milliseconds — matches FaaS short-lived handler pattern</a:t>
            </a:r>
          </a:p>
          <a:p>
            <a:pPr>
              <a:lnSpc>
                <a:spcPct val="115000"/>
              </a:lnSpc>
              <a:spcAft>
                <a:spcPts val="500"/>
              </a:spcAft>
              <a:defRPr sz="1600" b="0">
                <a:solidFill>
                  <a:srgbClr val="37474F"/>
                </a:solidFill>
                <a:latin typeface="Calibri"/>
              </a:defRPr>
            </a:pPr>
            <a:r>
              <a:t>▸  Missing FaaS features in lab: auto-scale, cold start metrics, per-invocation billing</a:t>
            </a:r>
          </a:p>
          <a:p>
            <a:pPr>
              <a:lnSpc>
                <a:spcPct val="115000"/>
              </a:lnSpc>
              <a:spcAft>
                <a:spcPts val="500"/>
              </a:spcAft>
              <a:defRPr sz="1600" b="0">
                <a:solidFill>
                  <a:srgbClr val="37474F"/>
                </a:solidFill>
                <a:latin typeface="Calibri"/>
              </a:defRPr>
            </a:pPr>
            <a:r>
              <a:t>▸  Closest lab analog to Ch.7 FaaS without deploying Qinling infrastructure</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Demo 2 — PaaS-like async service</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environmental_data continuous publisher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Demo 2 — long-running async plugin (PaaS-like)</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Start environmental_data plugin from Module C (or restart if stopped)</a:t>
            </a:r>
          </a:p>
          <a:p>
            <a:pPr>
              <a:lnSpc>
                <a:spcPct val="115000"/>
              </a:lnSpc>
              <a:spcAft>
                <a:spcPts val="800"/>
              </a:spcAft>
              <a:defRPr sz="1900" b="0">
                <a:solidFill>
                  <a:srgbClr val="37474F"/>
                </a:solidFill>
                <a:latin typeface="Calibri"/>
              </a:defRPr>
            </a:pPr>
            <a:r>
              <a:t>▸  Observe continuous InfluxDB writes every 30 s at http://{{VM_IP}}:8086</a:t>
            </a:r>
          </a:p>
          <a:p>
            <a:pPr>
              <a:lnSpc>
                <a:spcPct val="115000"/>
              </a:lnSpc>
              <a:spcAft>
                <a:spcPts val="800"/>
              </a:spcAft>
              <a:defRPr sz="1900" b="0">
                <a:solidFill>
                  <a:srgbClr val="37474F"/>
                </a:solidFill>
                <a:latin typeface="Calibri"/>
              </a:defRPr>
            </a:pPr>
            <a:r>
              <a:t>▸  Contrast: no Plugin Call per iteration — persistent _is_running background loop</a:t>
            </a:r>
          </a:p>
          <a:p>
            <a:pPr>
              <a:lnSpc>
                <a:spcPct val="115000"/>
              </a:lnSpc>
              <a:spcAft>
                <a:spcPts val="800"/>
              </a:spcAft>
              <a:defRPr sz="1900" b="0">
                <a:solidFill>
                  <a:srgbClr val="37474F"/>
                </a:solidFill>
                <a:latin typeface="Calibri"/>
              </a:defRPr>
            </a:pPr>
            <a:r>
              <a:t>▸  Stop/Interrupt required to halt — unlike one-shot HelloName Plugin Call</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InfluxDB — continuous async output</a:t>
            </a:r>
          </a:p>
        </p:txBody>
      </p:sp>
      <p:sp>
        <p:nvSpPr>
          <p:cNvPr id="4" name="Rounded Rectangle 3"/>
          <p:cNvSpPr/>
          <p:nvPr/>
        </p:nvSpPr>
        <p:spPr>
          <a:xfrm>
            <a:off x="4524615" y="1298448"/>
            <a:ext cx="3142464"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nfluxdb-debug.png"/>
          <p:cNvPicPr>
            <a:picLocks noChangeAspect="1"/>
          </p:cNvPicPr>
          <p:nvPr/>
        </p:nvPicPr>
        <p:blipFill>
          <a:blip r:embed="rId2"/>
          <a:stretch>
            <a:fillRect/>
          </a:stretch>
        </p:blipFill>
        <p:spPr>
          <a:xfrm>
            <a:off x="4579479" y="1353312"/>
            <a:ext cx="3032736"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Time-series grows while plugin runs — PaaS-style always-on edge service</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Ch.15 async environmental plugin · Ch.7 PaaS mapping</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Why environmental_data is PaaS-like (Ch.7 + Ch.15)</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Long-running background thread — active for minutes/hours during class session</a:t>
            </a:r>
          </a:p>
          <a:p>
            <a:pPr>
              <a:lnSpc>
                <a:spcPct val="115000"/>
              </a:lnSpc>
              <a:spcAft>
                <a:spcPts val="500"/>
              </a:spcAft>
              <a:defRPr sz="1600" b="0">
                <a:solidFill>
                  <a:srgbClr val="37474F"/>
                </a:solidFill>
                <a:latin typeface="Calibri"/>
              </a:defRPr>
            </a:pPr>
            <a:r>
              <a:t>▸  Stateful loop: maintains sensor read schedule and InfluxDB connection context</a:t>
            </a:r>
          </a:p>
          <a:p>
            <a:pPr>
              <a:lnSpc>
                <a:spcPct val="115000"/>
              </a:lnSpc>
              <a:spcAft>
                <a:spcPts val="500"/>
              </a:spcAft>
              <a:defRPr sz="1600" b="0">
                <a:solidFill>
                  <a:srgbClr val="37474F"/>
                </a:solidFill>
                <a:latin typeface="Calibri"/>
              </a:defRPr>
            </a:pPr>
            <a:r>
              <a:t>▸  Always-on resource consumption on board while plugin Started — no scale to zero</a:t>
            </a:r>
          </a:p>
          <a:p>
            <a:pPr>
              <a:lnSpc>
                <a:spcPct val="115000"/>
              </a:lnSpc>
              <a:spcAft>
                <a:spcPts val="500"/>
              </a:spcAft>
              <a:defRPr sz="1600" b="0">
                <a:solidFill>
                  <a:srgbClr val="37474F"/>
                </a:solidFill>
                <a:latin typeface="Calibri"/>
              </a:defRPr>
            </a:pPr>
            <a:r>
              <a:t>▸  Continuous output stream — not event-triggered single response pattern</a:t>
            </a:r>
          </a:p>
          <a:p>
            <a:pPr>
              <a:lnSpc>
                <a:spcPct val="115000"/>
              </a:lnSpc>
              <a:spcAft>
                <a:spcPts val="500"/>
              </a:spcAft>
              <a:defRPr sz="1600" b="0">
                <a:solidFill>
                  <a:srgbClr val="37474F"/>
                </a:solidFill>
                <a:latin typeface="Calibri"/>
              </a:defRPr>
            </a:pPr>
            <a:r>
              <a:t>▸  Matches edge microservice/PaaS deployment model from Ch.15 environmental publisher</a:t>
            </a:r>
          </a:p>
          <a:p>
            <a:pPr>
              <a:lnSpc>
                <a:spcPct val="115000"/>
              </a:lnSpc>
              <a:spcAft>
                <a:spcPts val="500"/>
              </a:spcAft>
              <a:defRPr sz="1600" b="0">
                <a:solidFill>
                  <a:srgbClr val="37474F"/>
                </a:solidFill>
                <a:latin typeface="Calibri"/>
              </a:defRPr>
            </a:pPr>
            <a:r>
              <a:t>▸  Production: would run 24/7 on edge gateway — FaaS inappropriate for this pattern</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Deviceless · Ch.6 WoT · Module F cross-reference</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Deviceless layer — Module F connection (Ch.7 + Ch.6)</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Module F WSTUN exposes board HTTP service at {{VM_IP}}:public_port — Web resource URI</a:t>
            </a:r>
          </a:p>
          <a:p>
            <a:pPr>
              <a:lnSpc>
                <a:spcPct val="115000"/>
              </a:lnSpc>
              <a:spcAft>
                <a:spcPts val="500"/>
              </a:spcAft>
              <a:defRPr sz="1600" b="0">
                <a:solidFill>
                  <a:srgbClr val="37474F"/>
                </a:solidFill>
                <a:latin typeface="Calibri"/>
              </a:defRPr>
            </a:pPr>
            <a:r>
              <a:t>▸  Production Designate path: stable DNS name independent of board physical location</a:t>
            </a:r>
          </a:p>
          <a:p>
            <a:pPr>
              <a:lnSpc>
                <a:spcPct val="115000"/>
              </a:lnSpc>
              <a:spcAft>
                <a:spcPts val="500"/>
              </a:spcAft>
              <a:defRPr sz="1600" b="0">
                <a:solidFill>
                  <a:srgbClr val="37474F"/>
                </a:solidFill>
                <a:latin typeface="Calibri"/>
              </a:defRPr>
            </a:pPr>
            <a:r>
              <a:t>▸  Deviceless consumer: curl https://wot.board.example.com/temperature — no LR SDK needed</a:t>
            </a:r>
          </a:p>
          <a:p>
            <a:pPr>
              <a:lnSpc>
                <a:spcPct val="115000"/>
              </a:lnSpc>
              <a:spcAft>
                <a:spcPts val="500"/>
              </a:spcAft>
              <a:defRPr sz="1600" b="0">
                <a:solidFill>
                  <a:srgbClr val="37474F"/>
                </a:solidFill>
                <a:latin typeface="Calibri"/>
              </a:defRPr>
            </a:pPr>
            <a:r>
              <a:t>▸  FaaS handler behind Deviceless URL: function invoked via HTTP POST to named endpoint</a:t>
            </a:r>
          </a:p>
          <a:p>
            <a:pPr>
              <a:lnSpc>
                <a:spcPct val="115000"/>
              </a:lnSpc>
              <a:spcAft>
                <a:spcPts val="500"/>
              </a:spcAft>
              <a:defRPr sz="1600" b="0">
                <a:solidFill>
                  <a:srgbClr val="37474F"/>
                </a:solidFill>
                <a:latin typeface="Calibri"/>
              </a:defRPr>
            </a:pPr>
            <a:r>
              <a:t>▸  Three-layer stack: Deviceless (naming) + FaaS/PaaS (execution model) + WoT (API contract)</a:t>
            </a:r>
          </a:p>
          <a:p>
            <a:pPr>
              <a:lnSpc>
                <a:spcPct val="115000"/>
              </a:lnSpc>
              <a:spcAft>
                <a:spcPts val="500"/>
              </a:spcAft>
              <a:defRPr sz="1600" b="0">
                <a:solidFill>
                  <a:srgbClr val="37474F"/>
                </a:solidFill>
                <a:latin typeface="Calibri"/>
              </a:defRPr>
            </a:pPr>
            <a:r>
              <a:t>▸  Module I completes taxonomy: HelloName=FaaS-like, environmental=PaaS-like, WSTUN=Deviceless enabler</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Wrap-up &amp; future directions</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Qinling + K3s + Course Map link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Ch.7 · future directions · Ch.11 K3s substrate</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Future work — full Ch.7 vision on S4T (Ch.7 +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Qinling on OpenStack S4T: true scale-to-zero functions with Keystone auth</a:t>
            </a:r>
          </a:p>
          <a:p>
            <a:pPr>
              <a:lnSpc>
                <a:spcPct val="115000"/>
              </a:lnSpc>
              <a:spcAft>
                <a:spcPts val="500"/>
              </a:spcAft>
              <a:defRPr sz="1600" b="0">
                <a:solidFill>
                  <a:srgbClr val="37474F"/>
                </a:solidFill>
                <a:latin typeface="Calibri"/>
              </a:defRPr>
            </a:pPr>
            <a:r>
              <a:t>▸  Knative on Module H K3s: Kubernetes-native FaaS with auto-scaling pods</a:t>
            </a:r>
          </a:p>
          <a:p>
            <a:pPr>
              <a:lnSpc>
                <a:spcPct val="115000"/>
              </a:lnSpc>
              <a:spcAft>
                <a:spcPts val="500"/>
              </a:spcAft>
              <a:defRPr sz="1600" b="0">
                <a:solidFill>
                  <a:srgbClr val="37474F"/>
                </a:solidFill>
                <a:latin typeface="Calibri"/>
              </a:defRPr>
            </a:pPr>
            <a:r>
              <a:t>▸  Crossplane CRD: declare function + Deviceless DNS + board target in single YAML</a:t>
            </a:r>
          </a:p>
          <a:p>
            <a:pPr>
              <a:lnSpc>
                <a:spcPct val="115000"/>
              </a:lnSpc>
              <a:spcAft>
                <a:spcPts val="500"/>
              </a:spcAft>
              <a:defRPr sz="1600" b="0">
                <a:solidFill>
                  <a:srgbClr val="37474F"/>
                </a:solidFill>
                <a:latin typeface="Calibri"/>
              </a:defRPr>
            </a:pPr>
            <a:r>
              <a:t>▸  IoTronic inject: deploy function handler container instead of persistent Worker class</a:t>
            </a:r>
          </a:p>
          <a:p>
            <a:pPr>
              <a:lnSpc>
                <a:spcPct val="115000"/>
              </a:lnSpc>
              <a:spcAft>
                <a:spcPts val="500"/>
              </a:spcAft>
              <a:defRPr sz="1600" b="0">
                <a:solidFill>
                  <a:srgbClr val="37474F"/>
                </a:solidFill>
                <a:latin typeface="Calibri"/>
              </a:defRPr>
            </a:pPr>
            <a:r>
              <a:t>▸  Research papers cited in Ch.7 on edge serverless latency and cold-start optimization</a:t>
            </a:r>
          </a:p>
          <a:p>
            <a:pPr>
              <a:lnSpc>
                <a:spcPct val="115000"/>
              </a:lnSpc>
              <a:spcAft>
                <a:spcPts val="500"/>
              </a:spcAft>
              <a:defRPr sz="1600" b="0">
                <a:solidFill>
                  <a:srgbClr val="37474F"/>
                </a:solidFill>
                <a:latin typeface="Calibri"/>
              </a:defRPr>
            </a:pPr>
            <a:r>
              <a:t>▸  Current training lab: conceptual bridge complete — infrastructure evolution is next step</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Module I wrap-up checklist</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 Demo 1 executed: HelloName Plugin Call labelled FaaS-like by students</a:t>
            </a:r>
          </a:p>
          <a:p>
            <a:pPr>
              <a:lnSpc>
                <a:spcPct val="115000"/>
              </a:lnSpc>
              <a:spcAft>
                <a:spcPts val="800"/>
              </a:spcAft>
              <a:defRPr sz="1900" b="0">
                <a:solidFill>
                  <a:srgbClr val="37474F"/>
                </a:solidFill>
                <a:latin typeface="Calibri"/>
              </a:defRPr>
            </a:pPr>
            <a:r>
              <a:t>▸  □ Demo 2 executed: environmental_data Start labelled PaaS-like by students</a:t>
            </a:r>
          </a:p>
          <a:p>
            <a:pPr>
              <a:lnSpc>
                <a:spcPct val="115000"/>
              </a:lnSpc>
              <a:spcAft>
                <a:spcPts val="800"/>
              </a:spcAft>
              <a:defRPr sz="1900" b="0">
                <a:solidFill>
                  <a:srgbClr val="37474F"/>
                </a:solidFill>
                <a:latin typeface="Calibri"/>
              </a:defRPr>
            </a:pPr>
            <a:r>
              <a:t>▸  □ Student explains Deviceless connection to Module F WoT/WSTUN exposure</a:t>
            </a:r>
          </a:p>
          <a:p>
            <a:pPr>
              <a:lnSpc>
                <a:spcPct val="115000"/>
              </a:lnSpc>
              <a:spcAft>
                <a:spcPts val="800"/>
              </a:spcAft>
              <a:defRPr sz="1900" b="0">
                <a:solidFill>
                  <a:srgbClr val="37474F"/>
                </a:solidFill>
                <a:latin typeface="Calibri"/>
              </a:defRPr>
            </a:pPr>
            <a:r>
              <a:t>▸  □ Student identifies Qinling/K3s as production FaaS path (Ch.7 + Ch.11)</a:t>
            </a:r>
          </a:p>
          <a:p>
            <a:pPr>
              <a:lnSpc>
                <a:spcPct val="115000"/>
              </a:lnSpc>
              <a:spcAft>
                <a:spcPts val="800"/>
              </a:spcAft>
              <a:defRPr sz="1900" b="0">
                <a:solidFill>
                  <a:srgbClr val="37474F"/>
                </a:solidFill>
                <a:latin typeface="Calibri"/>
              </a:defRPr>
            </a:pPr>
            <a:r>
              <a:t>▸  Return to Course Map — full 9h path complete: A→I modules covered</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