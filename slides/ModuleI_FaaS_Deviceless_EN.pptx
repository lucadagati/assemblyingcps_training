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6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[ADV] 35 min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502920"/>
            <a:ext cx="2011680" cy="347472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S4T TRAINING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85800" y="1828800"/>
            <a:ext cx="1078992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800" b="1">
                <a:solidFill>
                  <a:srgbClr val="FFFFFF"/>
                </a:solidFill>
                <a:latin typeface="Calibri"/>
              </a:defRPr>
            </a:pPr>
            <a:r>
              <a:t>Module I — FaaS &amp; the Deviceless Paradigm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3520440"/>
            <a:ext cx="1051560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Ch.7 · Advanced · VM {{VM_IP}}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5623560"/>
            <a:ext cx="10515600" cy="5486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 b="0">
                <a:solidFill>
                  <a:srgbClr val="90A4AE"/>
                </a:solidFill>
                <a:latin typeface="Calibri"/>
              </a:defRPr>
            </a:pPr>
            <a:r>
              <a:t>Advanced · Ch.7 — FaaS &amp; Deviceless · contrasts Modules B, C, F</a:t>
            </a:r>
          </a:p>
        </p:txBody>
      </p:sp>
      <p:sp>
        <p:nvSpPr>
          <p:cNvPr id="8" name="Rectangle 7"/>
          <p:cNvSpPr/>
          <p:nvPr/>
        </p:nvSpPr>
        <p:spPr>
          <a:xfrm>
            <a:off x="685800" y="5394960"/>
            <a:ext cx="3200400" cy="36576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Deviceless &amp; serverless 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Ch.7 — before side-by-side plugin demos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· The Deviceless paradigm · chapter abstract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Deviceless paradigm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Physical devices abstracted as composable virtual Web resources with stable DNS names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Developers interact with Things via HTTP URIs — not device-specific SDKs or serial protocols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Geographic distribution transparent: wot.sensor-barcelona.example.com just works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Deviceless = operational realization of WoT vision (Ch.6) at Cloud Continuum scale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S4T Module F WSTUN/Designate exposure is the lab step toward Deviceless naming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abstract positions Deviceless as key enabler for programmable CPS infrastructure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· device abstraction · WoT cross-reference Ch.6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From devices to Web resources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Traditional IoT: developer learns board SDK, GPIO libraries, firmware toolchain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Deviceless: developer consumes OpenAPI/REST contract — implementation opaque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DNS stability: service moves from board A to board B — URL unchanged for consumers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Compose (Ch.6 layer): mashup apps combine Deviceless resources without owning hardware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Stack4Things IoTronic + Designate + NGINX implement Deviceless naming infrastructure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I connects abstract Ch.7 taxonomy to concrete Ch.14 plugin modes in lab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· serverless on OpenStack · Qinling · OpenWhisk-Light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PaaS vs FaaS vs Deviceless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PaaS: long-running platform service — always-on process or container on cloud/edge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FaaS: event-driven function — invoke, execute, return result, scale to zero between calls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Deviceless: device capability exposed as callable Web resource with DNS name — not a function runtime per se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OpenStack Qinling: serverless functions on OpenStack cloud infrastructure (Zun containers)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OpenWhisk-Light referenced in book as lightweight FaaS research platform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All three coexist in Cloud Continuum — choice depends on workload lifetime and trigger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· FaaS properties · edge serverless discussion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FaaS characteristics in detail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Event-triggered: HTTP request, message queue event, scheduled cron — not continuous loop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Stateless execution: function instance holds no persistent state between invocations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Scale to zero: no cost/resources when idle — cold start latency trade-off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Managed runtime: platform handles packaging, scaling, logging — developer supplies handler code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Billing model: per-invocation + execution duration — vs PaaS always-on provisioning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Edge FaaS (Ch.7 + Ch.11): functions deployed near data sources in K3s/Knative substrate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· PaaS at the edge · Module C cross-reference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PaaS characteristics in detail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Long-running service: process starts once, serves many requests over hours/days/months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Stateful acceptable: in-memory caches, connection pools, persistent background threads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Always-on cost: container/VM provisioned continuously — even during idle periods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Edge PaaS example: environmental_data async plugin (Module C) — 30 s publish loop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Docker plugin (Module B optional): deploys containerized service on edge on demand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PaaS appropriate when continuous monitoring/actuation required — not one-shot queries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applied to Part II labs · Ch.14 plugin modes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Mapping book concepts to S4T lab demos (Ch.7 applied)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HelloName Plugin Call (Module B) ≈ FaaS-like: one shot invocation, immediate JSON result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environmental_data async plugin (Module C) ≈ PaaS-like: continuous microservice loop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Docker plugin run (Module B optional) ≈ deploying containerized PaaS on edge on demand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WoT HTTP exposure via WSTUN (Module F) ≈ Deviceless: board service as Web resource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Sync vs async plugin modes (Ch.14) directly encode FaaS-like vs PaaS-like behaviour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I makes taxonomy explicit — students re-label demos they already executed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+ Ch.11 Type 1 serverless experiments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Serverless at the continuum edge (Ch.7 + 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Function-as-a-Service models extend toward edge nodes in Cloud Continuum architecture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K8s + Knative or Qinling can host ephemeral functions near IoT data sources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S4T callable sync plugins are stepping stone — no Qinling in current Docker lab compose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Blueprint Module H K3s substrate enables future FaaS integration via Crossplane CRDs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Ch.11 Type 1 experiments include serverless architectural paradigm category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Research direction: IoTronic inject deploys function handler instead of long-running Worker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· Qinling references · OpenStack serverless roadmap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Qinling and OpenStack serverless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Qinling: OpenStack project for function lifecycle management on Zun containers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Functions packaged as containers — triggered by HTTP or message bus events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Integrates with Keystone auth, Designate DNS — full OpenStack ecosystem fit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Not deployed in current training Docker compose — documented as research/production direction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Would enable true scale-to-zero functions managed like other OpenStack services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Deviceless DNS + Qinling functions = full Ch.7 vision operational on S4T stack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§ Zun · fig:chap07:zun-system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Zun — OpenStack container service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Zun-api: REST/WSGI entry point from Horizon or CLI for container lifecycle.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Zun-compute: agent on compute nodes — hides Docker runtime operations from users.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Zun-wsproxy: interactive shell and log streaming into running containers.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Zun-scheduler: filters (RAM, CPU, labels) select host for new container placement.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Zun networking driver: assigns reachability — Neutron in cloud, IoTronic WSTUN at edge.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Capsule ≈ Kubernetes Pod: runtime + sidecar + pause containers sharing network namespace.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§ Implementation aspects · fig:chap07:devless-cloud-arch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Deviceless edge reachability — Zun + WSTUN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 nodes act as Zun compute hosts — containers run on boards, not only in datacenter.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Standard Neutron overlay cannot reach NAT-bound edge capsules — custom driver required.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New Zun networking driver maps each public cloud port to a remote container via WSTUN.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HostnameFilter scheduler policy targets a specific board by name/id for function placement.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Qinling runtime creation on edge: Qinling → Zun capsule → IoTronic tunnel → reachable URL.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Same WSTUN infrastructure as Module F — Deviceless adds serverless function semantics on top.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§ Flow-based development · Node-RED · sec:use-cases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Node-RED and flow-based Deviceless (Ch.7)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Node-RED provides visual flow programming — wires connect HTTP, MQTT, and function nodes.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Deviceless extends flows across cloud and edge without installing Node-RED on every board.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Qinling function nodes invoke edge runtimes — distributed logic with Web-native triggers.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Contrasts with OpenWhisk-Light: limited to local-only triggers on a single node.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Book use cases show remote wires linking cloud dashboards to edge sensor preprocessing.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I conceptual bridge — lab uses sync/async plugins instead of Qinling functions today.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Serverless-like vs long-running contrast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42260" y="1426464"/>
            <a:ext cx="7107173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faas-contra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412" y="1499616"/>
            <a:ext cx="6960869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HelloName sync Plugin Call (FaaS-like) vs environmental async (PaaS-like)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Diagram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I — learning objectives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Define Deviceless, FaaS, and PaaS from Ch.7 with S4T lab examples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Execute side-by-side Demo 1 (HelloName Plugin Call) and Demo 2 (environmental Start)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Articulate which book category each existing module demo represents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Connect Module F WoT exposure to Deviceless Web resource naming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Identify Qinling/K3s as future FaaS integration path (Ch.7 + Ch.11)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8E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868680" cy="310896"/>
          </a:xfrm>
          <a:prstGeom prst="roundRect">
            <a:avLst/>
          </a:prstGeom>
          <a:solidFill>
            <a:srgbClr val="F57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Side-by-side demo goals (Ch.7 applied to lab)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Demo 1: HelloName Plugin Call — atomic invocation, zero persistent background state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Demo 2: environmental_data Start — long-running loop, continuous InfluxDB time-series output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Students label each demo: FaaS-like, PaaS-like, or Deviceless (Module F exposure layer)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No new containers or plugins — reuses Modules B and C artefacts on {{VM_IP}} lab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Discussion prompts: Which billing model fits each pattern? Which has cold start? Which is stateful?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Connects abstract Ch.7 taxonomy to concrete Ch.14 plugin sync/async modes already learned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Demo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Demo 1 — FaaS-like Plugin Call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HelloName synchronous invocation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Demo 1 — atomic Plugin Call (serverless-like)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Open http://{{VM_IP}}/horizon/iot/ — login admin / s4t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Plugins → HelloName (from Module B) → Plugin Call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{"name": "FaaS-demo"}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Single invocation → immediate JSON result — no background process persists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Contrast: no Start/Stop lifecycle — function-equivalent behaviour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Horizon IoT — Plugins (sync Plugin Call)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928975" y="1426464"/>
            <a:ext cx="6333744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horizon-plugins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02127" y="1499616"/>
            <a:ext cx="6187440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Callable=ON → one-shot invocation · HelloName sync plugin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Ch.14 §14.1.2 sync pipeline · Ch.7 FaaS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Why HelloName is FaaS-like (Ch.7 + Ch.14)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Dormant until Plugin Call trigger — no CPU consumed while idle on board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Single input JSON → single output JSON — request/response function signature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No persistent state between calls — each Plugin Call is independent invocation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Execution duration: milliseconds — matches FaaS short-lived handler pattern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Missing FaaS features in lab: auto-scale, cold start metrics, per-invocation billing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Closest lab analog to Ch.7 FaaS without deploying Qinling infrastructure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Lab: Demo 2 — PaaS-like async service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environmental_data continuous publisher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Demo 2 — long-running async plugin (PaaS-like)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01168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Start environmental_data plugin from Module C (or restart if stopped)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Observe continuous InfluxDB writes every 30 s at http://{{VM_IP}}:8086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Contrast: no Plugin Call per iteration — persistent _is_running background loop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Stop/Interrupt required to halt — unlike one-shot HelloName Plugin Call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2B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43891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0D2B45"/>
                </a:solidFill>
                <a:latin typeface="Calibri"/>
              </a:defRPr>
            </a:pPr>
            <a:r>
              <a:t>InfluxDB — continuous async output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950142" y="1426464"/>
            <a:ext cx="2291410" cy="412394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influxdb-debu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3294" y="1499616"/>
            <a:ext cx="2145106" cy="3977639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5687568"/>
            <a:ext cx="10972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0">
                <a:solidFill>
                  <a:srgbClr val="37474F"/>
                </a:solidFill>
                <a:latin typeface="Calibri"/>
              </a:defRPr>
            </a:pPr>
            <a:r>
              <a:t>Time-series grows while plugin runs — PaaS-style always-on edge service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Screenshot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Ch.15 async environmental plugin · Ch.7 PaaS mapping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Why environmental_data is PaaS-like (Ch.7 + Ch.15)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Long-running background thread — active for minutes/hours during class session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Stateful loop: maintains sensor read schedule and InfluxDB connection context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Always-on resource consumption on board while plugin Started — no scale to zero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Continuous output stream — not event-triggered single response pattern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Matches edge microservice/PaaS deployment model from Ch.15 environmental publisher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Production: would run 24/7 on edge gateway — FaaS inappropriate for this pattern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Deviceless · Ch.6 WoT · Module F cross-reference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Deviceless layer — Module F connection (Ch.7 + Ch.6)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F WSTUN exposes board HTTP service at {{VM_IP}}:public_port — Web resource URI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Production Designate path: stable DNS name independent of board physical location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Deviceless consumer: curl https://wot.board.example.com/temperature — no LR SDK needed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FaaS handler behind Deviceless URL: function invoked via HTTP POST to named endpoint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Three-layer stack: Deviceless (naming) + FaaS/PaaS (execution model) + WoT (API contract)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Module I completes taxonomy: HelloName=FaaS-like, environmental=PaaS-like, WSTUN=Deviceless enabler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4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063240"/>
            <a:ext cx="12191695" cy="54864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48840"/>
            <a:ext cx="105156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Calibri"/>
              </a:defRPr>
            </a:pPr>
            <a:r>
              <a:t>Wrap-up &amp; future directions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337560"/>
            <a:ext cx="10515600" cy="822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2000" b="0">
                <a:solidFill>
                  <a:srgbClr val="B2EBF2"/>
                </a:solidFill>
                <a:latin typeface="Calibri"/>
              </a:defRPr>
            </a:pPr>
            <a:r>
              <a:t>Qinling + K3s + Course Map link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0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502920" y="292608"/>
            <a:ext cx="2011680" cy="310896"/>
          </a:xfrm>
          <a:prstGeom prst="roundRect">
            <a:avLst/>
          </a:prstGeom>
          <a:solidFill>
            <a:srgbClr val="008B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Calibri"/>
              </a:defRPr>
            </a:pPr>
            <a:r>
              <a:t>THEORY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292608"/>
            <a:ext cx="411480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0">
                <a:solidFill>
                  <a:srgbClr val="78909C"/>
                </a:solidFill>
                <a:latin typeface="Calibri"/>
              </a:defRPr>
            </a:pPr>
            <a:r>
              <a:t>Ch.7 · future directions · Ch.11 K3s substrate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713232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0D2B45"/>
                </a:solidFill>
                <a:latin typeface="Calibri"/>
              </a:defRPr>
            </a:pPr>
            <a:r>
              <a:t>Future work — full Ch.7 vision on S4T (Ch.7 + Ch.11)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1554480"/>
            <a:ext cx="11155680" cy="2651759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673352"/>
            <a:ext cx="10424160" cy="24688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Qinling on OpenStack S4T: true scale-to-zero functions with Keystone auth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Knative on Module H K3s: Kubernetes-native FaaS with auto-scaling pods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Crossplane CRD: declare function + Deviceless DNS + board target in single YAML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IoTronic inject: deploy function handler container instead of persistent Worker class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Research papers cited in Ch.7 on edge serverless latency and cold-start optimization</a:t>
            </a:r>
          </a:p>
          <a:p>
            <a:pPr>
              <a:lnSpc>
                <a:spcPct val="115000"/>
              </a:lnSpc>
              <a:spcAft>
                <a:spcPts val="500"/>
              </a:spcAft>
              <a:defRPr sz="1500" b="0">
                <a:solidFill>
                  <a:srgbClr val="37474F"/>
                </a:solidFill>
                <a:latin typeface="Calibri"/>
              </a:defRPr>
            </a:pPr>
            <a:r>
              <a:t>▸  Current training lab: conceptual bridge complete — infrastructure evolution is next step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0" y="6455664"/>
            <a:ext cx="23774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08B9A"/>
                </a:solidFill>
                <a:latin typeface="Calibri"/>
              </a:defRPr>
            </a:pPr>
            <a:r>
              <a:t>Theory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1A4A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94360" y="502920"/>
            <a:ext cx="10972800" cy="868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800" b="1">
                <a:solidFill>
                  <a:srgbClr val="0D2B45"/>
                </a:solidFill>
                <a:latin typeface="Calibri"/>
              </a:defRPr>
            </a:pPr>
            <a:r>
              <a:t>Module I wrap-up checklist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344168"/>
            <a:ext cx="11155680" cy="2331720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B2EBF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463040"/>
            <a:ext cx="10424160" cy="2148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Demo 1 executed: HelloName Plugin Call labelled FaaS-like by students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Demo 2 executed: environmental_data Start labelled PaaS-like by students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explains Deviceless connection to Module F WoT/WSTUN exposure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□ Student identifies Qinling/K3s as production FaaS path (Ch.7 + Ch.11)</a:t>
            </a:r>
          </a:p>
          <a:p>
            <a:pPr>
              <a:lnSpc>
                <a:spcPct val="115000"/>
              </a:lnSpc>
              <a:spcAft>
                <a:spcPts val="800"/>
              </a:spcAft>
              <a:defRPr sz="1700" b="0">
                <a:solidFill>
                  <a:srgbClr val="37474F"/>
                </a:solidFill>
                <a:latin typeface="Calibri"/>
              </a:defRPr>
            </a:pPr>
            <a:r>
              <a:t>▸  Return to Course Map — full 9h path complete: A→I modules covered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6446520"/>
            <a:ext cx="11274552" cy="18288"/>
          </a:xfrm>
          <a:prstGeom prst="rect">
            <a:avLst/>
          </a:prstGeom>
          <a:solidFill>
            <a:srgbClr val="B2EB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73152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 b="0">
                <a:solidFill>
                  <a:srgbClr val="90A4AE"/>
                </a:solidFill>
                <a:latin typeface="Calibri"/>
              </a:defRPr>
            </a:pPr>
            <a:r>
              <a:t>Assembling Smart CPS · Stack4Things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